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316" r:id="rId3"/>
    <p:sldId id="302" r:id="rId4"/>
    <p:sldId id="281" r:id="rId5"/>
    <p:sldId id="296" r:id="rId6"/>
    <p:sldId id="297" r:id="rId7"/>
    <p:sldId id="298" r:id="rId8"/>
    <p:sldId id="299" r:id="rId9"/>
    <p:sldId id="300" r:id="rId10"/>
    <p:sldId id="301" r:id="rId11"/>
    <p:sldId id="284" r:id="rId12"/>
    <p:sldId id="308" r:id="rId13"/>
    <p:sldId id="303" r:id="rId14"/>
    <p:sldId id="304" r:id="rId15"/>
    <p:sldId id="305" r:id="rId16"/>
    <p:sldId id="306" r:id="rId17"/>
    <p:sldId id="307" r:id="rId18"/>
    <p:sldId id="293" r:id="rId19"/>
    <p:sldId id="309" r:id="rId20"/>
    <p:sldId id="310" r:id="rId21"/>
    <p:sldId id="311" r:id="rId22"/>
    <p:sldId id="312" r:id="rId23"/>
    <p:sldId id="313" r:id="rId24"/>
    <p:sldId id="317" r:id="rId25"/>
    <p:sldId id="314" r:id="rId26"/>
    <p:sldId id="319" r:id="rId27"/>
    <p:sldId id="315" r:id="rId28"/>
    <p:sldId id="272" r:id="rId29"/>
    <p:sldId id="29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Week 2 - Deck 2" id="{C51B9930-ECD7-46B8-B519-F5432702699D}">
          <p14:sldIdLst>
            <p14:sldId id="256"/>
          </p14:sldIdLst>
        </p14:section>
        <p14:section name="Active Learning" id="{93AC5CEC-D23F-416D-BE3B-5D9A3C9D5BE0}">
          <p14:sldIdLst>
            <p14:sldId id="316"/>
          </p14:sldIdLst>
        </p14:section>
        <p14:section name="System Context" id="{CC263679-D2D0-47F6-9CDB-6737B5EF5F34}">
          <p14:sldIdLst>
            <p14:sldId id="302"/>
            <p14:sldId id="281"/>
            <p14:sldId id="296"/>
            <p14:sldId id="297"/>
            <p14:sldId id="298"/>
            <p14:sldId id="299"/>
            <p14:sldId id="300"/>
            <p14:sldId id="301"/>
            <p14:sldId id="284"/>
          </p14:sldIdLst>
        </p14:section>
        <p14:section name="Missions" id="{7E656E35-09E2-4008-BF13-A9885D8E546F}">
          <p14:sldIdLst>
            <p14:sldId id="308"/>
            <p14:sldId id="303"/>
            <p14:sldId id="304"/>
            <p14:sldId id="305"/>
            <p14:sldId id="306"/>
            <p14:sldId id="307"/>
          </p14:sldIdLst>
        </p14:section>
        <p14:section name="States and Modes" id="{BC555182-6024-4830-8540-70F7193CDABF}">
          <p14:sldIdLst>
            <p14:sldId id="293"/>
            <p14:sldId id="309"/>
            <p14:sldId id="310"/>
            <p14:sldId id="311"/>
            <p14:sldId id="312"/>
            <p14:sldId id="313"/>
            <p14:sldId id="317"/>
            <p14:sldId id="314"/>
            <p14:sldId id="319"/>
            <p14:sldId id="315"/>
          </p14:sldIdLst>
        </p14:section>
        <p14:section name="Wrap-up" id="{FDCAC665-83E0-490A-A325-F199A447CCB0}">
          <p14:sldIdLst>
            <p14:sldId id="272"/>
          </p14:sldIdLst>
        </p14:section>
        <p14:section name="Active Learning" id="{38AD0782-D762-46B4-9EA5-53D0E3877940}">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2276" autoAdjust="0"/>
  </p:normalViewPr>
  <p:slideViewPr>
    <p:cSldViewPr snapToGrid="0">
      <p:cViewPr>
        <p:scale>
          <a:sx n="100" d="100"/>
          <a:sy n="100" d="100"/>
        </p:scale>
        <p:origin x="48"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6CA508-B1C3-4BDB-A97E-97046809D248}"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A1A865D1-399C-468C-AA99-8237103FB48D}">
      <dgm:prSet/>
      <dgm:spPr/>
      <dgm:t>
        <a:bodyPr/>
        <a:lstStyle/>
        <a:p>
          <a:r>
            <a:rPr lang="en-US" dirty="0"/>
            <a:t>Initial step to determine external interfaces and enabling systems</a:t>
          </a:r>
          <a:endParaRPr lang="en-US" b="1" dirty="0"/>
        </a:p>
      </dgm:t>
    </dgm:pt>
    <dgm:pt modelId="{5A74C50A-9DAE-470D-9825-8F52ABEE7344}" type="parTrans" cxnId="{F2D7E32F-916E-4147-8753-D4E06AF9D6E1}">
      <dgm:prSet/>
      <dgm:spPr/>
      <dgm:t>
        <a:bodyPr/>
        <a:lstStyle/>
        <a:p>
          <a:endParaRPr lang="en-US"/>
        </a:p>
      </dgm:t>
    </dgm:pt>
    <dgm:pt modelId="{D1786A69-2294-46AB-99DD-B0D5FE0AAFF9}" type="sibTrans" cxnId="{F2D7E32F-916E-4147-8753-D4E06AF9D6E1}">
      <dgm:prSet phldrT="01" phldr="0"/>
      <dgm:spPr/>
      <dgm:t>
        <a:bodyPr/>
        <a:lstStyle/>
        <a:p>
          <a:r>
            <a:rPr lang="en-US"/>
            <a:t>01</a:t>
          </a:r>
        </a:p>
      </dgm:t>
    </dgm:pt>
    <dgm:pt modelId="{FDAC5ED5-EC71-464A-88B4-9AE1BAC8D3D8}">
      <dgm:prSet/>
      <dgm:spPr/>
      <dgm:t>
        <a:bodyPr/>
        <a:lstStyle/>
        <a:p>
          <a:r>
            <a:rPr lang="en-US" dirty="0"/>
            <a:t>Only interactions between </a:t>
          </a:r>
          <a:r>
            <a:rPr lang="en-US" dirty="0" err="1"/>
            <a:t>SoI</a:t>
          </a:r>
          <a:r>
            <a:rPr lang="en-US" dirty="0"/>
            <a:t> and external elements documented</a:t>
          </a:r>
        </a:p>
      </dgm:t>
    </dgm:pt>
    <dgm:pt modelId="{98D1B30E-F3D0-4261-84AC-51F57B3740E7}" type="parTrans" cxnId="{5DC239FB-641D-423D-8885-1319784F98F1}">
      <dgm:prSet/>
      <dgm:spPr/>
      <dgm:t>
        <a:bodyPr/>
        <a:lstStyle/>
        <a:p>
          <a:endParaRPr lang="en-US"/>
        </a:p>
      </dgm:t>
    </dgm:pt>
    <dgm:pt modelId="{2F4FEF41-44DC-4A00-AE42-185EFD6BD5FD}" type="sibTrans" cxnId="{5DC239FB-641D-423D-8885-1319784F98F1}">
      <dgm:prSet phldrT="02" phldr="0"/>
      <dgm:spPr/>
      <dgm:t>
        <a:bodyPr/>
        <a:lstStyle/>
        <a:p>
          <a:r>
            <a:rPr lang="en-US"/>
            <a:t>02</a:t>
          </a:r>
        </a:p>
      </dgm:t>
    </dgm:pt>
    <dgm:pt modelId="{59BECB7C-3C5E-4D40-9BA2-DDA0D13745CC}">
      <dgm:prSet/>
      <dgm:spPr/>
      <dgm:t>
        <a:bodyPr/>
        <a:lstStyle/>
        <a:p>
          <a:r>
            <a:rPr lang="en-US" dirty="0"/>
            <a:t>Can use icons to aid in understanding</a:t>
          </a:r>
          <a:endParaRPr lang="en-US" b="1" dirty="0"/>
        </a:p>
      </dgm:t>
    </dgm:pt>
    <dgm:pt modelId="{56484B16-278B-4183-8899-A87BBA67E5CD}" type="parTrans" cxnId="{6FB130A4-FAF5-40DB-A426-D155A990EA8A}">
      <dgm:prSet/>
      <dgm:spPr/>
      <dgm:t>
        <a:bodyPr/>
        <a:lstStyle/>
        <a:p>
          <a:endParaRPr lang="en-US"/>
        </a:p>
      </dgm:t>
    </dgm:pt>
    <dgm:pt modelId="{03248AA4-13F1-4C5E-A874-3D1E43D5A4E5}" type="sibTrans" cxnId="{6FB130A4-FAF5-40DB-A426-D155A990EA8A}">
      <dgm:prSet phldrT="03" phldr="0"/>
      <dgm:spPr/>
      <dgm:t>
        <a:bodyPr/>
        <a:lstStyle/>
        <a:p>
          <a:r>
            <a:rPr lang="en-US"/>
            <a:t>03</a:t>
          </a:r>
        </a:p>
      </dgm:t>
    </dgm:pt>
    <dgm:pt modelId="{72849D7E-82A9-4E4C-B467-DF9D1EAE76BD}">
      <dgm:prSet/>
      <dgm:spPr/>
      <dgm:t>
        <a:bodyPr/>
        <a:lstStyle/>
        <a:p>
          <a:r>
            <a:rPr lang="en-US" b="0" dirty="0"/>
            <a:t>Don’t include aspects internal to the </a:t>
          </a:r>
          <a:r>
            <a:rPr lang="en-US" b="0" dirty="0" err="1"/>
            <a:t>SoI</a:t>
          </a:r>
          <a:r>
            <a:rPr lang="en-US" b="0" dirty="0"/>
            <a:t> in the SCD</a:t>
          </a:r>
        </a:p>
      </dgm:t>
    </dgm:pt>
    <dgm:pt modelId="{DCA881BE-6843-4FB8-83B9-6A0475536E6D}" type="parTrans" cxnId="{030FD74E-F3BC-42F6-8A6F-E65983F67B1A}">
      <dgm:prSet/>
      <dgm:spPr/>
      <dgm:t>
        <a:bodyPr/>
        <a:lstStyle/>
        <a:p>
          <a:endParaRPr lang="en-US"/>
        </a:p>
      </dgm:t>
    </dgm:pt>
    <dgm:pt modelId="{93045DB4-1850-4DF8-9396-3946CB664194}" type="sibTrans" cxnId="{030FD74E-F3BC-42F6-8A6F-E65983F67B1A}">
      <dgm:prSet phldrT="04" phldr="0"/>
      <dgm:spPr/>
      <dgm:t>
        <a:bodyPr/>
        <a:lstStyle/>
        <a:p>
          <a:r>
            <a:rPr lang="en-US"/>
            <a:t>04</a:t>
          </a:r>
        </a:p>
      </dgm:t>
    </dgm:pt>
    <dgm:pt modelId="{839D4664-57FC-4963-B899-A82C46BC647C}" type="pres">
      <dgm:prSet presAssocID="{A46CA508-B1C3-4BDB-A97E-97046809D248}" presName="Name0" presStyleCnt="0">
        <dgm:presLayoutVars>
          <dgm:animLvl val="lvl"/>
          <dgm:resizeHandles val="exact"/>
        </dgm:presLayoutVars>
      </dgm:prSet>
      <dgm:spPr/>
    </dgm:pt>
    <dgm:pt modelId="{88A688F0-BAD1-43DC-8E5E-A443DBE295C9}" type="pres">
      <dgm:prSet presAssocID="{A1A865D1-399C-468C-AA99-8237103FB48D}" presName="compositeNode" presStyleCnt="0">
        <dgm:presLayoutVars>
          <dgm:bulletEnabled val="1"/>
        </dgm:presLayoutVars>
      </dgm:prSet>
      <dgm:spPr/>
    </dgm:pt>
    <dgm:pt modelId="{DF5D4BEE-6DA1-46CE-9FF3-9244877A7A60}" type="pres">
      <dgm:prSet presAssocID="{A1A865D1-399C-468C-AA99-8237103FB48D}" presName="bgRect" presStyleLbl="alignNode1" presStyleIdx="0" presStyleCnt="4"/>
      <dgm:spPr/>
    </dgm:pt>
    <dgm:pt modelId="{BBC4DE70-910C-4948-B26A-FBAF734B0650}" type="pres">
      <dgm:prSet presAssocID="{D1786A69-2294-46AB-99DD-B0D5FE0AAFF9}" presName="sibTransNodeRect" presStyleLbl="alignNode1" presStyleIdx="0" presStyleCnt="4">
        <dgm:presLayoutVars>
          <dgm:chMax val="0"/>
          <dgm:bulletEnabled val="1"/>
        </dgm:presLayoutVars>
      </dgm:prSet>
      <dgm:spPr/>
    </dgm:pt>
    <dgm:pt modelId="{799C6183-07D9-47DD-9451-B7EB08F8A53C}" type="pres">
      <dgm:prSet presAssocID="{A1A865D1-399C-468C-AA99-8237103FB48D}" presName="nodeRect" presStyleLbl="alignNode1" presStyleIdx="0" presStyleCnt="4">
        <dgm:presLayoutVars>
          <dgm:bulletEnabled val="1"/>
        </dgm:presLayoutVars>
      </dgm:prSet>
      <dgm:spPr/>
    </dgm:pt>
    <dgm:pt modelId="{B5A0BA6D-59BB-4F04-A766-734BCE766F92}" type="pres">
      <dgm:prSet presAssocID="{D1786A69-2294-46AB-99DD-B0D5FE0AAFF9}" presName="sibTrans" presStyleCnt="0"/>
      <dgm:spPr/>
    </dgm:pt>
    <dgm:pt modelId="{2B9E373C-5459-40D4-996C-2A1962191A14}" type="pres">
      <dgm:prSet presAssocID="{FDAC5ED5-EC71-464A-88B4-9AE1BAC8D3D8}" presName="compositeNode" presStyleCnt="0">
        <dgm:presLayoutVars>
          <dgm:bulletEnabled val="1"/>
        </dgm:presLayoutVars>
      </dgm:prSet>
      <dgm:spPr/>
    </dgm:pt>
    <dgm:pt modelId="{D5AFAC22-61B6-44BF-B7E9-F3B357422574}" type="pres">
      <dgm:prSet presAssocID="{FDAC5ED5-EC71-464A-88B4-9AE1BAC8D3D8}" presName="bgRect" presStyleLbl="alignNode1" presStyleIdx="1" presStyleCnt="4"/>
      <dgm:spPr/>
    </dgm:pt>
    <dgm:pt modelId="{7925C6DF-E736-4971-BF6B-F4FF412621C9}" type="pres">
      <dgm:prSet presAssocID="{2F4FEF41-44DC-4A00-AE42-185EFD6BD5FD}" presName="sibTransNodeRect" presStyleLbl="alignNode1" presStyleIdx="1" presStyleCnt="4">
        <dgm:presLayoutVars>
          <dgm:chMax val="0"/>
          <dgm:bulletEnabled val="1"/>
        </dgm:presLayoutVars>
      </dgm:prSet>
      <dgm:spPr/>
    </dgm:pt>
    <dgm:pt modelId="{45796389-877A-411D-93C3-D5E407CF29D7}" type="pres">
      <dgm:prSet presAssocID="{FDAC5ED5-EC71-464A-88B4-9AE1BAC8D3D8}" presName="nodeRect" presStyleLbl="alignNode1" presStyleIdx="1" presStyleCnt="4">
        <dgm:presLayoutVars>
          <dgm:bulletEnabled val="1"/>
        </dgm:presLayoutVars>
      </dgm:prSet>
      <dgm:spPr/>
    </dgm:pt>
    <dgm:pt modelId="{22414D7E-072A-4288-8F91-67BBB85D4D1A}" type="pres">
      <dgm:prSet presAssocID="{2F4FEF41-44DC-4A00-AE42-185EFD6BD5FD}" presName="sibTrans" presStyleCnt="0"/>
      <dgm:spPr/>
    </dgm:pt>
    <dgm:pt modelId="{8FDBD42D-16E1-454B-B85C-959C64C12930}" type="pres">
      <dgm:prSet presAssocID="{59BECB7C-3C5E-4D40-9BA2-DDA0D13745CC}" presName="compositeNode" presStyleCnt="0">
        <dgm:presLayoutVars>
          <dgm:bulletEnabled val="1"/>
        </dgm:presLayoutVars>
      </dgm:prSet>
      <dgm:spPr/>
    </dgm:pt>
    <dgm:pt modelId="{25CD44DD-DF87-45F8-A128-674B8649AD8F}" type="pres">
      <dgm:prSet presAssocID="{59BECB7C-3C5E-4D40-9BA2-DDA0D13745CC}" presName="bgRect" presStyleLbl="alignNode1" presStyleIdx="2" presStyleCnt="4" custLinFactNeighborX="0"/>
      <dgm:spPr/>
    </dgm:pt>
    <dgm:pt modelId="{AE03AC78-88D6-4E79-873A-CF672DA53C34}" type="pres">
      <dgm:prSet presAssocID="{03248AA4-13F1-4C5E-A874-3D1E43D5A4E5}" presName="sibTransNodeRect" presStyleLbl="alignNode1" presStyleIdx="2" presStyleCnt="4">
        <dgm:presLayoutVars>
          <dgm:chMax val="0"/>
          <dgm:bulletEnabled val="1"/>
        </dgm:presLayoutVars>
      </dgm:prSet>
      <dgm:spPr/>
    </dgm:pt>
    <dgm:pt modelId="{01345652-2061-4C12-AC18-E49C27D79A1B}" type="pres">
      <dgm:prSet presAssocID="{59BECB7C-3C5E-4D40-9BA2-DDA0D13745CC}" presName="nodeRect" presStyleLbl="alignNode1" presStyleIdx="2" presStyleCnt="4">
        <dgm:presLayoutVars>
          <dgm:bulletEnabled val="1"/>
        </dgm:presLayoutVars>
      </dgm:prSet>
      <dgm:spPr/>
    </dgm:pt>
    <dgm:pt modelId="{7EFDF060-7F6F-4E50-B16E-740D6B82C6BB}" type="pres">
      <dgm:prSet presAssocID="{03248AA4-13F1-4C5E-A874-3D1E43D5A4E5}" presName="sibTrans" presStyleCnt="0"/>
      <dgm:spPr/>
    </dgm:pt>
    <dgm:pt modelId="{1BBBEBEF-FF9E-46A7-B3F1-35134E337BC9}" type="pres">
      <dgm:prSet presAssocID="{72849D7E-82A9-4E4C-B467-DF9D1EAE76BD}" presName="compositeNode" presStyleCnt="0">
        <dgm:presLayoutVars>
          <dgm:bulletEnabled val="1"/>
        </dgm:presLayoutVars>
      </dgm:prSet>
      <dgm:spPr/>
    </dgm:pt>
    <dgm:pt modelId="{BF428BDC-42F6-434D-8668-DA4CB4ED82D0}" type="pres">
      <dgm:prSet presAssocID="{72849D7E-82A9-4E4C-B467-DF9D1EAE76BD}" presName="bgRect" presStyleLbl="alignNode1" presStyleIdx="3" presStyleCnt="4"/>
      <dgm:spPr/>
    </dgm:pt>
    <dgm:pt modelId="{68E20A92-34BC-4BE9-95F0-4D17FED0CDAD}" type="pres">
      <dgm:prSet presAssocID="{93045DB4-1850-4DF8-9396-3946CB664194}" presName="sibTransNodeRect" presStyleLbl="alignNode1" presStyleIdx="3" presStyleCnt="4">
        <dgm:presLayoutVars>
          <dgm:chMax val="0"/>
          <dgm:bulletEnabled val="1"/>
        </dgm:presLayoutVars>
      </dgm:prSet>
      <dgm:spPr/>
    </dgm:pt>
    <dgm:pt modelId="{AE6A65B5-02E6-417D-9721-CBD5A4BBB1C0}" type="pres">
      <dgm:prSet presAssocID="{72849D7E-82A9-4E4C-B467-DF9D1EAE76BD}" presName="nodeRect" presStyleLbl="alignNode1" presStyleIdx="3" presStyleCnt="4">
        <dgm:presLayoutVars>
          <dgm:bulletEnabled val="1"/>
        </dgm:presLayoutVars>
      </dgm:prSet>
      <dgm:spPr/>
    </dgm:pt>
  </dgm:ptLst>
  <dgm:cxnLst>
    <dgm:cxn modelId="{B2155619-3382-4676-A62E-DE9C86417DFD}" type="presOf" srcId="{72849D7E-82A9-4E4C-B467-DF9D1EAE76BD}" destId="{AE6A65B5-02E6-417D-9721-CBD5A4BBB1C0}" srcOrd="1" destOrd="0" presId="urn:microsoft.com/office/officeart/2016/7/layout/LinearBlockProcessNumbered"/>
    <dgm:cxn modelId="{5CA4D019-9479-4D7F-8068-E7441838DB7A}" type="presOf" srcId="{72849D7E-82A9-4E4C-B467-DF9D1EAE76BD}" destId="{BF428BDC-42F6-434D-8668-DA4CB4ED82D0}" srcOrd="0" destOrd="0" presId="urn:microsoft.com/office/officeart/2016/7/layout/LinearBlockProcessNumbered"/>
    <dgm:cxn modelId="{F2D7E32F-916E-4147-8753-D4E06AF9D6E1}" srcId="{A46CA508-B1C3-4BDB-A97E-97046809D248}" destId="{A1A865D1-399C-468C-AA99-8237103FB48D}" srcOrd="0" destOrd="0" parTransId="{5A74C50A-9DAE-470D-9825-8F52ABEE7344}" sibTransId="{D1786A69-2294-46AB-99DD-B0D5FE0AAFF9}"/>
    <dgm:cxn modelId="{0027383B-E1A8-422A-93DD-C3C37815BD4D}" type="presOf" srcId="{A1A865D1-399C-468C-AA99-8237103FB48D}" destId="{799C6183-07D9-47DD-9451-B7EB08F8A53C}" srcOrd="1" destOrd="0" presId="urn:microsoft.com/office/officeart/2016/7/layout/LinearBlockProcessNumbered"/>
    <dgm:cxn modelId="{F977A445-253A-4959-ACC6-839C40EE55D9}" type="presOf" srcId="{03248AA4-13F1-4C5E-A874-3D1E43D5A4E5}" destId="{AE03AC78-88D6-4E79-873A-CF672DA53C34}" srcOrd="0" destOrd="0" presId="urn:microsoft.com/office/officeart/2016/7/layout/LinearBlockProcessNumbered"/>
    <dgm:cxn modelId="{C141F065-582A-4787-9652-95C472A34905}" type="presOf" srcId="{93045DB4-1850-4DF8-9396-3946CB664194}" destId="{68E20A92-34BC-4BE9-95F0-4D17FED0CDAD}" srcOrd="0" destOrd="0" presId="urn:microsoft.com/office/officeart/2016/7/layout/LinearBlockProcessNumbered"/>
    <dgm:cxn modelId="{030FD74E-F3BC-42F6-8A6F-E65983F67B1A}" srcId="{A46CA508-B1C3-4BDB-A97E-97046809D248}" destId="{72849D7E-82A9-4E4C-B467-DF9D1EAE76BD}" srcOrd="3" destOrd="0" parTransId="{DCA881BE-6843-4FB8-83B9-6A0475536E6D}" sibTransId="{93045DB4-1850-4DF8-9396-3946CB664194}"/>
    <dgm:cxn modelId="{627E1D7A-053D-4805-98F4-4C237F23787E}" type="presOf" srcId="{FDAC5ED5-EC71-464A-88B4-9AE1BAC8D3D8}" destId="{45796389-877A-411D-93C3-D5E407CF29D7}" srcOrd="1" destOrd="0" presId="urn:microsoft.com/office/officeart/2016/7/layout/LinearBlockProcessNumbered"/>
    <dgm:cxn modelId="{1917D07E-397F-43F6-B7C8-1F047A747234}" type="presOf" srcId="{A46CA508-B1C3-4BDB-A97E-97046809D248}" destId="{839D4664-57FC-4963-B899-A82C46BC647C}" srcOrd="0" destOrd="0" presId="urn:microsoft.com/office/officeart/2016/7/layout/LinearBlockProcessNumbered"/>
    <dgm:cxn modelId="{6FB130A4-FAF5-40DB-A426-D155A990EA8A}" srcId="{A46CA508-B1C3-4BDB-A97E-97046809D248}" destId="{59BECB7C-3C5E-4D40-9BA2-DDA0D13745CC}" srcOrd="2" destOrd="0" parTransId="{56484B16-278B-4183-8899-A87BBA67E5CD}" sibTransId="{03248AA4-13F1-4C5E-A874-3D1E43D5A4E5}"/>
    <dgm:cxn modelId="{D7D872B4-06E2-4E57-9DB1-ACAFEBA2EC32}" type="presOf" srcId="{A1A865D1-399C-468C-AA99-8237103FB48D}" destId="{DF5D4BEE-6DA1-46CE-9FF3-9244877A7A60}" srcOrd="0" destOrd="0" presId="urn:microsoft.com/office/officeart/2016/7/layout/LinearBlockProcessNumbered"/>
    <dgm:cxn modelId="{D78B51CB-D816-495D-9A38-602EAFF1A09A}" type="presOf" srcId="{59BECB7C-3C5E-4D40-9BA2-DDA0D13745CC}" destId="{01345652-2061-4C12-AC18-E49C27D79A1B}" srcOrd="1" destOrd="0" presId="urn:microsoft.com/office/officeart/2016/7/layout/LinearBlockProcessNumbered"/>
    <dgm:cxn modelId="{43F583E3-8C52-4A80-B861-6D1A92C8A8A3}" type="presOf" srcId="{FDAC5ED5-EC71-464A-88B4-9AE1BAC8D3D8}" destId="{D5AFAC22-61B6-44BF-B7E9-F3B357422574}" srcOrd="0" destOrd="0" presId="urn:microsoft.com/office/officeart/2016/7/layout/LinearBlockProcessNumbered"/>
    <dgm:cxn modelId="{230A03EF-6EF5-494B-9C44-AF72F42E7CFC}" type="presOf" srcId="{59BECB7C-3C5E-4D40-9BA2-DDA0D13745CC}" destId="{25CD44DD-DF87-45F8-A128-674B8649AD8F}" srcOrd="0" destOrd="0" presId="urn:microsoft.com/office/officeart/2016/7/layout/LinearBlockProcessNumbered"/>
    <dgm:cxn modelId="{A357EDF2-A487-4231-A168-7CB54133D7BF}" type="presOf" srcId="{2F4FEF41-44DC-4A00-AE42-185EFD6BD5FD}" destId="{7925C6DF-E736-4971-BF6B-F4FF412621C9}" srcOrd="0" destOrd="0" presId="urn:microsoft.com/office/officeart/2016/7/layout/LinearBlockProcessNumbered"/>
    <dgm:cxn modelId="{F5D23FF6-13EF-4792-97F6-05EABB908257}" type="presOf" srcId="{D1786A69-2294-46AB-99DD-B0D5FE0AAFF9}" destId="{BBC4DE70-910C-4948-B26A-FBAF734B0650}" srcOrd="0" destOrd="0" presId="urn:microsoft.com/office/officeart/2016/7/layout/LinearBlockProcessNumbered"/>
    <dgm:cxn modelId="{5DC239FB-641D-423D-8885-1319784F98F1}" srcId="{A46CA508-B1C3-4BDB-A97E-97046809D248}" destId="{FDAC5ED5-EC71-464A-88B4-9AE1BAC8D3D8}" srcOrd="1" destOrd="0" parTransId="{98D1B30E-F3D0-4261-84AC-51F57B3740E7}" sibTransId="{2F4FEF41-44DC-4A00-AE42-185EFD6BD5FD}"/>
    <dgm:cxn modelId="{FFB12F50-51DF-47A4-ACC0-2CBB4A39EC71}" type="presParOf" srcId="{839D4664-57FC-4963-B899-A82C46BC647C}" destId="{88A688F0-BAD1-43DC-8E5E-A443DBE295C9}" srcOrd="0" destOrd="0" presId="urn:microsoft.com/office/officeart/2016/7/layout/LinearBlockProcessNumbered"/>
    <dgm:cxn modelId="{5772A10F-FCFC-486F-BBB2-AE695C897886}" type="presParOf" srcId="{88A688F0-BAD1-43DC-8E5E-A443DBE295C9}" destId="{DF5D4BEE-6DA1-46CE-9FF3-9244877A7A60}" srcOrd="0" destOrd="0" presId="urn:microsoft.com/office/officeart/2016/7/layout/LinearBlockProcessNumbered"/>
    <dgm:cxn modelId="{4E0AF2DA-A878-48C4-A3C5-CCD6ABBBA74F}" type="presParOf" srcId="{88A688F0-BAD1-43DC-8E5E-A443DBE295C9}" destId="{BBC4DE70-910C-4948-B26A-FBAF734B0650}" srcOrd="1" destOrd="0" presId="urn:microsoft.com/office/officeart/2016/7/layout/LinearBlockProcessNumbered"/>
    <dgm:cxn modelId="{3D2831C0-A876-40CC-8B85-E9E22110BB0C}" type="presParOf" srcId="{88A688F0-BAD1-43DC-8E5E-A443DBE295C9}" destId="{799C6183-07D9-47DD-9451-B7EB08F8A53C}" srcOrd="2" destOrd="0" presId="urn:microsoft.com/office/officeart/2016/7/layout/LinearBlockProcessNumbered"/>
    <dgm:cxn modelId="{927ADB50-B9C6-4369-9F4A-A2C771960093}" type="presParOf" srcId="{839D4664-57FC-4963-B899-A82C46BC647C}" destId="{B5A0BA6D-59BB-4F04-A766-734BCE766F92}" srcOrd="1" destOrd="0" presId="urn:microsoft.com/office/officeart/2016/7/layout/LinearBlockProcessNumbered"/>
    <dgm:cxn modelId="{55955448-A3D0-4D65-B961-629DDBAAFF49}" type="presParOf" srcId="{839D4664-57FC-4963-B899-A82C46BC647C}" destId="{2B9E373C-5459-40D4-996C-2A1962191A14}" srcOrd="2" destOrd="0" presId="urn:microsoft.com/office/officeart/2016/7/layout/LinearBlockProcessNumbered"/>
    <dgm:cxn modelId="{9B370C70-319E-4776-AAC2-01144F97C8E2}" type="presParOf" srcId="{2B9E373C-5459-40D4-996C-2A1962191A14}" destId="{D5AFAC22-61B6-44BF-B7E9-F3B357422574}" srcOrd="0" destOrd="0" presId="urn:microsoft.com/office/officeart/2016/7/layout/LinearBlockProcessNumbered"/>
    <dgm:cxn modelId="{C4621C8C-B9AD-4A80-AEED-6FF71B5F661F}" type="presParOf" srcId="{2B9E373C-5459-40D4-996C-2A1962191A14}" destId="{7925C6DF-E736-4971-BF6B-F4FF412621C9}" srcOrd="1" destOrd="0" presId="urn:microsoft.com/office/officeart/2016/7/layout/LinearBlockProcessNumbered"/>
    <dgm:cxn modelId="{B518A397-872E-402A-A098-44116B148B4F}" type="presParOf" srcId="{2B9E373C-5459-40D4-996C-2A1962191A14}" destId="{45796389-877A-411D-93C3-D5E407CF29D7}" srcOrd="2" destOrd="0" presId="urn:microsoft.com/office/officeart/2016/7/layout/LinearBlockProcessNumbered"/>
    <dgm:cxn modelId="{EAEEE9CE-118F-4A9A-8AF8-A20F9938E66C}" type="presParOf" srcId="{839D4664-57FC-4963-B899-A82C46BC647C}" destId="{22414D7E-072A-4288-8F91-67BBB85D4D1A}" srcOrd="3" destOrd="0" presId="urn:microsoft.com/office/officeart/2016/7/layout/LinearBlockProcessNumbered"/>
    <dgm:cxn modelId="{EBA3C1BE-B887-4C3D-A973-A46F7B80A397}" type="presParOf" srcId="{839D4664-57FC-4963-B899-A82C46BC647C}" destId="{8FDBD42D-16E1-454B-B85C-959C64C12930}" srcOrd="4" destOrd="0" presId="urn:microsoft.com/office/officeart/2016/7/layout/LinearBlockProcessNumbered"/>
    <dgm:cxn modelId="{9E809D1B-6677-49F8-9DF7-CC28F9D77C8C}" type="presParOf" srcId="{8FDBD42D-16E1-454B-B85C-959C64C12930}" destId="{25CD44DD-DF87-45F8-A128-674B8649AD8F}" srcOrd="0" destOrd="0" presId="urn:microsoft.com/office/officeart/2016/7/layout/LinearBlockProcessNumbered"/>
    <dgm:cxn modelId="{EC8362FF-36DA-4DE3-9159-574B408B4857}" type="presParOf" srcId="{8FDBD42D-16E1-454B-B85C-959C64C12930}" destId="{AE03AC78-88D6-4E79-873A-CF672DA53C34}" srcOrd="1" destOrd="0" presId="urn:microsoft.com/office/officeart/2016/7/layout/LinearBlockProcessNumbered"/>
    <dgm:cxn modelId="{B6003EB0-10EF-436B-8136-A23ABF567114}" type="presParOf" srcId="{8FDBD42D-16E1-454B-B85C-959C64C12930}" destId="{01345652-2061-4C12-AC18-E49C27D79A1B}" srcOrd="2" destOrd="0" presId="urn:microsoft.com/office/officeart/2016/7/layout/LinearBlockProcessNumbered"/>
    <dgm:cxn modelId="{6EDA9408-7A7C-4E66-B780-EF419F054D95}" type="presParOf" srcId="{839D4664-57FC-4963-B899-A82C46BC647C}" destId="{7EFDF060-7F6F-4E50-B16E-740D6B82C6BB}" srcOrd="5" destOrd="0" presId="urn:microsoft.com/office/officeart/2016/7/layout/LinearBlockProcessNumbered"/>
    <dgm:cxn modelId="{C5366090-88C6-4AEC-BD34-524FF8D6458D}" type="presParOf" srcId="{839D4664-57FC-4963-B899-A82C46BC647C}" destId="{1BBBEBEF-FF9E-46A7-B3F1-35134E337BC9}" srcOrd="6" destOrd="0" presId="urn:microsoft.com/office/officeart/2016/7/layout/LinearBlockProcessNumbered"/>
    <dgm:cxn modelId="{F2230BE7-4988-40D3-96DE-C32158AF551E}" type="presParOf" srcId="{1BBBEBEF-FF9E-46A7-B3F1-35134E337BC9}" destId="{BF428BDC-42F6-434D-8668-DA4CB4ED82D0}" srcOrd="0" destOrd="0" presId="urn:microsoft.com/office/officeart/2016/7/layout/LinearBlockProcessNumbered"/>
    <dgm:cxn modelId="{9590CA12-EAC1-4092-A546-F1EC91F0E471}" type="presParOf" srcId="{1BBBEBEF-FF9E-46A7-B3F1-35134E337BC9}" destId="{68E20A92-34BC-4BE9-95F0-4D17FED0CDAD}" srcOrd="1" destOrd="0" presId="urn:microsoft.com/office/officeart/2016/7/layout/LinearBlockProcessNumbered"/>
    <dgm:cxn modelId="{6A42AC13-FEFC-435B-B785-2DDE8E59B43F}" type="presParOf" srcId="{1BBBEBEF-FF9E-46A7-B3F1-35134E337BC9}" destId="{AE6A65B5-02E6-417D-9721-CBD5A4BBB1C0}"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6CA508-B1C3-4BDB-A97E-97046809D248}"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A1A865D1-399C-468C-AA99-8237103FB48D}">
      <dgm:prSet/>
      <dgm:spPr/>
      <dgm:t>
        <a:bodyPr/>
        <a:lstStyle/>
        <a:p>
          <a:r>
            <a:rPr lang="en-US" dirty="0"/>
            <a:t>States capture macro </a:t>
          </a:r>
          <a:r>
            <a:rPr lang="en-US" dirty="0" err="1"/>
            <a:t>behaviour</a:t>
          </a:r>
          <a:r>
            <a:rPr lang="en-US" dirty="0"/>
            <a:t> of the system</a:t>
          </a:r>
        </a:p>
      </dgm:t>
    </dgm:pt>
    <dgm:pt modelId="{5A74C50A-9DAE-470D-9825-8F52ABEE7344}" type="parTrans" cxnId="{F2D7E32F-916E-4147-8753-D4E06AF9D6E1}">
      <dgm:prSet/>
      <dgm:spPr/>
      <dgm:t>
        <a:bodyPr/>
        <a:lstStyle/>
        <a:p>
          <a:endParaRPr lang="en-US"/>
        </a:p>
      </dgm:t>
    </dgm:pt>
    <dgm:pt modelId="{D1786A69-2294-46AB-99DD-B0D5FE0AAFF9}" type="sibTrans" cxnId="{F2D7E32F-916E-4147-8753-D4E06AF9D6E1}">
      <dgm:prSet phldrT="01" phldr="0"/>
      <dgm:spPr/>
      <dgm:t>
        <a:bodyPr/>
        <a:lstStyle/>
        <a:p>
          <a:r>
            <a:rPr lang="en-US"/>
            <a:t>01</a:t>
          </a:r>
        </a:p>
      </dgm:t>
    </dgm:pt>
    <dgm:pt modelId="{FDAC5ED5-EC71-464A-88B4-9AE1BAC8D3D8}">
      <dgm:prSet/>
      <dgm:spPr/>
      <dgm:t>
        <a:bodyPr/>
        <a:lstStyle/>
        <a:p>
          <a:r>
            <a:rPr lang="en-ZA" dirty="0"/>
            <a:t>Modes refines this behaviour</a:t>
          </a:r>
          <a:endParaRPr lang="en-US" dirty="0"/>
        </a:p>
      </dgm:t>
    </dgm:pt>
    <dgm:pt modelId="{98D1B30E-F3D0-4261-84AC-51F57B3740E7}" type="parTrans" cxnId="{5DC239FB-641D-423D-8885-1319784F98F1}">
      <dgm:prSet/>
      <dgm:spPr/>
      <dgm:t>
        <a:bodyPr/>
        <a:lstStyle/>
        <a:p>
          <a:endParaRPr lang="en-US"/>
        </a:p>
      </dgm:t>
    </dgm:pt>
    <dgm:pt modelId="{2F4FEF41-44DC-4A00-AE42-185EFD6BD5FD}" type="sibTrans" cxnId="{5DC239FB-641D-423D-8885-1319784F98F1}">
      <dgm:prSet phldrT="02" phldr="0"/>
      <dgm:spPr/>
      <dgm:t>
        <a:bodyPr/>
        <a:lstStyle/>
        <a:p>
          <a:r>
            <a:rPr lang="en-US"/>
            <a:t>02</a:t>
          </a:r>
        </a:p>
      </dgm:t>
    </dgm:pt>
    <dgm:pt modelId="{59BECB7C-3C5E-4D40-9BA2-DDA0D13745CC}">
      <dgm:prSet/>
      <dgm:spPr/>
      <dgm:t>
        <a:bodyPr/>
        <a:lstStyle/>
        <a:p>
          <a:r>
            <a:rPr lang="en-ZA" dirty="0"/>
            <a:t>Both are used to determine system requirements</a:t>
          </a:r>
          <a:endParaRPr lang="en-US" dirty="0"/>
        </a:p>
      </dgm:t>
    </dgm:pt>
    <dgm:pt modelId="{56484B16-278B-4183-8899-A87BBA67E5CD}" type="parTrans" cxnId="{6FB130A4-FAF5-40DB-A426-D155A990EA8A}">
      <dgm:prSet/>
      <dgm:spPr/>
      <dgm:t>
        <a:bodyPr/>
        <a:lstStyle/>
        <a:p>
          <a:endParaRPr lang="en-US"/>
        </a:p>
      </dgm:t>
    </dgm:pt>
    <dgm:pt modelId="{03248AA4-13F1-4C5E-A874-3D1E43D5A4E5}" type="sibTrans" cxnId="{6FB130A4-FAF5-40DB-A426-D155A990EA8A}">
      <dgm:prSet phldrT="03" phldr="0"/>
      <dgm:spPr/>
      <dgm:t>
        <a:bodyPr/>
        <a:lstStyle/>
        <a:p>
          <a:r>
            <a:rPr lang="en-US"/>
            <a:t>03</a:t>
          </a:r>
        </a:p>
      </dgm:t>
    </dgm:pt>
    <dgm:pt modelId="{839D4664-57FC-4963-B899-A82C46BC647C}" type="pres">
      <dgm:prSet presAssocID="{A46CA508-B1C3-4BDB-A97E-97046809D248}" presName="Name0" presStyleCnt="0">
        <dgm:presLayoutVars>
          <dgm:animLvl val="lvl"/>
          <dgm:resizeHandles val="exact"/>
        </dgm:presLayoutVars>
      </dgm:prSet>
      <dgm:spPr/>
    </dgm:pt>
    <dgm:pt modelId="{88A688F0-BAD1-43DC-8E5E-A443DBE295C9}" type="pres">
      <dgm:prSet presAssocID="{A1A865D1-399C-468C-AA99-8237103FB48D}" presName="compositeNode" presStyleCnt="0">
        <dgm:presLayoutVars>
          <dgm:bulletEnabled val="1"/>
        </dgm:presLayoutVars>
      </dgm:prSet>
      <dgm:spPr/>
    </dgm:pt>
    <dgm:pt modelId="{DF5D4BEE-6DA1-46CE-9FF3-9244877A7A60}" type="pres">
      <dgm:prSet presAssocID="{A1A865D1-399C-468C-AA99-8237103FB48D}" presName="bgRect" presStyleLbl="alignNode1" presStyleIdx="0" presStyleCnt="3"/>
      <dgm:spPr/>
    </dgm:pt>
    <dgm:pt modelId="{BBC4DE70-910C-4948-B26A-FBAF734B0650}" type="pres">
      <dgm:prSet presAssocID="{D1786A69-2294-46AB-99DD-B0D5FE0AAFF9}" presName="sibTransNodeRect" presStyleLbl="alignNode1" presStyleIdx="0" presStyleCnt="3">
        <dgm:presLayoutVars>
          <dgm:chMax val="0"/>
          <dgm:bulletEnabled val="1"/>
        </dgm:presLayoutVars>
      </dgm:prSet>
      <dgm:spPr/>
    </dgm:pt>
    <dgm:pt modelId="{799C6183-07D9-47DD-9451-B7EB08F8A53C}" type="pres">
      <dgm:prSet presAssocID="{A1A865D1-399C-468C-AA99-8237103FB48D}" presName="nodeRect" presStyleLbl="alignNode1" presStyleIdx="0" presStyleCnt="3">
        <dgm:presLayoutVars>
          <dgm:bulletEnabled val="1"/>
        </dgm:presLayoutVars>
      </dgm:prSet>
      <dgm:spPr/>
    </dgm:pt>
    <dgm:pt modelId="{B5A0BA6D-59BB-4F04-A766-734BCE766F92}" type="pres">
      <dgm:prSet presAssocID="{D1786A69-2294-46AB-99DD-B0D5FE0AAFF9}" presName="sibTrans" presStyleCnt="0"/>
      <dgm:spPr/>
    </dgm:pt>
    <dgm:pt modelId="{2B9E373C-5459-40D4-996C-2A1962191A14}" type="pres">
      <dgm:prSet presAssocID="{FDAC5ED5-EC71-464A-88B4-9AE1BAC8D3D8}" presName="compositeNode" presStyleCnt="0">
        <dgm:presLayoutVars>
          <dgm:bulletEnabled val="1"/>
        </dgm:presLayoutVars>
      </dgm:prSet>
      <dgm:spPr/>
    </dgm:pt>
    <dgm:pt modelId="{D5AFAC22-61B6-44BF-B7E9-F3B357422574}" type="pres">
      <dgm:prSet presAssocID="{FDAC5ED5-EC71-464A-88B4-9AE1BAC8D3D8}" presName="bgRect" presStyleLbl="alignNode1" presStyleIdx="1" presStyleCnt="3"/>
      <dgm:spPr/>
    </dgm:pt>
    <dgm:pt modelId="{7925C6DF-E736-4971-BF6B-F4FF412621C9}" type="pres">
      <dgm:prSet presAssocID="{2F4FEF41-44DC-4A00-AE42-185EFD6BD5FD}" presName="sibTransNodeRect" presStyleLbl="alignNode1" presStyleIdx="1" presStyleCnt="3">
        <dgm:presLayoutVars>
          <dgm:chMax val="0"/>
          <dgm:bulletEnabled val="1"/>
        </dgm:presLayoutVars>
      </dgm:prSet>
      <dgm:spPr/>
    </dgm:pt>
    <dgm:pt modelId="{45796389-877A-411D-93C3-D5E407CF29D7}" type="pres">
      <dgm:prSet presAssocID="{FDAC5ED5-EC71-464A-88B4-9AE1BAC8D3D8}" presName="nodeRect" presStyleLbl="alignNode1" presStyleIdx="1" presStyleCnt="3">
        <dgm:presLayoutVars>
          <dgm:bulletEnabled val="1"/>
        </dgm:presLayoutVars>
      </dgm:prSet>
      <dgm:spPr/>
    </dgm:pt>
    <dgm:pt modelId="{22414D7E-072A-4288-8F91-67BBB85D4D1A}" type="pres">
      <dgm:prSet presAssocID="{2F4FEF41-44DC-4A00-AE42-185EFD6BD5FD}" presName="sibTrans" presStyleCnt="0"/>
      <dgm:spPr/>
    </dgm:pt>
    <dgm:pt modelId="{8FDBD42D-16E1-454B-B85C-959C64C12930}" type="pres">
      <dgm:prSet presAssocID="{59BECB7C-3C5E-4D40-9BA2-DDA0D13745CC}" presName="compositeNode" presStyleCnt="0">
        <dgm:presLayoutVars>
          <dgm:bulletEnabled val="1"/>
        </dgm:presLayoutVars>
      </dgm:prSet>
      <dgm:spPr/>
    </dgm:pt>
    <dgm:pt modelId="{25CD44DD-DF87-45F8-A128-674B8649AD8F}" type="pres">
      <dgm:prSet presAssocID="{59BECB7C-3C5E-4D40-9BA2-DDA0D13745CC}" presName="bgRect" presStyleLbl="alignNode1" presStyleIdx="2" presStyleCnt="3"/>
      <dgm:spPr/>
    </dgm:pt>
    <dgm:pt modelId="{AE03AC78-88D6-4E79-873A-CF672DA53C34}" type="pres">
      <dgm:prSet presAssocID="{03248AA4-13F1-4C5E-A874-3D1E43D5A4E5}" presName="sibTransNodeRect" presStyleLbl="alignNode1" presStyleIdx="2" presStyleCnt="3">
        <dgm:presLayoutVars>
          <dgm:chMax val="0"/>
          <dgm:bulletEnabled val="1"/>
        </dgm:presLayoutVars>
      </dgm:prSet>
      <dgm:spPr/>
    </dgm:pt>
    <dgm:pt modelId="{01345652-2061-4C12-AC18-E49C27D79A1B}" type="pres">
      <dgm:prSet presAssocID="{59BECB7C-3C5E-4D40-9BA2-DDA0D13745CC}" presName="nodeRect" presStyleLbl="alignNode1" presStyleIdx="2" presStyleCnt="3">
        <dgm:presLayoutVars>
          <dgm:bulletEnabled val="1"/>
        </dgm:presLayoutVars>
      </dgm:prSet>
      <dgm:spPr/>
    </dgm:pt>
  </dgm:ptLst>
  <dgm:cxnLst>
    <dgm:cxn modelId="{F2D7E32F-916E-4147-8753-D4E06AF9D6E1}" srcId="{A46CA508-B1C3-4BDB-A97E-97046809D248}" destId="{A1A865D1-399C-468C-AA99-8237103FB48D}" srcOrd="0" destOrd="0" parTransId="{5A74C50A-9DAE-470D-9825-8F52ABEE7344}" sibTransId="{D1786A69-2294-46AB-99DD-B0D5FE0AAFF9}"/>
    <dgm:cxn modelId="{0027383B-E1A8-422A-93DD-C3C37815BD4D}" type="presOf" srcId="{A1A865D1-399C-468C-AA99-8237103FB48D}" destId="{799C6183-07D9-47DD-9451-B7EB08F8A53C}" srcOrd="1" destOrd="0" presId="urn:microsoft.com/office/officeart/2016/7/layout/LinearBlockProcessNumbered"/>
    <dgm:cxn modelId="{F977A445-253A-4959-ACC6-839C40EE55D9}" type="presOf" srcId="{03248AA4-13F1-4C5E-A874-3D1E43D5A4E5}" destId="{AE03AC78-88D6-4E79-873A-CF672DA53C34}" srcOrd="0" destOrd="0" presId="urn:microsoft.com/office/officeart/2016/7/layout/LinearBlockProcessNumbered"/>
    <dgm:cxn modelId="{627E1D7A-053D-4805-98F4-4C237F23787E}" type="presOf" srcId="{FDAC5ED5-EC71-464A-88B4-9AE1BAC8D3D8}" destId="{45796389-877A-411D-93C3-D5E407CF29D7}" srcOrd="1" destOrd="0" presId="urn:microsoft.com/office/officeart/2016/7/layout/LinearBlockProcessNumbered"/>
    <dgm:cxn modelId="{1917D07E-397F-43F6-B7C8-1F047A747234}" type="presOf" srcId="{A46CA508-B1C3-4BDB-A97E-97046809D248}" destId="{839D4664-57FC-4963-B899-A82C46BC647C}" srcOrd="0" destOrd="0" presId="urn:microsoft.com/office/officeart/2016/7/layout/LinearBlockProcessNumbered"/>
    <dgm:cxn modelId="{6FB130A4-FAF5-40DB-A426-D155A990EA8A}" srcId="{A46CA508-B1C3-4BDB-A97E-97046809D248}" destId="{59BECB7C-3C5E-4D40-9BA2-DDA0D13745CC}" srcOrd="2" destOrd="0" parTransId="{56484B16-278B-4183-8899-A87BBA67E5CD}" sibTransId="{03248AA4-13F1-4C5E-A874-3D1E43D5A4E5}"/>
    <dgm:cxn modelId="{D7D872B4-06E2-4E57-9DB1-ACAFEBA2EC32}" type="presOf" srcId="{A1A865D1-399C-468C-AA99-8237103FB48D}" destId="{DF5D4BEE-6DA1-46CE-9FF3-9244877A7A60}" srcOrd="0" destOrd="0" presId="urn:microsoft.com/office/officeart/2016/7/layout/LinearBlockProcessNumbered"/>
    <dgm:cxn modelId="{D78B51CB-D816-495D-9A38-602EAFF1A09A}" type="presOf" srcId="{59BECB7C-3C5E-4D40-9BA2-DDA0D13745CC}" destId="{01345652-2061-4C12-AC18-E49C27D79A1B}" srcOrd="1" destOrd="0" presId="urn:microsoft.com/office/officeart/2016/7/layout/LinearBlockProcessNumbered"/>
    <dgm:cxn modelId="{43F583E3-8C52-4A80-B861-6D1A92C8A8A3}" type="presOf" srcId="{FDAC5ED5-EC71-464A-88B4-9AE1BAC8D3D8}" destId="{D5AFAC22-61B6-44BF-B7E9-F3B357422574}" srcOrd="0" destOrd="0" presId="urn:microsoft.com/office/officeart/2016/7/layout/LinearBlockProcessNumbered"/>
    <dgm:cxn modelId="{230A03EF-6EF5-494B-9C44-AF72F42E7CFC}" type="presOf" srcId="{59BECB7C-3C5E-4D40-9BA2-DDA0D13745CC}" destId="{25CD44DD-DF87-45F8-A128-674B8649AD8F}" srcOrd="0" destOrd="0" presId="urn:microsoft.com/office/officeart/2016/7/layout/LinearBlockProcessNumbered"/>
    <dgm:cxn modelId="{A357EDF2-A487-4231-A168-7CB54133D7BF}" type="presOf" srcId="{2F4FEF41-44DC-4A00-AE42-185EFD6BD5FD}" destId="{7925C6DF-E736-4971-BF6B-F4FF412621C9}" srcOrd="0" destOrd="0" presId="urn:microsoft.com/office/officeart/2016/7/layout/LinearBlockProcessNumbered"/>
    <dgm:cxn modelId="{F5D23FF6-13EF-4792-97F6-05EABB908257}" type="presOf" srcId="{D1786A69-2294-46AB-99DD-B0D5FE0AAFF9}" destId="{BBC4DE70-910C-4948-B26A-FBAF734B0650}" srcOrd="0" destOrd="0" presId="urn:microsoft.com/office/officeart/2016/7/layout/LinearBlockProcessNumbered"/>
    <dgm:cxn modelId="{5DC239FB-641D-423D-8885-1319784F98F1}" srcId="{A46CA508-B1C3-4BDB-A97E-97046809D248}" destId="{FDAC5ED5-EC71-464A-88B4-9AE1BAC8D3D8}" srcOrd="1" destOrd="0" parTransId="{98D1B30E-F3D0-4261-84AC-51F57B3740E7}" sibTransId="{2F4FEF41-44DC-4A00-AE42-185EFD6BD5FD}"/>
    <dgm:cxn modelId="{FFB12F50-51DF-47A4-ACC0-2CBB4A39EC71}" type="presParOf" srcId="{839D4664-57FC-4963-B899-A82C46BC647C}" destId="{88A688F0-BAD1-43DC-8E5E-A443DBE295C9}" srcOrd="0" destOrd="0" presId="urn:microsoft.com/office/officeart/2016/7/layout/LinearBlockProcessNumbered"/>
    <dgm:cxn modelId="{5772A10F-FCFC-486F-BBB2-AE695C897886}" type="presParOf" srcId="{88A688F0-BAD1-43DC-8E5E-A443DBE295C9}" destId="{DF5D4BEE-6DA1-46CE-9FF3-9244877A7A60}" srcOrd="0" destOrd="0" presId="urn:microsoft.com/office/officeart/2016/7/layout/LinearBlockProcessNumbered"/>
    <dgm:cxn modelId="{4E0AF2DA-A878-48C4-A3C5-CCD6ABBBA74F}" type="presParOf" srcId="{88A688F0-BAD1-43DC-8E5E-A443DBE295C9}" destId="{BBC4DE70-910C-4948-B26A-FBAF734B0650}" srcOrd="1" destOrd="0" presId="urn:microsoft.com/office/officeart/2016/7/layout/LinearBlockProcessNumbered"/>
    <dgm:cxn modelId="{3D2831C0-A876-40CC-8B85-E9E22110BB0C}" type="presParOf" srcId="{88A688F0-BAD1-43DC-8E5E-A443DBE295C9}" destId="{799C6183-07D9-47DD-9451-B7EB08F8A53C}" srcOrd="2" destOrd="0" presId="urn:microsoft.com/office/officeart/2016/7/layout/LinearBlockProcessNumbered"/>
    <dgm:cxn modelId="{927ADB50-B9C6-4369-9F4A-A2C771960093}" type="presParOf" srcId="{839D4664-57FC-4963-B899-A82C46BC647C}" destId="{B5A0BA6D-59BB-4F04-A766-734BCE766F92}" srcOrd="1" destOrd="0" presId="urn:microsoft.com/office/officeart/2016/7/layout/LinearBlockProcessNumbered"/>
    <dgm:cxn modelId="{55955448-A3D0-4D65-B961-629DDBAAFF49}" type="presParOf" srcId="{839D4664-57FC-4963-B899-A82C46BC647C}" destId="{2B9E373C-5459-40D4-996C-2A1962191A14}" srcOrd="2" destOrd="0" presId="urn:microsoft.com/office/officeart/2016/7/layout/LinearBlockProcessNumbered"/>
    <dgm:cxn modelId="{9B370C70-319E-4776-AAC2-01144F97C8E2}" type="presParOf" srcId="{2B9E373C-5459-40D4-996C-2A1962191A14}" destId="{D5AFAC22-61B6-44BF-B7E9-F3B357422574}" srcOrd="0" destOrd="0" presId="urn:microsoft.com/office/officeart/2016/7/layout/LinearBlockProcessNumbered"/>
    <dgm:cxn modelId="{C4621C8C-B9AD-4A80-AEED-6FF71B5F661F}" type="presParOf" srcId="{2B9E373C-5459-40D4-996C-2A1962191A14}" destId="{7925C6DF-E736-4971-BF6B-F4FF412621C9}" srcOrd="1" destOrd="0" presId="urn:microsoft.com/office/officeart/2016/7/layout/LinearBlockProcessNumbered"/>
    <dgm:cxn modelId="{B518A397-872E-402A-A098-44116B148B4F}" type="presParOf" srcId="{2B9E373C-5459-40D4-996C-2A1962191A14}" destId="{45796389-877A-411D-93C3-D5E407CF29D7}" srcOrd="2" destOrd="0" presId="urn:microsoft.com/office/officeart/2016/7/layout/LinearBlockProcessNumbered"/>
    <dgm:cxn modelId="{EAEEE9CE-118F-4A9A-8AF8-A20F9938E66C}" type="presParOf" srcId="{839D4664-57FC-4963-B899-A82C46BC647C}" destId="{22414D7E-072A-4288-8F91-67BBB85D4D1A}" srcOrd="3" destOrd="0" presId="urn:microsoft.com/office/officeart/2016/7/layout/LinearBlockProcessNumbered"/>
    <dgm:cxn modelId="{EBA3C1BE-B887-4C3D-A973-A46F7B80A397}" type="presParOf" srcId="{839D4664-57FC-4963-B899-A82C46BC647C}" destId="{8FDBD42D-16E1-454B-B85C-959C64C12930}" srcOrd="4" destOrd="0" presId="urn:microsoft.com/office/officeart/2016/7/layout/LinearBlockProcessNumbered"/>
    <dgm:cxn modelId="{9E809D1B-6677-49F8-9DF7-CC28F9D77C8C}" type="presParOf" srcId="{8FDBD42D-16E1-454B-B85C-959C64C12930}" destId="{25CD44DD-DF87-45F8-A128-674B8649AD8F}" srcOrd="0" destOrd="0" presId="urn:microsoft.com/office/officeart/2016/7/layout/LinearBlockProcessNumbered"/>
    <dgm:cxn modelId="{EC8362FF-36DA-4DE3-9159-574B408B4857}" type="presParOf" srcId="{8FDBD42D-16E1-454B-B85C-959C64C12930}" destId="{AE03AC78-88D6-4E79-873A-CF672DA53C34}" srcOrd="1" destOrd="0" presId="urn:microsoft.com/office/officeart/2016/7/layout/LinearBlockProcessNumbered"/>
    <dgm:cxn modelId="{B6003EB0-10EF-436B-8136-A23ABF567114}" type="presParOf" srcId="{8FDBD42D-16E1-454B-B85C-959C64C12930}" destId="{01345652-2061-4C12-AC18-E49C27D79A1B}"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5D4BEE-6DA1-46CE-9FF3-9244877A7A60}">
      <dsp:nvSpPr>
        <dsp:cNvPr id="0" name=""/>
        <dsp:cNvSpPr/>
      </dsp:nvSpPr>
      <dsp:spPr>
        <a:xfrm>
          <a:off x="215" y="278337"/>
          <a:ext cx="2601301" cy="3121562"/>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22350">
            <a:lnSpc>
              <a:spcPct val="90000"/>
            </a:lnSpc>
            <a:spcBef>
              <a:spcPct val="0"/>
            </a:spcBef>
            <a:spcAft>
              <a:spcPct val="35000"/>
            </a:spcAft>
            <a:buNone/>
          </a:pPr>
          <a:r>
            <a:rPr lang="en-US" sz="2300" kern="1200" dirty="0"/>
            <a:t>Initial step to determine external interfaces and enabling systems</a:t>
          </a:r>
          <a:endParaRPr lang="en-US" sz="2300" b="1" kern="1200" dirty="0"/>
        </a:p>
      </dsp:txBody>
      <dsp:txXfrm>
        <a:off x="215" y="1526962"/>
        <a:ext cx="2601301" cy="1872937"/>
      </dsp:txXfrm>
    </dsp:sp>
    <dsp:sp modelId="{BBC4DE70-910C-4948-B26A-FBAF734B0650}">
      <dsp:nvSpPr>
        <dsp:cNvPr id="0" name=""/>
        <dsp:cNvSpPr/>
      </dsp:nvSpPr>
      <dsp:spPr>
        <a:xfrm>
          <a:off x="215"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215" y="278337"/>
        <a:ext cx="2601301" cy="1248624"/>
      </dsp:txXfrm>
    </dsp:sp>
    <dsp:sp modelId="{D5AFAC22-61B6-44BF-B7E9-F3B357422574}">
      <dsp:nvSpPr>
        <dsp:cNvPr id="0" name=""/>
        <dsp:cNvSpPr/>
      </dsp:nvSpPr>
      <dsp:spPr>
        <a:xfrm>
          <a:off x="2809621" y="278337"/>
          <a:ext cx="2601301" cy="3121562"/>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22350">
            <a:lnSpc>
              <a:spcPct val="90000"/>
            </a:lnSpc>
            <a:spcBef>
              <a:spcPct val="0"/>
            </a:spcBef>
            <a:spcAft>
              <a:spcPct val="35000"/>
            </a:spcAft>
            <a:buNone/>
          </a:pPr>
          <a:r>
            <a:rPr lang="en-US" sz="2300" kern="1200" dirty="0"/>
            <a:t>Only interactions between </a:t>
          </a:r>
          <a:r>
            <a:rPr lang="en-US" sz="2300" kern="1200" dirty="0" err="1"/>
            <a:t>SoI</a:t>
          </a:r>
          <a:r>
            <a:rPr lang="en-US" sz="2300" kern="1200" dirty="0"/>
            <a:t> and external elements documented</a:t>
          </a:r>
        </a:p>
      </dsp:txBody>
      <dsp:txXfrm>
        <a:off x="2809621" y="1526962"/>
        <a:ext cx="2601301" cy="1872937"/>
      </dsp:txXfrm>
    </dsp:sp>
    <dsp:sp modelId="{7925C6DF-E736-4971-BF6B-F4FF412621C9}">
      <dsp:nvSpPr>
        <dsp:cNvPr id="0" name=""/>
        <dsp:cNvSpPr/>
      </dsp:nvSpPr>
      <dsp:spPr>
        <a:xfrm>
          <a:off x="2809621"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2809621" y="278337"/>
        <a:ext cx="2601301" cy="1248624"/>
      </dsp:txXfrm>
    </dsp:sp>
    <dsp:sp modelId="{25CD44DD-DF87-45F8-A128-674B8649AD8F}">
      <dsp:nvSpPr>
        <dsp:cNvPr id="0" name=""/>
        <dsp:cNvSpPr/>
      </dsp:nvSpPr>
      <dsp:spPr>
        <a:xfrm>
          <a:off x="5619027" y="278337"/>
          <a:ext cx="2601301" cy="3121562"/>
        </a:xfrm>
        <a:prstGeom prst="rect">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22350">
            <a:lnSpc>
              <a:spcPct val="90000"/>
            </a:lnSpc>
            <a:spcBef>
              <a:spcPct val="0"/>
            </a:spcBef>
            <a:spcAft>
              <a:spcPct val="35000"/>
            </a:spcAft>
            <a:buNone/>
          </a:pPr>
          <a:r>
            <a:rPr lang="en-US" sz="2300" kern="1200" dirty="0"/>
            <a:t>Can use icons to aid in understanding</a:t>
          </a:r>
          <a:endParaRPr lang="en-US" sz="2300" b="1" kern="1200" dirty="0"/>
        </a:p>
      </dsp:txBody>
      <dsp:txXfrm>
        <a:off x="5619027" y="1526962"/>
        <a:ext cx="2601301" cy="1872937"/>
      </dsp:txXfrm>
    </dsp:sp>
    <dsp:sp modelId="{AE03AC78-88D6-4E79-873A-CF672DA53C34}">
      <dsp:nvSpPr>
        <dsp:cNvPr id="0" name=""/>
        <dsp:cNvSpPr/>
      </dsp:nvSpPr>
      <dsp:spPr>
        <a:xfrm>
          <a:off x="5619027"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5619027" y="278337"/>
        <a:ext cx="2601301" cy="1248624"/>
      </dsp:txXfrm>
    </dsp:sp>
    <dsp:sp modelId="{BF428BDC-42F6-434D-8668-DA4CB4ED82D0}">
      <dsp:nvSpPr>
        <dsp:cNvPr id="0" name=""/>
        <dsp:cNvSpPr/>
      </dsp:nvSpPr>
      <dsp:spPr>
        <a:xfrm>
          <a:off x="8428432" y="278337"/>
          <a:ext cx="2601301" cy="3121562"/>
        </a:xfrm>
        <a:prstGeom prst="rect">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22350">
            <a:lnSpc>
              <a:spcPct val="90000"/>
            </a:lnSpc>
            <a:spcBef>
              <a:spcPct val="0"/>
            </a:spcBef>
            <a:spcAft>
              <a:spcPct val="35000"/>
            </a:spcAft>
            <a:buNone/>
          </a:pPr>
          <a:r>
            <a:rPr lang="en-US" sz="2300" b="0" kern="1200" dirty="0"/>
            <a:t>Don’t include aspects internal to the </a:t>
          </a:r>
          <a:r>
            <a:rPr lang="en-US" sz="2300" b="0" kern="1200" dirty="0" err="1"/>
            <a:t>SoI</a:t>
          </a:r>
          <a:r>
            <a:rPr lang="en-US" sz="2300" b="0" kern="1200" dirty="0"/>
            <a:t> in the SCD</a:t>
          </a:r>
        </a:p>
      </dsp:txBody>
      <dsp:txXfrm>
        <a:off x="8428432" y="1526962"/>
        <a:ext cx="2601301" cy="1872937"/>
      </dsp:txXfrm>
    </dsp:sp>
    <dsp:sp modelId="{68E20A92-34BC-4BE9-95F0-4D17FED0CDAD}">
      <dsp:nvSpPr>
        <dsp:cNvPr id="0" name=""/>
        <dsp:cNvSpPr/>
      </dsp:nvSpPr>
      <dsp:spPr>
        <a:xfrm>
          <a:off x="8428432"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04</a:t>
          </a:r>
        </a:p>
      </dsp:txBody>
      <dsp:txXfrm>
        <a:off x="8428432" y="278337"/>
        <a:ext cx="2601301" cy="12486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5D4BEE-6DA1-46CE-9FF3-9244877A7A60}">
      <dsp:nvSpPr>
        <dsp:cNvPr id="0" name=""/>
        <dsp:cNvSpPr/>
      </dsp:nvSpPr>
      <dsp:spPr>
        <a:xfrm>
          <a:off x="861" y="0"/>
          <a:ext cx="3489945" cy="3678238"/>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US" sz="2600" kern="1200" dirty="0"/>
            <a:t>States capture macro </a:t>
          </a:r>
          <a:r>
            <a:rPr lang="en-US" sz="2600" kern="1200" dirty="0" err="1"/>
            <a:t>behaviour</a:t>
          </a:r>
          <a:r>
            <a:rPr lang="en-US" sz="2600" kern="1200" dirty="0"/>
            <a:t> of the system</a:t>
          </a:r>
        </a:p>
      </dsp:txBody>
      <dsp:txXfrm>
        <a:off x="861" y="1471295"/>
        <a:ext cx="3489945" cy="2206942"/>
      </dsp:txXfrm>
    </dsp:sp>
    <dsp:sp modelId="{BBC4DE70-910C-4948-B26A-FBAF734B0650}">
      <dsp:nvSpPr>
        <dsp:cNvPr id="0" name=""/>
        <dsp:cNvSpPr/>
      </dsp:nvSpPr>
      <dsp:spPr>
        <a:xfrm>
          <a:off x="861"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61" y="0"/>
        <a:ext cx="3489945" cy="1471295"/>
      </dsp:txXfrm>
    </dsp:sp>
    <dsp:sp modelId="{D5AFAC22-61B6-44BF-B7E9-F3B357422574}">
      <dsp:nvSpPr>
        <dsp:cNvPr id="0" name=""/>
        <dsp:cNvSpPr/>
      </dsp:nvSpPr>
      <dsp:spPr>
        <a:xfrm>
          <a:off x="3770002" y="0"/>
          <a:ext cx="3489945" cy="3678238"/>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ZA" sz="2600" kern="1200" dirty="0"/>
            <a:t>Modes refines this behaviour</a:t>
          </a:r>
          <a:endParaRPr lang="en-US" sz="2600" kern="1200" dirty="0"/>
        </a:p>
      </dsp:txBody>
      <dsp:txXfrm>
        <a:off x="3770002" y="1471295"/>
        <a:ext cx="3489945" cy="2206942"/>
      </dsp:txXfrm>
    </dsp:sp>
    <dsp:sp modelId="{7925C6DF-E736-4971-BF6B-F4FF412621C9}">
      <dsp:nvSpPr>
        <dsp:cNvPr id="0" name=""/>
        <dsp:cNvSpPr/>
      </dsp:nvSpPr>
      <dsp:spPr>
        <a:xfrm>
          <a:off x="3770002"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70002" y="0"/>
        <a:ext cx="3489945" cy="1471295"/>
      </dsp:txXfrm>
    </dsp:sp>
    <dsp:sp modelId="{25CD44DD-DF87-45F8-A128-674B8649AD8F}">
      <dsp:nvSpPr>
        <dsp:cNvPr id="0" name=""/>
        <dsp:cNvSpPr/>
      </dsp:nvSpPr>
      <dsp:spPr>
        <a:xfrm>
          <a:off x="7539143" y="0"/>
          <a:ext cx="3489945" cy="3678238"/>
        </a:xfrm>
        <a:prstGeom prst="rect">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ZA" sz="2600" kern="1200" dirty="0"/>
            <a:t>Both are used to determine system requirements</a:t>
          </a:r>
          <a:endParaRPr lang="en-US" sz="2600" kern="1200" dirty="0"/>
        </a:p>
      </dsp:txBody>
      <dsp:txXfrm>
        <a:off x="7539143" y="1471295"/>
        <a:ext cx="3489945" cy="2206942"/>
      </dsp:txXfrm>
    </dsp:sp>
    <dsp:sp modelId="{AE03AC78-88D6-4E79-873A-CF672DA53C34}">
      <dsp:nvSpPr>
        <dsp:cNvPr id="0" name=""/>
        <dsp:cNvSpPr/>
      </dsp:nvSpPr>
      <dsp:spPr>
        <a:xfrm>
          <a:off x="7539143"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539143" y="0"/>
        <a:ext cx="3489945" cy="1471295"/>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BABC7-DAE0-4041-AE55-8098537A4F71}" type="datetimeFigureOut">
              <a:rPr lang="en-GB" smtClean="0"/>
              <a:t>22/07/2026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95338-AEAB-456A-9E65-33FAB70ABE16}" type="slidenum">
              <a:rPr lang="en-GB" smtClean="0"/>
              <a:t>‹#›</a:t>
            </a:fld>
            <a:endParaRPr lang="en-GB"/>
          </a:p>
        </p:txBody>
      </p:sp>
    </p:spTree>
    <p:extLst>
      <p:ext uri="{BB962C8B-B14F-4D97-AF65-F5344CB8AC3E}">
        <p14:creationId xmlns:p14="http://schemas.microsoft.com/office/powerpoint/2010/main" val="2740130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It should be obvious that neither analytic thinking nor synthetic thinking alone would be sufficient to design truly well functioning systems. The synthetic side would gloss over some of the (maybe very important) low-level detail whilst the analytic approach might fail to consider the environment in which the system should operate.</a:t>
            </a:r>
          </a:p>
          <a:p>
            <a:endParaRPr lang="en-ZA" dirty="0"/>
          </a:p>
          <a:p>
            <a:r>
              <a:rPr lang="en-ZA" dirty="0"/>
              <a:t>Consider the following: If you were to design a 5V power supply which type of thinking would you naturally lean towards? Most likely analytical thinking and that would quickly lead to some process or procedure that you learned in electronics... That might be perfectly fine for a lab practical but how would the design need to change if</a:t>
            </a:r>
          </a:p>
          <a:p>
            <a:pPr marL="171450" indent="-171450">
              <a:buFontTx/>
              <a:buChar char="-"/>
            </a:pPr>
            <a:r>
              <a:rPr lang="en-ZA" dirty="0"/>
              <a:t>The power supply was to be used in very cold climates such as the arctic?</a:t>
            </a:r>
          </a:p>
          <a:p>
            <a:pPr marL="171450" indent="-171450">
              <a:buFontTx/>
              <a:buChar char="-"/>
            </a:pPr>
            <a:r>
              <a:rPr lang="en-ZA" dirty="0"/>
              <a:t>Very hot climates were more realistic, say for instance the Namib dessert?</a:t>
            </a:r>
          </a:p>
          <a:p>
            <a:pPr marL="171450" indent="-171450">
              <a:buFontTx/>
              <a:buChar char="-"/>
            </a:pPr>
            <a:r>
              <a:rPr lang="en-ZA" dirty="0"/>
              <a:t>What if it were to be used in life saving medical devices?</a:t>
            </a:r>
          </a:p>
          <a:p>
            <a:pPr marL="171450" indent="-171450">
              <a:buFontTx/>
              <a:buChar char="-"/>
            </a:pPr>
            <a:endParaRPr lang="en-ZA" dirty="0"/>
          </a:p>
          <a:p>
            <a:pPr marL="0" indent="0">
              <a:buFontTx/>
              <a:buNone/>
            </a:pPr>
            <a:r>
              <a:rPr lang="en-ZA" dirty="0"/>
              <a:t>As you can see the context in which a system is used, is just as important than the technical implementation details.</a:t>
            </a:r>
          </a:p>
          <a:p>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4</a:t>
            </a:fld>
            <a:endParaRPr lang="en-GB"/>
          </a:p>
        </p:txBody>
      </p:sp>
    </p:spTree>
    <p:extLst>
      <p:ext uri="{BB962C8B-B14F-4D97-AF65-F5344CB8AC3E}">
        <p14:creationId xmlns:p14="http://schemas.microsoft.com/office/powerpoint/2010/main" val="3599026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Systems thinking requires that we think of the system in context</a:t>
            </a:r>
          </a:p>
          <a:p>
            <a:pPr marL="171450" indent="-171450">
              <a:buFont typeface="Arial" panose="020B0604020202020204" pitchFamily="34" charset="0"/>
              <a:buChar char="•"/>
            </a:pPr>
            <a:r>
              <a:rPr lang="en-GB" dirty="0"/>
              <a:t>Systems engineering requires analysis of requirements</a:t>
            </a:r>
          </a:p>
          <a:p>
            <a:pPr marL="171450" indent="-171450">
              <a:buFont typeface="Arial" panose="020B0604020202020204" pitchFamily="34" charset="0"/>
              <a:buChar char="•"/>
            </a:pPr>
            <a:r>
              <a:rPr lang="en-GB" dirty="0"/>
              <a:t>Requirements stem from interactions with the environment</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5</a:t>
            </a:fld>
            <a:endParaRPr lang="en-GB"/>
          </a:p>
        </p:txBody>
      </p:sp>
    </p:spTree>
    <p:extLst>
      <p:ext uri="{BB962C8B-B14F-4D97-AF65-F5344CB8AC3E}">
        <p14:creationId xmlns:p14="http://schemas.microsoft.com/office/powerpoint/2010/main" val="3522565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Technically there is a context during storage, transport, installation, commissioning, operation, maintenance, and decommissioning.</a:t>
            </a:r>
          </a:p>
        </p:txBody>
      </p:sp>
      <p:sp>
        <p:nvSpPr>
          <p:cNvPr id="4" name="Slide Number Placeholder 3"/>
          <p:cNvSpPr>
            <a:spLocks noGrp="1"/>
          </p:cNvSpPr>
          <p:nvPr>
            <p:ph type="sldNum" sz="quarter" idx="5"/>
          </p:nvPr>
        </p:nvSpPr>
        <p:spPr/>
        <p:txBody>
          <a:bodyPr/>
          <a:lstStyle/>
          <a:p>
            <a:fld id="{F4095338-AEAB-456A-9E65-33FAB70ABE16}" type="slidenum">
              <a:rPr lang="en-GB" smtClean="0"/>
              <a:t>6</a:t>
            </a:fld>
            <a:endParaRPr lang="en-GB"/>
          </a:p>
        </p:txBody>
      </p:sp>
    </p:spTree>
    <p:extLst>
      <p:ext uri="{BB962C8B-B14F-4D97-AF65-F5344CB8AC3E}">
        <p14:creationId xmlns:p14="http://schemas.microsoft.com/office/powerpoint/2010/main" val="145678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Inputs and Outputs	- </a:t>
            </a:r>
            <a:r>
              <a:rPr lang="en-US" sz="1200" b="0" i="0" u="none" strike="noStrike" kern="1200" baseline="0" dirty="0">
                <a:solidFill>
                  <a:schemeClr val="tx1"/>
                </a:solidFill>
                <a:latin typeface="+mn-lt"/>
                <a:ea typeface="+mn-ea"/>
                <a:cs typeface="+mn-cs"/>
              </a:rPr>
              <a:t>primary purpose of most systems is to operate on external stimuli and/or materials in such a manner as to process these inputs </a:t>
            </a:r>
            <a:r>
              <a:rPr lang="en-GB" sz="1200" b="0" i="0" u="none" strike="noStrike" kern="1200" baseline="0" dirty="0">
                <a:solidFill>
                  <a:schemeClr val="tx1"/>
                </a:solidFill>
                <a:latin typeface="+mn-lt"/>
                <a:ea typeface="+mn-ea"/>
                <a:cs typeface="+mn-cs"/>
              </a:rPr>
              <a:t>in a useful way</a:t>
            </a:r>
            <a:endParaRPr lang="en-GB" dirty="0"/>
          </a:p>
          <a:p>
            <a:r>
              <a:rPr lang="en-GB" dirty="0"/>
              <a:t>System Operators	- </a:t>
            </a:r>
            <a:r>
              <a:rPr lang="en-US" sz="1200" b="0" i="0" u="none" strike="noStrike" kern="1200" baseline="0" dirty="0">
                <a:solidFill>
                  <a:schemeClr val="tx1"/>
                </a:solidFill>
                <a:latin typeface="+mn-lt"/>
                <a:ea typeface="+mn-ea"/>
                <a:cs typeface="+mn-cs"/>
              </a:rPr>
              <a:t>interface between the operator and the system is one of the most critical of all because of the intimate relationship between the control exercised by the operator and the performance </a:t>
            </a:r>
            <a:r>
              <a:rPr lang="en-GB" sz="1200" b="0" i="0" u="none" strike="noStrike" kern="1200" baseline="0" dirty="0">
                <a:solidFill>
                  <a:schemeClr val="tx1"/>
                </a:solidFill>
                <a:latin typeface="+mn-lt"/>
                <a:ea typeface="+mn-ea"/>
                <a:cs typeface="+mn-cs"/>
              </a:rPr>
              <a:t>of the system</a:t>
            </a:r>
            <a:endParaRPr lang="en-GB" dirty="0"/>
          </a:p>
          <a:p>
            <a:r>
              <a:rPr lang="en-GB" dirty="0"/>
              <a:t>Operational</a:t>
            </a:r>
            <a:r>
              <a:rPr lang="en-GB" baseline="0" dirty="0"/>
              <a:t> Maintenance	- </a:t>
            </a:r>
            <a:r>
              <a:rPr lang="en-US" sz="1200" b="0" i="0" u="none" strike="noStrike" kern="1200" baseline="0" dirty="0">
                <a:solidFill>
                  <a:schemeClr val="tx1"/>
                </a:solidFill>
                <a:latin typeface="+mn-lt"/>
                <a:ea typeface="+mn-ea"/>
                <a:cs typeface="+mn-cs"/>
              </a:rPr>
              <a:t>the manner in which it is to be maintained requires that the system be designed to provide access for monitoring, testing, and repair</a:t>
            </a:r>
            <a:endParaRPr lang="en-GB" baseline="0" dirty="0"/>
          </a:p>
          <a:p>
            <a:r>
              <a:rPr lang="en-GB" baseline="0" dirty="0"/>
              <a:t>Physical Environment	- </a:t>
            </a:r>
            <a:r>
              <a:rPr lang="en-GB" sz="1200" b="0" i="0" u="none" strike="noStrike" kern="1200" baseline="0" dirty="0">
                <a:solidFill>
                  <a:schemeClr val="tx1"/>
                </a:solidFill>
                <a:latin typeface="+mn-lt"/>
                <a:ea typeface="+mn-ea"/>
                <a:cs typeface="+mn-cs"/>
              </a:rPr>
              <a:t>imposes special conditions </a:t>
            </a:r>
            <a:r>
              <a:rPr lang="en-US" sz="1200" b="0" i="0" u="none" strike="noStrike" kern="1200" baseline="0" dirty="0">
                <a:solidFill>
                  <a:schemeClr val="tx1"/>
                </a:solidFill>
                <a:latin typeface="+mn-lt"/>
                <a:ea typeface="+mn-ea"/>
                <a:cs typeface="+mn-cs"/>
              </a:rPr>
              <a:t>for which the system must be designed typically extremes of temperature, vibration, humidity etc.</a:t>
            </a:r>
            <a:endParaRPr lang="en-GB" baseline="0" dirty="0"/>
          </a:p>
          <a:p>
            <a:r>
              <a:rPr lang="en-GB" baseline="0" dirty="0"/>
              <a:t>System Housing	- </a:t>
            </a:r>
            <a:r>
              <a:rPr lang="en-US" sz="1200" b="0" i="0" u="none" strike="noStrike" kern="1200" baseline="0" dirty="0">
                <a:solidFill>
                  <a:schemeClr val="tx1"/>
                </a:solidFill>
                <a:latin typeface="+mn-lt"/>
                <a:ea typeface="+mn-ea"/>
                <a:cs typeface="+mn-cs"/>
              </a:rPr>
              <a:t>stationary systems are installed in an operating site, but mobile systems’ housings on enclosures must provide protection for the system from the elements</a:t>
            </a:r>
            <a:endParaRPr lang="en-GB" baseline="0" dirty="0"/>
          </a:p>
          <a:p>
            <a:r>
              <a:rPr lang="en-GB" baseline="0" dirty="0"/>
              <a:t>Support Systems	- </a:t>
            </a:r>
            <a:r>
              <a:rPr lang="en-US" sz="1200" b="0" i="0" u="none" strike="noStrike" kern="1200" baseline="0" dirty="0">
                <a:solidFill>
                  <a:schemeClr val="tx1"/>
                </a:solidFill>
                <a:latin typeface="+mn-lt"/>
                <a:ea typeface="+mn-ea"/>
                <a:cs typeface="+mn-cs"/>
              </a:rPr>
              <a:t>part of the infrastructure on which the system depends for carrying out its mission</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8</a:t>
            </a:fld>
            <a:endParaRPr lang="en-GB"/>
          </a:p>
        </p:txBody>
      </p:sp>
    </p:spTree>
    <p:extLst>
      <p:ext uri="{BB962C8B-B14F-4D97-AF65-F5344CB8AC3E}">
        <p14:creationId xmlns:p14="http://schemas.microsoft.com/office/powerpoint/2010/main" val="3247398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interactions</a:t>
            </a:r>
            <a:r>
              <a:rPr lang="en-GB" baseline="0" dirty="0"/>
              <a:t> take place across interfaces</a:t>
            </a:r>
          </a:p>
          <a:p>
            <a:endParaRPr lang="en-GB" baseline="0" dirty="0"/>
          </a:p>
          <a:p>
            <a:r>
              <a:rPr lang="en-GB" baseline="0" dirty="0"/>
              <a:t>Interfaces to external elements are called </a:t>
            </a:r>
            <a:r>
              <a:rPr lang="en-GB" b="1" baseline="0" dirty="0"/>
              <a:t>external interfaces</a:t>
            </a:r>
            <a:endParaRPr lang="en-GB" b="0" baseline="0" dirty="0"/>
          </a:p>
          <a:p>
            <a:endParaRPr lang="en-GB" b="0" baseline="0" dirty="0"/>
          </a:p>
          <a:p>
            <a:r>
              <a:rPr lang="en-GB" b="0" baseline="0" dirty="0"/>
              <a:t>Interfaces internal to the system are called </a:t>
            </a:r>
            <a:r>
              <a:rPr lang="en-GB" b="1" baseline="0" dirty="0"/>
              <a:t>internal interfaces</a:t>
            </a:r>
            <a:endParaRPr lang="en-GB" b="0" baseline="0" dirty="0"/>
          </a:p>
          <a:p>
            <a:endParaRPr lang="en-GB" b="0" baseline="0" dirty="0"/>
          </a:p>
          <a:p>
            <a:r>
              <a:rPr lang="en-GB" b="1" baseline="0" dirty="0"/>
              <a:t>BOTH</a:t>
            </a:r>
            <a:r>
              <a:rPr lang="en-GB" b="0" baseline="0" dirty="0"/>
              <a:t> internal and external interfaces are the responsibility of the Systems Engineer as these fall beyond the scope of the detail engineer</a:t>
            </a:r>
            <a:endParaRPr lang="en-GB" b="1" dirty="0"/>
          </a:p>
        </p:txBody>
      </p:sp>
      <p:sp>
        <p:nvSpPr>
          <p:cNvPr id="4" name="Slide Number Placeholder 3"/>
          <p:cNvSpPr>
            <a:spLocks noGrp="1"/>
          </p:cNvSpPr>
          <p:nvPr>
            <p:ph type="sldNum" sz="quarter" idx="10"/>
          </p:nvPr>
        </p:nvSpPr>
        <p:spPr/>
        <p:txBody>
          <a:bodyPr/>
          <a:lstStyle/>
          <a:p>
            <a:fld id="{CA68B9C4-BC1C-48D0-AE2F-1D9956065748}" type="slidenum">
              <a:rPr lang="en-GB" smtClean="0"/>
              <a:t>9</a:t>
            </a:fld>
            <a:endParaRPr lang="en-GB"/>
          </a:p>
        </p:txBody>
      </p:sp>
    </p:spTree>
    <p:extLst>
      <p:ext uri="{BB962C8B-B14F-4D97-AF65-F5344CB8AC3E}">
        <p14:creationId xmlns:p14="http://schemas.microsoft.com/office/powerpoint/2010/main" val="2887560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Consider the example of an aircraft (passenger or otherwise), the core objective is to transport people / goods from point A and B. One such trip is what we refer to as a mission. In this image it is clear that in order to accomplish the mission there are several distinct actions or phases that are required. Some phases might even be duplicated (</a:t>
            </a:r>
            <a:r>
              <a:rPr lang="en-ZA" i="1" dirty="0"/>
              <a:t>Taxi</a:t>
            </a:r>
            <a:r>
              <a:rPr lang="en-ZA" b="0" i="0" dirty="0"/>
              <a:t> in this case). Note that the mission gives us some idea of sequence. A mission diagram requires some consideration as the axis labels are not necessarily obvious.</a:t>
            </a:r>
            <a:endParaRPr lang="en-ZA" dirty="0"/>
          </a:p>
        </p:txBody>
      </p:sp>
      <p:sp>
        <p:nvSpPr>
          <p:cNvPr id="4" name="Slide Number Placeholder 3"/>
          <p:cNvSpPr>
            <a:spLocks noGrp="1"/>
          </p:cNvSpPr>
          <p:nvPr>
            <p:ph type="sldNum" sz="quarter" idx="5"/>
          </p:nvPr>
        </p:nvSpPr>
        <p:spPr/>
        <p:txBody>
          <a:bodyPr/>
          <a:lstStyle/>
          <a:p>
            <a:fld id="{DD589C05-FB5F-484A-9BB2-575B77100C40}" type="slidenum">
              <a:rPr lang="en-ZA" smtClean="0"/>
              <a:t>13</a:t>
            </a:fld>
            <a:endParaRPr lang="en-ZA"/>
          </a:p>
        </p:txBody>
      </p:sp>
    </p:spTree>
    <p:extLst>
      <p:ext uri="{BB962C8B-B14F-4D97-AF65-F5344CB8AC3E}">
        <p14:creationId xmlns:p14="http://schemas.microsoft.com/office/powerpoint/2010/main" val="234581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Two example mission profiles (the graphical depiction of a mission) is provided here. The top one has some variation in how long the motor is kept at speed, and the bottom one has constant “revving” of the machine. Both of these mission profiles could be correct. But this gives us a certain idea of how the system is intended to be used. In both cases the total mission would be to </a:t>
            </a:r>
            <a:r>
              <a:rPr lang="en-ZA" b="1" dirty="0"/>
              <a:t>trim the weeds</a:t>
            </a:r>
            <a:r>
              <a:rPr lang="en-ZA" b="0" dirty="0"/>
              <a:t>. However, the eventual demands placed on the design is significantly different.</a:t>
            </a:r>
            <a:endParaRPr lang="en-ZA" dirty="0"/>
          </a:p>
        </p:txBody>
      </p:sp>
      <p:sp>
        <p:nvSpPr>
          <p:cNvPr id="4" name="Slide Number Placeholder 3"/>
          <p:cNvSpPr>
            <a:spLocks noGrp="1"/>
          </p:cNvSpPr>
          <p:nvPr>
            <p:ph type="sldNum" sz="quarter" idx="5"/>
          </p:nvPr>
        </p:nvSpPr>
        <p:spPr/>
        <p:txBody>
          <a:bodyPr/>
          <a:lstStyle/>
          <a:p>
            <a:fld id="{DD589C05-FB5F-484A-9BB2-575B77100C40}" type="slidenum">
              <a:rPr lang="en-ZA" smtClean="0"/>
              <a:t>15</a:t>
            </a:fld>
            <a:endParaRPr lang="en-ZA"/>
          </a:p>
        </p:txBody>
      </p:sp>
    </p:spTree>
    <p:extLst>
      <p:ext uri="{BB962C8B-B14F-4D97-AF65-F5344CB8AC3E}">
        <p14:creationId xmlns:p14="http://schemas.microsoft.com/office/powerpoint/2010/main" val="2845165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Most domestic kitchen appliances are designed with a mission profile that somewhat resembles the blue profile. Note that a single mission (for this fictitious toaster) assumes that there would be certain “dead-time” between successive missions. If you make use of the toaster according to the red profile however the system is operated outside of the intended envelope. </a:t>
            </a:r>
          </a:p>
          <a:p>
            <a:endParaRPr lang="en-ZA" dirty="0"/>
          </a:p>
          <a:p>
            <a:r>
              <a:rPr lang="en-ZA" dirty="0"/>
              <a:t>This is </a:t>
            </a:r>
            <a:r>
              <a:rPr lang="en-ZA" b="1" dirty="0"/>
              <a:t>one of the key reasons for constructing a mission profile</a:t>
            </a:r>
            <a:r>
              <a:rPr lang="en-ZA" dirty="0"/>
              <a:t>. It is a </a:t>
            </a:r>
            <a:r>
              <a:rPr lang="en-ZA" b="1" dirty="0"/>
              <a:t>diagram that can quickly communicate how you as SE intends for the system to function</a:t>
            </a:r>
            <a:r>
              <a:rPr lang="en-ZA" dirty="0"/>
              <a:t>.  If you were to envisage a commercial toaster (which churns out slide after slice without a deterioration in quality) the red profile would be much more accurate than the blue profile.</a:t>
            </a:r>
          </a:p>
          <a:p>
            <a:r>
              <a:rPr lang="en-ZA" dirty="0"/>
              <a:t>Mission profiles are context dependent, and no formal graphical representation is provided. You as the SE should decide</a:t>
            </a:r>
          </a:p>
          <a:p>
            <a:pPr marL="171450" indent="-171450">
              <a:buFontTx/>
              <a:buChar char="-"/>
            </a:pPr>
            <a:r>
              <a:rPr lang="en-ZA" dirty="0"/>
              <a:t>IF a mission profile is required for your system. If not, why not?</a:t>
            </a:r>
          </a:p>
          <a:p>
            <a:pPr marL="171450" indent="-171450">
              <a:buFontTx/>
              <a:buChar char="-"/>
            </a:pPr>
            <a:r>
              <a:rPr lang="en-ZA" dirty="0"/>
              <a:t>What the axis labels should be.</a:t>
            </a:r>
          </a:p>
        </p:txBody>
      </p:sp>
      <p:sp>
        <p:nvSpPr>
          <p:cNvPr id="4" name="Slide Number Placeholder 3"/>
          <p:cNvSpPr>
            <a:spLocks noGrp="1"/>
          </p:cNvSpPr>
          <p:nvPr>
            <p:ph type="sldNum" sz="quarter" idx="5"/>
          </p:nvPr>
        </p:nvSpPr>
        <p:spPr/>
        <p:txBody>
          <a:bodyPr/>
          <a:lstStyle/>
          <a:p>
            <a:fld id="{DD589C05-FB5F-484A-9BB2-575B77100C40}" type="slidenum">
              <a:rPr lang="en-ZA" smtClean="0"/>
              <a:t>16</a:t>
            </a:fld>
            <a:endParaRPr lang="en-ZA"/>
          </a:p>
        </p:txBody>
      </p:sp>
    </p:spTree>
    <p:extLst>
      <p:ext uri="{BB962C8B-B14F-4D97-AF65-F5344CB8AC3E}">
        <p14:creationId xmlns:p14="http://schemas.microsoft.com/office/powerpoint/2010/main" val="4282786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How do we describe the high-level behaviour of a system. Consider the diagram, in the OM&amp;S (operation, maintenance, and support) block the system performs the required mission / functions / tasks. </a:t>
            </a:r>
          </a:p>
          <a:p>
            <a:endParaRPr lang="en-ZA" dirty="0"/>
          </a:p>
          <a:p>
            <a:r>
              <a:rPr lang="en-ZA" dirty="0"/>
              <a:t>However, the system can into being somehow, then got deployed and once the deployment was complete entered either the storage operations phase or the OM&amp;S phase. </a:t>
            </a:r>
          </a:p>
          <a:p>
            <a:endParaRPr lang="en-ZA" dirty="0"/>
          </a:p>
          <a:p>
            <a:r>
              <a:rPr lang="en-ZA" dirty="0"/>
              <a:t>All of this requires some form of input / trigger / condition to be true. But more than that we need to be able to describe the system prior to and within each phase.</a:t>
            </a:r>
          </a:p>
        </p:txBody>
      </p:sp>
      <p:sp>
        <p:nvSpPr>
          <p:cNvPr id="4" name="Slide Number Placeholder 3"/>
          <p:cNvSpPr>
            <a:spLocks noGrp="1"/>
          </p:cNvSpPr>
          <p:nvPr>
            <p:ph type="sldNum" sz="quarter" idx="5"/>
          </p:nvPr>
        </p:nvSpPr>
        <p:spPr/>
        <p:txBody>
          <a:bodyPr/>
          <a:lstStyle/>
          <a:p>
            <a:fld id="{DD589C05-FB5F-484A-9BB2-575B77100C40}" type="slidenum">
              <a:rPr lang="en-ZA" smtClean="0"/>
              <a:t>19</a:t>
            </a:fld>
            <a:endParaRPr lang="en-ZA"/>
          </a:p>
        </p:txBody>
      </p:sp>
    </p:spTree>
    <p:extLst>
      <p:ext uri="{BB962C8B-B14F-4D97-AF65-F5344CB8AC3E}">
        <p14:creationId xmlns:p14="http://schemas.microsoft.com/office/powerpoint/2010/main" val="428819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System states can be thought of as being “observable”. A state is a description of the “being” of a system and is not connected to any specific functionality per se.</a:t>
            </a:r>
          </a:p>
        </p:txBody>
      </p:sp>
      <p:sp>
        <p:nvSpPr>
          <p:cNvPr id="4" name="Slide Number Placeholder 3"/>
          <p:cNvSpPr>
            <a:spLocks noGrp="1"/>
          </p:cNvSpPr>
          <p:nvPr>
            <p:ph type="sldNum" sz="quarter" idx="5"/>
          </p:nvPr>
        </p:nvSpPr>
        <p:spPr/>
        <p:txBody>
          <a:bodyPr/>
          <a:lstStyle/>
          <a:p>
            <a:fld id="{DD589C05-FB5F-484A-9BB2-575B77100C40}" type="slidenum">
              <a:rPr lang="en-ZA" smtClean="0"/>
              <a:t>20</a:t>
            </a:fld>
            <a:endParaRPr lang="en-ZA"/>
          </a:p>
        </p:txBody>
      </p:sp>
    </p:spTree>
    <p:extLst>
      <p:ext uri="{BB962C8B-B14F-4D97-AF65-F5344CB8AC3E}">
        <p14:creationId xmlns:p14="http://schemas.microsoft.com/office/powerpoint/2010/main" val="1282281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a:t>
            </a:r>
            <a:r>
              <a:rPr lang="en-GB" baseline="0" dirty="0"/>
              <a:t> the transitions were not labelled to draw attention to the fact that it is missing. This example aims to illustrate specifically the use of the various types of transitions.</a:t>
            </a:r>
          </a:p>
          <a:p>
            <a:endParaRPr lang="en-GB" baseline="0" dirty="0"/>
          </a:p>
          <a:p>
            <a:r>
              <a:rPr lang="en-GB" baseline="0" dirty="0"/>
              <a:t>Notice that we explicitly prohibit transitions that may never occur. In the strictest sense any transition not indicated, although not intended, could be executed in the case of a malfunction. </a:t>
            </a:r>
          </a:p>
          <a:p>
            <a:endParaRPr lang="en-GB" baseline="0" dirty="0"/>
          </a:p>
          <a:p>
            <a:r>
              <a:rPr lang="en-GB" baseline="0" dirty="0"/>
              <a:t>Prohibiting transitions, then, is not so much about stating the obvious as it is about describing in sufficient detail that which must happen and which may never happen.</a:t>
            </a:r>
            <a:endParaRPr lang="en-GB" dirty="0"/>
          </a:p>
        </p:txBody>
      </p:sp>
      <p:sp>
        <p:nvSpPr>
          <p:cNvPr id="4" name="Slide Number Placeholder 3"/>
          <p:cNvSpPr>
            <a:spLocks noGrp="1"/>
          </p:cNvSpPr>
          <p:nvPr>
            <p:ph type="sldNum" sz="quarter" idx="10"/>
          </p:nvPr>
        </p:nvSpPr>
        <p:spPr/>
        <p:txBody>
          <a:bodyPr/>
          <a:lstStyle/>
          <a:p>
            <a:fld id="{54E6EEBA-32D8-40E8-A7BF-08042B407399}" type="slidenum">
              <a:rPr lang="en-ZA" smtClean="0"/>
              <a:t>23</a:t>
            </a:fld>
            <a:endParaRPr lang="en-ZA" dirty="0"/>
          </a:p>
        </p:txBody>
      </p:sp>
    </p:spTree>
    <p:extLst>
      <p:ext uri="{BB962C8B-B14F-4D97-AF65-F5344CB8AC3E}">
        <p14:creationId xmlns:p14="http://schemas.microsoft.com/office/powerpoint/2010/main" val="1783461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Notice that this diagram provides no temporal information yet already starts to convey how the system is expected to function at a very high level. </a:t>
            </a:r>
          </a:p>
        </p:txBody>
      </p:sp>
      <p:sp>
        <p:nvSpPr>
          <p:cNvPr id="4" name="Slide Number Placeholder 3"/>
          <p:cNvSpPr>
            <a:spLocks noGrp="1"/>
          </p:cNvSpPr>
          <p:nvPr>
            <p:ph type="sldNum" sz="quarter" idx="5"/>
          </p:nvPr>
        </p:nvSpPr>
        <p:spPr/>
        <p:txBody>
          <a:bodyPr/>
          <a:lstStyle/>
          <a:p>
            <a:fld id="{F4095338-AEAB-456A-9E65-33FAB70ABE16}" type="slidenum">
              <a:rPr lang="en-GB" smtClean="0"/>
              <a:t>24</a:t>
            </a:fld>
            <a:endParaRPr lang="en-GB"/>
          </a:p>
        </p:txBody>
      </p:sp>
    </p:spTree>
    <p:extLst>
      <p:ext uri="{BB962C8B-B14F-4D97-AF65-F5344CB8AC3E}">
        <p14:creationId xmlns:p14="http://schemas.microsoft.com/office/powerpoint/2010/main" val="569352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System modes, in comparison to system states describe in more detail what the system is supposed to “DO”. </a:t>
            </a:r>
          </a:p>
          <a:p>
            <a:endParaRPr lang="en-ZA" dirty="0"/>
          </a:p>
          <a:p>
            <a:r>
              <a:rPr lang="en-ZA" dirty="0"/>
              <a:t>Remember that this is in contrast to a state that simply describes what the system “IS”.  In the case of a passenger taxi the system state might be “Operational” but in that state the system modes may be “moving forward”, “decelerating”, “steering”, etc.</a:t>
            </a:r>
          </a:p>
        </p:txBody>
      </p:sp>
      <p:sp>
        <p:nvSpPr>
          <p:cNvPr id="4" name="Slide Number Placeholder 3"/>
          <p:cNvSpPr>
            <a:spLocks noGrp="1"/>
          </p:cNvSpPr>
          <p:nvPr>
            <p:ph type="sldNum" sz="quarter" idx="5"/>
          </p:nvPr>
        </p:nvSpPr>
        <p:spPr/>
        <p:txBody>
          <a:bodyPr/>
          <a:lstStyle/>
          <a:p>
            <a:fld id="{DD589C05-FB5F-484A-9BB2-575B77100C40}" type="slidenum">
              <a:rPr lang="en-ZA" smtClean="0"/>
              <a:t>25</a:t>
            </a:fld>
            <a:endParaRPr lang="en-ZA"/>
          </a:p>
        </p:txBody>
      </p:sp>
    </p:spTree>
    <p:extLst>
      <p:ext uri="{BB962C8B-B14F-4D97-AF65-F5344CB8AC3E}">
        <p14:creationId xmlns:p14="http://schemas.microsoft.com/office/powerpoint/2010/main" val="2182747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29</a:t>
            </a:fld>
            <a:endParaRPr lang="en-GB"/>
          </a:p>
        </p:txBody>
      </p:sp>
    </p:spTree>
    <p:extLst>
      <p:ext uri="{BB962C8B-B14F-4D97-AF65-F5344CB8AC3E}">
        <p14:creationId xmlns:p14="http://schemas.microsoft.com/office/powerpoint/2010/main" val="3473740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30AD-669F-4550-8B9C-2F07152FF174}"/>
              </a:ext>
            </a:extLst>
          </p:cNvPr>
          <p:cNvSpPr>
            <a:spLocks noGrp="1"/>
          </p:cNvSpPr>
          <p:nvPr>
            <p:ph type="ctrTitle"/>
          </p:nvPr>
        </p:nvSpPr>
        <p:spPr/>
        <p:txBody>
          <a:bodyPr/>
          <a:lstStyle/>
          <a:p>
            <a:r>
              <a:rPr lang="en-ZA" dirty="0"/>
              <a:t>Engineering design 2025</a:t>
            </a:r>
          </a:p>
        </p:txBody>
      </p:sp>
      <p:sp>
        <p:nvSpPr>
          <p:cNvPr id="3" name="Subtitle 2">
            <a:extLst>
              <a:ext uri="{FF2B5EF4-FFF2-40B4-BE49-F238E27FC236}">
                <a16:creationId xmlns:a16="http://schemas.microsoft.com/office/drawing/2014/main" id="{74ACA5D9-69B4-4263-BCEB-B78FBA6C7512}"/>
              </a:ext>
            </a:extLst>
          </p:cNvPr>
          <p:cNvSpPr>
            <a:spLocks noGrp="1"/>
          </p:cNvSpPr>
          <p:nvPr>
            <p:ph type="subTitle" idx="1"/>
          </p:nvPr>
        </p:nvSpPr>
        <p:spPr/>
        <p:txBody>
          <a:bodyPr>
            <a:normAutofit fontScale="92500" lnSpcReduction="20000"/>
          </a:bodyPr>
          <a:lstStyle/>
          <a:p>
            <a:r>
              <a:rPr lang="en-ZA" dirty="0"/>
              <a:t>Lecture Week 2</a:t>
            </a:r>
          </a:p>
          <a:p>
            <a:r>
              <a:rPr lang="en-ZA" dirty="0"/>
              <a:t>Deck 3</a:t>
            </a:r>
          </a:p>
        </p:txBody>
      </p:sp>
      <p:sp>
        <p:nvSpPr>
          <p:cNvPr id="4" name="TextBox 3">
            <a:extLst>
              <a:ext uri="{FF2B5EF4-FFF2-40B4-BE49-F238E27FC236}">
                <a16:creationId xmlns:a16="http://schemas.microsoft.com/office/drawing/2014/main" id="{DC06299C-5978-4A26-94D2-8952A9D710DE}"/>
              </a:ext>
            </a:extLst>
          </p:cNvPr>
          <p:cNvSpPr txBox="1"/>
          <p:nvPr/>
        </p:nvSpPr>
        <p:spPr>
          <a:xfrm>
            <a:off x="9841831" y="5835812"/>
            <a:ext cx="1852864" cy="523220"/>
          </a:xfrm>
          <a:prstGeom prst="rect">
            <a:avLst/>
          </a:prstGeom>
          <a:noFill/>
        </p:spPr>
        <p:txBody>
          <a:bodyPr wrap="square" rtlCol="0">
            <a:spAutoFit/>
          </a:bodyPr>
          <a:lstStyle/>
          <a:p>
            <a:pPr algn="r"/>
            <a:r>
              <a:rPr lang="en-ZA" sz="1400" dirty="0">
                <a:solidFill>
                  <a:schemeClr val="bg1"/>
                </a:solidFill>
              </a:rPr>
              <a:t>Prof Henri Marais</a:t>
            </a:r>
          </a:p>
          <a:p>
            <a:pPr algn="r"/>
            <a:r>
              <a:rPr lang="en-ZA" sz="1400" dirty="0">
                <a:solidFill>
                  <a:schemeClr val="bg1"/>
                </a:solidFill>
              </a:rPr>
              <a:t>23 Jul 2025</a:t>
            </a:r>
          </a:p>
        </p:txBody>
      </p:sp>
      <p:sp>
        <p:nvSpPr>
          <p:cNvPr id="5" name="TextBox 4">
            <a:extLst>
              <a:ext uri="{FF2B5EF4-FFF2-40B4-BE49-F238E27FC236}">
                <a16:creationId xmlns:a16="http://schemas.microsoft.com/office/drawing/2014/main" id="{13AAB6D6-FDF0-56E8-D814-F566FF541864}"/>
              </a:ext>
            </a:extLst>
          </p:cNvPr>
          <p:cNvSpPr txBox="1"/>
          <p:nvPr/>
        </p:nvSpPr>
        <p:spPr>
          <a:xfrm>
            <a:off x="581191" y="3098706"/>
            <a:ext cx="4687000" cy="1200329"/>
          </a:xfrm>
          <a:prstGeom prst="rect">
            <a:avLst/>
          </a:prstGeom>
          <a:noFill/>
        </p:spPr>
        <p:txBody>
          <a:bodyPr wrap="square" rtlCol="0">
            <a:spAutoFit/>
          </a:bodyPr>
          <a:lstStyle/>
          <a:p>
            <a:r>
              <a:rPr lang="en-GB" sz="3600" b="1" dirty="0">
                <a:solidFill>
                  <a:schemeClr val="bg2"/>
                </a:solidFill>
              </a:rPr>
              <a:t>Context, Missions,</a:t>
            </a:r>
          </a:p>
          <a:p>
            <a:r>
              <a:rPr lang="en-GB" sz="3600" b="1" dirty="0">
                <a:solidFill>
                  <a:schemeClr val="bg2"/>
                </a:solidFill>
              </a:rPr>
              <a:t>States and Modes</a:t>
            </a:r>
          </a:p>
        </p:txBody>
      </p:sp>
    </p:spTree>
    <p:extLst>
      <p:ext uri="{BB962C8B-B14F-4D97-AF65-F5344CB8AC3E}">
        <p14:creationId xmlns:p14="http://schemas.microsoft.com/office/powerpoint/2010/main" val="1854232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FEA51456-7DDD-2753-7627-352C6C7E6ECD}"/>
              </a:ext>
            </a:extLst>
          </p:cNvPr>
          <p:cNvSpPr>
            <a:spLocks noGrp="1"/>
          </p:cNvSpPr>
          <p:nvPr>
            <p:ph type="title"/>
          </p:nvPr>
        </p:nvSpPr>
        <p:spPr>
          <a:xfrm>
            <a:off x="601255" y="702156"/>
            <a:ext cx="3409783" cy="1013800"/>
          </a:xfrm>
        </p:spPr>
        <p:txBody>
          <a:bodyPr>
            <a:normAutofit/>
          </a:bodyPr>
          <a:lstStyle/>
          <a:p>
            <a:r>
              <a:rPr lang="en-GB" dirty="0"/>
              <a:t>Individual activity</a:t>
            </a:r>
          </a:p>
        </p:txBody>
      </p:sp>
      <p:sp>
        <p:nvSpPr>
          <p:cNvPr id="3" name="Content Placeholder 2">
            <a:extLst>
              <a:ext uri="{FF2B5EF4-FFF2-40B4-BE49-F238E27FC236}">
                <a16:creationId xmlns:a16="http://schemas.microsoft.com/office/drawing/2014/main" id="{577D62B3-A37E-99AC-907C-C34F4EDE43A3}"/>
              </a:ext>
            </a:extLst>
          </p:cNvPr>
          <p:cNvSpPr>
            <a:spLocks noGrp="1"/>
          </p:cNvSpPr>
          <p:nvPr>
            <p:ph idx="1"/>
          </p:nvPr>
        </p:nvSpPr>
        <p:spPr>
          <a:xfrm>
            <a:off x="601255" y="1964168"/>
            <a:ext cx="3409782" cy="4036582"/>
          </a:xfrm>
        </p:spPr>
        <p:txBody>
          <a:bodyPr>
            <a:normAutofit/>
          </a:bodyPr>
          <a:lstStyle/>
          <a:p>
            <a:pPr marL="342900" indent="-342900">
              <a:buFont typeface="+mj-lt"/>
              <a:buAutoNum type="arabicPeriod"/>
            </a:pPr>
            <a:r>
              <a:rPr lang="en-GB" dirty="0">
                <a:solidFill>
                  <a:schemeClr val="bg1"/>
                </a:solidFill>
              </a:rPr>
              <a:t>Assuming you are a kettle designer describe the environment in which the kettle functions (10 min)</a:t>
            </a:r>
          </a:p>
          <a:p>
            <a:pPr marL="342900" indent="-342900">
              <a:buFont typeface="+mj-lt"/>
              <a:buAutoNum type="arabicPeriod"/>
            </a:pPr>
            <a:r>
              <a:rPr lang="en-GB" dirty="0">
                <a:solidFill>
                  <a:schemeClr val="bg1"/>
                </a:solidFill>
              </a:rPr>
              <a:t>Swap with another student</a:t>
            </a:r>
          </a:p>
          <a:p>
            <a:pPr marL="342900" indent="-342900">
              <a:buFont typeface="+mj-lt"/>
              <a:buAutoNum type="arabicPeriod"/>
            </a:pPr>
            <a:r>
              <a:rPr lang="en-GB" dirty="0">
                <a:solidFill>
                  <a:schemeClr val="bg1"/>
                </a:solidFill>
              </a:rPr>
              <a:t>Considering your ‘new’ kettle environment are there any ‘missing’ aspects? Is the description clear, unambiguous, easy to interpret? </a:t>
            </a:r>
          </a:p>
          <a:p>
            <a:pPr marL="342900" indent="-342900">
              <a:buFont typeface="+mj-lt"/>
              <a:buAutoNum type="arabicPeriod"/>
            </a:pPr>
            <a:endParaRPr lang="en-GB" dirty="0">
              <a:solidFill>
                <a:schemeClr val="bg1"/>
              </a:solidFill>
            </a:endParaRPr>
          </a:p>
          <a:p>
            <a:pPr marL="342900" indent="-342900">
              <a:buFont typeface="+mj-lt"/>
              <a:buAutoNum type="arabicPeriod"/>
            </a:pPr>
            <a:endParaRPr lang="en-GB" dirty="0">
              <a:solidFill>
                <a:schemeClr val="bg1"/>
              </a:solidFill>
            </a:endParaRPr>
          </a:p>
        </p:txBody>
      </p:sp>
      <p:pic>
        <p:nvPicPr>
          <p:cNvPr id="5" name="Picture 4">
            <a:extLst>
              <a:ext uri="{FF2B5EF4-FFF2-40B4-BE49-F238E27FC236}">
                <a16:creationId xmlns:a16="http://schemas.microsoft.com/office/drawing/2014/main" id="{17DEC55D-ED17-D8AC-E7F1-99DE41C6C09A}"/>
              </a:ext>
            </a:extLst>
          </p:cNvPr>
          <p:cNvPicPr>
            <a:picLocks noChangeAspect="1"/>
          </p:cNvPicPr>
          <p:nvPr/>
        </p:nvPicPr>
        <p:blipFill>
          <a:blip r:embed="rId2"/>
          <a:stretch>
            <a:fillRect/>
          </a:stretch>
        </p:blipFill>
        <p:spPr>
          <a:xfrm>
            <a:off x="5455227" y="908163"/>
            <a:ext cx="5365605" cy="5318016"/>
          </a:xfrm>
          <a:prstGeom prst="rect">
            <a:avLst/>
          </a:prstGeom>
        </p:spPr>
      </p:pic>
    </p:spTree>
    <p:extLst>
      <p:ext uri="{BB962C8B-B14F-4D97-AF65-F5344CB8AC3E}">
        <p14:creationId xmlns:p14="http://schemas.microsoft.com/office/powerpoint/2010/main" val="2819280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46A81-982A-5AD0-D7A5-4D098652E511}"/>
              </a:ext>
            </a:extLst>
          </p:cNvPr>
          <p:cNvSpPr>
            <a:spLocks noGrp="1"/>
          </p:cNvSpPr>
          <p:nvPr>
            <p:ph type="title"/>
          </p:nvPr>
        </p:nvSpPr>
        <p:spPr/>
        <p:txBody>
          <a:bodyPr/>
          <a:lstStyle/>
          <a:p>
            <a:r>
              <a:rPr lang="en-GB" dirty="0"/>
              <a:t>System context diagrams</a:t>
            </a:r>
          </a:p>
        </p:txBody>
      </p:sp>
      <p:sp>
        <p:nvSpPr>
          <p:cNvPr id="3" name="Text Placeholder 2">
            <a:extLst>
              <a:ext uri="{FF2B5EF4-FFF2-40B4-BE49-F238E27FC236}">
                <a16:creationId xmlns:a16="http://schemas.microsoft.com/office/drawing/2014/main" id="{D04B3C44-C4AA-9325-6D8B-5BB7A9DBC5BE}"/>
              </a:ext>
            </a:extLst>
          </p:cNvPr>
          <p:cNvSpPr>
            <a:spLocks noGrp="1"/>
          </p:cNvSpPr>
          <p:nvPr>
            <p:ph type="body" idx="1"/>
          </p:nvPr>
        </p:nvSpPr>
        <p:spPr/>
        <p:txBody>
          <a:bodyPr/>
          <a:lstStyle/>
          <a:p>
            <a:r>
              <a:rPr lang="en-GB" dirty="0"/>
              <a:t>How to capture the eco system in which your system functions</a:t>
            </a:r>
          </a:p>
        </p:txBody>
      </p:sp>
    </p:spTree>
    <p:extLst>
      <p:ext uri="{BB962C8B-B14F-4D97-AF65-F5344CB8AC3E}">
        <p14:creationId xmlns:p14="http://schemas.microsoft.com/office/powerpoint/2010/main" val="295781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2" name="Rectangle 21">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p:cNvPicPr>
            <a:picLocks noGrp="1" noChangeAspect="1"/>
          </p:cNvPicPr>
          <p:nvPr>
            <p:ph idx="1"/>
          </p:nvPr>
        </p:nvPicPr>
        <p:blipFill>
          <a:blip r:embed="rId3"/>
          <a:srcRect l="-2" t="356" r="-1748" b="-356"/>
          <a:stretch>
            <a:fillRect/>
          </a:stretch>
        </p:blipFill>
        <p:spPr>
          <a:xfrm>
            <a:off x="533609" y="1196763"/>
            <a:ext cx="7462550" cy="4720937"/>
          </a:xfrm>
          <a:prstGeom prst="rect">
            <a:avLst/>
          </a:prstGeom>
        </p:spPr>
      </p:pic>
      <p:sp>
        <p:nvSpPr>
          <p:cNvPr id="24" name="Rectangle 23">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934CDE9-1B34-8677-F508-12E5952162E4}"/>
              </a:ext>
            </a:extLst>
          </p:cNvPr>
          <p:cNvSpPr>
            <a:spLocks noGrp="1"/>
          </p:cNvSpPr>
          <p:nvPr>
            <p:ph type="title"/>
          </p:nvPr>
        </p:nvSpPr>
        <p:spPr>
          <a:xfrm>
            <a:off x="8296275" y="1419225"/>
            <a:ext cx="3081576" cy="2085869"/>
          </a:xfrm>
        </p:spPr>
        <p:txBody>
          <a:bodyPr vert="horz" lIns="91440" tIns="45720" rIns="91440" bIns="45720" rtlCol="0" anchor="b">
            <a:normAutofit fontScale="90000"/>
          </a:bodyPr>
          <a:lstStyle/>
          <a:p>
            <a:r>
              <a:rPr lang="en-US" sz="3600" dirty="0">
                <a:solidFill>
                  <a:srgbClr val="FFFFFF"/>
                </a:solidFill>
              </a:rPr>
              <a:t>Any system ‘lives’ in a specific context</a:t>
            </a:r>
          </a:p>
        </p:txBody>
      </p:sp>
      <p:grpSp>
        <p:nvGrpSpPr>
          <p:cNvPr id="26" name="Group 25">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7" name="Rectangle 26">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Tree>
    <p:extLst>
      <p:ext uri="{BB962C8B-B14F-4D97-AF65-F5344CB8AC3E}">
        <p14:creationId xmlns:p14="http://schemas.microsoft.com/office/powerpoint/2010/main" val="3441401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Towards a tool…</a:t>
            </a:r>
          </a:p>
        </p:txBody>
      </p:sp>
      <p:sp>
        <p:nvSpPr>
          <p:cNvPr id="3" name="Content Placeholder 2"/>
          <p:cNvSpPr>
            <a:spLocks noGrp="1"/>
          </p:cNvSpPr>
          <p:nvPr>
            <p:ph idx="1"/>
          </p:nvPr>
        </p:nvSpPr>
        <p:spPr>
          <a:xfrm>
            <a:off x="438294" y="1364423"/>
            <a:ext cx="8915400" cy="3777622"/>
          </a:xfrm>
        </p:spPr>
        <p:txBody>
          <a:bodyPr>
            <a:normAutofit/>
          </a:bodyPr>
          <a:lstStyle/>
          <a:p>
            <a:pPr marL="0" indent="0">
              <a:buNone/>
            </a:pPr>
            <a:r>
              <a:rPr lang="en-GB" dirty="0"/>
              <a:t>System Context Diagram (SCD)</a:t>
            </a:r>
          </a:p>
          <a:p>
            <a:r>
              <a:rPr lang="en-GB" dirty="0"/>
              <a:t>Shows interactions between </a:t>
            </a:r>
            <a:r>
              <a:rPr lang="en-GB" dirty="0" err="1">
                <a:latin typeface="Courier New" panose="02070309020205020404" pitchFamily="49" charset="0"/>
                <a:cs typeface="Courier New" panose="02070309020205020404" pitchFamily="49" charset="0"/>
              </a:rPr>
              <a:t>SoI</a:t>
            </a:r>
            <a:r>
              <a:rPr lang="en-GB" dirty="0"/>
              <a:t> (system of interest) and containing environment</a:t>
            </a:r>
          </a:p>
          <a:p>
            <a:r>
              <a:rPr lang="en-GB" dirty="0" err="1"/>
              <a:t>SoI</a:t>
            </a:r>
            <a:r>
              <a:rPr lang="en-GB" dirty="0"/>
              <a:t> is seen as a black box</a:t>
            </a:r>
          </a:p>
          <a:p>
            <a:r>
              <a:rPr lang="en-GB" b="1" dirty="0">
                <a:solidFill>
                  <a:srgbClr val="FF0000"/>
                </a:solidFill>
              </a:rPr>
              <a:t>Aim is to establish boundary</a:t>
            </a:r>
          </a:p>
          <a:p>
            <a:endParaRPr lang="en-GB" dirty="0"/>
          </a:p>
        </p:txBody>
      </p:sp>
      <p:pic>
        <p:nvPicPr>
          <p:cNvPr id="69" name="Picture 68"/>
          <p:cNvPicPr>
            <a:picLocks noChangeAspect="1"/>
          </p:cNvPicPr>
          <p:nvPr/>
        </p:nvPicPr>
        <p:blipFill>
          <a:blip r:embed="rId3"/>
          <a:stretch>
            <a:fillRect/>
          </a:stretch>
        </p:blipFill>
        <p:spPr>
          <a:xfrm>
            <a:off x="5023219" y="3503221"/>
            <a:ext cx="5833115" cy="3044413"/>
          </a:xfrm>
          <a:prstGeom prst="rect">
            <a:avLst/>
          </a:prstGeom>
        </p:spPr>
      </p:pic>
    </p:spTree>
    <p:extLst>
      <p:ext uri="{BB962C8B-B14F-4D97-AF65-F5344CB8AC3E}">
        <p14:creationId xmlns:p14="http://schemas.microsoft.com/office/powerpoint/2010/main" val="339069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draw Context Diagrams</a:t>
            </a:r>
          </a:p>
        </p:txBody>
      </p:sp>
      <p:sp>
        <p:nvSpPr>
          <p:cNvPr id="3" name="Content Placeholder 2"/>
          <p:cNvSpPr>
            <a:spLocks noGrp="1"/>
          </p:cNvSpPr>
          <p:nvPr>
            <p:ph idx="1"/>
          </p:nvPr>
        </p:nvSpPr>
        <p:spPr/>
        <p:txBody>
          <a:bodyPr/>
          <a:lstStyle/>
          <a:p>
            <a:r>
              <a:rPr lang="en-GB" dirty="0"/>
              <a:t>Simple high-level picture</a:t>
            </a:r>
          </a:p>
          <a:p>
            <a:r>
              <a:rPr lang="en-GB" dirty="0"/>
              <a:t>Identify elements that interact</a:t>
            </a:r>
          </a:p>
          <a:p>
            <a:r>
              <a:rPr lang="en-GB" dirty="0"/>
              <a:t>Define external interfaces</a:t>
            </a:r>
          </a:p>
          <a:p>
            <a:r>
              <a:rPr lang="en-GB" dirty="0"/>
              <a:t>Share common understanding</a:t>
            </a:r>
          </a:p>
          <a:p>
            <a:endParaRPr lang="en-GB" dirty="0"/>
          </a:p>
        </p:txBody>
      </p:sp>
      <p:cxnSp>
        <p:nvCxnSpPr>
          <p:cNvPr id="5" name="Straight Arrow Connector 4"/>
          <p:cNvCxnSpPr/>
          <p:nvPr/>
        </p:nvCxnSpPr>
        <p:spPr>
          <a:xfrm flipH="1">
            <a:off x="3566244" y="4093158"/>
            <a:ext cx="131100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877251" y="3908492"/>
            <a:ext cx="3589444" cy="369332"/>
          </a:xfrm>
          <a:prstGeom prst="rect">
            <a:avLst/>
          </a:prstGeom>
          <a:noFill/>
        </p:spPr>
        <p:txBody>
          <a:bodyPr wrap="none" rtlCol="0">
            <a:spAutoFit/>
          </a:bodyPr>
          <a:lstStyle/>
          <a:p>
            <a:r>
              <a:rPr lang="en-GB" dirty="0">
                <a:solidFill>
                  <a:srgbClr val="FF0000"/>
                </a:solidFill>
              </a:rPr>
              <a:t>MOST ISSUES OCCUR HERE!</a:t>
            </a:r>
          </a:p>
        </p:txBody>
      </p:sp>
      <p:grpSp>
        <p:nvGrpSpPr>
          <p:cNvPr id="11" name="Group 10"/>
          <p:cNvGrpSpPr/>
          <p:nvPr/>
        </p:nvGrpSpPr>
        <p:grpSpPr>
          <a:xfrm>
            <a:off x="3827996" y="4933836"/>
            <a:ext cx="8108414" cy="1674564"/>
            <a:chOff x="275422" y="4792337"/>
            <a:chExt cx="8108414" cy="1674564"/>
          </a:xfrm>
        </p:grpSpPr>
        <p:sp>
          <p:nvSpPr>
            <p:cNvPr id="10" name="Rectangle 9"/>
            <p:cNvSpPr/>
            <p:nvPr/>
          </p:nvSpPr>
          <p:spPr>
            <a:xfrm>
              <a:off x="275422" y="4792337"/>
              <a:ext cx="8108414" cy="167456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p:cNvGrpSpPr/>
            <p:nvPr/>
          </p:nvGrpSpPr>
          <p:grpSpPr>
            <a:xfrm>
              <a:off x="385590" y="4895984"/>
              <a:ext cx="7885866" cy="1477328"/>
              <a:chOff x="385590" y="4895984"/>
              <a:chExt cx="7885866" cy="1477328"/>
            </a:xfrm>
          </p:grpSpPr>
          <p:pic>
            <p:nvPicPr>
              <p:cNvPr id="7" name="Picture 6"/>
              <p:cNvPicPr>
                <a:picLocks noChangeAspect="1"/>
              </p:cNvPicPr>
              <p:nvPr/>
            </p:nvPicPr>
            <p:blipFill rotWithShape="1">
              <a:blip r:embed="rId3"/>
              <a:srcRect l="23115" r="24452"/>
              <a:stretch/>
            </p:blipFill>
            <p:spPr>
              <a:xfrm>
                <a:off x="385590" y="4911015"/>
                <a:ext cx="1310781" cy="1406600"/>
              </a:xfrm>
              <a:prstGeom prst="rect">
                <a:avLst/>
              </a:prstGeom>
            </p:spPr>
          </p:pic>
          <p:sp>
            <p:nvSpPr>
              <p:cNvPr id="8" name="TextBox 7"/>
              <p:cNvSpPr txBox="1"/>
              <p:nvPr/>
            </p:nvSpPr>
            <p:spPr>
              <a:xfrm>
                <a:off x="1904007" y="4895984"/>
                <a:ext cx="6367449" cy="1477328"/>
              </a:xfrm>
              <a:prstGeom prst="rect">
                <a:avLst/>
              </a:prstGeom>
              <a:noFill/>
            </p:spPr>
            <p:txBody>
              <a:bodyPr wrap="none" rtlCol="0">
                <a:spAutoFit/>
              </a:bodyPr>
              <a:lstStyle/>
              <a:p>
                <a:r>
                  <a:rPr lang="en-GB" dirty="0">
                    <a:solidFill>
                      <a:srgbClr val="7030A0"/>
                    </a:solidFill>
                  </a:rPr>
                  <a:t>A Context Diagram is only a </a:t>
                </a:r>
                <a:r>
                  <a:rPr lang="en-GB" b="1" dirty="0">
                    <a:solidFill>
                      <a:srgbClr val="7030A0"/>
                    </a:solidFill>
                  </a:rPr>
                  <a:t>snapshot in time. </a:t>
                </a:r>
                <a:endParaRPr lang="en-GB" dirty="0">
                  <a:solidFill>
                    <a:srgbClr val="7030A0"/>
                  </a:solidFill>
                </a:endParaRPr>
              </a:p>
              <a:p>
                <a:endParaRPr lang="en-GB" dirty="0">
                  <a:solidFill>
                    <a:srgbClr val="7030A0"/>
                  </a:solidFill>
                </a:endParaRPr>
              </a:p>
              <a:p>
                <a:r>
                  <a:rPr lang="en-GB" dirty="0">
                    <a:solidFill>
                      <a:srgbClr val="7030A0"/>
                    </a:solidFill>
                  </a:rPr>
                  <a:t>Start with the operational context (installed and working)</a:t>
                </a:r>
              </a:p>
              <a:p>
                <a:endParaRPr lang="en-GB" dirty="0">
                  <a:solidFill>
                    <a:srgbClr val="7030A0"/>
                  </a:solidFill>
                </a:endParaRPr>
              </a:p>
              <a:p>
                <a:r>
                  <a:rPr lang="en-GB" dirty="0">
                    <a:solidFill>
                      <a:srgbClr val="7030A0"/>
                    </a:solidFill>
                  </a:rPr>
                  <a:t>Add additional contexts as (if at all) required</a:t>
                </a:r>
              </a:p>
            </p:txBody>
          </p:sp>
        </p:grpSp>
      </p:grpSp>
    </p:spTree>
    <p:extLst>
      <p:ext uri="{BB962C8B-B14F-4D97-AF65-F5344CB8AC3E}">
        <p14:creationId xmlns:p14="http://schemas.microsoft.com/office/powerpoint/2010/main" val="125536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Context Diagrams</a:t>
            </a:r>
          </a:p>
        </p:txBody>
      </p:sp>
      <p:sp>
        <p:nvSpPr>
          <p:cNvPr id="3" name="Content Placeholder 2"/>
          <p:cNvSpPr>
            <a:spLocks noGrp="1"/>
          </p:cNvSpPr>
          <p:nvPr>
            <p:ph idx="1"/>
          </p:nvPr>
        </p:nvSpPr>
        <p:spPr/>
        <p:txBody>
          <a:bodyPr/>
          <a:lstStyle/>
          <a:p>
            <a:pPr marL="0" indent="0">
              <a:buNone/>
            </a:pPr>
            <a:endParaRPr lang="en-GB" dirty="0"/>
          </a:p>
          <a:p>
            <a:pPr lvl="1"/>
            <a:endParaRPr lang="en-GB" sz="1800" dirty="0">
              <a:solidFill>
                <a:schemeClr val="lt1"/>
              </a:solidFill>
            </a:endParaRPr>
          </a:p>
        </p:txBody>
      </p:sp>
      <p:sp>
        <p:nvSpPr>
          <p:cNvPr id="4" name="Oval 3"/>
          <p:cNvSpPr/>
          <p:nvPr/>
        </p:nvSpPr>
        <p:spPr>
          <a:xfrm>
            <a:off x="5035895" y="3704754"/>
            <a:ext cx="1230359" cy="7296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SoI</a:t>
            </a:r>
            <a:endParaRPr lang="en-GB" dirty="0">
              <a:solidFill>
                <a:schemeClr val="tx1"/>
              </a:solidFill>
            </a:endParaRPr>
          </a:p>
        </p:txBody>
      </p:sp>
      <p:sp>
        <p:nvSpPr>
          <p:cNvPr id="5" name="Rectangle 4"/>
          <p:cNvSpPr/>
          <p:nvPr/>
        </p:nvSpPr>
        <p:spPr>
          <a:xfrm>
            <a:off x="8173906" y="3802228"/>
            <a:ext cx="1413163" cy="5818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Terminator</a:t>
            </a:r>
          </a:p>
        </p:txBody>
      </p:sp>
      <p:grpSp>
        <p:nvGrpSpPr>
          <p:cNvPr id="12" name="Group 11"/>
          <p:cNvGrpSpPr/>
          <p:nvPr/>
        </p:nvGrpSpPr>
        <p:grpSpPr>
          <a:xfrm>
            <a:off x="6209879" y="3295418"/>
            <a:ext cx="1983235" cy="506811"/>
            <a:chOff x="7772400" y="2355143"/>
            <a:chExt cx="1983235" cy="506811"/>
          </a:xfrm>
        </p:grpSpPr>
        <p:cxnSp>
          <p:nvCxnSpPr>
            <p:cNvPr id="7" name="Straight Arrow Connector 6"/>
            <p:cNvCxnSpPr/>
            <p:nvPr/>
          </p:nvCxnSpPr>
          <p:spPr>
            <a:xfrm flipV="1">
              <a:off x="7828775" y="2861953"/>
              <a:ext cx="1644732" cy="1"/>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72400" y="2355143"/>
              <a:ext cx="1983235" cy="369332"/>
            </a:xfrm>
            <a:prstGeom prst="rect">
              <a:avLst/>
            </a:prstGeom>
            <a:noFill/>
          </p:spPr>
          <p:txBody>
            <a:bodyPr wrap="none" rtlCol="0">
              <a:spAutoFit/>
            </a:bodyPr>
            <a:lstStyle/>
            <a:p>
              <a:r>
                <a:rPr lang="en-GB" dirty="0"/>
                <a:t>FLOW B_NAME</a:t>
              </a:r>
            </a:p>
          </p:txBody>
        </p:sp>
      </p:grpSp>
      <p:cxnSp>
        <p:nvCxnSpPr>
          <p:cNvPr id="13" name="Straight Arrow Connector 12"/>
          <p:cNvCxnSpPr/>
          <p:nvPr/>
        </p:nvCxnSpPr>
        <p:spPr>
          <a:xfrm flipH="1" flipV="1">
            <a:off x="3381632" y="4061346"/>
            <a:ext cx="1644732" cy="1"/>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236078" y="3520724"/>
            <a:ext cx="1983235" cy="369332"/>
          </a:xfrm>
          <a:prstGeom prst="rect">
            <a:avLst/>
          </a:prstGeom>
          <a:noFill/>
        </p:spPr>
        <p:txBody>
          <a:bodyPr wrap="none" rtlCol="0">
            <a:spAutoFit/>
          </a:bodyPr>
          <a:lstStyle/>
          <a:p>
            <a:r>
              <a:rPr lang="en-GB" dirty="0"/>
              <a:t>FLOW A_NAME</a:t>
            </a:r>
          </a:p>
        </p:txBody>
      </p:sp>
      <p:cxnSp>
        <p:nvCxnSpPr>
          <p:cNvPr id="15" name="Straight Arrow Connector 14"/>
          <p:cNvCxnSpPr/>
          <p:nvPr/>
        </p:nvCxnSpPr>
        <p:spPr>
          <a:xfrm flipH="1" flipV="1">
            <a:off x="6238066" y="4268710"/>
            <a:ext cx="1644732" cy="1"/>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248576" y="4484693"/>
            <a:ext cx="1983235" cy="369332"/>
          </a:xfrm>
          <a:prstGeom prst="rect">
            <a:avLst/>
          </a:prstGeom>
          <a:noFill/>
        </p:spPr>
        <p:txBody>
          <a:bodyPr wrap="none" rtlCol="0">
            <a:spAutoFit/>
          </a:bodyPr>
          <a:lstStyle/>
          <a:p>
            <a:r>
              <a:rPr lang="en-GB" dirty="0"/>
              <a:t>FLOW C_NAME</a:t>
            </a:r>
          </a:p>
        </p:txBody>
      </p:sp>
      <p:sp>
        <p:nvSpPr>
          <p:cNvPr id="18" name="Rectangle 17"/>
          <p:cNvSpPr/>
          <p:nvPr/>
        </p:nvSpPr>
        <p:spPr>
          <a:xfrm>
            <a:off x="1822915" y="3787017"/>
            <a:ext cx="1413163" cy="5818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Terminator</a:t>
            </a:r>
          </a:p>
        </p:txBody>
      </p:sp>
      <p:sp>
        <p:nvSpPr>
          <p:cNvPr id="19" name="TextBox 18"/>
          <p:cNvSpPr txBox="1"/>
          <p:nvPr/>
        </p:nvSpPr>
        <p:spPr>
          <a:xfrm>
            <a:off x="6420784" y="5251974"/>
            <a:ext cx="5260771" cy="1354217"/>
          </a:xfrm>
          <a:prstGeom prst="rect">
            <a:avLst/>
          </a:prstGeom>
          <a:noFill/>
        </p:spPr>
        <p:txBody>
          <a:bodyPr wrap="square" rtlCol="0">
            <a:spAutoFit/>
          </a:bodyPr>
          <a:lstStyle/>
          <a:p>
            <a:r>
              <a:rPr lang="en-GB" sz="1600" b="1" dirty="0"/>
              <a:t>Context Diagram</a:t>
            </a:r>
          </a:p>
          <a:p>
            <a:pPr marL="285750" indent="-285750">
              <a:buFont typeface="Arial" panose="020B0604020202020204" pitchFamily="34" charset="0"/>
              <a:buChar char="•"/>
            </a:pPr>
            <a:r>
              <a:rPr lang="en-GB" sz="1600" dirty="0"/>
              <a:t>1x System of Interest (</a:t>
            </a:r>
            <a:r>
              <a:rPr lang="en-GB" sz="1600" dirty="0" err="1"/>
              <a:t>SoI</a:t>
            </a:r>
            <a:r>
              <a:rPr lang="en-GB" sz="1600" dirty="0"/>
              <a:t>)</a:t>
            </a:r>
          </a:p>
          <a:p>
            <a:pPr marL="285750" indent="-285750">
              <a:buFont typeface="Arial" panose="020B0604020202020204" pitchFamily="34" charset="0"/>
              <a:buChar char="•"/>
            </a:pPr>
            <a:r>
              <a:rPr lang="en-GB" sz="1600" dirty="0"/>
              <a:t>1 or many Terminators</a:t>
            </a:r>
          </a:p>
          <a:p>
            <a:pPr marL="285750" indent="-285750">
              <a:buFont typeface="Arial" panose="020B0604020202020204" pitchFamily="34" charset="0"/>
              <a:buChar char="•"/>
            </a:pPr>
            <a:r>
              <a:rPr lang="en-GB" sz="1600" dirty="0"/>
              <a:t>1 or many flows between </a:t>
            </a:r>
            <a:r>
              <a:rPr lang="en-GB" sz="1600" dirty="0" err="1"/>
              <a:t>SoI</a:t>
            </a:r>
            <a:r>
              <a:rPr lang="en-GB" sz="1600" dirty="0"/>
              <a:t> and terminator</a:t>
            </a:r>
          </a:p>
          <a:p>
            <a:pPr marL="285750" indent="-285750">
              <a:buFont typeface="Arial" panose="020B0604020202020204" pitchFamily="34" charset="0"/>
              <a:buChar char="•"/>
            </a:pPr>
            <a:r>
              <a:rPr lang="en-GB" sz="1600" dirty="0"/>
              <a:t>Labelled flows</a:t>
            </a:r>
          </a:p>
        </p:txBody>
      </p:sp>
      <p:sp>
        <p:nvSpPr>
          <p:cNvPr id="23" name="Line Callout 1 22"/>
          <p:cNvSpPr/>
          <p:nvPr/>
        </p:nvSpPr>
        <p:spPr>
          <a:xfrm flipH="1">
            <a:off x="2942789" y="2204596"/>
            <a:ext cx="2199462" cy="1052644"/>
          </a:xfrm>
          <a:prstGeom prst="borderCallout1">
            <a:avLst>
              <a:gd name="adj1" fmla="val 102152"/>
              <a:gd name="adj2" fmla="val 99882"/>
              <a:gd name="adj3" fmla="val 139253"/>
              <a:gd name="adj4" fmla="val 11785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200" b="1" dirty="0"/>
              <a:t>TERMINATOR NAME</a:t>
            </a:r>
          </a:p>
          <a:p>
            <a:pPr algn="ctr"/>
            <a:r>
              <a:rPr lang="en-GB" dirty="0"/>
              <a:t>Can be a function or a thing</a:t>
            </a:r>
          </a:p>
        </p:txBody>
      </p:sp>
      <p:sp>
        <p:nvSpPr>
          <p:cNvPr id="24" name="Line Callout 1 23"/>
          <p:cNvSpPr/>
          <p:nvPr/>
        </p:nvSpPr>
        <p:spPr>
          <a:xfrm flipH="1">
            <a:off x="1634776" y="5326691"/>
            <a:ext cx="2772171" cy="1237734"/>
          </a:xfrm>
          <a:prstGeom prst="borderCallout1">
            <a:avLst>
              <a:gd name="adj1" fmla="val -76178"/>
              <a:gd name="adj2" fmla="val -30393"/>
              <a:gd name="adj3" fmla="val 749"/>
              <a:gd name="adj4" fmla="val -112"/>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200" b="1" dirty="0"/>
              <a:t>SYSTEM OF INTEREST</a:t>
            </a:r>
          </a:p>
          <a:p>
            <a:pPr algn="ctr"/>
            <a:r>
              <a:rPr lang="en-GB" dirty="0"/>
              <a:t>Include system name  and optionally context </a:t>
            </a:r>
          </a:p>
          <a:p>
            <a:pPr algn="ctr"/>
            <a:r>
              <a:rPr lang="en-GB" dirty="0"/>
              <a:t>(operational / maintenance)</a:t>
            </a:r>
          </a:p>
        </p:txBody>
      </p:sp>
      <p:sp>
        <p:nvSpPr>
          <p:cNvPr id="25" name="Line Callout 1 24"/>
          <p:cNvSpPr/>
          <p:nvPr/>
        </p:nvSpPr>
        <p:spPr>
          <a:xfrm flipH="1">
            <a:off x="7088619" y="2009534"/>
            <a:ext cx="2199462" cy="1052644"/>
          </a:xfrm>
          <a:prstGeom prst="borderCallout1">
            <a:avLst>
              <a:gd name="adj1" fmla="val 27775"/>
              <a:gd name="adj2" fmla="val 99651"/>
              <a:gd name="adj3" fmla="val 121525"/>
              <a:gd name="adj4" fmla="val 126342"/>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200" b="1" dirty="0"/>
              <a:t>FLOW NAME</a:t>
            </a:r>
          </a:p>
          <a:p>
            <a:pPr algn="ctr"/>
            <a:r>
              <a:rPr lang="en-GB" dirty="0"/>
              <a:t>Describe item / information flow</a:t>
            </a:r>
          </a:p>
        </p:txBody>
      </p:sp>
      <p:sp>
        <p:nvSpPr>
          <p:cNvPr id="26" name="Line Callout 1 25"/>
          <p:cNvSpPr/>
          <p:nvPr/>
        </p:nvSpPr>
        <p:spPr>
          <a:xfrm>
            <a:off x="10498608" y="4093173"/>
            <a:ext cx="1552386" cy="873367"/>
          </a:xfrm>
          <a:prstGeom prst="borderCallout1">
            <a:avLst>
              <a:gd name="adj1" fmla="val 99945"/>
              <a:gd name="adj2" fmla="val -1120"/>
              <a:gd name="adj3" fmla="val 112500"/>
              <a:gd name="adj4" fmla="val -30519"/>
            </a:avLst>
          </a:prstGeom>
          <a:solidFill>
            <a:srgbClr val="FF0000"/>
          </a:solidFill>
          <a:ln>
            <a:solidFill>
              <a:srgbClr val="FF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b="1" dirty="0"/>
              <a:t>Rules for SCD generation</a:t>
            </a:r>
          </a:p>
        </p:txBody>
      </p:sp>
      <p:sp>
        <p:nvSpPr>
          <p:cNvPr id="27" name="Rectangle 26"/>
          <p:cNvSpPr/>
          <p:nvPr/>
        </p:nvSpPr>
        <p:spPr>
          <a:xfrm>
            <a:off x="6319789" y="5110768"/>
            <a:ext cx="5361766" cy="1605549"/>
          </a:xfrm>
          <a:prstGeom prst="rect">
            <a:avLst/>
          </a:prstGeom>
          <a:noFill/>
          <a:ln w="762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4790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Elements in the </a:t>
            </a:r>
            <a:r>
              <a:rPr lang="en-GB" dirty="0" err="1"/>
              <a:t>SoI</a:t>
            </a:r>
            <a:r>
              <a:rPr lang="en-GB" dirty="0"/>
              <a:t> environment</a:t>
            </a:r>
          </a:p>
        </p:txBody>
      </p:sp>
      <p:sp>
        <p:nvSpPr>
          <p:cNvPr id="4" name="Oval 3"/>
          <p:cNvSpPr/>
          <p:nvPr/>
        </p:nvSpPr>
        <p:spPr>
          <a:xfrm>
            <a:off x="5608086" y="3533583"/>
            <a:ext cx="1596124" cy="160846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4800" dirty="0" err="1"/>
              <a:t>SoI</a:t>
            </a:r>
            <a:endParaRPr lang="en-GB" dirty="0"/>
          </a:p>
        </p:txBody>
      </p:sp>
      <p:sp>
        <p:nvSpPr>
          <p:cNvPr id="5" name="Rounded Rectangle 4"/>
          <p:cNvSpPr/>
          <p:nvPr/>
        </p:nvSpPr>
        <p:spPr>
          <a:xfrm>
            <a:off x="3151325" y="2327470"/>
            <a:ext cx="1641513" cy="79321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Inputs and Outputs</a:t>
            </a:r>
          </a:p>
        </p:txBody>
      </p:sp>
      <p:sp>
        <p:nvSpPr>
          <p:cNvPr id="6" name="Rounded Rectangle 5"/>
          <p:cNvSpPr/>
          <p:nvPr/>
        </p:nvSpPr>
        <p:spPr>
          <a:xfrm>
            <a:off x="1509809" y="3941207"/>
            <a:ext cx="1641514" cy="79321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System Operators</a:t>
            </a:r>
          </a:p>
        </p:txBody>
      </p:sp>
      <p:sp>
        <p:nvSpPr>
          <p:cNvPr id="7" name="Rounded Rectangle 6"/>
          <p:cNvSpPr/>
          <p:nvPr/>
        </p:nvSpPr>
        <p:spPr>
          <a:xfrm>
            <a:off x="3151323" y="5554944"/>
            <a:ext cx="1641515" cy="7932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Operational Maintenance</a:t>
            </a:r>
          </a:p>
        </p:txBody>
      </p:sp>
      <p:sp>
        <p:nvSpPr>
          <p:cNvPr id="8" name="Rounded Rectangle 7"/>
          <p:cNvSpPr/>
          <p:nvPr/>
        </p:nvSpPr>
        <p:spPr>
          <a:xfrm>
            <a:off x="8019458" y="2323998"/>
            <a:ext cx="1641515" cy="7932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Support Systems</a:t>
            </a:r>
          </a:p>
        </p:txBody>
      </p:sp>
      <p:sp>
        <p:nvSpPr>
          <p:cNvPr id="9" name="Rounded Rectangle 8"/>
          <p:cNvSpPr/>
          <p:nvPr/>
        </p:nvSpPr>
        <p:spPr>
          <a:xfrm>
            <a:off x="9559985" y="3941207"/>
            <a:ext cx="1742504" cy="79321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Physical support elements</a:t>
            </a:r>
          </a:p>
        </p:txBody>
      </p:sp>
      <p:sp>
        <p:nvSpPr>
          <p:cNvPr id="10" name="Rounded Rectangle 9"/>
          <p:cNvSpPr/>
          <p:nvPr/>
        </p:nvSpPr>
        <p:spPr>
          <a:xfrm>
            <a:off x="7918469" y="5554944"/>
            <a:ext cx="1742504" cy="793214"/>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dirty="0"/>
              <a:t>Physical Environment</a:t>
            </a:r>
          </a:p>
        </p:txBody>
      </p:sp>
      <p:cxnSp>
        <p:nvCxnSpPr>
          <p:cNvPr id="13" name="Straight Arrow Connector 12"/>
          <p:cNvCxnSpPr>
            <a:stCxn id="5" idx="3"/>
            <a:endCxn id="4" idx="1"/>
          </p:cNvCxnSpPr>
          <p:nvPr/>
        </p:nvCxnSpPr>
        <p:spPr>
          <a:xfrm>
            <a:off x="4792838" y="2724077"/>
            <a:ext cx="1048995"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a:endCxn id="4" idx="2"/>
          </p:cNvCxnSpPr>
          <p:nvPr/>
        </p:nvCxnSpPr>
        <p:spPr>
          <a:xfrm>
            <a:off x="3151323" y="4337814"/>
            <a:ext cx="2456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4" idx="3"/>
          </p:cNvCxnSpPr>
          <p:nvPr/>
        </p:nvCxnSpPr>
        <p:spPr>
          <a:xfrm flipV="1">
            <a:off x="4792838" y="4906491"/>
            <a:ext cx="1048995"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1"/>
            <a:endCxn id="4" idx="7"/>
          </p:cNvCxnSpPr>
          <p:nvPr/>
        </p:nvCxnSpPr>
        <p:spPr>
          <a:xfrm flipH="1">
            <a:off x="6970463" y="2720605"/>
            <a:ext cx="1048995" cy="104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stCxn id="9" idx="1"/>
            <a:endCxn id="4" idx="6"/>
          </p:cNvCxnSpPr>
          <p:nvPr/>
        </p:nvCxnSpPr>
        <p:spPr>
          <a:xfrm flipH="1">
            <a:off x="7204210" y="4337814"/>
            <a:ext cx="23557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 idx="1"/>
            <a:endCxn id="4" idx="5"/>
          </p:cNvCxnSpPr>
          <p:nvPr/>
        </p:nvCxnSpPr>
        <p:spPr>
          <a:xfrm flipH="1" flipV="1">
            <a:off x="6970463" y="4906491"/>
            <a:ext cx="948006"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1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Interactions and Interfaces</a:t>
            </a:r>
          </a:p>
        </p:txBody>
      </p:sp>
      <p:sp>
        <p:nvSpPr>
          <p:cNvPr id="4" name="Oval 3"/>
          <p:cNvSpPr/>
          <p:nvPr/>
        </p:nvSpPr>
        <p:spPr>
          <a:xfrm>
            <a:off x="5692697" y="3429000"/>
            <a:ext cx="1596124" cy="160846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4800" dirty="0" err="1"/>
              <a:t>SoI</a:t>
            </a:r>
            <a:endParaRPr lang="en-GB" dirty="0"/>
          </a:p>
        </p:txBody>
      </p:sp>
      <p:sp>
        <p:nvSpPr>
          <p:cNvPr id="5" name="Rounded Rectangle 4"/>
          <p:cNvSpPr/>
          <p:nvPr/>
        </p:nvSpPr>
        <p:spPr>
          <a:xfrm>
            <a:off x="3235936" y="2222887"/>
            <a:ext cx="1641513" cy="79321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Inputs and Outputs</a:t>
            </a:r>
          </a:p>
        </p:txBody>
      </p:sp>
      <p:sp>
        <p:nvSpPr>
          <p:cNvPr id="6" name="Rounded Rectangle 5"/>
          <p:cNvSpPr/>
          <p:nvPr/>
        </p:nvSpPr>
        <p:spPr>
          <a:xfrm>
            <a:off x="1594420" y="3836624"/>
            <a:ext cx="1641514" cy="79321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System Operators</a:t>
            </a:r>
          </a:p>
        </p:txBody>
      </p:sp>
      <p:sp>
        <p:nvSpPr>
          <p:cNvPr id="7" name="Rounded Rectangle 6"/>
          <p:cNvSpPr/>
          <p:nvPr/>
        </p:nvSpPr>
        <p:spPr>
          <a:xfrm>
            <a:off x="3235934" y="5450361"/>
            <a:ext cx="1641515" cy="7932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Operational Maintenance</a:t>
            </a:r>
          </a:p>
        </p:txBody>
      </p:sp>
      <p:sp>
        <p:nvSpPr>
          <p:cNvPr id="8" name="Rounded Rectangle 7"/>
          <p:cNvSpPr/>
          <p:nvPr/>
        </p:nvSpPr>
        <p:spPr>
          <a:xfrm>
            <a:off x="8104069" y="2219415"/>
            <a:ext cx="1641515" cy="7932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Support Systems</a:t>
            </a:r>
          </a:p>
        </p:txBody>
      </p:sp>
      <p:sp>
        <p:nvSpPr>
          <p:cNvPr id="9" name="Rounded Rectangle 8"/>
          <p:cNvSpPr/>
          <p:nvPr/>
        </p:nvSpPr>
        <p:spPr>
          <a:xfrm>
            <a:off x="9745584" y="3836624"/>
            <a:ext cx="1641515" cy="79321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System Housing</a:t>
            </a:r>
          </a:p>
        </p:txBody>
      </p:sp>
      <p:sp>
        <p:nvSpPr>
          <p:cNvPr id="10" name="Rounded Rectangle 9"/>
          <p:cNvSpPr/>
          <p:nvPr/>
        </p:nvSpPr>
        <p:spPr>
          <a:xfrm>
            <a:off x="8003080" y="5450361"/>
            <a:ext cx="1742504" cy="793214"/>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dirty="0"/>
              <a:t>Physical Environment</a:t>
            </a:r>
          </a:p>
        </p:txBody>
      </p:sp>
      <p:cxnSp>
        <p:nvCxnSpPr>
          <p:cNvPr id="13" name="Straight Arrow Connector 12"/>
          <p:cNvCxnSpPr>
            <a:stCxn id="5" idx="3"/>
            <a:endCxn id="4" idx="1"/>
          </p:cNvCxnSpPr>
          <p:nvPr/>
        </p:nvCxnSpPr>
        <p:spPr>
          <a:xfrm>
            <a:off x="4877449" y="2619494"/>
            <a:ext cx="1048995"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a:endCxn id="4" idx="2"/>
          </p:cNvCxnSpPr>
          <p:nvPr/>
        </p:nvCxnSpPr>
        <p:spPr>
          <a:xfrm>
            <a:off x="3235934" y="4233231"/>
            <a:ext cx="2456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4" idx="3"/>
          </p:cNvCxnSpPr>
          <p:nvPr/>
        </p:nvCxnSpPr>
        <p:spPr>
          <a:xfrm flipV="1">
            <a:off x="4877449" y="4801908"/>
            <a:ext cx="1048995"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1"/>
            <a:endCxn id="4" idx="7"/>
          </p:cNvCxnSpPr>
          <p:nvPr/>
        </p:nvCxnSpPr>
        <p:spPr>
          <a:xfrm flipH="1">
            <a:off x="7055074" y="2616022"/>
            <a:ext cx="1048995" cy="104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1"/>
            <a:endCxn id="4" idx="6"/>
          </p:cNvCxnSpPr>
          <p:nvPr/>
        </p:nvCxnSpPr>
        <p:spPr>
          <a:xfrm flipH="1">
            <a:off x="7288821" y="4233231"/>
            <a:ext cx="2456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 idx="1"/>
            <a:endCxn id="4" idx="5"/>
          </p:cNvCxnSpPr>
          <p:nvPr/>
        </p:nvCxnSpPr>
        <p:spPr>
          <a:xfrm flipH="1" flipV="1">
            <a:off x="7055074" y="4801908"/>
            <a:ext cx="948006" cy="104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ight Arrow 2"/>
          <p:cNvSpPr/>
          <p:nvPr/>
        </p:nvSpPr>
        <p:spPr>
          <a:xfrm>
            <a:off x="3538898" y="3836624"/>
            <a:ext cx="1850834" cy="26273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ight Arrow 17"/>
          <p:cNvSpPr/>
          <p:nvPr/>
        </p:nvSpPr>
        <p:spPr>
          <a:xfrm rot="10800000">
            <a:off x="3538898" y="4423007"/>
            <a:ext cx="1850834" cy="26273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p:cNvCxnSpPr/>
          <p:nvPr/>
        </p:nvCxnSpPr>
        <p:spPr>
          <a:xfrm>
            <a:off x="4348639" y="3573887"/>
            <a:ext cx="0" cy="146357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418410" y="3573887"/>
            <a:ext cx="0" cy="146357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415177" y="2616022"/>
            <a:ext cx="1295861" cy="1220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420686" y="2616022"/>
            <a:ext cx="1376765" cy="180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29117" y="2300177"/>
            <a:ext cx="1377300" cy="369332"/>
          </a:xfrm>
          <a:prstGeom prst="rect">
            <a:avLst/>
          </a:prstGeom>
          <a:noFill/>
        </p:spPr>
        <p:txBody>
          <a:bodyPr wrap="none" rtlCol="0">
            <a:spAutoFit/>
          </a:bodyPr>
          <a:lstStyle/>
          <a:p>
            <a:r>
              <a:rPr lang="en-GB" dirty="0"/>
              <a:t>Interaction</a:t>
            </a:r>
          </a:p>
        </p:txBody>
      </p:sp>
      <p:cxnSp>
        <p:nvCxnSpPr>
          <p:cNvPr id="27" name="Straight Arrow Connector 26"/>
          <p:cNvCxnSpPr>
            <a:stCxn id="28" idx="0"/>
          </p:cNvCxnSpPr>
          <p:nvPr/>
        </p:nvCxnSpPr>
        <p:spPr>
          <a:xfrm flipV="1">
            <a:off x="1957130" y="4801908"/>
            <a:ext cx="2285659" cy="724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79751" y="5526558"/>
            <a:ext cx="2154757" cy="369332"/>
          </a:xfrm>
          <a:prstGeom prst="rect">
            <a:avLst/>
          </a:prstGeom>
          <a:noFill/>
        </p:spPr>
        <p:txBody>
          <a:bodyPr wrap="none" rtlCol="0">
            <a:spAutoFit/>
          </a:bodyPr>
          <a:lstStyle/>
          <a:p>
            <a:r>
              <a:rPr lang="en-GB" dirty="0"/>
              <a:t>External Interface</a:t>
            </a:r>
          </a:p>
        </p:txBody>
      </p:sp>
    </p:spTree>
    <p:extLst>
      <p:ext uri="{BB962C8B-B14F-4D97-AF65-F5344CB8AC3E}">
        <p14:creationId xmlns:p14="http://schemas.microsoft.com/office/powerpoint/2010/main" val="120749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right)">
                                      <p:cBhvr>
                                        <p:cTn id="23" dur="500"/>
                                        <p:tgtEl>
                                          <p:spTgt spid="18"/>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8" grpId="0" animBg="1"/>
      <p:bldP spid="26"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8" name="Rectangle 17">
            <a:extLst>
              <a:ext uri="{FF2B5EF4-FFF2-40B4-BE49-F238E27FC236}">
                <a16:creationId xmlns:a16="http://schemas.microsoft.com/office/drawing/2014/main" id="{202E9D7B-AC8A-4860-BD41-E04FC6559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697B8C9C-91DF-4F8D-94A0-2C0C66030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CF7097C-1607-693E-11CD-CDA0680FC584}"/>
              </a:ext>
            </a:extLst>
          </p:cNvPr>
          <p:cNvPicPr>
            <a:picLocks noGrp="1" noChangeAspect="1"/>
          </p:cNvPicPr>
          <p:nvPr>
            <p:ph idx="1"/>
          </p:nvPr>
        </p:nvPicPr>
        <p:blipFill>
          <a:blip r:embed="rId2"/>
          <a:srcRect t="2554" r="-1" b="-1"/>
          <a:stretch>
            <a:fillRect/>
          </a:stretch>
        </p:blipFill>
        <p:spPr>
          <a:xfrm>
            <a:off x="309972" y="734135"/>
            <a:ext cx="6202840" cy="5666665"/>
          </a:xfrm>
          <a:prstGeom prst="rect">
            <a:avLst/>
          </a:prstGeom>
        </p:spPr>
      </p:pic>
      <p:sp>
        <p:nvSpPr>
          <p:cNvPr id="22" name="Rectangle 21">
            <a:extLst>
              <a:ext uri="{FF2B5EF4-FFF2-40B4-BE49-F238E27FC236}">
                <a16:creationId xmlns:a16="http://schemas.microsoft.com/office/drawing/2014/main" id="{54D43BDD-ED29-4BE9-AEA1-6D0AE5A06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6079" y="723899"/>
            <a:ext cx="5009388"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A85DEC5-395A-85D3-76BC-465A21DC0B35}"/>
              </a:ext>
            </a:extLst>
          </p:cNvPr>
          <p:cNvSpPr>
            <a:spLocks noGrp="1"/>
          </p:cNvSpPr>
          <p:nvPr>
            <p:ph type="title"/>
          </p:nvPr>
        </p:nvSpPr>
        <p:spPr>
          <a:xfrm>
            <a:off x="7261934" y="1419225"/>
            <a:ext cx="4115917" cy="2085869"/>
          </a:xfrm>
        </p:spPr>
        <p:txBody>
          <a:bodyPr vert="horz" lIns="91440" tIns="45720" rIns="91440" bIns="45720" rtlCol="0" anchor="b">
            <a:normAutofit fontScale="90000"/>
          </a:bodyPr>
          <a:lstStyle/>
          <a:p>
            <a:r>
              <a:rPr lang="en-US" sz="3600" dirty="0">
                <a:solidFill>
                  <a:srgbClr val="FFFFFF"/>
                </a:solidFill>
              </a:rPr>
              <a:t>Example SCD of an automated fruit packing system (</a:t>
            </a:r>
            <a:r>
              <a:rPr lang="en-US" sz="3600" dirty="0" err="1">
                <a:solidFill>
                  <a:srgbClr val="FFFFFF"/>
                </a:solidFill>
              </a:rPr>
              <a:t>afps</a:t>
            </a:r>
            <a:r>
              <a:rPr lang="en-US" sz="3600" dirty="0">
                <a:solidFill>
                  <a:srgbClr val="FFFFFF"/>
                </a:solidFill>
              </a:rPr>
              <a:t>)</a:t>
            </a:r>
          </a:p>
        </p:txBody>
      </p:sp>
      <p:grpSp>
        <p:nvGrpSpPr>
          <p:cNvPr id="24" name="Group 23">
            <a:extLst>
              <a:ext uri="{FF2B5EF4-FFF2-40B4-BE49-F238E27FC236}">
                <a16:creationId xmlns:a16="http://schemas.microsoft.com/office/drawing/2014/main" id="{D87A5CD2-E3CD-4870-957C-173AD2C873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5" name="Rectangle 24">
              <a:extLst>
                <a:ext uri="{FF2B5EF4-FFF2-40B4-BE49-F238E27FC236}">
                  <a16:creationId xmlns:a16="http://schemas.microsoft.com/office/drawing/2014/main" id="{00BF2A26-F7CA-4E8B-BC24-1AF436CD5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a:extLst>
                <a:ext uri="{FF2B5EF4-FFF2-40B4-BE49-F238E27FC236}">
                  <a16:creationId xmlns:a16="http://schemas.microsoft.com/office/drawing/2014/main" id="{5B21A4B9-14CF-4CA1-9ECF-0DE52B291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6">
              <a:extLst>
                <a:ext uri="{FF2B5EF4-FFF2-40B4-BE49-F238E27FC236}">
                  <a16:creationId xmlns:a16="http://schemas.microsoft.com/office/drawing/2014/main" id="{C6DADA72-F9FE-48F9-9DAD-B379AE2BC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Tree>
    <p:extLst>
      <p:ext uri="{BB962C8B-B14F-4D97-AF65-F5344CB8AC3E}">
        <p14:creationId xmlns:p14="http://schemas.microsoft.com/office/powerpoint/2010/main" val="1670006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7385-954A-EE93-02B1-40E6D4BEF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875D7-A640-D5BC-0070-F36E6A8020B2}"/>
              </a:ext>
            </a:extLst>
          </p:cNvPr>
          <p:cNvSpPr>
            <a:spLocks noGrp="1"/>
          </p:cNvSpPr>
          <p:nvPr>
            <p:ph type="title"/>
          </p:nvPr>
        </p:nvSpPr>
        <p:spPr>
          <a:xfrm>
            <a:off x="581192" y="702156"/>
            <a:ext cx="11029616" cy="1013800"/>
          </a:xfrm>
        </p:spPr>
        <p:txBody>
          <a:bodyPr>
            <a:normAutofit/>
          </a:bodyPr>
          <a:lstStyle/>
          <a:p>
            <a:r>
              <a:rPr lang="en-ZA" dirty="0">
                <a:solidFill>
                  <a:srgbClr val="FFFEFF"/>
                </a:solidFill>
              </a:rPr>
              <a:t>System Context Diagram – Key Take aways</a:t>
            </a:r>
          </a:p>
        </p:txBody>
      </p:sp>
      <p:graphicFrame>
        <p:nvGraphicFramePr>
          <p:cNvPr id="5" name="Content Placeholder 2">
            <a:extLst>
              <a:ext uri="{FF2B5EF4-FFF2-40B4-BE49-F238E27FC236}">
                <a16:creationId xmlns:a16="http://schemas.microsoft.com/office/drawing/2014/main" id="{78084C65-1381-0593-6B57-0EC2E29597C6}"/>
              </a:ext>
            </a:extLst>
          </p:cNvPr>
          <p:cNvGraphicFramePr>
            <a:graphicFrameLocks noGrp="1"/>
          </p:cNvGraphicFramePr>
          <p:nvPr>
            <p:ph idx="1"/>
            <p:extLst>
              <p:ext uri="{D42A27DB-BD31-4B8C-83A1-F6EECF244321}">
                <p14:modId xmlns:p14="http://schemas.microsoft.com/office/powerpoint/2010/main" val="4268942625"/>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2956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D48BBF-9E75-74F3-C308-4A394DE7DE39}"/>
              </a:ext>
            </a:extLst>
          </p:cNvPr>
          <p:cNvSpPr>
            <a:spLocks noGrp="1"/>
          </p:cNvSpPr>
          <p:nvPr>
            <p:ph type="title"/>
          </p:nvPr>
        </p:nvSpPr>
        <p:spPr/>
        <p:txBody>
          <a:bodyPr/>
          <a:lstStyle/>
          <a:p>
            <a:r>
              <a:rPr lang="en-GB" dirty="0"/>
              <a:t>System missions</a:t>
            </a:r>
          </a:p>
        </p:txBody>
      </p:sp>
      <p:sp>
        <p:nvSpPr>
          <p:cNvPr id="5" name="Text Placeholder 4">
            <a:extLst>
              <a:ext uri="{FF2B5EF4-FFF2-40B4-BE49-F238E27FC236}">
                <a16:creationId xmlns:a16="http://schemas.microsoft.com/office/drawing/2014/main" id="{44D87E59-23ED-FE65-F402-AB8B7A9FE559}"/>
              </a:ext>
            </a:extLst>
          </p:cNvPr>
          <p:cNvSpPr>
            <a:spLocks noGrp="1"/>
          </p:cNvSpPr>
          <p:nvPr>
            <p:ph type="body" idx="1"/>
          </p:nvPr>
        </p:nvSpPr>
        <p:spPr/>
        <p:txBody>
          <a:bodyPr/>
          <a:lstStyle/>
          <a:p>
            <a:r>
              <a:rPr lang="en-GB" dirty="0"/>
              <a:t>A way to describe the system behaviour over time</a:t>
            </a:r>
          </a:p>
        </p:txBody>
      </p:sp>
    </p:spTree>
    <p:extLst>
      <p:ext uri="{BB962C8B-B14F-4D97-AF65-F5344CB8AC3E}">
        <p14:creationId xmlns:p14="http://schemas.microsoft.com/office/powerpoint/2010/main" val="3006739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C904-544D-4BDC-9F7A-FADDE4D79AA8}"/>
              </a:ext>
            </a:extLst>
          </p:cNvPr>
          <p:cNvSpPr>
            <a:spLocks noGrp="1"/>
          </p:cNvSpPr>
          <p:nvPr>
            <p:ph type="title"/>
          </p:nvPr>
        </p:nvSpPr>
        <p:spPr/>
        <p:txBody>
          <a:bodyPr/>
          <a:lstStyle/>
          <a:p>
            <a:r>
              <a:rPr lang="en-ZA" dirty="0"/>
              <a:t>Missions</a:t>
            </a:r>
          </a:p>
        </p:txBody>
      </p:sp>
      <p:sp>
        <p:nvSpPr>
          <p:cNvPr id="3" name="Content Placeholder 2">
            <a:extLst>
              <a:ext uri="{FF2B5EF4-FFF2-40B4-BE49-F238E27FC236}">
                <a16:creationId xmlns:a16="http://schemas.microsoft.com/office/drawing/2014/main" id="{AF7BCE7F-7C34-4482-95AB-98F1D64E8EF2}"/>
              </a:ext>
            </a:extLst>
          </p:cNvPr>
          <p:cNvSpPr>
            <a:spLocks noGrp="1"/>
          </p:cNvSpPr>
          <p:nvPr>
            <p:ph idx="1"/>
          </p:nvPr>
        </p:nvSpPr>
        <p:spPr/>
        <p:txBody>
          <a:bodyPr/>
          <a:lstStyle/>
          <a:p>
            <a:r>
              <a:rPr lang="en-ZA" dirty="0"/>
              <a:t>Systems have missions. These missions might be long and complicated or rather short and simplistic. At the extreme a system might only have to perform a single task. </a:t>
            </a:r>
          </a:p>
        </p:txBody>
      </p:sp>
      <p:pic>
        <p:nvPicPr>
          <p:cNvPr id="4" name="Picture 3">
            <a:extLst>
              <a:ext uri="{FF2B5EF4-FFF2-40B4-BE49-F238E27FC236}">
                <a16:creationId xmlns:a16="http://schemas.microsoft.com/office/drawing/2014/main" id="{2E70162C-0C11-4DF8-B7A7-FBB3F8327F8E}"/>
              </a:ext>
            </a:extLst>
          </p:cNvPr>
          <p:cNvPicPr>
            <a:picLocks noChangeAspect="1"/>
          </p:cNvPicPr>
          <p:nvPr/>
        </p:nvPicPr>
        <p:blipFill>
          <a:blip r:embed="rId3"/>
          <a:stretch>
            <a:fillRect/>
          </a:stretch>
        </p:blipFill>
        <p:spPr>
          <a:xfrm>
            <a:off x="938176" y="3116591"/>
            <a:ext cx="10376607" cy="2896881"/>
          </a:xfrm>
          <a:prstGeom prst="rect">
            <a:avLst/>
          </a:prstGeom>
        </p:spPr>
      </p:pic>
    </p:spTree>
    <p:extLst>
      <p:ext uri="{BB962C8B-B14F-4D97-AF65-F5344CB8AC3E}">
        <p14:creationId xmlns:p14="http://schemas.microsoft.com/office/powerpoint/2010/main" val="2034532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1B34E3-EE61-41CA-9FA5-9577A6C5E4D2}"/>
              </a:ext>
            </a:extLst>
          </p:cNvPr>
          <p:cNvPicPr>
            <a:picLocks noChangeAspect="1"/>
          </p:cNvPicPr>
          <p:nvPr/>
        </p:nvPicPr>
        <p:blipFill>
          <a:blip r:embed="rId2"/>
          <a:stretch>
            <a:fillRect/>
          </a:stretch>
        </p:blipFill>
        <p:spPr>
          <a:xfrm>
            <a:off x="7799070" y="2108200"/>
            <a:ext cx="3760891" cy="3760891"/>
          </a:xfrm>
          <a:prstGeom prst="rect">
            <a:avLst/>
          </a:prstGeom>
        </p:spPr>
      </p:pic>
      <p:sp>
        <p:nvSpPr>
          <p:cNvPr id="2" name="Title 1">
            <a:extLst>
              <a:ext uri="{FF2B5EF4-FFF2-40B4-BE49-F238E27FC236}">
                <a16:creationId xmlns:a16="http://schemas.microsoft.com/office/drawing/2014/main" id="{35E3B224-86C6-40C6-B7AB-C3C04E13D648}"/>
              </a:ext>
            </a:extLst>
          </p:cNvPr>
          <p:cNvSpPr>
            <a:spLocks noGrp="1"/>
          </p:cNvSpPr>
          <p:nvPr>
            <p:ph type="title"/>
          </p:nvPr>
        </p:nvSpPr>
        <p:spPr/>
        <p:txBody>
          <a:bodyPr/>
          <a:lstStyle/>
          <a:p>
            <a:r>
              <a:rPr lang="en-ZA" dirty="0"/>
              <a:t>Missions – An example</a:t>
            </a:r>
          </a:p>
        </p:txBody>
      </p:sp>
      <p:sp>
        <p:nvSpPr>
          <p:cNvPr id="3" name="Content Placeholder 2">
            <a:extLst>
              <a:ext uri="{FF2B5EF4-FFF2-40B4-BE49-F238E27FC236}">
                <a16:creationId xmlns:a16="http://schemas.microsoft.com/office/drawing/2014/main" id="{6CF83904-4995-4AD0-8360-C1FC766FBE35}"/>
              </a:ext>
            </a:extLst>
          </p:cNvPr>
          <p:cNvSpPr>
            <a:spLocks noGrp="1"/>
          </p:cNvSpPr>
          <p:nvPr>
            <p:ph idx="1"/>
          </p:nvPr>
        </p:nvSpPr>
        <p:spPr/>
        <p:txBody>
          <a:bodyPr/>
          <a:lstStyle/>
          <a:p>
            <a:pPr marL="0" indent="0">
              <a:buNone/>
            </a:pPr>
            <a:r>
              <a:rPr lang="en-ZA" dirty="0"/>
              <a:t>Consider this electric weed eater as an example. It is a pretty</a:t>
            </a:r>
          </a:p>
          <a:p>
            <a:pPr marL="0" indent="0">
              <a:buNone/>
            </a:pPr>
            <a:r>
              <a:rPr lang="en-ZA" dirty="0"/>
              <a:t>simple device that spins plastic line with an electric motor to</a:t>
            </a:r>
          </a:p>
          <a:p>
            <a:pPr marL="0" indent="0">
              <a:buNone/>
            </a:pPr>
            <a:r>
              <a:rPr lang="en-ZA" dirty="0"/>
              <a:t>chop down weeds and overgrowing grass.</a:t>
            </a:r>
          </a:p>
          <a:p>
            <a:endParaRPr lang="en-ZA" dirty="0"/>
          </a:p>
          <a:p>
            <a:pPr marL="0" indent="0">
              <a:buNone/>
            </a:pPr>
            <a:r>
              <a:rPr lang="en-ZA" dirty="0"/>
              <a:t>The developers of this product had a certain concept of operation</a:t>
            </a:r>
          </a:p>
          <a:p>
            <a:pPr marL="0" indent="0">
              <a:buNone/>
            </a:pPr>
            <a:r>
              <a:rPr lang="en-ZA" dirty="0"/>
              <a:t>in mind that drove their design decisions. A mission is one tool</a:t>
            </a:r>
          </a:p>
          <a:p>
            <a:pPr marL="0" indent="0">
              <a:buNone/>
            </a:pPr>
            <a:r>
              <a:rPr lang="en-ZA" dirty="0"/>
              <a:t> that we can use to accomplish this</a:t>
            </a:r>
          </a:p>
          <a:p>
            <a:endParaRPr lang="en-ZA" dirty="0"/>
          </a:p>
        </p:txBody>
      </p:sp>
    </p:spTree>
    <p:extLst>
      <p:ext uri="{BB962C8B-B14F-4D97-AF65-F5344CB8AC3E}">
        <p14:creationId xmlns:p14="http://schemas.microsoft.com/office/powerpoint/2010/main" val="1499201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1B34E3-EE61-41CA-9FA5-9577A6C5E4D2}"/>
              </a:ext>
            </a:extLst>
          </p:cNvPr>
          <p:cNvPicPr>
            <a:picLocks noChangeAspect="1"/>
          </p:cNvPicPr>
          <p:nvPr/>
        </p:nvPicPr>
        <p:blipFill>
          <a:blip r:embed="rId3"/>
          <a:stretch>
            <a:fillRect/>
          </a:stretch>
        </p:blipFill>
        <p:spPr>
          <a:xfrm>
            <a:off x="7799070" y="2108200"/>
            <a:ext cx="3760891" cy="3760891"/>
          </a:xfrm>
          <a:prstGeom prst="rect">
            <a:avLst/>
          </a:prstGeom>
        </p:spPr>
      </p:pic>
      <p:sp>
        <p:nvSpPr>
          <p:cNvPr id="2" name="Title 1">
            <a:extLst>
              <a:ext uri="{FF2B5EF4-FFF2-40B4-BE49-F238E27FC236}">
                <a16:creationId xmlns:a16="http://schemas.microsoft.com/office/drawing/2014/main" id="{35E3B224-86C6-40C6-B7AB-C3C04E13D648}"/>
              </a:ext>
            </a:extLst>
          </p:cNvPr>
          <p:cNvSpPr>
            <a:spLocks noGrp="1"/>
          </p:cNvSpPr>
          <p:nvPr>
            <p:ph type="title"/>
          </p:nvPr>
        </p:nvSpPr>
        <p:spPr/>
        <p:txBody>
          <a:bodyPr/>
          <a:lstStyle/>
          <a:p>
            <a:r>
              <a:rPr lang="en-ZA" dirty="0"/>
              <a:t>Missions – An example</a:t>
            </a:r>
          </a:p>
        </p:txBody>
      </p:sp>
      <p:grpSp>
        <p:nvGrpSpPr>
          <p:cNvPr id="32" name="Group 31">
            <a:extLst>
              <a:ext uri="{FF2B5EF4-FFF2-40B4-BE49-F238E27FC236}">
                <a16:creationId xmlns:a16="http://schemas.microsoft.com/office/drawing/2014/main" id="{D80BA794-85D2-4F1C-91E1-A983FF532379}"/>
              </a:ext>
            </a:extLst>
          </p:cNvPr>
          <p:cNvGrpSpPr/>
          <p:nvPr/>
        </p:nvGrpSpPr>
        <p:grpSpPr>
          <a:xfrm>
            <a:off x="1097280" y="2377439"/>
            <a:ext cx="4230430" cy="1241902"/>
            <a:chOff x="1093410" y="4490719"/>
            <a:chExt cx="4230430" cy="1241902"/>
          </a:xfrm>
        </p:grpSpPr>
        <p:cxnSp>
          <p:nvCxnSpPr>
            <p:cNvPr id="6" name="Straight Connector 5">
              <a:extLst>
                <a:ext uri="{FF2B5EF4-FFF2-40B4-BE49-F238E27FC236}">
                  <a16:creationId xmlns:a16="http://schemas.microsoft.com/office/drawing/2014/main" id="{04A607E5-0776-430F-AC6A-BDB97F3185CB}"/>
                </a:ext>
              </a:extLst>
            </p:cNvPr>
            <p:cNvCxnSpPr>
              <a:cxnSpLocks/>
            </p:cNvCxnSpPr>
            <p:nvPr/>
          </p:nvCxnSpPr>
          <p:spPr>
            <a:xfrm>
              <a:off x="1493520" y="5273040"/>
              <a:ext cx="383032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E3FD4B0-8076-43B7-B7FD-32072765ABEE}"/>
                </a:ext>
              </a:extLst>
            </p:cNvPr>
            <p:cNvCxnSpPr>
              <a:cxnSpLocks/>
            </p:cNvCxnSpPr>
            <p:nvPr/>
          </p:nvCxnSpPr>
          <p:spPr>
            <a:xfrm flipV="1">
              <a:off x="1717040" y="449072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93BD41-E70A-48EF-80C3-64485C3AD015}"/>
                </a:ext>
              </a:extLst>
            </p:cNvPr>
            <p:cNvCxnSpPr>
              <a:cxnSpLocks/>
            </p:cNvCxnSpPr>
            <p:nvPr/>
          </p:nvCxnSpPr>
          <p:spPr>
            <a:xfrm flipH="1" flipV="1">
              <a:off x="1950720" y="449072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FA20074-8A14-473F-BE63-E7338E660FF3}"/>
                </a:ext>
              </a:extLst>
            </p:cNvPr>
            <p:cNvCxnSpPr>
              <a:cxnSpLocks/>
            </p:cNvCxnSpPr>
            <p:nvPr/>
          </p:nvCxnSpPr>
          <p:spPr>
            <a:xfrm flipH="1" flipV="1">
              <a:off x="2976880" y="449072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4BDDAB-9954-4E7A-98B5-720E132EE913}"/>
                </a:ext>
              </a:extLst>
            </p:cNvPr>
            <p:cNvCxnSpPr>
              <a:cxnSpLocks/>
            </p:cNvCxnSpPr>
            <p:nvPr/>
          </p:nvCxnSpPr>
          <p:spPr>
            <a:xfrm flipV="1">
              <a:off x="2181225" y="449072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D4CBF3-FF7E-4216-80C3-FB0C7E2A93A3}"/>
                </a:ext>
              </a:extLst>
            </p:cNvPr>
            <p:cNvCxnSpPr>
              <a:cxnSpLocks/>
            </p:cNvCxnSpPr>
            <p:nvPr/>
          </p:nvCxnSpPr>
          <p:spPr>
            <a:xfrm flipH="1">
              <a:off x="2407920" y="4490719"/>
              <a:ext cx="56896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27E64A-EBDA-4EFC-A285-A821AF30ED0B}"/>
                </a:ext>
              </a:extLst>
            </p:cNvPr>
            <p:cNvCxnSpPr>
              <a:cxnSpLocks/>
            </p:cNvCxnSpPr>
            <p:nvPr/>
          </p:nvCxnSpPr>
          <p:spPr>
            <a:xfrm flipH="1" flipV="1">
              <a:off x="4945382" y="449072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757C15-3698-4B88-9B1B-05CB74057D19}"/>
                </a:ext>
              </a:extLst>
            </p:cNvPr>
            <p:cNvCxnSpPr>
              <a:cxnSpLocks/>
            </p:cNvCxnSpPr>
            <p:nvPr/>
          </p:nvCxnSpPr>
          <p:spPr>
            <a:xfrm flipV="1">
              <a:off x="3538855" y="449072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1537A5D-292A-41D0-8271-32952AFF911F}"/>
                </a:ext>
              </a:extLst>
            </p:cNvPr>
            <p:cNvCxnSpPr>
              <a:cxnSpLocks/>
            </p:cNvCxnSpPr>
            <p:nvPr/>
          </p:nvCxnSpPr>
          <p:spPr>
            <a:xfrm flipH="1">
              <a:off x="3762375" y="4490719"/>
              <a:ext cx="118300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0149824-3DAB-41CF-A307-0793F74E37CF}"/>
                </a:ext>
              </a:extLst>
            </p:cNvPr>
            <p:cNvSpPr txBox="1"/>
            <p:nvPr/>
          </p:nvSpPr>
          <p:spPr>
            <a:xfrm rot="16200000">
              <a:off x="998352" y="4681825"/>
              <a:ext cx="590226" cy="400110"/>
            </a:xfrm>
            <a:prstGeom prst="rect">
              <a:avLst/>
            </a:prstGeom>
            <a:noFill/>
          </p:spPr>
          <p:txBody>
            <a:bodyPr wrap="none" rtlCol="0">
              <a:spAutoFit/>
            </a:bodyPr>
            <a:lstStyle/>
            <a:p>
              <a:r>
                <a:rPr lang="en-ZA" sz="1000" dirty="0"/>
                <a:t>MOTOR</a:t>
              </a:r>
            </a:p>
            <a:p>
              <a:r>
                <a:rPr lang="en-ZA" sz="1000" dirty="0"/>
                <a:t>SPEED</a:t>
              </a:r>
            </a:p>
          </p:txBody>
        </p:sp>
        <p:sp>
          <p:nvSpPr>
            <p:cNvPr id="25" name="TextBox 24">
              <a:extLst>
                <a:ext uri="{FF2B5EF4-FFF2-40B4-BE49-F238E27FC236}">
                  <a16:creationId xmlns:a16="http://schemas.microsoft.com/office/drawing/2014/main" id="{A042890F-1910-49B4-BD0A-1697A9B43202}"/>
                </a:ext>
              </a:extLst>
            </p:cNvPr>
            <p:cNvSpPr txBox="1"/>
            <p:nvPr/>
          </p:nvSpPr>
          <p:spPr>
            <a:xfrm>
              <a:off x="2763433" y="5486400"/>
              <a:ext cx="665567" cy="246221"/>
            </a:xfrm>
            <a:prstGeom prst="rect">
              <a:avLst/>
            </a:prstGeom>
            <a:noFill/>
          </p:spPr>
          <p:txBody>
            <a:bodyPr wrap="none" rtlCol="0">
              <a:spAutoFit/>
            </a:bodyPr>
            <a:lstStyle/>
            <a:p>
              <a:r>
                <a:rPr lang="en-ZA" sz="1000" dirty="0"/>
                <a:t>MISSION</a:t>
              </a:r>
            </a:p>
          </p:txBody>
        </p:sp>
        <p:cxnSp>
          <p:nvCxnSpPr>
            <p:cNvPr id="27" name="Straight Arrow Connector 26">
              <a:extLst>
                <a:ext uri="{FF2B5EF4-FFF2-40B4-BE49-F238E27FC236}">
                  <a16:creationId xmlns:a16="http://schemas.microsoft.com/office/drawing/2014/main" id="{FAED72C5-247C-4162-8D26-34B558A603C2}"/>
                </a:ext>
              </a:extLst>
            </p:cNvPr>
            <p:cNvCxnSpPr>
              <a:cxnSpLocks/>
              <a:stCxn id="25" idx="3"/>
            </p:cNvCxnSpPr>
            <p:nvPr/>
          </p:nvCxnSpPr>
          <p:spPr>
            <a:xfrm>
              <a:off x="3429000" y="5609511"/>
              <a:ext cx="17716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BA8AE10-2413-4E93-84C8-FB3A5806D195}"/>
                </a:ext>
              </a:extLst>
            </p:cNvPr>
            <p:cNvCxnSpPr>
              <a:cxnSpLocks/>
              <a:stCxn id="25" idx="1"/>
            </p:cNvCxnSpPr>
            <p:nvPr/>
          </p:nvCxnSpPr>
          <p:spPr>
            <a:xfrm flipH="1" flipV="1">
              <a:off x="1630680" y="5594867"/>
              <a:ext cx="1132753" cy="14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4462240-E34B-4425-8084-0A4ED39AFBF8}"/>
              </a:ext>
            </a:extLst>
          </p:cNvPr>
          <p:cNvGrpSpPr/>
          <p:nvPr/>
        </p:nvGrpSpPr>
        <p:grpSpPr>
          <a:xfrm>
            <a:off x="1097280" y="4486114"/>
            <a:ext cx="4230430" cy="1241901"/>
            <a:chOff x="1097280" y="4486114"/>
            <a:chExt cx="4230430" cy="1241901"/>
          </a:xfrm>
        </p:grpSpPr>
        <p:cxnSp>
          <p:nvCxnSpPr>
            <p:cNvPr id="34" name="Straight Connector 33">
              <a:extLst>
                <a:ext uri="{FF2B5EF4-FFF2-40B4-BE49-F238E27FC236}">
                  <a16:creationId xmlns:a16="http://schemas.microsoft.com/office/drawing/2014/main" id="{8C5BC5DE-E278-4899-B490-0A39D4B34D83}"/>
                </a:ext>
              </a:extLst>
            </p:cNvPr>
            <p:cNvCxnSpPr>
              <a:cxnSpLocks/>
            </p:cNvCxnSpPr>
            <p:nvPr/>
          </p:nvCxnSpPr>
          <p:spPr>
            <a:xfrm>
              <a:off x="1497390" y="5268434"/>
              <a:ext cx="383032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DE12CD7-2F6A-493F-882D-CDCB752EBD9A}"/>
                </a:ext>
              </a:extLst>
            </p:cNvPr>
            <p:cNvCxnSpPr>
              <a:cxnSpLocks/>
            </p:cNvCxnSpPr>
            <p:nvPr/>
          </p:nvCxnSpPr>
          <p:spPr>
            <a:xfrm flipV="1">
              <a:off x="1720910" y="4486114"/>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234EE63-1601-4B59-89F8-2DBD296A841C}"/>
                </a:ext>
              </a:extLst>
            </p:cNvPr>
            <p:cNvCxnSpPr>
              <a:cxnSpLocks/>
            </p:cNvCxnSpPr>
            <p:nvPr/>
          </p:nvCxnSpPr>
          <p:spPr>
            <a:xfrm flipH="1" flipV="1">
              <a:off x="1954590" y="4486114"/>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DC7B630-86F8-4B8F-B923-C1D9D101CB20}"/>
                </a:ext>
              </a:extLst>
            </p:cNvPr>
            <p:cNvSpPr txBox="1"/>
            <p:nvPr/>
          </p:nvSpPr>
          <p:spPr>
            <a:xfrm rot="16200000">
              <a:off x="1002222" y="4677219"/>
              <a:ext cx="590226" cy="400110"/>
            </a:xfrm>
            <a:prstGeom prst="rect">
              <a:avLst/>
            </a:prstGeom>
            <a:noFill/>
          </p:spPr>
          <p:txBody>
            <a:bodyPr wrap="none" rtlCol="0">
              <a:spAutoFit/>
            </a:bodyPr>
            <a:lstStyle/>
            <a:p>
              <a:r>
                <a:rPr lang="en-ZA" sz="1000" dirty="0"/>
                <a:t>MOTOR</a:t>
              </a:r>
            </a:p>
            <a:p>
              <a:r>
                <a:rPr lang="en-ZA" sz="1000" dirty="0"/>
                <a:t>SPEED</a:t>
              </a:r>
            </a:p>
          </p:txBody>
        </p:sp>
        <p:sp>
          <p:nvSpPr>
            <p:cNvPr id="44" name="TextBox 43">
              <a:extLst>
                <a:ext uri="{FF2B5EF4-FFF2-40B4-BE49-F238E27FC236}">
                  <a16:creationId xmlns:a16="http://schemas.microsoft.com/office/drawing/2014/main" id="{7BB69FF7-8D09-473F-A80C-3E2BBB20FEBB}"/>
                </a:ext>
              </a:extLst>
            </p:cNvPr>
            <p:cNvSpPr txBox="1"/>
            <p:nvPr/>
          </p:nvSpPr>
          <p:spPr>
            <a:xfrm>
              <a:off x="2767303" y="5481794"/>
              <a:ext cx="665567" cy="246221"/>
            </a:xfrm>
            <a:prstGeom prst="rect">
              <a:avLst/>
            </a:prstGeom>
            <a:noFill/>
          </p:spPr>
          <p:txBody>
            <a:bodyPr wrap="none" rtlCol="0">
              <a:spAutoFit/>
            </a:bodyPr>
            <a:lstStyle/>
            <a:p>
              <a:r>
                <a:rPr lang="en-ZA" sz="1000" dirty="0"/>
                <a:t>MISSION</a:t>
              </a:r>
            </a:p>
          </p:txBody>
        </p:sp>
        <p:cxnSp>
          <p:nvCxnSpPr>
            <p:cNvPr id="45" name="Straight Arrow Connector 44">
              <a:extLst>
                <a:ext uri="{FF2B5EF4-FFF2-40B4-BE49-F238E27FC236}">
                  <a16:creationId xmlns:a16="http://schemas.microsoft.com/office/drawing/2014/main" id="{1066C71B-C3B0-4838-97FB-BC5C70C86C67}"/>
                </a:ext>
              </a:extLst>
            </p:cNvPr>
            <p:cNvCxnSpPr>
              <a:cxnSpLocks/>
              <a:stCxn id="44" idx="3"/>
            </p:cNvCxnSpPr>
            <p:nvPr/>
          </p:nvCxnSpPr>
          <p:spPr>
            <a:xfrm>
              <a:off x="3432870" y="5604905"/>
              <a:ext cx="17716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41FBD38-4870-458B-914B-6542AB380E1D}"/>
                </a:ext>
              </a:extLst>
            </p:cNvPr>
            <p:cNvCxnSpPr>
              <a:cxnSpLocks/>
              <a:stCxn id="44" idx="1"/>
            </p:cNvCxnSpPr>
            <p:nvPr/>
          </p:nvCxnSpPr>
          <p:spPr>
            <a:xfrm flipH="1" flipV="1">
              <a:off x="1634550" y="5590261"/>
              <a:ext cx="1132753" cy="14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F0DD498-C40A-4BC9-B698-F8C79D5AA032}"/>
                </a:ext>
              </a:extLst>
            </p:cNvPr>
            <p:cNvCxnSpPr>
              <a:cxnSpLocks/>
            </p:cNvCxnSpPr>
            <p:nvPr/>
          </p:nvCxnSpPr>
          <p:spPr>
            <a:xfrm flipV="1">
              <a:off x="2185095" y="449298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F86A023-E1E4-4496-8828-ECF809393902}"/>
                </a:ext>
              </a:extLst>
            </p:cNvPr>
            <p:cNvCxnSpPr>
              <a:cxnSpLocks/>
            </p:cNvCxnSpPr>
            <p:nvPr/>
          </p:nvCxnSpPr>
          <p:spPr>
            <a:xfrm flipH="1" flipV="1">
              <a:off x="2418775" y="449298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6A10DA4-C558-4001-B1A6-BB331FA94DCF}"/>
                </a:ext>
              </a:extLst>
            </p:cNvPr>
            <p:cNvCxnSpPr>
              <a:cxnSpLocks/>
            </p:cNvCxnSpPr>
            <p:nvPr/>
          </p:nvCxnSpPr>
          <p:spPr>
            <a:xfrm flipV="1">
              <a:off x="2642295" y="449298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3E0EB81-931C-4AFD-BECC-76163807FEF0}"/>
                </a:ext>
              </a:extLst>
            </p:cNvPr>
            <p:cNvCxnSpPr>
              <a:cxnSpLocks/>
            </p:cNvCxnSpPr>
            <p:nvPr/>
          </p:nvCxnSpPr>
          <p:spPr>
            <a:xfrm flipH="1" flipV="1">
              <a:off x="2875975" y="449298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FDCB389-52CB-412E-852D-F59D8B10D186}"/>
                </a:ext>
              </a:extLst>
            </p:cNvPr>
            <p:cNvCxnSpPr>
              <a:cxnSpLocks/>
            </p:cNvCxnSpPr>
            <p:nvPr/>
          </p:nvCxnSpPr>
          <p:spPr>
            <a:xfrm flipV="1">
              <a:off x="3102730" y="4486114"/>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1A48A8B-A871-40BA-A021-1BFC943BC732}"/>
                </a:ext>
              </a:extLst>
            </p:cNvPr>
            <p:cNvCxnSpPr>
              <a:cxnSpLocks/>
            </p:cNvCxnSpPr>
            <p:nvPr/>
          </p:nvCxnSpPr>
          <p:spPr>
            <a:xfrm flipH="1" flipV="1">
              <a:off x="3336410" y="4486114"/>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0D587D4-E1C1-44EE-954D-CC98D3857623}"/>
                </a:ext>
              </a:extLst>
            </p:cNvPr>
            <p:cNvCxnSpPr>
              <a:cxnSpLocks/>
            </p:cNvCxnSpPr>
            <p:nvPr/>
          </p:nvCxnSpPr>
          <p:spPr>
            <a:xfrm flipV="1">
              <a:off x="3577770" y="4486114"/>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B43177E-C22A-4AC9-8181-9EF79074BC53}"/>
                </a:ext>
              </a:extLst>
            </p:cNvPr>
            <p:cNvCxnSpPr>
              <a:cxnSpLocks/>
            </p:cNvCxnSpPr>
            <p:nvPr/>
          </p:nvCxnSpPr>
          <p:spPr>
            <a:xfrm flipH="1" flipV="1">
              <a:off x="3811450" y="4486114"/>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1FFFBD6-4BDE-486E-95DB-2E59C94D4C35}"/>
                </a:ext>
              </a:extLst>
            </p:cNvPr>
            <p:cNvCxnSpPr>
              <a:cxnSpLocks/>
            </p:cNvCxnSpPr>
            <p:nvPr/>
          </p:nvCxnSpPr>
          <p:spPr>
            <a:xfrm flipV="1">
              <a:off x="4047491" y="449298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C012214-2EB4-4F30-96F8-809F36E63E54}"/>
                </a:ext>
              </a:extLst>
            </p:cNvPr>
            <p:cNvCxnSpPr>
              <a:cxnSpLocks/>
            </p:cNvCxnSpPr>
            <p:nvPr/>
          </p:nvCxnSpPr>
          <p:spPr>
            <a:xfrm flipH="1" flipV="1">
              <a:off x="4281171" y="449298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AECB4E4-9E69-494F-81FB-551507F020B4}"/>
                </a:ext>
              </a:extLst>
            </p:cNvPr>
            <p:cNvCxnSpPr>
              <a:cxnSpLocks/>
            </p:cNvCxnSpPr>
            <p:nvPr/>
          </p:nvCxnSpPr>
          <p:spPr>
            <a:xfrm flipV="1">
              <a:off x="4504176" y="4492980"/>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85DD51-A9F0-4997-9DC7-C09AC244D9E8}"/>
                </a:ext>
              </a:extLst>
            </p:cNvPr>
            <p:cNvCxnSpPr>
              <a:cxnSpLocks/>
            </p:cNvCxnSpPr>
            <p:nvPr/>
          </p:nvCxnSpPr>
          <p:spPr>
            <a:xfrm flipH="1" flipV="1">
              <a:off x="4737856" y="4492980"/>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9980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A4C5B-0415-456F-AF21-59FF3624CE1D}"/>
              </a:ext>
            </a:extLst>
          </p:cNvPr>
          <p:cNvSpPr>
            <a:spLocks noGrp="1"/>
          </p:cNvSpPr>
          <p:nvPr>
            <p:ph type="title"/>
          </p:nvPr>
        </p:nvSpPr>
        <p:spPr/>
        <p:txBody>
          <a:bodyPr/>
          <a:lstStyle/>
          <a:p>
            <a:r>
              <a:rPr lang="en-ZA" dirty="0"/>
              <a:t>Bread Toasting System (BTS)</a:t>
            </a:r>
          </a:p>
        </p:txBody>
      </p:sp>
      <p:sp>
        <p:nvSpPr>
          <p:cNvPr id="3" name="Content Placeholder 2">
            <a:extLst>
              <a:ext uri="{FF2B5EF4-FFF2-40B4-BE49-F238E27FC236}">
                <a16:creationId xmlns:a16="http://schemas.microsoft.com/office/drawing/2014/main" id="{4456EDBC-534E-4346-94DE-8E47B76F3BEC}"/>
              </a:ext>
            </a:extLst>
          </p:cNvPr>
          <p:cNvSpPr>
            <a:spLocks noGrp="1"/>
          </p:cNvSpPr>
          <p:nvPr>
            <p:ph idx="1"/>
          </p:nvPr>
        </p:nvSpPr>
        <p:spPr>
          <a:xfrm>
            <a:off x="581192" y="2180496"/>
            <a:ext cx="11029615" cy="995323"/>
          </a:xfrm>
        </p:spPr>
        <p:txBody>
          <a:bodyPr>
            <a:normAutofit lnSpcReduction="10000"/>
          </a:bodyPr>
          <a:lstStyle/>
          <a:p>
            <a:r>
              <a:rPr lang="en-ZA" dirty="0"/>
              <a:t>If you’ve ever used one of these to toast a large amount of bread in quick succession you would have noticed that the quality deteriorated over time. </a:t>
            </a:r>
          </a:p>
          <a:p>
            <a:r>
              <a:rPr lang="en-ZA" dirty="0"/>
              <a:t>Does this mean that the toaster is broken or of poor quality?</a:t>
            </a:r>
          </a:p>
        </p:txBody>
      </p:sp>
      <p:pic>
        <p:nvPicPr>
          <p:cNvPr id="4" name="Picture 3">
            <a:extLst>
              <a:ext uri="{FF2B5EF4-FFF2-40B4-BE49-F238E27FC236}">
                <a16:creationId xmlns:a16="http://schemas.microsoft.com/office/drawing/2014/main" id="{CEEA9E75-7E84-4B44-ABE5-1424DFAECD6E}"/>
              </a:ext>
            </a:extLst>
          </p:cNvPr>
          <p:cNvPicPr>
            <a:picLocks noChangeAspect="1"/>
          </p:cNvPicPr>
          <p:nvPr/>
        </p:nvPicPr>
        <p:blipFill>
          <a:blip r:embed="rId3"/>
          <a:stretch>
            <a:fillRect/>
          </a:stretch>
        </p:blipFill>
        <p:spPr>
          <a:xfrm>
            <a:off x="8923127" y="3153940"/>
            <a:ext cx="3085993" cy="3085993"/>
          </a:xfrm>
          <a:prstGeom prst="rect">
            <a:avLst/>
          </a:prstGeom>
        </p:spPr>
      </p:pic>
      <p:grpSp>
        <p:nvGrpSpPr>
          <p:cNvPr id="31" name="Group 30">
            <a:extLst>
              <a:ext uri="{FF2B5EF4-FFF2-40B4-BE49-F238E27FC236}">
                <a16:creationId xmlns:a16="http://schemas.microsoft.com/office/drawing/2014/main" id="{95935A4F-1E81-4C72-ACCB-83C734BC3263}"/>
              </a:ext>
            </a:extLst>
          </p:cNvPr>
          <p:cNvGrpSpPr/>
          <p:nvPr/>
        </p:nvGrpSpPr>
        <p:grpSpPr>
          <a:xfrm>
            <a:off x="1097280" y="3735620"/>
            <a:ext cx="6916026" cy="1277084"/>
            <a:chOff x="1153661" y="3938820"/>
            <a:chExt cx="6916026" cy="1277084"/>
          </a:xfrm>
        </p:grpSpPr>
        <p:cxnSp>
          <p:nvCxnSpPr>
            <p:cNvPr id="6" name="Straight Connector 5">
              <a:extLst>
                <a:ext uri="{FF2B5EF4-FFF2-40B4-BE49-F238E27FC236}">
                  <a16:creationId xmlns:a16="http://schemas.microsoft.com/office/drawing/2014/main" id="{79205942-5C22-4341-AA7D-9A9069B36844}"/>
                </a:ext>
              </a:extLst>
            </p:cNvPr>
            <p:cNvCxnSpPr>
              <a:cxnSpLocks/>
            </p:cNvCxnSpPr>
            <p:nvPr/>
          </p:nvCxnSpPr>
          <p:spPr>
            <a:xfrm flipV="1">
              <a:off x="1553769" y="4755030"/>
              <a:ext cx="6515918" cy="159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B3816D8-9CB6-4D1D-898F-B8E055C1DD90}"/>
                </a:ext>
              </a:extLst>
            </p:cNvPr>
            <p:cNvCxnSpPr>
              <a:cxnSpLocks/>
            </p:cNvCxnSpPr>
            <p:nvPr/>
          </p:nvCxnSpPr>
          <p:spPr>
            <a:xfrm flipH="1" flipV="1">
              <a:off x="2572946" y="3978315"/>
              <a:ext cx="22352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D6DE3D-53E2-49BB-B0A1-9970DBEEA94B}"/>
                </a:ext>
              </a:extLst>
            </p:cNvPr>
            <p:cNvCxnSpPr>
              <a:cxnSpLocks/>
            </p:cNvCxnSpPr>
            <p:nvPr/>
          </p:nvCxnSpPr>
          <p:spPr>
            <a:xfrm flipV="1">
              <a:off x="1777291" y="3978315"/>
              <a:ext cx="23368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693C190-5357-463E-9D9B-54BF7625DC6A}"/>
                </a:ext>
              </a:extLst>
            </p:cNvPr>
            <p:cNvCxnSpPr>
              <a:cxnSpLocks/>
            </p:cNvCxnSpPr>
            <p:nvPr/>
          </p:nvCxnSpPr>
          <p:spPr>
            <a:xfrm flipH="1">
              <a:off x="2003986" y="3978314"/>
              <a:ext cx="568960" cy="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9655904-43B8-458B-AA94-50C9381B8755}"/>
                </a:ext>
              </a:extLst>
            </p:cNvPr>
            <p:cNvCxnSpPr>
              <a:cxnSpLocks/>
            </p:cNvCxnSpPr>
            <p:nvPr/>
          </p:nvCxnSpPr>
          <p:spPr>
            <a:xfrm flipH="1" flipV="1">
              <a:off x="5005631" y="3988647"/>
              <a:ext cx="22352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29FED1F-F0B9-4C39-97DD-D83218EE2DBA}"/>
                </a:ext>
              </a:extLst>
            </p:cNvPr>
            <p:cNvCxnSpPr>
              <a:cxnSpLocks/>
            </p:cNvCxnSpPr>
            <p:nvPr/>
          </p:nvCxnSpPr>
          <p:spPr>
            <a:xfrm flipV="1">
              <a:off x="3599104" y="3988647"/>
              <a:ext cx="23368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E880C94-D294-4EDA-9517-AA6976D269AB}"/>
                </a:ext>
              </a:extLst>
            </p:cNvPr>
            <p:cNvCxnSpPr>
              <a:cxnSpLocks/>
            </p:cNvCxnSpPr>
            <p:nvPr/>
          </p:nvCxnSpPr>
          <p:spPr>
            <a:xfrm flipH="1">
              <a:off x="3822624" y="3988646"/>
              <a:ext cx="1183007"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C83A752-6DBE-4C00-B41D-0681EF4D2BD4}"/>
                </a:ext>
              </a:extLst>
            </p:cNvPr>
            <p:cNvSpPr txBox="1"/>
            <p:nvPr/>
          </p:nvSpPr>
          <p:spPr>
            <a:xfrm rot="16200000">
              <a:off x="912729" y="4179752"/>
              <a:ext cx="881973" cy="400110"/>
            </a:xfrm>
            <a:prstGeom prst="rect">
              <a:avLst/>
            </a:prstGeom>
            <a:noFill/>
          </p:spPr>
          <p:txBody>
            <a:bodyPr wrap="none" rtlCol="0">
              <a:spAutoFit/>
            </a:bodyPr>
            <a:lstStyle/>
            <a:p>
              <a:pPr algn="ctr"/>
              <a:r>
                <a:rPr lang="en-ZA" sz="1000" dirty="0"/>
                <a:t>Toasting</a:t>
              </a:r>
            </a:p>
            <a:p>
              <a:pPr algn="ctr"/>
              <a:r>
                <a:rPr lang="en-ZA" sz="1000" dirty="0"/>
                <a:t>Temperature</a:t>
              </a:r>
            </a:p>
          </p:txBody>
        </p:sp>
        <p:sp>
          <p:nvSpPr>
            <p:cNvPr id="16" name="TextBox 15">
              <a:extLst>
                <a:ext uri="{FF2B5EF4-FFF2-40B4-BE49-F238E27FC236}">
                  <a16:creationId xmlns:a16="http://schemas.microsoft.com/office/drawing/2014/main" id="{30F7C0B2-3F49-49FC-B6CA-DB147DE16ECC}"/>
                </a:ext>
              </a:extLst>
            </p:cNvPr>
            <p:cNvSpPr txBox="1"/>
            <p:nvPr/>
          </p:nvSpPr>
          <p:spPr>
            <a:xfrm>
              <a:off x="2379271" y="4969683"/>
              <a:ext cx="665567" cy="246221"/>
            </a:xfrm>
            <a:prstGeom prst="rect">
              <a:avLst/>
            </a:prstGeom>
            <a:noFill/>
          </p:spPr>
          <p:txBody>
            <a:bodyPr wrap="none" rtlCol="0">
              <a:spAutoFit/>
            </a:bodyPr>
            <a:lstStyle/>
            <a:p>
              <a:r>
                <a:rPr lang="en-ZA" sz="1000" dirty="0"/>
                <a:t>MISSION</a:t>
              </a:r>
            </a:p>
          </p:txBody>
        </p:sp>
        <p:cxnSp>
          <p:nvCxnSpPr>
            <p:cNvPr id="17" name="Straight Arrow Connector 16">
              <a:extLst>
                <a:ext uri="{FF2B5EF4-FFF2-40B4-BE49-F238E27FC236}">
                  <a16:creationId xmlns:a16="http://schemas.microsoft.com/office/drawing/2014/main" id="{6572EDDA-A35B-4AC6-95FD-0C0F3522921F}"/>
                </a:ext>
              </a:extLst>
            </p:cNvPr>
            <p:cNvCxnSpPr>
              <a:cxnSpLocks/>
              <a:stCxn id="16" idx="3"/>
            </p:cNvCxnSpPr>
            <p:nvPr/>
          </p:nvCxnSpPr>
          <p:spPr>
            <a:xfrm>
              <a:off x="3044838" y="5092794"/>
              <a:ext cx="554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71F9A02-C900-471A-BC04-50E97B22AD5D}"/>
                </a:ext>
              </a:extLst>
            </p:cNvPr>
            <p:cNvCxnSpPr>
              <a:cxnSpLocks/>
              <a:stCxn id="16" idx="1"/>
            </p:cNvCxnSpPr>
            <p:nvPr/>
          </p:nvCxnSpPr>
          <p:spPr>
            <a:xfrm flipH="1">
              <a:off x="1690931" y="5092794"/>
              <a:ext cx="6883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1FDE69-B0F4-46DD-81C3-FF44CCEA1E7B}"/>
                </a:ext>
              </a:extLst>
            </p:cNvPr>
            <p:cNvCxnSpPr>
              <a:cxnSpLocks/>
            </p:cNvCxnSpPr>
            <p:nvPr/>
          </p:nvCxnSpPr>
          <p:spPr>
            <a:xfrm flipH="1" flipV="1">
              <a:off x="7586836" y="3972710"/>
              <a:ext cx="22352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57DC5F-75A3-4105-9AAD-ECADB303D67F}"/>
                </a:ext>
              </a:extLst>
            </p:cNvPr>
            <p:cNvCxnSpPr>
              <a:cxnSpLocks/>
            </p:cNvCxnSpPr>
            <p:nvPr/>
          </p:nvCxnSpPr>
          <p:spPr>
            <a:xfrm flipV="1">
              <a:off x="6180309" y="3972710"/>
              <a:ext cx="233680" cy="78232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8AAD772-3220-417F-AF8B-4775ED666023}"/>
                </a:ext>
              </a:extLst>
            </p:cNvPr>
            <p:cNvCxnSpPr>
              <a:cxnSpLocks/>
            </p:cNvCxnSpPr>
            <p:nvPr/>
          </p:nvCxnSpPr>
          <p:spPr>
            <a:xfrm flipH="1">
              <a:off x="6403829" y="3972709"/>
              <a:ext cx="1183007"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A7B85208-8569-4F65-90FF-496B87B27AB1}"/>
              </a:ext>
            </a:extLst>
          </p:cNvPr>
          <p:cNvCxnSpPr>
            <a:cxnSpLocks/>
          </p:cNvCxnSpPr>
          <p:nvPr/>
        </p:nvCxnSpPr>
        <p:spPr>
          <a:xfrm flipV="1">
            <a:off x="1497388" y="6027630"/>
            <a:ext cx="6515918" cy="159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9872BF1-3C39-4001-AD6F-790FE58F84AF}"/>
              </a:ext>
            </a:extLst>
          </p:cNvPr>
          <p:cNvCxnSpPr>
            <a:cxnSpLocks/>
          </p:cNvCxnSpPr>
          <p:nvPr/>
        </p:nvCxnSpPr>
        <p:spPr>
          <a:xfrm flipH="1" flipV="1">
            <a:off x="2744662" y="5253278"/>
            <a:ext cx="297928" cy="52473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9ED9B3A-2619-4178-803D-CFC314E0B970}"/>
              </a:ext>
            </a:extLst>
          </p:cNvPr>
          <p:cNvCxnSpPr>
            <a:cxnSpLocks/>
          </p:cNvCxnSpPr>
          <p:nvPr/>
        </p:nvCxnSpPr>
        <p:spPr>
          <a:xfrm flipV="1">
            <a:off x="1720910" y="5250915"/>
            <a:ext cx="23368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A82803A-AF91-4691-8B86-FA474B26FA1F}"/>
              </a:ext>
            </a:extLst>
          </p:cNvPr>
          <p:cNvCxnSpPr>
            <a:cxnSpLocks/>
          </p:cNvCxnSpPr>
          <p:nvPr/>
        </p:nvCxnSpPr>
        <p:spPr>
          <a:xfrm flipH="1" flipV="1">
            <a:off x="1947605" y="5250915"/>
            <a:ext cx="792480" cy="952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E7599D2-C4E2-4278-BD83-34131943A3DD}"/>
              </a:ext>
            </a:extLst>
          </p:cNvPr>
          <p:cNvCxnSpPr>
            <a:cxnSpLocks/>
          </p:cNvCxnSpPr>
          <p:nvPr/>
        </p:nvCxnSpPr>
        <p:spPr>
          <a:xfrm flipH="1" flipV="1">
            <a:off x="4374709" y="5253279"/>
            <a:ext cx="308155" cy="5325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FC5AD20-CECE-4664-A871-732756BC59C0}"/>
              </a:ext>
            </a:extLst>
          </p:cNvPr>
          <p:cNvCxnSpPr>
            <a:cxnSpLocks/>
          </p:cNvCxnSpPr>
          <p:nvPr/>
        </p:nvCxnSpPr>
        <p:spPr>
          <a:xfrm flipV="1">
            <a:off x="3047167" y="5253279"/>
            <a:ext cx="154695" cy="5247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C21ADD-99F8-44DC-A3AC-36DFA20E3F1A}"/>
              </a:ext>
            </a:extLst>
          </p:cNvPr>
          <p:cNvCxnSpPr>
            <a:cxnSpLocks/>
          </p:cNvCxnSpPr>
          <p:nvPr/>
        </p:nvCxnSpPr>
        <p:spPr>
          <a:xfrm flipH="1">
            <a:off x="3191702" y="5253278"/>
            <a:ext cx="118300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377A036-EFEF-4498-8A9D-25BABE1335E6}"/>
              </a:ext>
            </a:extLst>
          </p:cNvPr>
          <p:cNvSpPr txBox="1"/>
          <p:nvPr/>
        </p:nvSpPr>
        <p:spPr>
          <a:xfrm rot="16200000">
            <a:off x="856348" y="5452352"/>
            <a:ext cx="881973" cy="400110"/>
          </a:xfrm>
          <a:prstGeom prst="rect">
            <a:avLst/>
          </a:prstGeom>
          <a:noFill/>
        </p:spPr>
        <p:txBody>
          <a:bodyPr wrap="none" rtlCol="0">
            <a:spAutoFit/>
          </a:bodyPr>
          <a:lstStyle/>
          <a:p>
            <a:pPr algn="ctr"/>
            <a:r>
              <a:rPr lang="en-ZA" sz="1000" dirty="0"/>
              <a:t>Toasting</a:t>
            </a:r>
          </a:p>
          <a:p>
            <a:pPr algn="ctr"/>
            <a:r>
              <a:rPr lang="en-ZA" sz="1000" dirty="0"/>
              <a:t>Temperature</a:t>
            </a:r>
          </a:p>
        </p:txBody>
      </p:sp>
      <p:sp>
        <p:nvSpPr>
          <p:cNvPr id="41" name="TextBox 40">
            <a:extLst>
              <a:ext uri="{FF2B5EF4-FFF2-40B4-BE49-F238E27FC236}">
                <a16:creationId xmlns:a16="http://schemas.microsoft.com/office/drawing/2014/main" id="{F2261231-0BA9-4728-9EE9-6B1D43C82581}"/>
              </a:ext>
            </a:extLst>
          </p:cNvPr>
          <p:cNvSpPr txBox="1"/>
          <p:nvPr/>
        </p:nvSpPr>
        <p:spPr>
          <a:xfrm>
            <a:off x="4069140" y="6107615"/>
            <a:ext cx="665567" cy="246221"/>
          </a:xfrm>
          <a:prstGeom prst="rect">
            <a:avLst/>
          </a:prstGeom>
          <a:noFill/>
        </p:spPr>
        <p:txBody>
          <a:bodyPr wrap="none" rtlCol="0">
            <a:spAutoFit/>
          </a:bodyPr>
          <a:lstStyle/>
          <a:p>
            <a:r>
              <a:rPr lang="en-ZA" sz="1000" dirty="0"/>
              <a:t>MISSION</a:t>
            </a:r>
          </a:p>
        </p:txBody>
      </p:sp>
      <p:cxnSp>
        <p:nvCxnSpPr>
          <p:cNvPr id="42" name="Straight Arrow Connector 41">
            <a:extLst>
              <a:ext uri="{FF2B5EF4-FFF2-40B4-BE49-F238E27FC236}">
                <a16:creationId xmlns:a16="http://schemas.microsoft.com/office/drawing/2014/main" id="{167971C3-F4E7-402B-B500-6F8D1530A0D3}"/>
              </a:ext>
            </a:extLst>
          </p:cNvPr>
          <p:cNvCxnSpPr>
            <a:cxnSpLocks/>
            <a:stCxn id="41" idx="3"/>
          </p:cNvCxnSpPr>
          <p:nvPr/>
        </p:nvCxnSpPr>
        <p:spPr>
          <a:xfrm>
            <a:off x="4734707" y="6230726"/>
            <a:ext cx="31519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C103CFD-A464-4332-B192-A26D46231D7C}"/>
              </a:ext>
            </a:extLst>
          </p:cNvPr>
          <p:cNvCxnSpPr>
            <a:cxnSpLocks/>
            <a:stCxn id="41" idx="1"/>
          </p:cNvCxnSpPr>
          <p:nvPr/>
        </p:nvCxnSpPr>
        <p:spPr>
          <a:xfrm flipH="1">
            <a:off x="1497388" y="6230726"/>
            <a:ext cx="2571752" cy="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9D609F6-B2F1-417B-89F8-5DE887ABC727}"/>
              </a:ext>
            </a:extLst>
          </p:cNvPr>
          <p:cNvCxnSpPr>
            <a:cxnSpLocks/>
          </p:cNvCxnSpPr>
          <p:nvPr/>
        </p:nvCxnSpPr>
        <p:spPr>
          <a:xfrm flipH="1" flipV="1">
            <a:off x="6016756" y="5250916"/>
            <a:ext cx="243981" cy="5349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E58F997-B9ED-4471-AA86-07B43F208D50}"/>
              </a:ext>
            </a:extLst>
          </p:cNvPr>
          <p:cNvCxnSpPr>
            <a:cxnSpLocks/>
          </p:cNvCxnSpPr>
          <p:nvPr/>
        </p:nvCxnSpPr>
        <p:spPr>
          <a:xfrm flipV="1">
            <a:off x="4682011" y="5250916"/>
            <a:ext cx="161898" cy="5349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6266EB2-71EE-447D-AC1E-5035A32F833F}"/>
              </a:ext>
            </a:extLst>
          </p:cNvPr>
          <p:cNvCxnSpPr>
            <a:cxnSpLocks/>
          </p:cNvCxnSpPr>
          <p:nvPr/>
        </p:nvCxnSpPr>
        <p:spPr>
          <a:xfrm flipH="1">
            <a:off x="4833749" y="5250915"/>
            <a:ext cx="118300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84BC193-6CD2-4FD6-AEEC-9B8BA1CDC21B}"/>
              </a:ext>
            </a:extLst>
          </p:cNvPr>
          <p:cNvCxnSpPr>
            <a:cxnSpLocks/>
          </p:cNvCxnSpPr>
          <p:nvPr/>
        </p:nvCxnSpPr>
        <p:spPr>
          <a:xfrm flipH="1" flipV="1">
            <a:off x="7655256" y="5250915"/>
            <a:ext cx="223520" cy="782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C366861-854A-4078-8B15-C17BF8BC28A8}"/>
              </a:ext>
            </a:extLst>
          </p:cNvPr>
          <p:cNvCxnSpPr>
            <a:cxnSpLocks/>
          </p:cNvCxnSpPr>
          <p:nvPr/>
        </p:nvCxnSpPr>
        <p:spPr>
          <a:xfrm flipV="1">
            <a:off x="6255657" y="5250915"/>
            <a:ext cx="226752" cy="54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082ECC9-177F-47D9-98D8-6669B2CA0CBE}"/>
              </a:ext>
            </a:extLst>
          </p:cNvPr>
          <p:cNvCxnSpPr>
            <a:cxnSpLocks/>
          </p:cNvCxnSpPr>
          <p:nvPr/>
        </p:nvCxnSpPr>
        <p:spPr>
          <a:xfrm flipH="1">
            <a:off x="6472249" y="5250914"/>
            <a:ext cx="118300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73C6A8F-F868-C8C0-4C82-FEFD077FDDAF}"/>
              </a:ext>
            </a:extLst>
          </p:cNvPr>
          <p:cNvCxnSpPr/>
          <p:nvPr/>
        </p:nvCxnSpPr>
        <p:spPr>
          <a:xfrm flipH="1">
            <a:off x="7655256" y="3304309"/>
            <a:ext cx="844508" cy="4313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3909995-CB9B-187C-971A-719614F12284}"/>
              </a:ext>
            </a:extLst>
          </p:cNvPr>
          <p:cNvSpPr txBox="1"/>
          <p:nvPr/>
        </p:nvSpPr>
        <p:spPr>
          <a:xfrm>
            <a:off x="8543803" y="2991153"/>
            <a:ext cx="1731564" cy="369332"/>
          </a:xfrm>
          <a:prstGeom prst="rect">
            <a:avLst/>
          </a:prstGeom>
          <a:noFill/>
        </p:spPr>
        <p:txBody>
          <a:bodyPr wrap="none" rtlCol="0">
            <a:spAutoFit/>
          </a:bodyPr>
          <a:lstStyle/>
          <a:p>
            <a:r>
              <a:rPr lang="en-GB" dirty="0">
                <a:solidFill>
                  <a:srgbClr val="0070C0"/>
                </a:solidFill>
              </a:rPr>
              <a:t>Design Intention</a:t>
            </a:r>
          </a:p>
        </p:txBody>
      </p:sp>
      <p:cxnSp>
        <p:nvCxnSpPr>
          <p:cNvPr id="19" name="Straight Arrow Connector 18">
            <a:extLst>
              <a:ext uri="{FF2B5EF4-FFF2-40B4-BE49-F238E27FC236}">
                <a16:creationId xmlns:a16="http://schemas.microsoft.com/office/drawing/2014/main" id="{397DED4E-0E80-C9BD-55AB-7B1DA19C4D49}"/>
              </a:ext>
            </a:extLst>
          </p:cNvPr>
          <p:cNvCxnSpPr>
            <a:cxnSpLocks/>
          </p:cNvCxnSpPr>
          <p:nvPr/>
        </p:nvCxnSpPr>
        <p:spPr>
          <a:xfrm flipH="1" flipV="1">
            <a:off x="8148437" y="5542936"/>
            <a:ext cx="1296204" cy="56467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6B2DEB1-700C-CDC2-1EA0-53669FADB6EA}"/>
              </a:ext>
            </a:extLst>
          </p:cNvPr>
          <p:cNvSpPr txBox="1"/>
          <p:nvPr/>
        </p:nvSpPr>
        <p:spPr>
          <a:xfrm>
            <a:off x="9456745" y="6093394"/>
            <a:ext cx="2314095" cy="369332"/>
          </a:xfrm>
          <a:prstGeom prst="rect">
            <a:avLst/>
          </a:prstGeom>
          <a:noFill/>
        </p:spPr>
        <p:txBody>
          <a:bodyPr wrap="none" rtlCol="0">
            <a:spAutoFit/>
          </a:bodyPr>
          <a:lstStyle/>
          <a:p>
            <a:r>
              <a:rPr lang="en-GB" dirty="0">
                <a:solidFill>
                  <a:srgbClr val="FF0000"/>
                </a:solidFill>
              </a:rPr>
              <a:t>User Operating Profile</a:t>
            </a:r>
          </a:p>
        </p:txBody>
      </p:sp>
    </p:spTree>
    <p:extLst>
      <p:ext uri="{BB962C8B-B14F-4D97-AF65-F5344CB8AC3E}">
        <p14:creationId xmlns:p14="http://schemas.microsoft.com/office/powerpoint/2010/main" val="267366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par>
                                <p:cTn id="25" presetID="10"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10" presetClass="entr" presetSubtype="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500"/>
                                        <p:tgtEl>
                                          <p:spTgt spid="4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par>
                                <p:cTn id="37" presetID="10"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500"/>
                                        <p:tgtEl>
                                          <p:spTgt spid="42"/>
                                        </p:tgtEl>
                                      </p:cBhvr>
                                    </p:animEffect>
                                  </p:childTnLst>
                                </p:cTn>
                              </p:par>
                              <p:par>
                                <p:cTn id="40" presetID="10" presetClass="entr" presetSubtype="0"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par>
                                <p:cTn id="46" presetID="10" presetClass="entr" presetSubtype="0" fill="hold" nodeType="with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par>
                                <p:cTn id="49" presetID="10" presetClass="entr" presetSubtype="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500"/>
                                        <p:tgtEl>
                                          <p:spTgt spid="46"/>
                                        </p:tgtEl>
                                      </p:cBhvr>
                                    </p:animEffect>
                                  </p:childTnLst>
                                </p:cTn>
                              </p:par>
                              <p:par>
                                <p:cTn id="52" presetID="10" presetClass="entr" presetSubtype="0" fill="hold"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par>
                                <p:cTn id="55" presetID="10"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fade">
                                      <p:cBhvr>
                                        <p:cTn id="57" dur="500"/>
                                        <p:tgtEl>
                                          <p:spTgt spid="51"/>
                                        </p:tgtEl>
                                      </p:cBhvr>
                                    </p:animEffect>
                                  </p:childTnLst>
                                </p:cTn>
                              </p:par>
                              <p:par>
                                <p:cTn id="58" presetID="10" presetClass="entr" presetSubtype="0" fill="hold" nodeType="with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fade">
                                      <p:cBhvr>
                                        <p:cTn id="6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549F720-2AA3-470F-B012-702F0C50755B}"/>
              </a:ext>
            </a:extLst>
          </p:cNvPr>
          <p:cNvSpPr>
            <a:spLocks noGrp="1"/>
          </p:cNvSpPr>
          <p:nvPr>
            <p:ph type="title"/>
          </p:nvPr>
        </p:nvSpPr>
        <p:spPr/>
        <p:txBody>
          <a:bodyPr/>
          <a:lstStyle/>
          <a:p>
            <a:r>
              <a:rPr lang="en-ZA" dirty="0"/>
              <a:t>Mission diagrams</a:t>
            </a:r>
          </a:p>
        </p:txBody>
      </p:sp>
      <p:sp>
        <p:nvSpPr>
          <p:cNvPr id="4" name="Content Placeholder 3">
            <a:extLst>
              <a:ext uri="{FF2B5EF4-FFF2-40B4-BE49-F238E27FC236}">
                <a16:creationId xmlns:a16="http://schemas.microsoft.com/office/drawing/2014/main" id="{3BB4186D-2766-C1D1-5D1B-25FE8BE0B63C}"/>
              </a:ext>
            </a:extLst>
          </p:cNvPr>
          <p:cNvSpPr>
            <a:spLocks noGrp="1"/>
          </p:cNvSpPr>
          <p:nvPr>
            <p:ph idx="1"/>
          </p:nvPr>
        </p:nvSpPr>
        <p:spPr/>
        <p:txBody>
          <a:bodyPr/>
          <a:lstStyle/>
          <a:p>
            <a:r>
              <a:rPr lang="en-ZA" sz="2800" dirty="0"/>
              <a:t>Not commonly used for simplistic systems</a:t>
            </a:r>
          </a:p>
          <a:p>
            <a:r>
              <a:rPr lang="en-ZA" sz="2800" dirty="0"/>
              <a:t>Possibly valuable to communicate temporal behaviour</a:t>
            </a:r>
          </a:p>
          <a:p>
            <a:pPr marL="0" indent="0">
              <a:buNone/>
            </a:pPr>
            <a:endParaRPr lang="en-ZA" dirty="0"/>
          </a:p>
          <a:p>
            <a:endParaRPr lang="en-ZA" dirty="0"/>
          </a:p>
          <a:p>
            <a:endParaRPr lang="en-ZA" dirty="0"/>
          </a:p>
          <a:p>
            <a:endParaRPr lang="en-GB" dirty="0"/>
          </a:p>
        </p:txBody>
      </p:sp>
    </p:spTree>
    <p:extLst>
      <p:ext uri="{BB962C8B-B14F-4D97-AF65-F5344CB8AC3E}">
        <p14:creationId xmlns:p14="http://schemas.microsoft.com/office/powerpoint/2010/main" val="3319021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39309-B0A9-D398-7C84-E4D79F9DED87}"/>
              </a:ext>
            </a:extLst>
          </p:cNvPr>
          <p:cNvSpPr>
            <a:spLocks noGrp="1"/>
          </p:cNvSpPr>
          <p:nvPr>
            <p:ph type="title"/>
          </p:nvPr>
        </p:nvSpPr>
        <p:spPr/>
        <p:txBody>
          <a:bodyPr/>
          <a:lstStyle/>
          <a:p>
            <a:r>
              <a:rPr lang="en-GB" dirty="0"/>
              <a:t>A high level of behavioural abstraction</a:t>
            </a:r>
          </a:p>
        </p:txBody>
      </p:sp>
      <p:sp>
        <p:nvSpPr>
          <p:cNvPr id="3" name="Content Placeholder 2">
            <a:extLst>
              <a:ext uri="{FF2B5EF4-FFF2-40B4-BE49-F238E27FC236}">
                <a16:creationId xmlns:a16="http://schemas.microsoft.com/office/drawing/2014/main" id="{61F08236-DD04-9829-4E6F-9591F185371E}"/>
              </a:ext>
            </a:extLst>
          </p:cNvPr>
          <p:cNvSpPr>
            <a:spLocks noGrp="1"/>
          </p:cNvSpPr>
          <p:nvPr>
            <p:ph type="body" idx="1"/>
          </p:nvPr>
        </p:nvSpPr>
        <p:spPr/>
        <p:txBody>
          <a:bodyPr>
            <a:normAutofit/>
          </a:bodyPr>
          <a:lstStyle/>
          <a:p>
            <a:r>
              <a:rPr lang="en-US" b="1" dirty="0"/>
              <a:t>States and modes</a:t>
            </a:r>
            <a:endParaRPr lang="en-GB" dirty="0"/>
          </a:p>
        </p:txBody>
      </p:sp>
    </p:spTree>
    <p:extLst>
      <p:ext uri="{BB962C8B-B14F-4D97-AF65-F5344CB8AC3E}">
        <p14:creationId xmlns:p14="http://schemas.microsoft.com/office/powerpoint/2010/main" val="126426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0FF80B6-E047-4725-9AEA-48656580E95F}"/>
              </a:ext>
            </a:extLst>
          </p:cNvPr>
          <p:cNvPicPr>
            <a:picLocks noChangeAspect="1"/>
          </p:cNvPicPr>
          <p:nvPr/>
        </p:nvPicPr>
        <p:blipFill>
          <a:blip r:embed="rId3"/>
          <a:stretch>
            <a:fillRect/>
          </a:stretch>
        </p:blipFill>
        <p:spPr>
          <a:xfrm>
            <a:off x="6096000" y="2205818"/>
            <a:ext cx="5811737" cy="3398167"/>
          </a:xfrm>
          <a:prstGeom prst="rect">
            <a:avLst/>
          </a:prstGeom>
        </p:spPr>
      </p:pic>
      <p:sp>
        <p:nvSpPr>
          <p:cNvPr id="2" name="Title 1">
            <a:extLst>
              <a:ext uri="{FF2B5EF4-FFF2-40B4-BE49-F238E27FC236}">
                <a16:creationId xmlns:a16="http://schemas.microsoft.com/office/drawing/2014/main" id="{850E14C6-69C5-4754-93E0-A87BF64856F7}"/>
              </a:ext>
            </a:extLst>
          </p:cNvPr>
          <p:cNvSpPr>
            <a:spLocks noGrp="1"/>
          </p:cNvSpPr>
          <p:nvPr>
            <p:ph type="title"/>
          </p:nvPr>
        </p:nvSpPr>
        <p:spPr/>
        <p:txBody>
          <a:bodyPr/>
          <a:lstStyle/>
          <a:p>
            <a:r>
              <a:rPr lang="en-ZA" dirty="0"/>
              <a:t>Describing high-level behaviour</a:t>
            </a:r>
          </a:p>
        </p:txBody>
      </p:sp>
      <p:sp>
        <p:nvSpPr>
          <p:cNvPr id="3" name="Content Placeholder 2">
            <a:extLst>
              <a:ext uri="{FF2B5EF4-FFF2-40B4-BE49-F238E27FC236}">
                <a16:creationId xmlns:a16="http://schemas.microsoft.com/office/drawing/2014/main" id="{C5D8A24D-7A51-4B16-A6B6-634DCE9C3ECC}"/>
              </a:ext>
            </a:extLst>
          </p:cNvPr>
          <p:cNvSpPr>
            <a:spLocks noGrp="1"/>
          </p:cNvSpPr>
          <p:nvPr>
            <p:ph idx="1"/>
          </p:nvPr>
        </p:nvSpPr>
        <p:spPr/>
        <p:txBody>
          <a:bodyPr/>
          <a:lstStyle/>
          <a:p>
            <a:pPr>
              <a:buFont typeface="Wingdings" panose="05000000000000000000" pitchFamily="2" charset="2"/>
              <a:buChar char="q"/>
            </a:pPr>
            <a:r>
              <a:rPr lang="en-US" dirty="0"/>
              <a:t> A system has various phases</a:t>
            </a:r>
          </a:p>
          <a:p>
            <a:pPr lvl="1">
              <a:buFont typeface="Wingdings" panose="05000000000000000000" pitchFamily="2" charset="2"/>
              <a:buChar char="q"/>
            </a:pPr>
            <a:r>
              <a:rPr lang="en-US" dirty="0"/>
              <a:t> Deployment</a:t>
            </a:r>
          </a:p>
          <a:p>
            <a:pPr lvl="1">
              <a:buFont typeface="Wingdings" panose="05000000000000000000" pitchFamily="2" charset="2"/>
              <a:buChar char="q"/>
            </a:pPr>
            <a:r>
              <a:rPr lang="en-US" dirty="0"/>
              <a:t> Operation / Maintenance / Sustainment</a:t>
            </a:r>
          </a:p>
          <a:p>
            <a:pPr lvl="1">
              <a:buFont typeface="Wingdings" panose="05000000000000000000" pitchFamily="2" charset="2"/>
              <a:buChar char="q"/>
            </a:pPr>
            <a:r>
              <a:rPr lang="en-US" dirty="0"/>
              <a:t> Retirement / Disposal</a:t>
            </a:r>
          </a:p>
          <a:p>
            <a:pPr lvl="1">
              <a:buFont typeface="Wingdings" panose="05000000000000000000" pitchFamily="2" charset="2"/>
              <a:buChar char="q"/>
            </a:pPr>
            <a:endParaRPr lang="en-US" dirty="0"/>
          </a:p>
          <a:p>
            <a:pPr>
              <a:buFont typeface="Wingdings" panose="05000000000000000000" pitchFamily="2" charset="2"/>
              <a:buChar char="q"/>
            </a:pPr>
            <a:r>
              <a:rPr lang="en-US" dirty="0"/>
              <a:t> System behavior will be different in each phase</a:t>
            </a:r>
          </a:p>
          <a:p>
            <a:pPr>
              <a:buFont typeface="Wingdings" panose="05000000000000000000" pitchFamily="2" charset="2"/>
              <a:buChar char="q"/>
            </a:pPr>
            <a:r>
              <a:rPr lang="en-US" dirty="0"/>
              <a:t> System moves between phases</a:t>
            </a:r>
          </a:p>
          <a:p>
            <a:pPr lvl="1">
              <a:buFont typeface="Wingdings" panose="05000000000000000000" pitchFamily="2" charset="2"/>
              <a:buChar char="q"/>
            </a:pPr>
            <a:r>
              <a:rPr lang="en-US" dirty="0"/>
              <a:t> Based on deadlines / time periods</a:t>
            </a:r>
          </a:p>
          <a:p>
            <a:pPr lvl="1">
              <a:buFont typeface="Wingdings" panose="05000000000000000000" pitchFamily="2" charset="2"/>
              <a:buChar char="q"/>
            </a:pPr>
            <a:r>
              <a:rPr lang="en-US" dirty="0"/>
              <a:t> Based on external inputs / triggers / events</a:t>
            </a:r>
          </a:p>
          <a:p>
            <a:endParaRPr lang="en-ZA" dirty="0"/>
          </a:p>
        </p:txBody>
      </p:sp>
    </p:spTree>
    <p:extLst>
      <p:ext uri="{BB962C8B-B14F-4D97-AF65-F5344CB8AC3E}">
        <p14:creationId xmlns:p14="http://schemas.microsoft.com/office/powerpoint/2010/main" val="1512890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system state?</a:t>
            </a:r>
          </a:p>
        </p:txBody>
      </p:sp>
      <p:sp>
        <p:nvSpPr>
          <p:cNvPr id="3" name="Content Placeholder 2"/>
          <p:cNvSpPr>
            <a:spLocks noGrp="1"/>
          </p:cNvSpPr>
          <p:nvPr>
            <p:ph idx="1"/>
          </p:nvPr>
        </p:nvSpPr>
        <p:spPr/>
        <p:txBody>
          <a:bodyPr>
            <a:normAutofit lnSpcReduction="10000"/>
          </a:bodyPr>
          <a:lstStyle/>
          <a:p>
            <a:pPr marL="0" indent="0" algn="ctr">
              <a:buNone/>
            </a:pPr>
            <a:r>
              <a:rPr lang="en-US" sz="2800" dirty="0"/>
              <a:t>A system state is the condition of the system </a:t>
            </a:r>
          </a:p>
          <a:p>
            <a:pPr marL="0" indent="0" algn="ctr">
              <a:buNone/>
            </a:pPr>
            <a:r>
              <a:rPr lang="en-US" sz="1400" dirty="0">
                <a:latin typeface="Arial" panose="020B0604020202020204" pitchFamily="34" charset="0"/>
                <a:cs typeface="Arial" panose="020B0604020202020204" pitchFamily="34" charset="0"/>
              </a:rPr>
              <a:t>(PERSONNEL, EQUIPMENT, DATA PROCESS ITEMS, RESOURCES) </a:t>
            </a:r>
          </a:p>
          <a:p>
            <a:pPr marL="0" indent="0" algn="ctr">
              <a:buNone/>
            </a:pPr>
            <a:r>
              <a:rPr lang="en-US" sz="2800" dirty="0"/>
              <a:t>that is measurable or observable at a point in time.</a:t>
            </a:r>
          </a:p>
          <a:p>
            <a:endParaRPr lang="en-US" dirty="0"/>
          </a:p>
          <a:p>
            <a:pPr marL="0" indent="0">
              <a:buNone/>
            </a:pPr>
            <a:r>
              <a:rPr lang="en-US" b="1" dirty="0"/>
              <a:t>Examples:</a:t>
            </a:r>
          </a:p>
          <a:p>
            <a:r>
              <a:rPr lang="en-US" dirty="0"/>
              <a:t>The copier is in the OPERATIONAL state (thus ready to work)</a:t>
            </a:r>
          </a:p>
          <a:p>
            <a:r>
              <a:rPr lang="en-US" dirty="0"/>
              <a:t>The rocket is in the LAUNCHING state (starting to take off)</a:t>
            </a:r>
          </a:p>
          <a:p>
            <a:r>
              <a:rPr lang="en-US" dirty="0"/>
              <a:t>A vehicle is in a DESTROYED state (following a crash)</a:t>
            </a:r>
          </a:p>
          <a:p>
            <a:r>
              <a:rPr lang="en-US" dirty="0"/>
              <a:t>A rollercoaster system is in the DISMANTLED state (following an event)</a:t>
            </a:r>
          </a:p>
        </p:txBody>
      </p:sp>
    </p:spTree>
    <p:extLst>
      <p:ext uri="{BB962C8B-B14F-4D97-AF65-F5344CB8AC3E}">
        <p14:creationId xmlns:p14="http://schemas.microsoft.com/office/powerpoint/2010/main" val="143151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 the copier as example</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Once deployed it is either:</a:t>
            </a:r>
          </a:p>
          <a:p>
            <a:pPr lvl="1">
              <a:buFont typeface="Wingdings" panose="05000000000000000000" pitchFamily="2" charset="2"/>
              <a:buChar char="q"/>
            </a:pPr>
            <a:r>
              <a:rPr lang="en-US" dirty="0"/>
              <a:t> OPERATE-able</a:t>
            </a:r>
          </a:p>
          <a:p>
            <a:pPr lvl="1">
              <a:buFont typeface="Wingdings" panose="05000000000000000000" pitchFamily="2" charset="2"/>
              <a:buChar char="q"/>
            </a:pPr>
            <a:r>
              <a:rPr lang="en-US" dirty="0"/>
              <a:t> OFF</a:t>
            </a:r>
          </a:p>
          <a:p>
            <a:pPr lvl="1">
              <a:buFont typeface="Wingdings" panose="05000000000000000000" pitchFamily="2" charset="2"/>
              <a:buChar char="q"/>
            </a:pPr>
            <a:r>
              <a:rPr lang="en-US" dirty="0"/>
              <a:t> In STANDBY</a:t>
            </a:r>
          </a:p>
          <a:p>
            <a:pPr lvl="1">
              <a:buFont typeface="Wingdings" panose="05000000000000000000" pitchFamily="2" charset="2"/>
              <a:buChar char="q"/>
            </a:pPr>
            <a:endParaRPr lang="en-US" dirty="0"/>
          </a:p>
        </p:txBody>
      </p:sp>
      <p:pic>
        <p:nvPicPr>
          <p:cNvPr id="4" name="Content Placeholder 4"/>
          <p:cNvPicPr>
            <a:picLocks noChangeAspect="1"/>
          </p:cNvPicPr>
          <p:nvPr/>
        </p:nvPicPr>
        <p:blipFill>
          <a:blip r:embed="rId2"/>
          <a:stretch>
            <a:fillRect/>
          </a:stretch>
        </p:blipFill>
        <p:spPr>
          <a:xfrm>
            <a:off x="5461686" y="2321832"/>
            <a:ext cx="5430383" cy="3547262"/>
          </a:xfrm>
          <a:prstGeom prst="rect">
            <a:avLst/>
          </a:prstGeom>
        </p:spPr>
      </p:pic>
      <p:pic>
        <p:nvPicPr>
          <p:cNvPr id="5" name="Content Placeholder 3"/>
          <p:cNvPicPr>
            <a:picLocks noChangeAspect="1"/>
          </p:cNvPicPr>
          <p:nvPr/>
        </p:nvPicPr>
        <p:blipFill>
          <a:blip r:embed="rId3"/>
          <a:stretch>
            <a:fillRect/>
          </a:stretch>
        </p:blipFill>
        <p:spPr>
          <a:xfrm>
            <a:off x="1436624" y="4477387"/>
            <a:ext cx="2462870" cy="2462870"/>
          </a:xfrm>
          <a:prstGeom prst="rect">
            <a:avLst/>
          </a:prstGeom>
        </p:spPr>
      </p:pic>
      <p:sp>
        <p:nvSpPr>
          <p:cNvPr id="6" name="Oval 5"/>
          <p:cNvSpPr/>
          <p:nvPr/>
        </p:nvSpPr>
        <p:spPr>
          <a:xfrm>
            <a:off x="8176877" y="3276417"/>
            <a:ext cx="1894703" cy="116199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cxnSpLocks/>
          </p:cNvCxnSpPr>
          <p:nvPr/>
        </p:nvCxnSpPr>
        <p:spPr>
          <a:xfrm flipV="1">
            <a:off x="3667991" y="4242486"/>
            <a:ext cx="4611036" cy="104648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02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 rules for System State Diagrams</a:t>
            </a:r>
          </a:p>
        </p:txBody>
      </p:sp>
      <p:sp>
        <p:nvSpPr>
          <p:cNvPr id="3" name="Content Placeholder 2"/>
          <p:cNvSpPr>
            <a:spLocks noGrp="1"/>
          </p:cNvSpPr>
          <p:nvPr>
            <p:ph idx="1"/>
          </p:nvPr>
        </p:nvSpPr>
        <p:spPr>
          <a:xfrm>
            <a:off x="1097280" y="2108201"/>
            <a:ext cx="10058400" cy="4073524"/>
          </a:xfrm>
        </p:spPr>
        <p:txBody>
          <a:bodyPr>
            <a:normAutofit lnSpcReduction="10000"/>
          </a:bodyPr>
          <a:lstStyle/>
          <a:p>
            <a:pPr>
              <a:buFont typeface="Wingdings" panose="05000000000000000000" pitchFamily="2" charset="2"/>
              <a:buChar char="q"/>
            </a:pPr>
            <a:r>
              <a:rPr lang="en-US" dirty="0"/>
              <a:t> A rounded rectangle indicates the state</a:t>
            </a:r>
          </a:p>
          <a:p>
            <a:pPr>
              <a:buFont typeface="Wingdings" panose="05000000000000000000" pitchFamily="2" charset="2"/>
              <a:buChar char="q"/>
            </a:pPr>
            <a:endParaRPr lang="en-US" dirty="0"/>
          </a:p>
          <a:p>
            <a:pPr marL="0" indent="0">
              <a:buNone/>
            </a:pPr>
            <a:endParaRPr lang="en-US" dirty="0"/>
          </a:p>
          <a:p>
            <a:pPr marL="0" indent="0">
              <a:buNone/>
            </a:pPr>
            <a:endParaRPr lang="en-US" dirty="0"/>
          </a:p>
          <a:p>
            <a:pPr marL="0" indent="0">
              <a:buNone/>
            </a:pPr>
            <a:endParaRPr lang="en-US" dirty="0"/>
          </a:p>
          <a:p>
            <a:pPr>
              <a:buFont typeface="Wingdings" panose="05000000000000000000" pitchFamily="2" charset="2"/>
              <a:buChar char="q"/>
            </a:pPr>
            <a:r>
              <a:rPr lang="en-US" dirty="0"/>
              <a:t> A solid arrow indicates a required transition </a:t>
            </a:r>
          </a:p>
          <a:p>
            <a:pPr>
              <a:buFont typeface="Wingdings" panose="05000000000000000000" pitchFamily="2" charset="2"/>
              <a:buChar char="q"/>
            </a:pPr>
            <a:r>
              <a:rPr lang="en-US" dirty="0"/>
              <a:t> A dotted-line arrow indicates an allowable transition</a:t>
            </a:r>
          </a:p>
          <a:p>
            <a:pPr>
              <a:buFont typeface="Wingdings" panose="05000000000000000000" pitchFamily="2" charset="2"/>
              <a:buChar char="q"/>
            </a:pPr>
            <a:r>
              <a:rPr lang="en-US" dirty="0"/>
              <a:t> A strike-through arrow indicates a forbidden transition</a:t>
            </a:r>
          </a:p>
          <a:p>
            <a:pPr>
              <a:buFont typeface="Wingdings" panose="05000000000000000000" pitchFamily="2" charset="2"/>
              <a:buChar char="q"/>
            </a:pPr>
            <a:r>
              <a:rPr lang="en-US" dirty="0"/>
              <a:t> Transitions must be labelled (directly or by reference)</a:t>
            </a:r>
          </a:p>
          <a:p>
            <a:pPr>
              <a:buFont typeface="Wingdings" panose="05000000000000000000" pitchFamily="2" charset="2"/>
              <a:buChar char="q"/>
            </a:pPr>
            <a:r>
              <a:rPr lang="en-US" dirty="0"/>
              <a:t>A single state is denoted as the initial state / mode by means of a required transition into the state</a:t>
            </a:r>
          </a:p>
          <a:p>
            <a:pPr>
              <a:buFont typeface="Wingdings" panose="05000000000000000000" pitchFamily="2" charset="2"/>
              <a:buChar char="q"/>
            </a:pPr>
            <a:endParaRPr lang="en-US" dirty="0"/>
          </a:p>
        </p:txBody>
      </p:sp>
      <p:cxnSp>
        <p:nvCxnSpPr>
          <p:cNvPr id="7" name="Straight Arrow Connector 6"/>
          <p:cNvCxnSpPr>
            <a:cxnSpLocks/>
          </p:cNvCxnSpPr>
          <p:nvPr/>
        </p:nvCxnSpPr>
        <p:spPr>
          <a:xfrm>
            <a:off x="6735204" y="4131773"/>
            <a:ext cx="1066461" cy="10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cxnSpLocks/>
          </p:cNvCxnSpPr>
          <p:nvPr/>
        </p:nvCxnSpPr>
        <p:spPr>
          <a:xfrm>
            <a:off x="6769755" y="4528573"/>
            <a:ext cx="1066461" cy="1068"/>
          </a:xfrm>
          <a:prstGeom prst="straightConnector1">
            <a:avLst/>
          </a:prstGeom>
          <a:ln w="57150">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6781715" y="4774418"/>
            <a:ext cx="1066461" cy="310070"/>
            <a:chOff x="7343192" y="3178968"/>
            <a:chExt cx="1270583" cy="376238"/>
          </a:xfrm>
        </p:grpSpPr>
        <p:cxnSp>
          <p:nvCxnSpPr>
            <p:cNvPr id="10" name="Straight Arrow Connector 9"/>
            <p:cNvCxnSpPr/>
            <p:nvPr/>
          </p:nvCxnSpPr>
          <p:spPr>
            <a:xfrm>
              <a:off x="7343192" y="3370554"/>
              <a:ext cx="1270583" cy="12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629525" y="3178969"/>
              <a:ext cx="381000" cy="37623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7629525" y="3178968"/>
              <a:ext cx="381000" cy="37623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5" name="Rounded Rectangle 14"/>
          <p:cNvSpPr/>
          <p:nvPr/>
        </p:nvSpPr>
        <p:spPr>
          <a:xfrm>
            <a:off x="5021580" y="2615961"/>
            <a:ext cx="2400300" cy="9906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&lt;</a:t>
            </a: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&lt;SOME STATE&gt;</a:t>
            </a:r>
          </a:p>
          <a:p>
            <a:pPr algn="ctr"/>
            <a:endParaRPr lang="en-US" dirty="0">
              <a:ln w="0"/>
              <a:solidFill>
                <a:schemeClr val="tx1"/>
              </a:solidFill>
              <a:effectLst>
                <a:outerShdw blurRad="38100" dist="19050" dir="2700000" algn="tl" rotWithShape="0">
                  <a:schemeClr val="dk1">
                    <a:alpha val="40000"/>
                  </a:schemeClr>
                </a:outerShdw>
              </a:effectLst>
            </a:endParaRPr>
          </a:p>
        </p:txBody>
      </p:sp>
      <p:grpSp>
        <p:nvGrpSpPr>
          <p:cNvPr id="19" name="Group 18"/>
          <p:cNvGrpSpPr/>
          <p:nvPr/>
        </p:nvGrpSpPr>
        <p:grpSpPr>
          <a:xfrm>
            <a:off x="7054215" y="2187229"/>
            <a:ext cx="847725" cy="847725"/>
            <a:chOff x="9782175" y="2017289"/>
            <a:chExt cx="847725" cy="847725"/>
          </a:xfrm>
        </p:grpSpPr>
        <p:sp>
          <p:nvSpPr>
            <p:cNvPr id="16" name="Arc 15"/>
            <p:cNvSpPr/>
            <p:nvPr/>
          </p:nvSpPr>
          <p:spPr>
            <a:xfrm>
              <a:off x="9782175" y="2017289"/>
              <a:ext cx="847725" cy="740199"/>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p:cNvSpPr/>
            <p:nvPr/>
          </p:nvSpPr>
          <p:spPr>
            <a:xfrm rot="16200000">
              <a:off x="9782174" y="2071052"/>
              <a:ext cx="847725" cy="740199"/>
            </a:xfrm>
            <a:prstGeom prst="arc">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p:cNvSpPr/>
            <p:nvPr/>
          </p:nvSpPr>
          <p:spPr>
            <a:xfrm flipV="1">
              <a:off x="9782175" y="2017289"/>
              <a:ext cx="847725" cy="740199"/>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9343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case of a rocket</a:t>
            </a:r>
          </a:p>
        </p:txBody>
      </p:sp>
      <p:pic>
        <p:nvPicPr>
          <p:cNvPr id="1026" name="Picture 2" descr="Image result for falcon rock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155348">
            <a:off x="7582238" y="1862393"/>
            <a:ext cx="4081352" cy="305829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10" name="Group 9"/>
          <p:cNvGrpSpPr/>
          <p:nvPr/>
        </p:nvGrpSpPr>
        <p:grpSpPr>
          <a:xfrm>
            <a:off x="1185672" y="1968649"/>
            <a:ext cx="1371341" cy="849736"/>
            <a:chOff x="2444634" y="3080121"/>
            <a:chExt cx="1371341" cy="849736"/>
          </a:xfrm>
        </p:grpSpPr>
        <p:grpSp>
          <p:nvGrpSpPr>
            <p:cNvPr id="6" name="Group 5"/>
            <p:cNvGrpSpPr/>
            <p:nvPr/>
          </p:nvGrpSpPr>
          <p:grpSpPr>
            <a:xfrm>
              <a:off x="3321195" y="3080121"/>
              <a:ext cx="494780" cy="556471"/>
              <a:chOff x="9782175" y="2017289"/>
              <a:chExt cx="847725" cy="847725"/>
            </a:xfrm>
          </p:grpSpPr>
          <p:sp>
            <p:nvSpPr>
              <p:cNvPr id="7" name="Arc 6"/>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Arc 7"/>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Arc 8"/>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 name="Rounded Rectangle 3"/>
            <p:cNvSpPr/>
            <p:nvPr/>
          </p:nvSpPr>
          <p:spPr>
            <a:xfrm>
              <a:off x="2444634" y="3351758"/>
              <a:ext cx="1123950"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Stored</a:t>
              </a:r>
            </a:p>
          </p:txBody>
        </p:sp>
      </p:grpSp>
      <p:grpSp>
        <p:nvGrpSpPr>
          <p:cNvPr id="12" name="Group 11"/>
          <p:cNvGrpSpPr/>
          <p:nvPr/>
        </p:nvGrpSpPr>
        <p:grpSpPr>
          <a:xfrm>
            <a:off x="3280858" y="1968649"/>
            <a:ext cx="1371341" cy="849736"/>
            <a:chOff x="2444634" y="3080121"/>
            <a:chExt cx="1371341" cy="849736"/>
          </a:xfrm>
        </p:grpSpPr>
        <p:grpSp>
          <p:nvGrpSpPr>
            <p:cNvPr id="13" name="Group 12"/>
            <p:cNvGrpSpPr/>
            <p:nvPr/>
          </p:nvGrpSpPr>
          <p:grpSpPr>
            <a:xfrm>
              <a:off x="3321195" y="3080121"/>
              <a:ext cx="494780" cy="556471"/>
              <a:chOff x="9782175" y="2017289"/>
              <a:chExt cx="847725" cy="847725"/>
            </a:xfrm>
          </p:grpSpPr>
          <p:sp>
            <p:nvSpPr>
              <p:cNvPr id="15" name="Arc 14"/>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4" name="Rounded Rectangle 13"/>
            <p:cNvSpPr/>
            <p:nvPr/>
          </p:nvSpPr>
          <p:spPr>
            <a:xfrm>
              <a:off x="2444634" y="3351758"/>
              <a:ext cx="1123950"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Pre-flight</a:t>
              </a:r>
            </a:p>
          </p:txBody>
        </p:sp>
      </p:grpSp>
      <p:grpSp>
        <p:nvGrpSpPr>
          <p:cNvPr id="18" name="Group 17"/>
          <p:cNvGrpSpPr/>
          <p:nvPr/>
        </p:nvGrpSpPr>
        <p:grpSpPr>
          <a:xfrm>
            <a:off x="3162300" y="3396457"/>
            <a:ext cx="1665607" cy="810230"/>
            <a:chOff x="2150368" y="3080121"/>
            <a:chExt cx="1665607" cy="810230"/>
          </a:xfrm>
        </p:grpSpPr>
        <p:grpSp>
          <p:nvGrpSpPr>
            <p:cNvPr id="19" name="Group 18"/>
            <p:cNvGrpSpPr/>
            <p:nvPr/>
          </p:nvGrpSpPr>
          <p:grpSpPr>
            <a:xfrm>
              <a:off x="3321195" y="3080121"/>
              <a:ext cx="494780" cy="556471"/>
              <a:chOff x="9782175" y="2017289"/>
              <a:chExt cx="847725" cy="847725"/>
            </a:xfrm>
          </p:grpSpPr>
          <p:sp>
            <p:nvSpPr>
              <p:cNvPr id="21" name="Arc 20"/>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0" name="Rounded Rectangle 19"/>
            <p:cNvSpPr/>
            <p:nvPr/>
          </p:nvSpPr>
          <p:spPr>
            <a:xfrm>
              <a:off x="2150368" y="3312252"/>
              <a:ext cx="1418216"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Launching</a:t>
              </a:r>
            </a:p>
          </p:txBody>
        </p:sp>
      </p:grpSp>
      <p:grpSp>
        <p:nvGrpSpPr>
          <p:cNvPr id="30" name="Group 29"/>
          <p:cNvGrpSpPr/>
          <p:nvPr/>
        </p:nvGrpSpPr>
        <p:grpSpPr>
          <a:xfrm>
            <a:off x="993202" y="5109100"/>
            <a:ext cx="1371341" cy="849736"/>
            <a:chOff x="2444634" y="3080121"/>
            <a:chExt cx="1371341" cy="849736"/>
          </a:xfrm>
        </p:grpSpPr>
        <p:grpSp>
          <p:nvGrpSpPr>
            <p:cNvPr id="31" name="Group 30"/>
            <p:cNvGrpSpPr/>
            <p:nvPr/>
          </p:nvGrpSpPr>
          <p:grpSpPr>
            <a:xfrm>
              <a:off x="3321195" y="3080121"/>
              <a:ext cx="494780" cy="556471"/>
              <a:chOff x="9782175" y="2017289"/>
              <a:chExt cx="847725" cy="847725"/>
            </a:xfrm>
          </p:grpSpPr>
          <p:sp>
            <p:nvSpPr>
              <p:cNvPr id="33" name="Arc 32"/>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Arc 33"/>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Arc 34"/>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2" name="Rounded Rectangle 31"/>
            <p:cNvSpPr/>
            <p:nvPr/>
          </p:nvSpPr>
          <p:spPr>
            <a:xfrm>
              <a:off x="2444634" y="3351758"/>
              <a:ext cx="1123950"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Landing</a:t>
              </a:r>
            </a:p>
          </p:txBody>
        </p:sp>
      </p:grpSp>
      <p:grpSp>
        <p:nvGrpSpPr>
          <p:cNvPr id="36" name="Group 35"/>
          <p:cNvGrpSpPr/>
          <p:nvPr/>
        </p:nvGrpSpPr>
        <p:grpSpPr>
          <a:xfrm>
            <a:off x="5515860" y="5045721"/>
            <a:ext cx="1441839" cy="856334"/>
            <a:chOff x="2374136" y="3080121"/>
            <a:chExt cx="1441839" cy="856334"/>
          </a:xfrm>
        </p:grpSpPr>
        <p:grpSp>
          <p:nvGrpSpPr>
            <p:cNvPr id="37" name="Group 36"/>
            <p:cNvGrpSpPr/>
            <p:nvPr/>
          </p:nvGrpSpPr>
          <p:grpSpPr>
            <a:xfrm>
              <a:off x="3321195" y="3080121"/>
              <a:ext cx="494780" cy="556471"/>
              <a:chOff x="9782175" y="2017289"/>
              <a:chExt cx="847725" cy="847725"/>
            </a:xfrm>
          </p:grpSpPr>
          <p:sp>
            <p:nvSpPr>
              <p:cNvPr id="39" name="Arc 38"/>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Arc 39"/>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Arc 40"/>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8" name="Rounded Rectangle 37"/>
            <p:cNvSpPr/>
            <p:nvPr/>
          </p:nvSpPr>
          <p:spPr>
            <a:xfrm>
              <a:off x="2374136" y="3358356"/>
              <a:ext cx="1184663"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Crashed</a:t>
              </a:r>
            </a:p>
          </p:txBody>
        </p:sp>
      </p:grpSp>
      <p:grpSp>
        <p:nvGrpSpPr>
          <p:cNvPr id="42" name="Group 41"/>
          <p:cNvGrpSpPr/>
          <p:nvPr/>
        </p:nvGrpSpPr>
        <p:grpSpPr>
          <a:xfrm>
            <a:off x="406736" y="3396457"/>
            <a:ext cx="1609483" cy="856335"/>
            <a:chOff x="2206492" y="3080121"/>
            <a:chExt cx="1609483" cy="856335"/>
          </a:xfrm>
        </p:grpSpPr>
        <p:grpSp>
          <p:nvGrpSpPr>
            <p:cNvPr id="43" name="Group 42"/>
            <p:cNvGrpSpPr/>
            <p:nvPr/>
          </p:nvGrpSpPr>
          <p:grpSpPr>
            <a:xfrm>
              <a:off x="3321195" y="3080121"/>
              <a:ext cx="494780" cy="556471"/>
              <a:chOff x="9782175" y="2017289"/>
              <a:chExt cx="847725" cy="847725"/>
            </a:xfrm>
          </p:grpSpPr>
          <p:sp>
            <p:nvSpPr>
              <p:cNvPr id="45" name="Arc 44"/>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Arc 45"/>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Arc 46"/>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4" name="Rounded Rectangle 43"/>
            <p:cNvSpPr/>
            <p:nvPr/>
          </p:nvSpPr>
          <p:spPr>
            <a:xfrm>
              <a:off x="2206492" y="3358357"/>
              <a:ext cx="1362092"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Self-destructed</a:t>
              </a:r>
            </a:p>
          </p:txBody>
        </p:sp>
      </p:grpSp>
      <p:cxnSp>
        <p:nvCxnSpPr>
          <p:cNvPr id="48" name="Straight Arrow Connector 47"/>
          <p:cNvCxnSpPr/>
          <p:nvPr/>
        </p:nvCxnSpPr>
        <p:spPr>
          <a:xfrm>
            <a:off x="2309622" y="2695575"/>
            <a:ext cx="950055"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4" idx="2"/>
          </p:cNvCxnSpPr>
          <p:nvPr/>
        </p:nvCxnSpPr>
        <p:spPr>
          <a:xfrm>
            <a:off x="3842833" y="2818385"/>
            <a:ext cx="0" cy="810203"/>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2" name="Group 51"/>
          <p:cNvGrpSpPr/>
          <p:nvPr/>
        </p:nvGrpSpPr>
        <p:grpSpPr>
          <a:xfrm>
            <a:off x="5297543" y="2026369"/>
            <a:ext cx="1461455" cy="856335"/>
            <a:chOff x="2354520" y="3080121"/>
            <a:chExt cx="1461455" cy="856335"/>
          </a:xfrm>
        </p:grpSpPr>
        <p:grpSp>
          <p:nvGrpSpPr>
            <p:cNvPr id="53" name="Group 52"/>
            <p:cNvGrpSpPr/>
            <p:nvPr/>
          </p:nvGrpSpPr>
          <p:grpSpPr>
            <a:xfrm>
              <a:off x="3321195" y="3080121"/>
              <a:ext cx="494780" cy="556471"/>
              <a:chOff x="9782175" y="2017289"/>
              <a:chExt cx="847725" cy="847725"/>
            </a:xfrm>
          </p:grpSpPr>
          <p:sp>
            <p:nvSpPr>
              <p:cNvPr id="55" name="Arc 54"/>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Arc 55"/>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Arc 56"/>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4" name="Rounded Rectangle 53"/>
            <p:cNvSpPr/>
            <p:nvPr/>
          </p:nvSpPr>
          <p:spPr>
            <a:xfrm>
              <a:off x="2354520" y="3358357"/>
              <a:ext cx="1184663"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Aborted</a:t>
              </a:r>
            </a:p>
          </p:txBody>
        </p:sp>
      </p:grpSp>
      <p:cxnSp>
        <p:nvCxnSpPr>
          <p:cNvPr id="58" name="Straight Arrow Connector 57"/>
          <p:cNvCxnSpPr/>
          <p:nvPr/>
        </p:nvCxnSpPr>
        <p:spPr>
          <a:xfrm>
            <a:off x="4419452" y="2686050"/>
            <a:ext cx="875424" cy="0"/>
          </a:xfrm>
          <a:prstGeom prst="straightConnector1">
            <a:avLst/>
          </a:prstGeom>
          <a:ln w="28575">
            <a:solidFill>
              <a:srgbClr val="00B0F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a:off x="4576612" y="4095750"/>
            <a:ext cx="1313262" cy="1192915"/>
          </a:xfrm>
          <a:prstGeom prst="bentConnector3">
            <a:avLst>
              <a:gd name="adj1" fmla="val 100045"/>
            </a:avLst>
          </a:prstGeom>
          <a:ln w="28575">
            <a:solidFill>
              <a:srgbClr val="00B0F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a:off x="1869763" y="4095750"/>
            <a:ext cx="12258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endCxn id="26" idx="0"/>
          </p:cNvCxnSpPr>
          <p:nvPr/>
        </p:nvCxnSpPr>
        <p:spPr>
          <a:xfrm>
            <a:off x="3842833" y="4235518"/>
            <a:ext cx="14644" cy="1088439"/>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H="1">
            <a:off x="2118777" y="5665572"/>
            <a:ext cx="1272421"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Elbow Connector 70"/>
          <p:cNvCxnSpPr>
            <a:endCxn id="44" idx="2"/>
          </p:cNvCxnSpPr>
          <p:nvPr/>
        </p:nvCxnSpPr>
        <p:spPr>
          <a:xfrm rot="10800000">
            <a:off x="1087783" y="4252792"/>
            <a:ext cx="2409087" cy="303080"/>
          </a:xfrm>
          <a:prstGeom prst="bentConnector2">
            <a:avLst/>
          </a:prstGeom>
          <a:ln w="28575">
            <a:solidFill>
              <a:srgbClr val="00B0F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496869" y="4561821"/>
            <a:ext cx="0" cy="768735"/>
          </a:xfrm>
          <a:prstGeom prst="line">
            <a:avLst/>
          </a:prstGeom>
          <a:ln w="28575">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Elbow Connector 75"/>
          <p:cNvCxnSpPr>
            <a:stCxn id="32" idx="2"/>
            <a:endCxn id="38" idx="2"/>
          </p:cNvCxnSpPr>
          <p:nvPr/>
        </p:nvCxnSpPr>
        <p:spPr>
          <a:xfrm rot="5400000" flipH="1" flipV="1">
            <a:off x="3803293" y="3653938"/>
            <a:ext cx="56781" cy="4553015"/>
          </a:xfrm>
          <a:prstGeom prst="bentConnector3">
            <a:avLst>
              <a:gd name="adj1" fmla="val -402599"/>
            </a:avLst>
          </a:prstGeom>
          <a:ln w="28575">
            <a:solidFill>
              <a:srgbClr val="00B0F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Elbow Connector 78"/>
          <p:cNvCxnSpPr>
            <a:stCxn id="26" idx="3"/>
            <a:endCxn id="38" idx="1"/>
          </p:cNvCxnSpPr>
          <p:nvPr/>
        </p:nvCxnSpPr>
        <p:spPr>
          <a:xfrm flipV="1">
            <a:off x="4419452" y="5613006"/>
            <a:ext cx="1096408" cy="1"/>
          </a:xfrm>
          <a:prstGeom prst="bentConnector3">
            <a:avLst/>
          </a:prstGeom>
          <a:ln w="28575">
            <a:solidFill>
              <a:srgbClr val="00B0F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6264218" y="2882704"/>
            <a:ext cx="0" cy="24125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p:cNvCxnSpPr>
            <a:endCxn id="44" idx="0"/>
          </p:cNvCxnSpPr>
          <p:nvPr/>
        </p:nvCxnSpPr>
        <p:spPr>
          <a:xfrm rot="10800000" flipV="1">
            <a:off x="1087783" y="3210161"/>
            <a:ext cx="2504243" cy="464532"/>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3591326" y="2820283"/>
            <a:ext cx="0" cy="3904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4" name="Group 93"/>
          <p:cNvGrpSpPr/>
          <p:nvPr/>
        </p:nvGrpSpPr>
        <p:grpSpPr>
          <a:xfrm>
            <a:off x="2454620" y="3099902"/>
            <a:ext cx="190500" cy="198626"/>
            <a:chOff x="7486650" y="1691322"/>
            <a:chExt cx="190500" cy="198626"/>
          </a:xfrm>
        </p:grpSpPr>
        <p:cxnSp>
          <p:nvCxnSpPr>
            <p:cNvPr id="93" name="Straight Connector 92"/>
            <p:cNvCxnSpPr/>
            <p:nvPr/>
          </p:nvCxnSpPr>
          <p:spPr>
            <a:xfrm>
              <a:off x="7486650" y="1691322"/>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7486650" y="1695320"/>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2430384" y="4008061"/>
            <a:ext cx="190500" cy="198626"/>
            <a:chOff x="7486650" y="1691322"/>
            <a:chExt cx="190500" cy="198626"/>
          </a:xfrm>
        </p:grpSpPr>
        <p:cxnSp>
          <p:nvCxnSpPr>
            <p:cNvPr id="98" name="Straight Connector 97"/>
            <p:cNvCxnSpPr/>
            <p:nvPr/>
          </p:nvCxnSpPr>
          <p:spPr>
            <a:xfrm>
              <a:off x="7486650" y="1691322"/>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7486650" y="1695320"/>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6152391" y="3874334"/>
            <a:ext cx="190500" cy="198626"/>
            <a:chOff x="7486650" y="1691322"/>
            <a:chExt cx="190500" cy="198626"/>
          </a:xfrm>
        </p:grpSpPr>
        <p:cxnSp>
          <p:nvCxnSpPr>
            <p:cNvPr id="101" name="Straight Connector 100"/>
            <p:cNvCxnSpPr/>
            <p:nvPr/>
          </p:nvCxnSpPr>
          <p:spPr>
            <a:xfrm>
              <a:off x="7486650" y="1691322"/>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7486650" y="1695320"/>
              <a:ext cx="190500" cy="1946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3295502" y="5052320"/>
            <a:ext cx="1371341" cy="849736"/>
            <a:chOff x="2444634" y="3080121"/>
            <a:chExt cx="1371341" cy="849736"/>
          </a:xfrm>
        </p:grpSpPr>
        <p:grpSp>
          <p:nvGrpSpPr>
            <p:cNvPr id="25" name="Group 24"/>
            <p:cNvGrpSpPr/>
            <p:nvPr/>
          </p:nvGrpSpPr>
          <p:grpSpPr>
            <a:xfrm>
              <a:off x="3321195" y="3080121"/>
              <a:ext cx="494780" cy="556471"/>
              <a:chOff x="9782175" y="2017289"/>
              <a:chExt cx="847725" cy="847725"/>
            </a:xfrm>
          </p:grpSpPr>
          <p:sp>
            <p:nvSpPr>
              <p:cNvPr id="27" name="Arc 26"/>
              <p:cNvSpPr/>
              <p:nvPr/>
            </p:nvSpPr>
            <p:spPr>
              <a:xfrm>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Arc 27"/>
              <p:cNvSpPr/>
              <p:nvPr/>
            </p:nvSpPr>
            <p:spPr>
              <a:xfrm rot="16200000">
                <a:off x="9782174" y="2071052"/>
                <a:ext cx="847725" cy="740199"/>
              </a:xfrm>
              <a:prstGeom prst="arc">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Arc 28"/>
              <p:cNvSpPr/>
              <p:nvPr/>
            </p:nvSpPr>
            <p:spPr>
              <a:xfrm flipV="1">
                <a:off x="9782175" y="2017289"/>
                <a:ext cx="847725" cy="7401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6" name="Rounded Rectangle 25"/>
            <p:cNvSpPr/>
            <p:nvPr/>
          </p:nvSpPr>
          <p:spPr>
            <a:xfrm>
              <a:off x="2444634" y="3351758"/>
              <a:ext cx="1123950" cy="5780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Flying</a:t>
              </a:r>
            </a:p>
          </p:txBody>
        </p:sp>
      </p:grpSp>
    </p:spTree>
    <p:extLst>
      <p:ext uri="{BB962C8B-B14F-4D97-AF65-F5344CB8AC3E}">
        <p14:creationId xmlns:p14="http://schemas.microsoft.com/office/powerpoint/2010/main" val="682259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0733-2B10-0317-7590-524984D060D9}"/>
              </a:ext>
            </a:extLst>
          </p:cNvPr>
          <p:cNvSpPr>
            <a:spLocks noGrp="1"/>
          </p:cNvSpPr>
          <p:nvPr>
            <p:ph type="title"/>
          </p:nvPr>
        </p:nvSpPr>
        <p:spPr/>
        <p:txBody>
          <a:bodyPr/>
          <a:lstStyle/>
          <a:p>
            <a:r>
              <a:rPr lang="en-GB" dirty="0"/>
              <a:t>BREAD TOASTING SYSTEM</a:t>
            </a:r>
          </a:p>
        </p:txBody>
      </p:sp>
      <p:pic>
        <p:nvPicPr>
          <p:cNvPr id="9" name="Content Placeholder 8">
            <a:extLst>
              <a:ext uri="{FF2B5EF4-FFF2-40B4-BE49-F238E27FC236}">
                <a16:creationId xmlns:a16="http://schemas.microsoft.com/office/drawing/2014/main" id="{8248A696-03E0-0727-4245-9D81C81FFA9A}"/>
              </a:ext>
            </a:extLst>
          </p:cNvPr>
          <p:cNvPicPr>
            <a:picLocks noGrp="1" noChangeAspect="1"/>
          </p:cNvPicPr>
          <p:nvPr>
            <p:ph idx="1"/>
          </p:nvPr>
        </p:nvPicPr>
        <p:blipFill>
          <a:blip r:embed="rId3"/>
          <a:stretch>
            <a:fillRect/>
          </a:stretch>
        </p:blipFill>
        <p:spPr>
          <a:xfrm>
            <a:off x="1221918" y="1905875"/>
            <a:ext cx="6706893" cy="4926303"/>
          </a:xfrm>
          <a:prstGeom prst="rect">
            <a:avLst/>
          </a:prstGeom>
        </p:spPr>
      </p:pic>
      <p:pic>
        <p:nvPicPr>
          <p:cNvPr id="7" name="Picture 6">
            <a:extLst>
              <a:ext uri="{FF2B5EF4-FFF2-40B4-BE49-F238E27FC236}">
                <a16:creationId xmlns:a16="http://schemas.microsoft.com/office/drawing/2014/main" id="{7F3A0B35-F72C-5EC9-2785-A64DA1C7C1A5}"/>
              </a:ext>
            </a:extLst>
          </p:cNvPr>
          <p:cNvPicPr>
            <a:picLocks noChangeAspect="1"/>
          </p:cNvPicPr>
          <p:nvPr/>
        </p:nvPicPr>
        <p:blipFill>
          <a:blip r:embed="rId4"/>
          <a:stretch>
            <a:fillRect/>
          </a:stretch>
        </p:blipFill>
        <p:spPr>
          <a:xfrm>
            <a:off x="8923127" y="3153940"/>
            <a:ext cx="3085993" cy="3085993"/>
          </a:xfrm>
          <a:prstGeom prst="rect">
            <a:avLst/>
          </a:prstGeom>
        </p:spPr>
      </p:pic>
    </p:spTree>
    <p:extLst>
      <p:ext uri="{BB962C8B-B14F-4D97-AF65-F5344CB8AC3E}">
        <p14:creationId xmlns:p14="http://schemas.microsoft.com/office/powerpoint/2010/main" val="2545010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modes</a:t>
            </a:r>
          </a:p>
        </p:txBody>
      </p:sp>
      <p:pic>
        <p:nvPicPr>
          <p:cNvPr id="6" name="Content Placeholder 5">
            <a:extLst>
              <a:ext uri="{FF2B5EF4-FFF2-40B4-BE49-F238E27FC236}">
                <a16:creationId xmlns:a16="http://schemas.microsoft.com/office/drawing/2014/main" id="{302B4869-6231-4FDF-90D7-75957C2732E1}"/>
              </a:ext>
            </a:extLst>
          </p:cNvPr>
          <p:cNvPicPr>
            <a:picLocks noGrp="1" noChangeAspect="1"/>
          </p:cNvPicPr>
          <p:nvPr>
            <p:ph sz="half" idx="1"/>
          </p:nvPr>
        </p:nvPicPr>
        <p:blipFill>
          <a:blip r:embed="rId3"/>
          <a:stretch>
            <a:fillRect/>
          </a:stretch>
        </p:blipFill>
        <p:spPr>
          <a:xfrm>
            <a:off x="1844189" y="2425088"/>
            <a:ext cx="3145809" cy="3139712"/>
          </a:xfrm>
          <a:prstGeom prst="rect">
            <a:avLst/>
          </a:prstGeom>
          <a:ln>
            <a:noFill/>
          </a:ln>
          <a:effectLst>
            <a:outerShdw blurRad="292100" dist="139700" dir="2700000" algn="tl" rotWithShape="0">
              <a:srgbClr val="333333">
                <a:alpha val="65000"/>
              </a:srgbClr>
            </a:outerShdw>
          </a:effectLst>
        </p:spPr>
      </p:pic>
      <p:sp>
        <p:nvSpPr>
          <p:cNvPr id="5" name="Content Placeholder 4">
            <a:extLst>
              <a:ext uri="{FF2B5EF4-FFF2-40B4-BE49-F238E27FC236}">
                <a16:creationId xmlns:a16="http://schemas.microsoft.com/office/drawing/2014/main" id="{E046FAAF-E2BD-4BB4-8AA8-1DD61DF921A3}"/>
              </a:ext>
            </a:extLst>
          </p:cNvPr>
          <p:cNvSpPr>
            <a:spLocks noGrp="1"/>
          </p:cNvSpPr>
          <p:nvPr>
            <p:ph sz="half" idx="2"/>
          </p:nvPr>
        </p:nvSpPr>
        <p:spPr/>
        <p:txBody>
          <a:bodyPr>
            <a:normAutofit fontScale="85000" lnSpcReduction="10000"/>
          </a:bodyPr>
          <a:lstStyle/>
          <a:p>
            <a:pPr>
              <a:buFont typeface="Wingdings" panose="05000000000000000000" pitchFamily="2" charset="2"/>
              <a:buChar char="q"/>
            </a:pPr>
            <a:r>
              <a:rPr lang="en-GB" dirty="0"/>
              <a:t> In some cases, the system is capable of performing discrete functions</a:t>
            </a:r>
          </a:p>
          <a:p>
            <a:pPr>
              <a:buFont typeface="Wingdings" panose="05000000000000000000" pitchFamily="2" charset="2"/>
              <a:buChar char="q"/>
            </a:pPr>
            <a:r>
              <a:rPr lang="en-GB" dirty="0"/>
              <a:t> Such functions will be dependent on the state of the system</a:t>
            </a:r>
          </a:p>
          <a:p>
            <a:pPr>
              <a:buFont typeface="Wingdings" panose="05000000000000000000" pitchFamily="2" charset="2"/>
              <a:buChar char="q"/>
            </a:pPr>
            <a:endParaRPr lang="en-GB" dirty="0"/>
          </a:p>
          <a:p>
            <a:pPr>
              <a:buFont typeface="Wingdings" panose="05000000000000000000" pitchFamily="2" charset="2"/>
              <a:buChar char="q"/>
            </a:pPr>
            <a:r>
              <a:rPr lang="en-GB" dirty="0"/>
              <a:t> System modes are descriptive of “doing”</a:t>
            </a:r>
          </a:p>
          <a:p>
            <a:pPr>
              <a:buFont typeface="Wingdings" panose="05000000000000000000" pitchFamily="2" charset="2"/>
              <a:buChar char="q"/>
            </a:pPr>
            <a:r>
              <a:rPr lang="en-GB" dirty="0"/>
              <a:t> The system is “doing this” when in that “state”</a:t>
            </a:r>
          </a:p>
          <a:p>
            <a:pPr>
              <a:buFont typeface="Wingdings" panose="05000000000000000000" pitchFamily="2" charset="2"/>
              <a:buChar char="q"/>
            </a:pPr>
            <a:endParaRPr lang="en-GB" dirty="0"/>
          </a:p>
          <a:p>
            <a:pPr>
              <a:buFont typeface="Wingdings" panose="05000000000000000000" pitchFamily="2" charset="2"/>
              <a:buChar char="q"/>
            </a:pPr>
            <a:r>
              <a:rPr lang="en-GB" dirty="0"/>
              <a:t> Modes are always </a:t>
            </a:r>
            <a:r>
              <a:rPr lang="en-GB" b="1" dirty="0"/>
              <a:t>encapsulated within states</a:t>
            </a:r>
          </a:p>
          <a:p>
            <a:pPr>
              <a:buFont typeface="Wingdings" panose="05000000000000000000" pitchFamily="2" charset="2"/>
              <a:buChar char="q"/>
            </a:pPr>
            <a:r>
              <a:rPr lang="en-GB" dirty="0"/>
              <a:t> Similar modes </a:t>
            </a:r>
            <a:r>
              <a:rPr lang="en-GB" b="1" dirty="0"/>
              <a:t>may be present in more than one state</a:t>
            </a:r>
          </a:p>
          <a:p>
            <a:pPr>
              <a:buFont typeface="Wingdings" panose="05000000000000000000" pitchFamily="2" charset="2"/>
              <a:buChar char="q"/>
            </a:pPr>
            <a:r>
              <a:rPr lang="en-GB" b="1" dirty="0"/>
              <a:t> Graphically similar to system states</a:t>
            </a:r>
          </a:p>
          <a:p>
            <a:endParaRPr lang="en-ZA" dirty="0"/>
          </a:p>
        </p:txBody>
      </p:sp>
    </p:spTree>
    <p:extLst>
      <p:ext uri="{BB962C8B-B14F-4D97-AF65-F5344CB8AC3E}">
        <p14:creationId xmlns:p14="http://schemas.microsoft.com/office/powerpoint/2010/main" val="899261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EEB205-5FB8-30CC-A13E-37AD1B2AC25E}"/>
              </a:ext>
            </a:extLst>
          </p:cNvPr>
          <p:cNvSpPr>
            <a:spLocks noGrp="1"/>
          </p:cNvSpPr>
          <p:nvPr>
            <p:ph type="title"/>
          </p:nvPr>
        </p:nvSpPr>
        <p:spPr/>
        <p:txBody>
          <a:bodyPr/>
          <a:lstStyle/>
          <a:p>
            <a:endParaRPr lang="en-GB" dirty="0"/>
          </a:p>
        </p:txBody>
      </p:sp>
      <p:pic>
        <p:nvPicPr>
          <p:cNvPr id="8" name="Content Placeholder 7">
            <a:extLst>
              <a:ext uri="{FF2B5EF4-FFF2-40B4-BE49-F238E27FC236}">
                <a16:creationId xmlns:a16="http://schemas.microsoft.com/office/drawing/2014/main" id="{A3842B7B-59BA-002A-C170-AAF9EEC480A5}"/>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42792" y="231819"/>
            <a:ext cx="11906416" cy="6626181"/>
          </a:xfrm>
          <a:prstGeom prst="rect">
            <a:avLst/>
          </a:prstGeom>
        </p:spPr>
      </p:pic>
    </p:spTree>
    <p:extLst>
      <p:ext uri="{BB962C8B-B14F-4D97-AF65-F5344CB8AC3E}">
        <p14:creationId xmlns:p14="http://schemas.microsoft.com/office/powerpoint/2010/main" val="1866341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549F720-2AA3-470F-B012-702F0C50755B}"/>
              </a:ext>
            </a:extLst>
          </p:cNvPr>
          <p:cNvSpPr>
            <a:spLocks noGrp="1"/>
          </p:cNvSpPr>
          <p:nvPr>
            <p:ph type="title"/>
          </p:nvPr>
        </p:nvSpPr>
        <p:spPr/>
        <p:txBody>
          <a:bodyPr/>
          <a:lstStyle/>
          <a:p>
            <a:r>
              <a:rPr lang="en-ZA" dirty="0"/>
              <a:t>System states and modes</a:t>
            </a:r>
          </a:p>
        </p:txBody>
      </p:sp>
      <p:sp>
        <p:nvSpPr>
          <p:cNvPr id="10" name="Text Placeholder 9">
            <a:extLst>
              <a:ext uri="{FF2B5EF4-FFF2-40B4-BE49-F238E27FC236}">
                <a16:creationId xmlns:a16="http://schemas.microsoft.com/office/drawing/2014/main" id="{3EC74C48-361A-4817-A44B-D24E8411D490}"/>
              </a:ext>
            </a:extLst>
          </p:cNvPr>
          <p:cNvSpPr>
            <a:spLocks noGrp="1"/>
          </p:cNvSpPr>
          <p:nvPr>
            <p:ph idx="1"/>
          </p:nvPr>
        </p:nvSpPr>
        <p:spPr/>
        <p:txBody>
          <a:bodyPr/>
          <a:lstStyle/>
          <a:p>
            <a:r>
              <a:rPr lang="en-ZA" dirty="0"/>
              <a:t>System states and modes describe in more detail </a:t>
            </a:r>
            <a:r>
              <a:rPr lang="en-ZA" b="1" dirty="0">
                <a:solidFill>
                  <a:schemeClr val="accent2"/>
                </a:solidFill>
              </a:rPr>
              <a:t>how the system should function</a:t>
            </a:r>
            <a:r>
              <a:rPr lang="en-ZA" b="1" dirty="0"/>
              <a:t> </a:t>
            </a:r>
            <a:r>
              <a:rPr lang="en-ZA" dirty="0"/>
              <a:t>at a </a:t>
            </a:r>
            <a:r>
              <a:rPr lang="en-ZA" b="1" dirty="0">
                <a:solidFill>
                  <a:schemeClr val="accent2"/>
                </a:solidFill>
              </a:rPr>
              <a:t>high-level</a:t>
            </a:r>
          </a:p>
          <a:p>
            <a:r>
              <a:rPr lang="en-ZA" b="1" dirty="0">
                <a:solidFill>
                  <a:schemeClr val="accent2"/>
                </a:solidFill>
              </a:rPr>
              <a:t>States describe the condition </a:t>
            </a:r>
            <a:r>
              <a:rPr lang="en-ZA" dirty="0"/>
              <a:t>of the system and is observable and or measurable.</a:t>
            </a:r>
            <a:endParaRPr lang="en-ZA" sz="2000" dirty="0"/>
          </a:p>
          <a:p>
            <a:r>
              <a:rPr lang="en-ZA" b="1" dirty="0">
                <a:solidFill>
                  <a:schemeClr val="accent2"/>
                </a:solidFill>
              </a:rPr>
              <a:t>Modes</a:t>
            </a:r>
            <a:r>
              <a:rPr lang="en-ZA" dirty="0"/>
              <a:t> are encapsulated within states and </a:t>
            </a:r>
            <a:r>
              <a:rPr lang="en-ZA" b="1" dirty="0">
                <a:solidFill>
                  <a:schemeClr val="accent2"/>
                </a:solidFill>
              </a:rPr>
              <a:t>describe the functions </a:t>
            </a:r>
            <a:r>
              <a:rPr lang="en-ZA" dirty="0"/>
              <a:t>of the system. </a:t>
            </a:r>
          </a:p>
          <a:p>
            <a:r>
              <a:rPr lang="en-ZA" dirty="0"/>
              <a:t>Both system state and system mode diagrams describe the transitions between states and modes.</a:t>
            </a:r>
          </a:p>
          <a:p>
            <a:endParaRPr lang="en-ZA" dirty="0"/>
          </a:p>
          <a:p>
            <a:endParaRPr lang="en-ZA" dirty="0"/>
          </a:p>
        </p:txBody>
      </p:sp>
    </p:spTree>
    <p:extLst>
      <p:ext uri="{BB962C8B-B14F-4D97-AF65-F5344CB8AC3E}">
        <p14:creationId xmlns:p14="http://schemas.microsoft.com/office/powerpoint/2010/main" val="1910817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2C78-F0CE-4455-9B94-C97574C88978}"/>
              </a:ext>
            </a:extLst>
          </p:cNvPr>
          <p:cNvSpPr>
            <a:spLocks noGrp="1"/>
          </p:cNvSpPr>
          <p:nvPr>
            <p:ph type="title"/>
          </p:nvPr>
        </p:nvSpPr>
        <p:spPr>
          <a:xfrm>
            <a:off x="581192" y="702156"/>
            <a:ext cx="11029616" cy="1013800"/>
          </a:xfrm>
        </p:spPr>
        <p:txBody>
          <a:bodyPr>
            <a:normAutofit/>
          </a:bodyPr>
          <a:lstStyle/>
          <a:p>
            <a:r>
              <a:rPr lang="en-ZA" dirty="0">
                <a:solidFill>
                  <a:srgbClr val="FFFEFF"/>
                </a:solidFill>
              </a:rPr>
              <a:t>Wrapping up</a:t>
            </a:r>
          </a:p>
        </p:txBody>
      </p:sp>
      <p:graphicFrame>
        <p:nvGraphicFramePr>
          <p:cNvPr id="5" name="Content Placeholder 2">
            <a:extLst>
              <a:ext uri="{FF2B5EF4-FFF2-40B4-BE49-F238E27FC236}">
                <a16:creationId xmlns:a16="http://schemas.microsoft.com/office/drawing/2014/main" id="{430B48CD-F889-41E1-8058-43359E6BD9E8}"/>
              </a:ext>
            </a:extLst>
          </p:cNvPr>
          <p:cNvGraphicFramePr>
            <a:graphicFrameLocks noGrp="1"/>
          </p:cNvGraphicFramePr>
          <p:nvPr>
            <p:ph idx="1"/>
            <p:extLst>
              <p:ext uri="{D42A27DB-BD31-4B8C-83A1-F6EECF244321}">
                <p14:modId xmlns:p14="http://schemas.microsoft.com/office/powerpoint/2010/main" val="171447658"/>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9839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2" name="Rectangle 31">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Rectangle 35">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38" name="Rectangle 37">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D27B0A6-FA66-D052-FCE7-F233ADBD815E}"/>
              </a:ext>
            </a:extLst>
          </p:cNvPr>
          <p:cNvPicPr>
            <a:picLocks noChangeAspect="1"/>
          </p:cNvPicPr>
          <p:nvPr/>
        </p:nvPicPr>
        <p:blipFill>
          <a:blip r:embed="rId3"/>
          <a:srcRect t="15715" b="7754"/>
          <a:stretch>
            <a:fillRect/>
          </a:stretch>
        </p:blipFill>
        <p:spPr>
          <a:xfrm>
            <a:off x="20" y="10"/>
            <a:ext cx="12191980" cy="6857990"/>
          </a:xfrm>
          <a:prstGeom prst="rect">
            <a:avLst/>
          </a:prstGeom>
        </p:spPr>
      </p:pic>
      <p:grpSp>
        <p:nvGrpSpPr>
          <p:cNvPr id="40" name="Group 39">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41" name="Rectangle 40">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EAB55B"/>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2" name="Rectangle 41">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EAB55B"/>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3" name="Rectangle 42">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rgbClr val="EAB55B"/>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45" name="Rectangle 44">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7">
            <a:extLst>
              <a:ext uri="{FF2B5EF4-FFF2-40B4-BE49-F238E27FC236}">
                <a16:creationId xmlns:a16="http://schemas.microsoft.com/office/drawing/2014/main" id="{47CBB7FD-B774-5E59-CDB6-499C791DDA46}"/>
              </a:ext>
            </a:extLst>
          </p:cNvPr>
          <p:cNvSpPr>
            <a:spLocks noGrp="1"/>
          </p:cNvSpPr>
          <p:nvPr>
            <p:ph type="title"/>
          </p:nvPr>
        </p:nvSpPr>
        <p:spPr>
          <a:xfrm>
            <a:off x="596715" y="4161580"/>
            <a:ext cx="10993549" cy="895244"/>
          </a:xfrm>
        </p:spPr>
        <p:txBody>
          <a:bodyPr vert="horz" lIns="91440" tIns="45720" rIns="91440" bIns="45720" rtlCol="0" anchor="b">
            <a:normAutofit/>
          </a:bodyPr>
          <a:lstStyle/>
          <a:p>
            <a:r>
              <a:rPr lang="en-US" sz="4000" dirty="0"/>
              <a:t>Individual activity</a:t>
            </a:r>
          </a:p>
        </p:txBody>
      </p:sp>
      <p:sp>
        <p:nvSpPr>
          <p:cNvPr id="9" name="Content Placeholder 8">
            <a:extLst>
              <a:ext uri="{FF2B5EF4-FFF2-40B4-BE49-F238E27FC236}">
                <a16:creationId xmlns:a16="http://schemas.microsoft.com/office/drawing/2014/main" id="{33548F05-4D01-9577-A27A-AB1E53E0D645}"/>
              </a:ext>
            </a:extLst>
          </p:cNvPr>
          <p:cNvSpPr>
            <a:spLocks noGrp="1"/>
          </p:cNvSpPr>
          <p:nvPr>
            <p:ph idx="1"/>
          </p:nvPr>
        </p:nvSpPr>
        <p:spPr>
          <a:xfrm>
            <a:off x="581194" y="5056824"/>
            <a:ext cx="10993546" cy="1343976"/>
          </a:xfrm>
        </p:spPr>
        <p:txBody>
          <a:bodyPr vert="horz" lIns="91440" tIns="45720" rIns="91440" bIns="45720" rtlCol="0" anchor="t">
            <a:normAutofit/>
          </a:bodyPr>
          <a:lstStyle/>
          <a:p>
            <a:pPr marL="0" indent="0">
              <a:buNone/>
            </a:pPr>
            <a:r>
              <a:rPr lang="en-US" sz="2000" cap="all" dirty="0">
                <a:solidFill>
                  <a:srgbClr val="EAB55B"/>
                </a:solidFill>
              </a:rPr>
              <a:t>Individually, develop a SCD,  SSD,  and SMD for the hoisting system.</a:t>
            </a:r>
          </a:p>
          <a:p>
            <a:pPr marL="0" indent="0">
              <a:buNone/>
            </a:pPr>
            <a:r>
              <a:rPr lang="en-US" sz="2000" cap="all" dirty="0">
                <a:solidFill>
                  <a:srgbClr val="EAB55B"/>
                </a:solidFill>
              </a:rPr>
              <a:t>Upload this to </a:t>
            </a:r>
            <a:r>
              <a:rPr lang="en-US" sz="2000" cap="all" dirty="0" err="1">
                <a:solidFill>
                  <a:srgbClr val="EAB55B"/>
                </a:solidFill>
              </a:rPr>
              <a:t>Efundi</a:t>
            </a:r>
            <a:r>
              <a:rPr lang="en-US" sz="2000" cap="all" dirty="0">
                <a:solidFill>
                  <a:srgbClr val="EAB55B"/>
                </a:solidFill>
              </a:rPr>
              <a:t> Friday afternoon (use Friday period for doing the work)</a:t>
            </a:r>
          </a:p>
          <a:p>
            <a:pPr marL="0" indent="0">
              <a:buNone/>
            </a:pPr>
            <a:r>
              <a:rPr lang="en-US" sz="1200" cap="all" dirty="0">
                <a:solidFill>
                  <a:srgbClr val="EAB55B"/>
                </a:solidFill>
              </a:rPr>
              <a:t>PHOTOGRAPH, PDF, JPG, or PNG files (1 file per diagram)</a:t>
            </a:r>
          </a:p>
        </p:txBody>
      </p:sp>
    </p:spTree>
    <p:extLst>
      <p:ext uri="{BB962C8B-B14F-4D97-AF65-F5344CB8AC3E}">
        <p14:creationId xmlns:p14="http://schemas.microsoft.com/office/powerpoint/2010/main" val="70428942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651</TotalTime>
  <Words>2172</Words>
  <Application>Microsoft Office PowerPoint</Application>
  <PresentationFormat>Widescreen</PresentationFormat>
  <Paragraphs>252</Paragraphs>
  <Slides>29</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Courier New</vt:lpstr>
      <vt:lpstr>Gill Sans MT</vt:lpstr>
      <vt:lpstr>Wingdings</vt:lpstr>
      <vt:lpstr>Wingdings 2</vt:lpstr>
      <vt:lpstr>Dividend</vt:lpstr>
      <vt:lpstr>Engineering design 2025</vt:lpstr>
      <vt:lpstr>Individual activity</vt:lpstr>
      <vt:lpstr>System context diagrams</vt:lpstr>
      <vt:lpstr>Any system ‘lives’ in a specific context</vt:lpstr>
      <vt:lpstr>Towards a tool…</vt:lpstr>
      <vt:lpstr>Why draw Context Diagrams</vt:lpstr>
      <vt:lpstr>Context Diagrams</vt:lpstr>
      <vt:lpstr>Elements in the SoI environment</vt:lpstr>
      <vt:lpstr>Interactions and Interfaces</vt:lpstr>
      <vt:lpstr>Example SCD of an automated fruit packing system (afps)</vt:lpstr>
      <vt:lpstr>System Context Diagram – Key Take aways</vt:lpstr>
      <vt:lpstr>System missions</vt:lpstr>
      <vt:lpstr>Missions</vt:lpstr>
      <vt:lpstr>Missions – An example</vt:lpstr>
      <vt:lpstr>Missions – An example</vt:lpstr>
      <vt:lpstr>Bread Toasting System (BTS)</vt:lpstr>
      <vt:lpstr>Mission diagrams</vt:lpstr>
      <vt:lpstr>A high level of behavioural abstraction</vt:lpstr>
      <vt:lpstr>Describing high-level behaviour</vt:lpstr>
      <vt:lpstr>What is a system state?</vt:lpstr>
      <vt:lpstr>Consider the copier as example</vt:lpstr>
      <vt:lpstr>Graphic rules for System State Diagrams</vt:lpstr>
      <vt:lpstr>The case of a rocket</vt:lpstr>
      <vt:lpstr>BREAD TOASTING SYSTEM</vt:lpstr>
      <vt:lpstr>System modes</vt:lpstr>
      <vt:lpstr>PowerPoint Presentation</vt:lpstr>
      <vt:lpstr>System states and modes</vt:lpstr>
      <vt:lpstr>Wrapping up</vt:lpstr>
      <vt:lpstr>Individual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design 2020</dc:title>
  <dc:creator>Henri Marais</dc:creator>
  <cp:lastModifiedBy>Henri Marais</cp:lastModifiedBy>
  <cp:revision>19</cp:revision>
  <dcterms:created xsi:type="dcterms:W3CDTF">2021-08-02T04:36:19Z</dcterms:created>
  <dcterms:modified xsi:type="dcterms:W3CDTF">2026-07-22T11:37:46Z</dcterms:modified>
</cp:coreProperties>
</file>