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86" r:id="rId4"/>
    <p:sldId id="258" r:id="rId5"/>
    <p:sldId id="259" r:id="rId6"/>
    <p:sldId id="288" r:id="rId7"/>
    <p:sldId id="289" r:id="rId8"/>
    <p:sldId id="284" r:id="rId9"/>
    <p:sldId id="273" r:id="rId10"/>
    <p:sldId id="274" r:id="rId11"/>
    <p:sldId id="283" r:id="rId12"/>
    <p:sldId id="285" r:id="rId13"/>
    <p:sldId id="275" r:id="rId14"/>
    <p:sldId id="287" r:id="rId15"/>
    <p:sldId id="276" r:id="rId16"/>
    <p:sldId id="277" r:id="rId17"/>
    <p:sldId id="278" r:id="rId18"/>
    <p:sldId id="279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90" r:id="rId27"/>
    <p:sldId id="272" r:id="rId28"/>
    <p:sldId id="28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51B9930-ECD7-46B8-B519-F5432702699D}">
          <p14:sldIdLst>
            <p14:sldId id="257"/>
            <p14:sldId id="256"/>
          </p14:sldIdLst>
        </p14:section>
        <p14:section name="Module Admin" id="{9AEFA55E-20A3-4B05-8B1F-18A290086D8A}">
          <p14:sldIdLst>
            <p14:sldId id="286"/>
            <p14:sldId id="258"/>
            <p14:sldId id="259"/>
            <p14:sldId id="288"/>
            <p14:sldId id="289"/>
            <p14:sldId id="284"/>
            <p14:sldId id="273"/>
          </p14:sldIdLst>
        </p14:section>
        <p14:section name="Project 2025" id="{E0898A91-FCBD-4986-8F06-5CB0259EA659}">
          <p14:sldIdLst>
            <p14:sldId id="274"/>
            <p14:sldId id="283"/>
            <p14:sldId id="285"/>
            <p14:sldId id="275"/>
            <p14:sldId id="287"/>
            <p14:sldId id="276"/>
            <p14:sldId id="277"/>
            <p14:sldId id="278"/>
            <p14:sldId id="279"/>
          </p14:sldIdLst>
        </p14:section>
        <p14:section name="Practical Example" id="{4501FC7B-A97B-4FAB-BBD4-B2EACD73814F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90"/>
          </p14:sldIdLst>
        </p14:section>
        <p14:section name="Wrap-up" id="{FDCAC665-83E0-490A-A325-F199A447CCB0}">
          <p14:sldIdLst>
            <p14:sldId id="272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6CA508-B1C3-4BDB-A97E-97046809D248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1A865D1-399C-468C-AA99-8237103FB48D}">
      <dgm:prSet/>
      <dgm:spPr/>
      <dgm:t>
        <a:bodyPr/>
        <a:lstStyle/>
        <a:p>
          <a:r>
            <a:rPr lang="en-ZA" dirty="0"/>
            <a:t>Engineering design is a new thought process</a:t>
          </a:r>
          <a:endParaRPr lang="en-US" dirty="0"/>
        </a:p>
      </dgm:t>
    </dgm:pt>
    <dgm:pt modelId="{5A74C50A-9DAE-470D-9825-8F52ABEE7344}" type="parTrans" cxnId="{F2D7E32F-916E-4147-8753-D4E06AF9D6E1}">
      <dgm:prSet/>
      <dgm:spPr/>
      <dgm:t>
        <a:bodyPr/>
        <a:lstStyle/>
        <a:p>
          <a:endParaRPr lang="en-US"/>
        </a:p>
      </dgm:t>
    </dgm:pt>
    <dgm:pt modelId="{D1786A69-2294-46AB-99DD-B0D5FE0AAFF9}" type="sibTrans" cxnId="{F2D7E32F-916E-4147-8753-D4E06AF9D6E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C02E46A0-6F66-40AE-BAB9-18C71BF5F750}">
      <dgm:prSet/>
      <dgm:spPr/>
      <dgm:t>
        <a:bodyPr/>
        <a:lstStyle/>
        <a:p>
          <a:r>
            <a:rPr lang="en-ZA"/>
            <a:t>This is tricky to master</a:t>
          </a:r>
          <a:endParaRPr lang="en-US"/>
        </a:p>
      </dgm:t>
    </dgm:pt>
    <dgm:pt modelId="{4869DEB3-7EF1-482D-A861-DED35CC0DF2C}" type="parTrans" cxnId="{7982299C-C852-4CD7-B73A-CD546E7D705D}">
      <dgm:prSet/>
      <dgm:spPr/>
      <dgm:t>
        <a:bodyPr/>
        <a:lstStyle/>
        <a:p>
          <a:endParaRPr lang="en-US"/>
        </a:p>
      </dgm:t>
    </dgm:pt>
    <dgm:pt modelId="{DAD9C3C9-4EA0-4AC0-9A59-5D04CC2CABAD}" type="sibTrans" cxnId="{7982299C-C852-4CD7-B73A-CD546E7D705D}">
      <dgm:prSet/>
      <dgm:spPr/>
      <dgm:t>
        <a:bodyPr/>
        <a:lstStyle/>
        <a:p>
          <a:endParaRPr lang="en-US"/>
        </a:p>
      </dgm:t>
    </dgm:pt>
    <dgm:pt modelId="{EAC2A702-41C9-48E6-9BBC-D11FBBF25D97}">
      <dgm:prSet/>
      <dgm:spPr/>
      <dgm:t>
        <a:bodyPr/>
        <a:lstStyle/>
        <a:p>
          <a:r>
            <a:rPr lang="en-ZA" dirty="0"/>
            <a:t>Looks MUCH easier than it is</a:t>
          </a:r>
          <a:endParaRPr lang="en-US" dirty="0"/>
        </a:p>
      </dgm:t>
    </dgm:pt>
    <dgm:pt modelId="{B4BFDDC4-53DD-4C63-AB33-87A129F9E82C}" type="parTrans" cxnId="{A3909822-616D-4331-B3E0-80CB81892303}">
      <dgm:prSet/>
      <dgm:spPr/>
      <dgm:t>
        <a:bodyPr/>
        <a:lstStyle/>
        <a:p>
          <a:endParaRPr lang="en-US"/>
        </a:p>
      </dgm:t>
    </dgm:pt>
    <dgm:pt modelId="{3AC6D724-305E-4F8B-9E4B-F2712C0BD951}" type="sibTrans" cxnId="{A3909822-616D-4331-B3E0-80CB81892303}">
      <dgm:prSet/>
      <dgm:spPr/>
      <dgm:t>
        <a:bodyPr/>
        <a:lstStyle/>
        <a:p>
          <a:endParaRPr lang="en-US"/>
        </a:p>
      </dgm:t>
    </dgm:pt>
    <dgm:pt modelId="{FDAC5ED5-EC71-464A-88B4-9AE1BAC8D3D8}">
      <dgm:prSet/>
      <dgm:spPr/>
      <dgm:t>
        <a:bodyPr/>
        <a:lstStyle/>
        <a:p>
          <a:r>
            <a:rPr lang="en-ZA" dirty="0"/>
            <a:t>Physical prototypes MUST be functional</a:t>
          </a:r>
        </a:p>
        <a:p>
          <a:r>
            <a:rPr lang="en-ZA" dirty="0"/>
            <a:t>           +</a:t>
          </a:r>
        </a:p>
        <a:p>
          <a:r>
            <a:rPr lang="en-US" dirty="0"/>
            <a:t>Public exhibition</a:t>
          </a:r>
        </a:p>
      </dgm:t>
    </dgm:pt>
    <dgm:pt modelId="{98D1B30E-F3D0-4261-84AC-51F57B3740E7}" type="parTrans" cxnId="{5DC239FB-641D-423D-8885-1319784F98F1}">
      <dgm:prSet/>
      <dgm:spPr/>
      <dgm:t>
        <a:bodyPr/>
        <a:lstStyle/>
        <a:p>
          <a:endParaRPr lang="en-US"/>
        </a:p>
      </dgm:t>
    </dgm:pt>
    <dgm:pt modelId="{2F4FEF41-44DC-4A00-AE42-185EFD6BD5FD}" type="sibTrans" cxnId="{5DC239FB-641D-423D-8885-1319784F98F1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59BECB7C-3C5E-4D40-9BA2-DDA0D13745CC}">
      <dgm:prSet/>
      <dgm:spPr/>
      <dgm:t>
        <a:bodyPr/>
        <a:lstStyle/>
        <a:p>
          <a:r>
            <a:rPr lang="en-ZA" dirty="0"/>
            <a:t>Group work results when an entire group of individuals work independently. </a:t>
          </a:r>
          <a:endParaRPr lang="en-US" dirty="0"/>
        </a:p>
      </dgm:t>
    </dgm:pt>
    <dgm:pt modelId="{56484B16-278B-4183-8899-A87BBA67E5CD}" type="parTrans" cxnId="{6FB130A4-FAF5-40DB-A426-D155A990EA8A}">
      <dgm:prSet/>
      <dgm:spPr/>
      <dgm:t>
        <a:bodyPr/>
        <a:lstStyle/>
        <a:p>
          <a:endParaRPr lang="en-US"/>
        </a:p>
      </dgm:t>
    </dgm:pt>
    <dgm:pt modelId="{03248AA4-13F1-4C5E-A874-3D1E43D5A4E5}" type="sibTrans" cxnId="{6FB130A4-FAF5-40DB-A426-D155A990EA8A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72849D7E-82A9-4E4C-B467-DF9D1EAE76BD}">
      <dgm:prSet/>
      <dgm:spPr/>
      <dgm:t>
        <a:bodyPr/>
        <a:lstStyle/>
        <a:p>
          <a:r>
            <a:rPr lang="en-ZA" b="1"/>
            <a:t>Work hard and expect success!</a:t>
          </a:r>
          <a:endParaRPr lang="en-US"/>
        </a:p>
      </dgm:t>
    </dgm:pt>
    <dgm:pt modelId="{DCA881BE-6843-4FB8-83B9-6A0475536E6D}" type="parTrans" cxnId="{030FD74E-F3BC-42F6-8A6F-E65983F67B1A}">
      <dgm:prSet/>
      <dgm:spPr/>
      <dgm:t>
        <a:bodyPr/>
        <a:lstStyle/>
        <a:p>
          <a:endParaRPr lang="en-US"/>
        </a:p>
      </dgm:t>
    </dgm:pt>
    <dgm:pt modelId="{93045DB4-1850-4DF8-9396-3946CB664194}" type="sibTrans" cxnId="{030FD74E-F3BC-42F6-8A6F-E65983F67B1A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839D4664-57FC-4963-B899-A82C46BC647C}" type="pres">
      <dgm:prSet presAssocID="{A46CA508-B1C3-4BDB-A97E-97046809D248}" presName="Name0" presStyleCnt="0">
        <dgm:presLayoutVars>
          <dgm:animLvl val="lvl"/>
          <dgm:resizeHandles val="exact"/>
        </dgm:presLayoutVars>
      </dgm:prSet>
      <dgm:spPr/>
    </dgm:pt>
    <dgm:pt modelId="{88A688F0-BAD1-43DC-8E5E-A443DBE295C9}" type="pres">
      <dgm:prSet presAssocID="{A1A865D1-399C-468C-AA99-8237103FB48D}" presName="compositeNode" presStyleCnt="0">
        <dgm:presLayoutVars>
          <dgm:bulletEnabled val="1"/>
        </dgm:presLayoutVars>
      </dgm:prSet>
      <dgm:spPr/>
    </dgm:pt>
    <dgm:pt modelId="{DF5D4BEE-6DA1-46CE-9FF3-9244877A7A60}" type="pres">
      <dgm:prSet presAssocID="{A1A865D1-399C-468C-AA99-8237103FB48D}" presName="bgRect" presStyleLbl="alignNode1" presStyleIdx="0" presStyleCnt="4"/>
      <dgm:spPr/>
    </dgm:pt>
    <dgm:pt modelId="{BBC4DE70-910C-4948-B26A-FBAF734B0650}" type="pres">
      <dgm:prSet presAssocID="{D1786A69-2294-46AB-99DD-B0D5FE0AAFF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799C6183-07D9-47DD-9451-B7EB08F8A53C}" type="pres">
      <dgm:prSet presAssocID="{A1A865D1-399C-468C-AA99-8237103FB48D}" presName="nodeRect" presStyleLbl="alignNode1" presStyleIdx="0" presStyleCnt="4">
        <dgm:presLayoutVars>
          <dgm:bulletEnabled val="1"/>
        </dgm:presLayoutVars>
      </dgm:prSet>
      <dgm:spPr/>
    </dgm:pt>
    <dgm:pt modelId="{B5A0BA6D-59BB-4F04-A766-734BCE766F92}" type="pres">
      <dgm:prSet presAssocID="{D1786A69-2294-46AB-99DD-B0D5FE0AAFF9}" presName="sibTrans" presStyleCnt="0"/>
      <dgm:spPr/>
    </dgm:pt>
    <dgm:pt modelId="{2B9E373C-5459-40D4-996C-2A1962191A14}" type="pres">
      <dgm:prSet presAssocID="{FDAC5ED5-EC71-464A-88B4-9AE1BAC8D3D8}" presName="compositeNode" presStyleCnt="0">
        <dgm:presLayoutVars>
          <dgm:bulletEnabled val="1"/>
        </dgm:presLayoutVars>
      </dgm:prSet>
      <dgm:spPr/>
    </dgm:pt>
    <dgm:pt modelId="{D5AFAC22-61B6-44BF-B7E9-F3B357422574}" type="pres">
      <dgm:prSet presAssocID="{FDAC5ED5-EC71-464A-88B4-9AE1BAC8D3D8}" presName="bgRect" presStyleLbl="alignNode1" presStyleIdx="1" presStyleCnt="4"/>
      <dgm:spPr/>
    </dgm:pt>
    <dgm:pt modelId="{7925C6DF-E736-4971-BF6B-F4FF412621C9}" type="pres">
      <dgm:prSet presAssocID="{2F4FEF41-44DC-4A00-AE42-185EFD6BD5FD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45796389-877A-411D-93C3-D5E407CF29D7}" type="pres">
      <dgm:prSet presAssocID="{FDAC5ED5-EC71-464A-88B4-9AE1BAC8D3D8}" presName="nodeRect" presStyleLbl="alignNode1" presStyleIdx="1" presStyleCnt="4">
        <dgm:presLayoutVars>
          <dgm:bulletEnabled val="1"/>
        </dgm:presLayoutVars>
      </dgm:prSet>
      <dgm:spPr/>
    </dgm:pt>
    <dgm:pt modelId="{22414D7E-072A-4288-8F91-67BBB85D4D1A}" type="pres">
      <dgm:prSet presAssocID="{2F4FEF41-44DC-4A00-AE42-185EFD6BD5FD}" presName="sibTrans" presStyleCnt="0"/>
      <dgm:spPr/>
    </dgm:pt>
    <dgm:pt modelId="{8FDBD42D-16E1-454B-B85C-959C64C12930}" type="pres">
      <dgm:prSet presAssocID="{59BECB7C-3C5E-4D40-9BA2-DDA0D13745CC}" presName="compositeNode" presStyleCnt="0">
        <dgm:presLayoutVars>
          <dgm:bulletEnabled val="1"/>
        </dgm:presLayoutVars>
      </dgm:prSet>
      <dgm:spPr/>
    </dgm:pt>
    <dgm:pt modelId="{25CD44DD-DF87-45F8-A128-674B8649AD8F}" type="pres">
      <dgm:prSet presAssocID="{59BECB7C-3C5E-4D40-9BA2-DDA0D13745CC}" presName="bgRect" presStyleLbl="alignNode1" presStyleIdx="2" presStyleCnt="4"/>
      <dgm:spPr/>
    </dgm:pt>
    <dgm:pt modelId="{AE03AC78-88D6-4E79-873A-CF672DA53C34}" type="pres">
      <dgm:prSet presAssocID="{03248AA4-13F1-4C5E-A874-3D1E43D5A4E5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01345652-2061-4C12-AC18-E49C27D79A1B}" type="pres">
      <dgm:prSet presAssocID="{59BECB7C-3C5E-4D40-9BA2-DDA0D13745CC}" presName="nodeRect" presStyleLbl="alignNode1" presStyleIdx="2" presStyleCnt="4">
        <dgm:presLayoutVars>
          <dgm:bulletEnabled val="1"/>
        </dgm:presLayoutVars>
      </dgm:prSet>
      <dgm:spPr/>
    </dgm:pt>
    <dgm:pt modelId="{7EFDF060-7F6F-4E50-B16E-740D6B82C6BB}" type="pres">
      <dgm:prSet presAssocID="{03248AA4-13F1-4C5E-A874-3D1E43D5A4E5}" presName="sibTrans" presStyleCnt="0"/>
      <dgm:spPr/>
    </dgm:pt>
    <dgm:pt modelId="{1BBBEBEF-FF9E-46A7-B3F1-35134E337BC9}" type="pres">
      <dgm:prSet presAssocID="{72849D7E-82A9-4E4C-B467-DF9D1EAE76BD}" presName="compositeNode" presStyleCnt="0">
        <dgm:presLayoutVars>
          <dgm:bulletEnabled val="1"/>
        </dgm:presLayoutVars>
      </dgm:prSet>
      <dgm:spPr/>
    </dgm:pt>
    <dgm:pt modelId="{BF428BDC-42F6-434D-8668-DA4CB4ED82D0}" type="pres">
      <dgm:prSet presAssocID="{72849D7E-82A9-4E4C-B467-DF9D1EAE76BD}" presName="bgRect" presStyleLbl="alignNode1" presStyleIdx="3" presStyleCnt="4"/>
      <dgm:spPr/>
    </dgm:pt>
    <dgm:pt modelId="{68E20A92-34BC-4BE9-95F0-4D17FED0CDAD}" type="pres">
      <dgm:prSet presAssocID="{93045DB4-1850-4DF8-9396-3946CB664194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AE6A65B5-02E6-417D-9721-CBD5A4BBB1C0}" type="pres">
      <dgm:prSet presAssocID="{72849D7E-82A9-4E4C-B467-DF9D1EAE76BD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66194115-DB11-4F86-9083-FA5C2F3C82FA}" type="presOf" srcId="{C02E46A0-6F66-40AE-BAB9-18C71BF5F750}" destId="{799C6183-07D9-47DD-9451-B7EB08F8A53C}" srcOrd="0" destOrd="1" presId="urn:microsoft.com/office/officeart/2016/7/layout/LinearBlockProcessNumbered"/>
    <dgm:cxn modelId="{B2155619-3382-4676-A62E-DE9C86417DFD}" type="presOf" srcId="{72849D7E-82A9-4E4C-B467-DF9D1EAE76BD}" destId="{AE6A65B5-02E6-417D-9721-CBD5A4BBB1C0}" srcOrd="1" destOrd="0" presId="urn:microsoft.com/office/officeart/2016/7/layout/LinearBlockProcessNumbered"/>
    <dgm:cxn modelId="{5CA4D019-9479-4D7F-8068-E7441838DB7A}" type="presOf" srcId="{72849D7E-82A9-4E4C-B467-DF9D1EAE76BD}" destId="{BF428BDC-42F6-434D-8668-DA4CB4ED82D0}" srcOrd="0" destOrd="0" presId="urn:microsoft.com/office/officeart/2016/7/layout/LinearBlockProcessNumbered"/>
    <dgm:cxn modelId="{A3909822-616D-4331-B3E0-80CB81892303}" srcId="{A1A865D1-399C-468C-AA99-8237103FB48D}" destId="{EAC2A702-41C9-48E6-9BBC-D11FBBF25D97}" srcOrd="1" destOrd="0" parTransId="{B4BFDDC4-53DD-4C63-AB33-87A129F9E82C}" sibTransId="{3AC6D724-305E-4F8B-9E4B-F2712C0BD951}"/>
    <dgm:cxn modelId="{F2D7E32F-916E-4147-8753-D4E06AF9D6E1}" srcId="{A46CA508-B1C3-4BDB-A97E-97046809D248}" destId="{A1A865D1-399C-468C-AA99-8237103FB48D}" srcOrd="0" destOrd="0" parTransId="{5A74C50A-9DAE-470D-9825-8F52ABEE7344}" sibTransId="{D1786A69-2294-46AB-99DD-B0D5FE0AAFF9}"/>
    <dgm:cxn modelId="{0027383B-E1A8-422A-93DD-C3C37815BD4D}" type="presOf" srcId="{A1A865D1-399C-468C-AA99-8237103FB48D}" destId="{799C6183-07D9-47DD-9451-B7EB08F8A53C}" srcOrd="1" destOrd="0" presId="urn:microsoft.com/office/officeart/2016/7/layout/LinearBlockProcessNumbered"/>
    <dgm:cxn modelId="{F977A445-253A-4959-ACC6-839C40EE55D9}" type="presOf" srcId="{03248AA4-13F1-4C5E-A874-3D1E43D5A4E5}" destId="{AE03AC78-88D6-4E79-873A-CF672DA53C34}" srcOrd="0" destOrd="0" presId="urn:microsoft.com/office/officeart/2016/7/layout/LinearBlockProcessNumbered"/>
    <dgm:cxn modelId="{C141F065-582A-4787-9652-95C472A34905}" type="presOf" srcId="{93045DB4-1850-4DF8-9396-3946CB664194}" destId="{68E20A92-34BC-4BE9-95F0-4D17FED0CDAD}" srcOrd="0" destOrd="0" presId="urn:microsoft.com/office/officeart/2016/7/layout/LinearBlockProcessNumbered"/>
    <dgm:cxn modelId="{F3EB044D-91C8-44B9-9258-2A76F482F691}" type="presOf" srcId="{EAC2A702-41C9-48E6-9BBC-D11FBBF25D97}" destId="{799C6183-07D9-47DD-9451-B7EB08F8A53C}" srcOrd="0" destOrd="2" presId="urn:microsoft.com/office/officeart/2016/7/layout/LinearBlockProcessNumbered"/>
    <dgm:cxn modelId="{030FD74E-F3BC-42F6-8A6F-E65983F67B1A}" srcId="{A46CA508-B1C3-4BDB-A97E-97046809D248}" destId="{72849D7E-82A9-4E4C-B467-DF9D1EAE76BD}" srcOrd="3" destOrd="0" parTransId="{DCA881BE-6843-4FB8-83B9-6A0475536E6D}" sibTransId="{93045DB4-1850-4DF8-9396-3946CB664194}"/>
    <dgm:cxn modelId="{627E1D7A-053D-4805-98F4-4C237F23787E}" type="presOf" srcId="{FDAC5ED5-EC71-464A-88B4-9AE1BAC8D3D8}" destId="{45796389-877A-411D-93C3-D5E407CF29D7}" srcOrd="1" destOrd="0" presId="urn:microsoft.com/office/officeart/2016/7/layout/LinearBlockProcessNumbered"/>
    <dgm:cxn modelId="{1917D07E-397F-43F6-B7C8-1F047A747234}" type="presOf" srcId="{A46CA508-B1C3-4BDB-A97E-97046809D248}" destId="{839D4664-57FC-4963-B899-A82C46BC647C}" srcOrd="0" destOrd="0" presId="urn:microsoft.com/office/officeart/2016/7/layout/LinearBlockProcessNumbered"/>
    <dgm:cxn modelId="{7982299C-C852-4CD7-B73A-CD546E7D705D}" srcId="{A1A865D1-399C-468C-AA99-8237103FB48D}" destId="{C02E46A0-6F66-40AE-BAB9-18C71BF5F750}" srcOrd="0" destOrd="0" parTransId="{4869DEB3-7EF1-482D-A861-DED35CC0DF2C}" sibTransId="{DAD9C3C9-4EA0-4AC0-9A59-5D04CC2CABAD}"/>
    <dgm:cxn modelId="{6FB130A4-FAF5-40DB-A426-D155A990EA8A}" srcId="{A46CA508-B1C3-4BDB-A97E-97046809D248}" destId="{59BECB7C-3C5E-4D40-9BA2-DDA0D13745CC}" srcOrd="2" destOrd="0" parTransId="{56484B16-278B-4183-8899-A87BBA67E5CD}" sibTransId="{03248AA4-13F1-4C5E-A874-3D1E43D5A4E5}"/>
    <dgm:cxn modelId="{D7D872B4-06E2-4E57-9DB1-ACAFEBA2EC32}" type="presOf" srcId="{A1A865D1-399C-468C-AA99-8237103FB48D}" destId="{DF5D4BEE-6DA1-46CE-9FF3-9244877A7A60}" srcOrd="0" destOrd="0" presId="urn:microsoft.com/office/officeart/2016/7/layout/LinearBlockProcessNumbered"/>
    <dgm:cxn modelId="{D78B51CB-D816-495D-9A38-602EAFF1A09A}" type="presOf" srcId="{59BECB7C-3C5E-4D40-9BA2-DDA0D13745CC}" destId="{01345652-2061-4C12-AC18-E49C27D79A1B}" srcOrd="1" destOrd="0" presId="urn:microsoft.com/office/officeart/2016/7/layout/LinearBlockProcessNumbered"/>
    <dgm:cxn modelId="{43F583E3-8C52-4A80-B861-6D1A92C8A8A3}" type="presOf" srcId="{FDAC5ED5-EC71-464A-88B4-9AE1BAC8D3D8}" destId="{D5AFAC22-61B6-44BF-B7E9-F3B357422574}" srcOrd="0" destOrd="0" presId="urn:microsoft.com/office/officeart/2016/7/layout/LinearBlockProcessNumbered"/>
    <dgm:cxn modelId="{230A03EF-6EF5-494B-9C44-AF72F42E7CFC}" type="presOf" srcId="{59BECB7C-3C5E-4D40-9BA2-DDA0D13745CC}" destId="{25CD44DD-DF87-45F8-A128-674B8649AD8F}" srcOrd="0" destOrd="0" presId="urn:microsoft.com/office/officeart/2016/7/layout/LinearBlockProcessNumbered"/>
    <dgm:cxn modelId="{A357EDF2-A487-4231-A168-7CB54133D7BF}" type="presOf" srcId="{2F4FEF41-44DC-4A00-AE42-185EFD6BD5FD}" destId="{7925C6DF-E736-4971-BF6B-F4FF412621C9}" srcOrd="0" destOrd="0" presId="urn:microsoft.com/office/officeart/2016/7/layout/LinearBlockProcessNumbered"/>
    <dgm:cxn modelId="{F5D23FF6-13EF-4792-97F6-05EABB908257}" type="presOf" srcId="{D1786A69-2294-46AB-99DD-B0D5FE0AAFF9}" destId="{BBC4DE70-910C-4948-B26A-FBAF734B0650}" srcOrd="0" destOrd="0" presId="urn:microsoft.com/office/officeart/2016/7/layout/LinearBlockProcessNumbered"/>
    <dgm:cxn modelId="{5DC239FB-641D-423D-8885-1319784F98F1}" srcId="{A46CA508-B1C3-4BDB-A97E-97046809D248}" destId="{FDAC5ED5-EC71-464A-88B4-9AE1BAC8D3D8}" srcOrd="1" destOrd="0" parTransId="{98D1B30E-F3D0-4261-84AC-51F57B3740E7}" sibTransId="{2F4FEF41-44DC-4A00-AE42-185EFD6BD5FD}"/>
    <dgm:cxn modelId="{FFB12F50-51DF-47A4-ACC0-2CBB4A39EC71}" type="presParOf" srcId="{839D4664-57FC-4963-B899-A82C46BC647C}" destId="{88A688F0-BAD1-43DC-8E5E-A443DBE295C9}" srcOrd="0" destOrd="0" presId="urn:microsoft.com/office/officeart/2016/7/layout/LinearBlockProcessNumbered"/>
    <dgm:cxn modelId="{5772A10F-FCFC-486F-BBB2-AE695C897886}" type="presParOf" srcId="{88A688F0-BAD1-43DC-8E5E-A443DBE295C9}" destId="{DF5D4BEE-6DA1-46CE-9FF3-9244877A7A60}" srcOrd="0" destOrd="0" presId="urn:microsoft.com/office/officeart/2016/7/layout/LinearBlockProcessNumbered"/>
    <dgm:cxn modelId="{4E0AF2DA-A878-48C4-A3C5-CCD6ABBBA74F}" type="presParOf" srcId="{88A688F0-BAD1-43DC-8E5E-A443DBE295C9}" destId="{BBC4DE70-910C-4948-B26A-FBAF734B0650}" srcOrd="1" destOrd="0" presId="urn:microsoft.com/office/officeart/2016/7/layout/LinearBlockProcessNumbered"/>
    <dgm:cxn modelId="{3D2831C0-A876-40CC-8B85-E9E22110BB0C}" type="presParOf" srcId="{88A688F0-BAD1-43DC-8E5E-A443DBE295C9}" destId="{799C6183-07D9-47DD-9451-B7EB08F8A53C}" srcOrd="2" destOrd="0" presId="urn:microsoft.com/office/officeart/2016/7/layout/LinearBlockProcessNumbered"/>
    <dgm:cxn modelId="{927ADB50-B9C6-4369-9F4A-A2C771960093}" type="presParOf" srcId="{839D4664-57FC-4963-B899-A82C46BC647C}" destId="{B5A0BA6D-59BB-4F04-A766-734BCE766F92}" srcOrd="1" destOrd="0" presId="urn:microsoft.com/office/officeart/2016/7/layout/LinearBlockProcessNumbered"/>
    <dgm:cxn modelId="{55955448-A3D0-4D65-B961-629DDBAAFF49}" type="presParOf" srcId="{839D4664-57FC-4963-B899-A82C46BC647C}" destId="{2B9E373C-5459-40D4-996C-2A1962191A14}" srcOrd="2" destOrd="0" presId="urn:microsoft.com/office/officeart/2016/7/layout/LinearBlockProcessNumbered"/>
    <dgm:cxn modelId="{9B370C70-319E-4776-AAC2-01144F97C8E2}" type="presParOf" srcId="{2B9E373C-5459-40D4-996C-2A1962191A14}" destId="{D5AFAC22-61B6-44BF-B7E9-F3B357422574}" srcOrd="0" destOrd="0" presId="urn:microsoft.com/office/officeart/2016/7/layout/LinearBlockProcessNumbered"/>
    <dgm:cxn modelId="{C4621C8C-B9AD-4A80-AEED-6FF71B5F661F}" type="presParOf" srcId="{2B9E373C-5459-40D4-996C-2A1962191A14}" destId="{7925C6DF-E736-4971-BF6B-F4FF412621C9}" srcOrd="1" destOrd="0" presId="urn:microsoft.com/office/officeart/2016/7/layout/LinearBlockProcessNumbered"/>
    <dgm:cxn modelId="{B518A397-872E-402A-A098-44116B148B4F}" type="presParOf" srcId="{2B9E373C-5459-40D4-996C-2A1962191A14}" destId="{45796389-877A-411D-93C3-D5E407CF29D7}" srcOrd="2" destOrd="0" presId="urn:microsoft.com/office/officeart/2016/7/layout/LinearBlockProcessNumbered"/>
    <dgm:cxn modelId="{EAEEE9CE-118F-4A9A-8AF8-A20F9938E66C}" type="presParOf" srcId="{839D4664-57FC-4963-B899-A82C46BC647C}" destId="{22414D7E-072A-4288-8F91-67BBB85D4D1A}" srcOrd="3" destOrd="0" presId="urn:microsoft.com/office/officeart/2016/7/layout/LinearBlockProcessNumbered"/>
    <dgm:cxn modelId="{EBA3C1BE-B887-4C3D-A973-A46F7B80A397}" type="presParOf" srcId="{839D4664-57FC-4963-B899-A82C46BC647C}" destId="{8FDBD42D-16E1-454B-B85C-959C64C12930}" srcOrd="4" destOrd="0" presId="urn:microsoft.com/office/officeart/2016/7/layout/LinearBlockProcessNumbered"/>
    <dgm:cxn modelId="{9E809D1B-6677-49F8-9DF7-CC28F9D77C8C}" type="presParOf" srcId="{8FDBD42D-16E1-454B-B85C-959C64C12930}" destId="{25CD44DD-DF87-45F8-A128-674B8649AD8F}" srcOrd="0" destOrd="0" presId="urn:microsoft.com/office/officeart/2016/7/layout/LinearBlockProcessNumbered"/>
    <dgm:cxn modelId="{EC8362FF-36DA-4DE3-9159-574B408B4857}" type="presParOf" srcId="{8FDBD42D-16E1-454B-B85C-959C64C12930}" destId="{AE03AC78-88D6-4E79-873A-CF672DA53C34}" srcOrd="1" destOrd="0" presId="urn:microsoft.com/office/officeart/2016/7/layout/LinearBlockProcessNumbered"/>
    <dgm:cxn modelId="{B6003EB0-10EF-436B-8136-A23ABF567114}" type="presParOf" srcId="{8FDBD42D-16E1-454B-B85C-959C64C12930}" destId="{01345652-2061-4C12-AC18-E49C27D79A1B}" srcOrd="2" destOrd="0" presId="urn:microsoft.com/office/officeart/2016/7/layout/LinearBlockProcessNumbered"/>
    <dgm:cxn modelId="{6EDA9408-7A7C-4E66-B780-EF419F054D95}" type="presParOf" srcId="{839D4664-57FC-4963-B899-A82C46BC647C}" destId="{7EFDF060-7F6F-4E50-B16E-740D6B82C6BB}" srcOrd="5" destOrd="0" presId="urn:microsoft.com/office/officeart/2016/7/layout/LinearBlockProcessNumbered"/>
    <dgm:cxn modelId="{C5366090-88C6-4AEC-BD34-524FF8D6458D}" type="presParOf" srcId="{839D4664-57FC-4963-B899-A82C46BC647C}" destId="{1BBBEBEF-FF9E-46A7-B3F1-35134E337BC9}" srcOrd="6" destOrd="0" presId="urn:microsoft.com/office/officeart/2016/7/layout/LinearBlockProcessNumbered"/>
    <dgm:cxn modelId="{F2230BE7-4988-40D3-96DE-C32158AF551E}" type="presParOf" srcId="{1BBBEBEF-FF9E-46A7-B3F1-35134E337BC9}" destId="{BF428BDC-42F6-434D-8668-DA4CB4ED82D0}" srcOrd="0" destOrd="0" presId="urn:microsoft.com/office/officeart/2016/7/layout/LinearBlockProcessNumbered"/>
    <dgm:cxn modelId="{9590CA12-EAC1-4092-A546-F1EC91F0E471}" type="presParOf" srcId="{1BBBEBEF-FF9E-46A7-B3F1-35134E337BC9}" destId="{68E20A92-34BC-4BE9-95F0-4D17FED0CDAD}" srcOrd="1" destOrd="0" presId="urn:microsoft.com/office/officeart/2016/7/layout/LinearBlockProcessNumbered"/>
    <dgm:cxn modelId="{6A42AC13-FEFC-435B-B785-2DDE8E59B43F}" type="presParOf" srcId="{1BBBEBEF-FF9E-46A7-B3F1-35134E337BC9}" destId="{AE6A65B5-02E6-417D-9721-CBD5A4BBB1C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5D4BEE-6DA1-46CE-9FF3-9244877A7A60}">
      <dsp:nvSpPr>
        <dsp:cNvPr id="0" name=""/>
        <dsp:cNvSpPr/>
      </dsp:nvSpPr>
      <dsp:spPr>
        <a:xfrm>
          <a:off x="215" y="278337"/>
          <a:ext cx="2601301" cy="31215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951" tIns="0" rIns="25695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dirty="0"/>
            <a:t>Engineering design is a new thought process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500" kern="1200"/>
            <a:t>This is tricky to master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500" kern="1200" dirty="0"/>
            <a:t>Looks MUCH easier than it is</a:t>
          </a:r>
          <a:endParaRPr lang="en-US" sz="1500" kern="1200" dirty="0"/>
        </a:p>
      </dsp:txBody>
      <dsp:txXfrm>
        <a:off x="215" y="1526962"/>
        <a:ext cx="2601301" cy="1872937"/>
      </dsp:txXfrm>
    </dsp:sp>
    <dsp:sp modelId="{BBC4DE70-910C-4948-B26A-FBAF734B0650}">
      <dsp:nvSpPr>
        <dsp:cNvPr id="0" name=""/>
        <dsp:cNvSpPr/>
      </dsp:nvSpPr>
      <dsp:spPr>
        <a:xfrm>
          <a:off x="215" y="278337"/>
          <a:ext cx="2601301" cy="1248624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951" tIns="165100" rIns="25695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15" y="278337"/>
        <a:ext cx="2601301" cy="1248624"/>
      </dsp:txXfrm>
    </dsp:sp>
    <dsp:sp modelId="{D5AFAC22-61B6-44BF-B7E9-F3B357422574}">
      <dsp:nvSpPr>
        <dsp:cNvPr id="0" name=""/>
        <dsp:cNvSpPr/>
      </dsp:nvSpPr>
      <dsp:spPr>
        <a:xfrm>
          <a:off x="2809621" y="278337"/>
          <a:ext cx="2601301" cy="312156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951" tIns="0" rIns="25695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dirty="0"/>
            <a:t>Physical prototypes MUST be functional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dirty="0"/>
            <a:t>           +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Public exhibition</a:t>
          </a:r>
        </a:p>
      </dsp:txBody>
      <dsp:txXfrm>
        <a:off x="2809621" y="1526962"/>
        <a:ext cx="2601301" cy="1872937"/>
      </dsp:txXfrm>
    </dsp:sp>
    <dsp:sp modelId="{7925C6DF-E736-4971-BF6B-F4FF412621C9}">
      <dsp:nvSpPr>
        <dsp:cNvPr id="0" name=""/>
        <dsp:cNvSpPr/>
      </dsp:nvSpPr>
      <dsp:spPr>
        <a:xfrm>
          <a:off x="2809621" y="278337"/>
          <a:ext cx="2601301" cy="1248624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951" tIns="165100" rIns="25695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2809621" y="278337"/>
        <a:ext cx="2601301" cy="1248624"/>
      </dsp:txXfrm>
    </dsp:sp>
    <dsp:sp modelId="{25CD44DD-DF87-45F8-A128-674B8649AD8F}">
      <dsp:nvSpPr>
        <dsp:cNvPr id="0" name=""/>
        <dsp:cNvSpPr/>
      </dsp:nvSpPr>
      <dsp:spPr>
        <a:xfrm>
          <a:off x="5619027" y="278337"/>
          <a:ext cx="2601301" cy="312156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951" tIns="0" rIns="25695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dirty="0"/>
            <a:t>Group work results when an entire group of individuals work independently. </a:t>
          </a:r>
          <a:endParaRPr lang="en-US" sz="1900" kern="1200" dirty="0"/>
        </a:p>
      </dsp:txBody>
      <dsp:txXfrm>
        <a:off x="5619027" y="1526962"/>
        <a:ext cx="2601301" cy="1872937"/>
      </dsp:txXfrm>
    </dsp:sp>
    <dsp:sp modelId="{AE03AC78-88D6-4E79-873A-CF672DA53C34}">
      <dsp:nvSpPr>
        <dsp:cNvPr id="0" name=""/>
        <dsp:cNvSpPr/>
      </dsp:nvSpPr>
      <dsp:spPr>
        <a:xfrm>
          <a:off x="5619027" y="278337"/>
          <a:ext cx="2601301" cy="1248624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951" tIns="165100" rIns="25695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5619027" y="278337"/>
        <a:ext cx="2601301" cy="1248624"/>
      </dsp:txXfrm>
    </dsp:sp>
    <dsp:sp modelId="{BF428BDC-42F6-434D-8668-DA4CB4ED82D0}">
      <dsp:nvSpPr>
        <dsp:cNvPr id="0" name=""/>
        <dsp:cNvSpPr/>
      </dsp:nvSpPr>
      <dsp:spPr>
        <a:xfrm>
          <a:off x="8428432" y="278337"/>
          <a:ext cx="2601301" cy="312156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951" tIns="0" rIns="25695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Work hard and expect success!</a:t>
          </a:r>
          <a:endParaRPr lang="en-US" sz="1900" kern="1200"/>
        </a:p>
      </dsp:txBody>
      <dsp:txXfrm>
        <a:off x="8428432" y="1526962"/>
        <a:ext cx="2601301" cy="1872937"/>
      </dsp:txXfrm>
    </dsp:sp>
    <dsp:sp modelId="{68E20A92-34BC-4BE9-95F0-4D17FED0CDAD}">
      <dsp:nvSpPr>
        <dsp:cNvPr id="0" name=""/>
        <dsp:cNvSpPr/>
      </dsp:nvSpPr>
      <dsp:spPr>
        <a:xfrm>
          <a:off x="8428432" y="278337"/>
          <a:ext cx="2601301" cy="1248624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951" tIns="165100" rIns="25695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04</a:t>
          </a:r>
        </a:p>
      </dsp:txBody>
      <dsp:txXfrm>
        <a:off x="8428432" y="278337"/>
        <a:ext cx="2601301" cy="12486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henri.marais@nwu.ac.z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8D511D2-9CF1-40DE-BB88-A5A48A0E8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2EAFA74-55A7-41AF-17B1-BD5C826CBA3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17543" r="9091" b="1427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0ADCA80-A0B1-4379-94EC-0A1A73BE1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B4D79C-3A0E-4CB5-9A3D-BB816FD52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39C3D0-536E-4C48-A1C1-D9B718A84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17F9E3-BF80-4D6E-B1E2-CA7B8797E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42067"/>
            <a:ext cx="3412067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HERE BE DRAGONS…</a:t>
            </a:r>
          </a:p>
        </p:txBody>
      </p:sp>
    </p:spTree>
    <p:extLst>
      <p:ext uri="{BB962C8B-B14F-4D97-AF65-F5344CB8AC3E}">
        <p14:creationId xmlns:p14="http://schemas.microsoft.com/office/powerpoint/2010/main" val="357692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30AD-669F-4550-8B9C-2F07152FF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Engineering design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5D9-69B4-4263-BCEB-B78FBA6C7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Welcoming and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6299C-5978-4A26-94D2-8952A9D710DE}"/>
              </a:ext>
            </a:extLst>
          </p:cNvPr>
          <p:cNvSpPr txBox="1"/>
          <p:nvPr/>
        </p:nvSpPr>
        <p:spPr>
          <a:xfrm>
            <a:off x="9841831" y="5835812"/>
            <a:ext cx="1852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400" dirty="0">
                <a:solidFill>
                  <a:schemeClr val="bg1"/>
                </a:solidFill>
              </a:rPr>
              <a:t>Prof Henri Marais</a:t>
            </a:r>
          </a:p>
          <a:p>
            <a:pPr algn="r"/>
            <a:r>
              <a:rPr lang="en-ZA" sz="1400" dirty="0">
                <a:solidFill>
                  <a:schemeClr val="bg1"/>
                </a:solidFill>
              </a:rPr>
              <a:t>15 Jul 2025</a:t>
            </a:r>
          </a:p>
        </p:txBody>
      </p:sp>
    </p:spTree>
    <p:extLst>
      <p:ext uri="{BB962C8B-B14F-4D97-AF65-F5344CB8AC3E}">
        <p14:creationId xmlns:p14="http://schemas.microsoft.com/office/powerpoint/2010/main" val="185423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8EE0F6-8162-70DF-3E70-648161D7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Module admin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ABD15-4BDF-D1B4-6370-5005BAE46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Lecturer, modalities, assessment</a:t>
            </a:r>
          </a:p>
        </p:txBody>
      </p:sp>
    </p:spTree>
    <p:extLst>
      <p:ext uri="{BB962C8B-B14F-4D97-AF65-F5344CB8AC3E}">
        <p14:creationId xmlns:p14="http://schemas.microsoft.com/office/powerpoint/2010/main" val="309309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E09C60-299D-447E-A785-9C0B74D16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Lecturer Info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A42551-FB32-4DB4-8915-F63F350AC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Prof Henri Marais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F9B4AB-5BE0-45B9-83CA-CB730F4ABD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ZA" dirty="0"/>
              <a:t>Professional Computer/Electronic Engineer (PrEng)</a:t>
            </a:r>
          </a:p>
          <a:p>
            <a:r>
              <a:rPr lang="en-ZA" dirty="0"/>
              <a:t>Associate Systems Engineering Professional (ASEP)</a:t>
            </a:r>
          </a:p>
          <a:p>
            <a:r>
              <a:rPr lang="en-ZA" dirty="0"/>
              <a:t>Consulting Design Engineer (10+ years)</a:t>
            </a:r>
          </a:p>
          <a:p>
            <a:pPr lvl="1"/>
            <a:r>
              <a:rPr lang="en-ZA" dirty="0"/>
              <a:t>Embedded (electronics / firmware)</a:t>
            </a:r>
          </a:p>
          <a:p>
            <a:pPr lvl="1"/>
            <a:r>
              <a:rPr lang="en-ZA" dirty="0"/>
              <a:t>Software (operational excellence)</a:t>
            </a:r>
          </a:p>
          <a:p>
            <a:pPr lvl="1"/>
            <a:r>
              <a:rPr lang="en-ZA" dirty="0"/>
              <a:t>Diagnostics / remote monitoring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F92CE9-8E1B-A2B6-420F-1288C2D0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81032" y="2950663"/>
            <a:ext cx="2475601" cy="247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26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871AE93-72B2-4545-989F-4B08DCD78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1"/>
            <a:ext cx="12191999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B0F13F-C83B-4678-ABCC-5F6FB1D38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8AEED11-EDDD-4265-82BF-5C971577F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ZA" dirty="0"/>
              <a:t>How to get in touch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074ED4-9DB5-4D14-BDCF-BD7D0C145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8FF616-1F75-49FC-861B-7B794054A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84B385-16B6-44A9-9A47-1C765B376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C260ED6-11C8-4E3E-A69F-3E130011B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899"/>
            <a:ext cx="7183597" cy="3678303"/>
          </a:xfrm>
        </p:spPr>
        <p:txBody>
          <a:bodyPr>
            <a:normAutofit lnSpcReduction="10000"/>
          </a:bodyPr>
          <a:lstStyle/>
          <a:p>
            <a:r>
              <a:rPr lang="en-ZA" dirty="0" err="1"/>
              <a:t>Whatsapp</a:t>
            </a:r>
            <a:r>
              <a:rPr lang="en-ZA" dirty="0"/>
              <a:t> Group (details to follow)</a:t>
            </a:r>
          </a:p>
          <a:p>
            <a:pPr lvl="1"/>
            <a:r>
              <a:rPr lang="en-ZA" dirty="0"/>
              <a:t>Run as a business account during office hours only</a:t>
            </a:r>
          </a:p>
          <a:p>
            <a:r>
              <a:rPr lang="en-ZA" dirty="0"/>
              <a:t>Email</a:t>
            </a:r>
          </a:p>
          <a:p>
            <a:pPr lvl="1"/>
            <a:r>
              <a:rPr lang="en-ZA" dirty="0"/>
              <a:t>General queries (</a:t>
            </a:r>
            <a:r>
              <a:rPr lang="en-ZA" dirty="0">
                <a:hlinkClick r:id="rId2"/>
              </a:rPr>
              <a:t>henri.marais@nwu.ac.za</a:t>
            </a:r>
            <a:r>
              <a:rPr lang="en-ZA" dirty="0"/>
              <a:t>)</a:t>
            </a:r>
          </a:p>
          <a:p>
            <a:pPr lvl="1"/>
            <a:r>
              <a:rPr lang="en-ZA" dirty="0"/>
              <a:t>Clearly indicate module code in the subject line</a:t>
            </a:r>
          </a:p>
          <a:p>
            <a:pPr lvl="1"/>
            <a:r>
              <a:rPr lang="en-ZA" dirty="0"/>
              <a:t>Turn time +/- 48h</a:t>
            </a:r>
          </a:p>
          <a:p>
            <a:r>
              <a:rPr lang="en-ZA" dirty="0"/>
              <a:t>Office</a:t>
            </a:r>
          </a:p>
          <a:p>
            <a:pPr lvl="1"/>
            <a:r>
              <a:rPr lang="en-ZA" dirty="0"/>
              <a:t>N1A-235</a:t>
            </a:r>
          </a:p>
          <a:p>
            <a:pPr lvl="1"/>
            <a:r>
              <a:rPr lang="en-ZA" dirty="0"/>
              <a:t>Make an appointment before dropping in outside of consulting hours</a:t>
            </a:r>
          </a:p>
          <a:p>
            <a:pPr lvl="1"/>
            <a:r>
              <a:rPr lang="en-ZA" dirty="0"/>
              <a:t>Consulting hours posted on eFundi and my office door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9B3F50-A4CB-9394-571E-5D30493A0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870" y="4722242"/>
            <a:ext cx="4575162" cy="162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008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D130-DCB2-95CA-09B3-5A2438EE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Systems engineering based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F12AB-F5D8-FC41-D085-2A9C627CD7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In this module you will be exposed to:</a:t>
            </a:r>
          </a:p>
          <a:p>
            <a:pPr lvl="1"/>
            <a:r>
              <a:rPr lang="en-GB" dirty="0"/>
              <a:t>Requirements elicitation (what to do, how well)</a:t>
            </a:r>
          </a:p>
          <a:p>
            <a:pPr lvl="1"/>
            <a:r>
              <a:rPr lang="en-GB" dirty="0"/>
              <a:t>Requirements development / documentation</a:t>
            </a:r>
          </a:p>
          <a:p>
            <a:pPr lvl="1"/>
            <a:r>
              <a:rPr lang="en-GB" dirty="0"/>
              <a:t>Interface allocation, design, documentation, and control</a:t>
            </a:r>
          </a:p>
          <a:p>
            <a:pPr lvl="1"/>
            <a:r>
              <a:rPr lang="en-GB" b="1" dirty="0">
                <a:solidFill>
                  <a:srgbClr val="FF0000"/>
                </a:solidFill>
              </a:rPr>
              <a:t>Specialist engineering</a:t>
            </a:r>
          </a:p>
          <a:p>
            <a:pPr lvl="1"/>
            <a:r>
              <a:rPr lang="en-GB" dirty="0"/>
              <a:t>Integration and testing</a:t>
            </a:r>
          </a:p>
          <a:p>
            <a:pPr lvl="1"/>
            <a:r>
              <a:rPr lang="en-GB" dirty="0"/>
              <a:t>Documenting detail engineering activities</a:t>
            </a:r>
          </a:p>
          <a:p>
            <a:pPr lvl="1"/>
            <a:r>
              <a:rPr lang="en-GB" dirty="0"/>
              <a:t>Presenting solutions</a:t>
            </a:r>
          </a:p>
        </p:txBody>
      </p:sp>
      <p:pic>
        <p:nvPicPr>
          <p:cNvPr id="7" name="Content Placeholder 6" descr="Systems Engineering Process | www.dau.edu">
            <a:extLst>
              <a:ext uri="{FF2B5EF4-FFF2-40B4-BE49-F238E27FC236}">
                <a16:creationId xmlns:a16="http://schemas.microsoft.com/office/drawing/2014/main" id="{F88C0FFF-3F61-393D-5666-22CDFD9647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48224" y="2227263"/>
            <a:ext cx="4888502" cy="363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87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FC6D1-4452-554C-E3B6-4D34FA58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commitment spiral model (ICSM)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A52BE-9548-8E71-FE98-BEA68D336D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Risk based</a:t>
            </a:r>
          </a:p>
          <a:p>
            <a:r>
              <a:rPr lang="en-GB" dirty="0"/>
              <a:t>Each increment adds meaningful value / progress</a:t>
            </a:r>
          </a:p>
        </p:txBody>
      </p:sp>
      <p:pic>
        <p:nvPicPr>
          <p:cNvPr id="5" name="Content Placeholder 4" descr="Incremental Commitment Spiral Model (ICSM) – BOEHM CSSE">
            <a:extLst>
              <a:ext uri="{FF2B5EF4-FFF2-40B4-BE49-F238E27FC236}">
                <a16:creationId xmlns:a16="http://schemas.microsoft.com/office/drawing/2014/main" id="{FB7D2347-1081-1F78-A3EF-C37AB08325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02996" y="2227263"/>
            <a:ext cx="5962734" cy="422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75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73C3FE-139A-CE90-1CD5-3B24F784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PRESENTATION TIMELINE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0FB59D7-AC34-C5AE-9EFC-5B394DF7D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930100"/>
              </p:ext>
            </p:extLst>
          </p:nvPr>
        </p:nvGraphicFramePr>
        <p:xfrm>
          <a:off x="2425566" y="2358189"/>
          <a:ext cx="6536189" cy="28948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0378">
                  <a:extLst>
                    <a:ext uri="{9D8B030D-6E8A-4147-A177-3AD203B41FA5}">
                      <a16:colId xmlns:a16="http://schemas.microsoft.com/office/drawing/2014/main" val="3772439609"/>
                    </a:ext>
                  </a:extLst>
                </a:gridCol>
                <a:gridCol w="1158642">
                  <a:extLst>
                    <a:ext uri="{9D8B030D-6E8A-4147-A177-3AD203B41FA5}">
                      <a16:colId xmlns:a16="http://schemas.microsoft.com/office/drawing/2014/main" val="1692808606"/>
                    </a:ext>
                  </a:extLst>
                </a:gridCol>
                <a:gridCol w="1013812">
                  <a:extLst>
                    <a:ext uri="{9D8B030D-6E8A-4147-A177-3AD203B41FA5}">
                      <a16:colId xmlns:a16="http://schemas.microsoft.com/office/drawing/2014/main" val="4147869147"/>
                    </a:ext>
                  </a:extLst>
                </a:gridCol>
                <a:gridCol w="2553357">
                  <a:extLst>
                    <a:ext uri="{9D8B030D-6E8A-4147-A177-3AD203B41FA5}">
                      <a16:colId xmlns:a16="http://schemas.microsoft.com/office/drawing/2014/main" val="3723796953"/>
                    </a:ext>
                  </a:extLst>
                </a:gridCol>
              </a:tblGrid>
              <a:tr h="34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Increment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Weeks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Duration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 dirty="0">
                          <a:effectLst/>
                        </a:rPr>
                        <a:t>Primary Focus</a:t>
                      </a:r>
                      <a:endParaRPr lang="en-ZA" sz="1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val="2347106783"/>
                  </a:ext>
                </a:extLst>
              </a:tr>
              <a:tr h="508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I1 — Discovery Sprint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 dirty="0">
                          <a:effectLst/>
                        </a:rPr>
                        <a:t>2–3</a:t>
                      </a:r>
                      <a:endParaRPr lang="en-ZA" sz="1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2 weeks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Scoped experiments, first estimation cycle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extLst>
                  <a:ext uri="{0D108BD9-81ED-4DB2-BD59-A6C34878D82A}">
                    <a16:rowId xmlns:a16="http://schemas.microsoft.com/office/drawing/2014/main" val="3471651368"/>
                  </a:ext>
                </a:extLst>
              </a:tr>
              <a:tr h="508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I2 — Bench Proof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 dirty="0">
                          <a:effectLst/>
                        </a:rPr>
                        <a:t>4–6</a:t>
                      </a:r>
                      <a:endParaRPr lang="en-ZA" sz="1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3 weeks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Subsystem bench functionality + Interface Control Document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extLst>
                  <a:ext uri="{0D108BD9-81ED-4DB2-BD59-A6C34878D82A}">
                    <a16:rowId xmlns:a16="http://schemas.microsoft.com/office/drawing/2014/main" val="2260020124"/>
                  </a:ext>
                </a:extLst>
              </a:tr>
              <a:tr h="508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I3 — Initial Integration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 dirty="0">
                          <a:effectLst/>
                        </a:rPr>
                        <a:t>7–10</a:t>
                      </a:r>
                      <a:endParaRPr lang="en-ZA" sz="1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4 weeks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First physical integration on rail; interface verification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extLst>
                  <a:ext uri="{0D108BD9-81ED-4DB2-BD59-A6C34878D82A}">
                    <a16:rowId xmlns:a16="http://schemas.microsoft.com/office/drawing/2014/main" val="4202005680"/>
                  </a:ext>
                </a:extLst>
              </a:tr>
              <a:tr h="508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I4 — Full Integration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 dirty="0">
                          <a:effectLst/>
                        </a:rPr>
                        <a:t>11–14</a:t>
                      </a:r>
                      <a:endParaRPr lang="en-ZA" sz="1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4 weeks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Complete system integration and testing against requirements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extLst>
                  <a:ext uri="{0D108BD9-81ED-4DB2-BD59-A6C34878D82A}">
                    <a16:rowId xmlns:a16="http://schemas.microsoft.com/office/drawing/2014/main" val="3008079252"/>
                  </a:ext>
                </a:extLst>
              </a:tr>
              <a:tr h="508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Final Activities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 dirty="0">
                          <a:effectLst/>
                        </a:rPr>
                        <a:t>15–16</a:t>
                      </a:r>
                      <a:endParaRPr lang="en-ZA" sz="1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>
                          <a:effectLst/>
                        </a:rPr>
                        <a:t>2 weeks</a:t>
                      </a:r>
                      <a:endParaRPr lang="en-ZA" sz="1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000" dirty="0">
                          <a:effectLst/>
                        </a:rPr>
                        <a:t>Demonstration, individual portfolio, group presentation</a:t>
                      </a:r>
                      <a:endParaRPr lang="en-ZA" sz="1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extLst>
                  <a:ext uri="{0D108BD9-81ED-4DB2-BD59-A6C34878D82A}">
                    <a16:rowId xmlns:a16="http://schemas.microsoft.com/office/drawing/2014/main" val="1283938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411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1AE868D-7E3A-D303-F0CA-8C8697A8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/>
              <a:t>MARKS BREAKDOWN</a:t>
            </a:r>
            <a:endParaRPr lang="en-US" sz="3600" dirty="0">
              <a:solidFill>
                <a:schemeClr val="accent1"/>
              </a:solidFill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7C35C93-B5A8-6FA0-CD2A-1FDB12092D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934534"/>
            <a:ext cx="5422900" cy="2219244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AA273B3-9022-CF4F-5370-FBE07C3F7C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8075" y="3248452"/>
            <a:ext cx="5422900" cy="159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38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8D511D2-9CF1-40DE-BB88-A5A48A0E8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A700D2-4B19-2E29-9178-5D92FB4A0F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812" b="1393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40ADCA80-A0B1-4379-94EC-0A1A73BE1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EB4D79C-3A0E-4CB5-9A3D-BB816FD52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839C3D0-536E-4C48-A1C1-D9B718A84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BDFF36-A9B5-D954-D394-1077E4D21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42067"/>
            <a:ext cx="3412067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/>
              <a:t>Project 2026</a:t>
            </a:r>
            <a:br>
              <a:rPr lang="en-US" sz="3600" dirty="0"/>
            </a:br>
            <a:r>
              <a:rPr lang="en-US" sz="3600" dirty="0"/>
              <a:t>GANTRY crawl for sheet metal handling</a:t>
            </a:r>
          </a:p>
        </p:txBody>
      </p:sp>
    </p:spTree>
    <p:extLst>
      <p:ext uri="{BB962C8B-B14F-4D97-AF65-F5344CB8AC3E}">
        <p14:creationId xmlns:p14="http://schemas.microsoft.com/office/powerpoint/2010/main" val="370115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FF36-A9B5-D954-D394-1077E4D2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Project in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4098F6-B26D-89F8-8FA5-97C8745FA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62" y="1963020"/>
            <a:ext cx="7070516" cy="45461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7D86AA-7BE3-DF9E-BB0C-EE89DB7FB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653" y="2087241"/>
            <a:ext cx="429768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670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E15E636-2C9E-42CB-B482-436AA81BF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5D4E4F-5FC0-FD1C-5AB0-32D44CEBF1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87" r="9091" b="2203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1D4AEDF-0CF9-4271-ABB7-3D3489BB4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5CA534D-375A-405E-B686-06B63E663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A2342F7-EF54-4210-9029-E977C9D57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EAC17B-0D85-96BC-C18B-DA7F7C5F6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3412067" cy="1372177"/>
          </a:xfrm>
        </p:spPr>
        <p:txBody>
          <a:bodyPr anchor="ctr">
            <a:normAutofit/>
          </a:bodyPr>
          <a:lstStyle/>
          <a:p>
            <a:r>
              <a:rPr lang="en-ZA" dirty="0"/>
              <a:t>Project 2026 </a:t>
            </a:r>
            <a:br>
              <a:rPr lang="en-ZA" dirty="0"/>
            </a:br>
            <a:r>
              <a:rPr lang="en-ZA" dirty="0"/>
              <a:t>main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73DB3-288B-2EA4-04C0-7FB3484C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438399"/>
            <a:ext cx="3415074" cy="3564467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Metal sheets must be loaded into processing machines</a:t>
            </a:r>
          </a:p>
          <a:p>
            <a:pPr lvl="1"/>
            <a:r>
              <a:rPr lang="en-ZA" dirty="0">
                <a:solidFill>
                  <a:schemeClr val="bg1"/>
                </a:solidFill>
              </a:rPr>
              <a:t>Only ferrous metals</a:t>
            </a:r>
          </a:p>
          <a:p>
            <a:pPr lvl="1"/>
            <a:r>
              <a:rPr lang="en-ZA" dirty="0">
                <a:solidFill>
                  <a:schemeClr val="bg1"/>
                </a:solidFill>
              </a:rPr>
              <a:t>Magnetic attachment</a:t>
            </a:r>
          </a:p>
          <a:p>
            <a:r>
              <a:rPr lang="en-ZA" dirty="0">
                <a:solidFill>
                  <a:schemeClr val="bg1"/>
                </a:solidFill>
              </a:rPr>
              <a:t>Sheets must travel parallel to the ground</a:t>
            </a:r>
          </a:p>
          <a:p>
            <a:r>
              <a:rPr lang="en-ZA" dirty="0">
                <a:solidFill>
                  <a:schemeClr val="bg1"/>
                </a:solidFill>
              </a:rPr>
              <a:t>Sheets must be transported up and over obstacles</a:t>
            </a:r>
          </a:p>
          <a:p>
            <a:r>
              <a:rPr lang="en-ZA" dirty="0">
                <a:solidFill>
                  <a:schemeClr val="bg1"/>
                </a:solidFill>
              </a:rPr>
              <a:t>Dangerous environment necessitates remote control</a:t>
            </a:r>
          </a:p>
        </p:txBody>
      </p:sp>
    </p:spTree>
    <p:extLst>
      <p:ext uri="{BB962C8B-B14F-4D97-AF65-F5344CB8AC3E}">
        <p14:creationId xmlns:p14="http://schemas.microsoft.com/office/powerpoint/2010/main" val="673345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0AF8-4DD0-EEC5-499B-EEE540AA6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Practically speaking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89E927-D450-D754-EB5C-3AC9356E37A3}"/>
              </a:ext>
            </a:extLst>
          </p:cNvPr>
          <p:cNvSpPr/>
          <p:nvPr/>
        </p:nvSpPr>
        <p:spPr>
          <a:xfrm>
            <a:off x="353682" y="5497751"/>
            <a:ext cx="1786667" cy="988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Remote Control (PC based)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06E3ED-1A2A-D1DC-15A7-D247D2EEC4BC}"/>
              </a:ext>
            </a:extLst>
          </p:cNvPr>
          <p:cNvSpPr/>
          <p:nvPr/>
        </p:nvSpPr>
        <p:spPr>
          <a:xfrm>
            <a:off x="1796168" y="3724199"/>
            <a:ext cx="1786667" cy="866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Control Electronics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D40390-7E83-909E-3EF3-BE9DF40071F4}"/>
              </a:ext>
            </a:extLst>
          </p:cNvPr>
          <p:cNvSpPr/>
          <p:nvPr/>
        </p:nvSpPr>
        <p:spPr>
          <a:xfrm>
            <a:off x="3767548" y="4961115"/>
            <a:ext cx="1998455" cy="98833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Drive Electronics (</a:t>
            </a:r>
            <a:r>
              <a:rPr lang="en-GB" dirty="0" err="1"/>
              <a:t>incl</a:t>
            </a:r>
            <a:r>
              <a:rPr lang="en-GB" dirty="0"/>
              <a:t> protection)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330BEF-EF72-2EE7-97EC-5A68C22BE7E1}"/>
              </a:ext>
            </a:extLst>
          </p:cNvPr>
          <p:cNvSpPr/>
          <p:nvPr/>
        </p:nvSpPr>
        <p:spPr>
          <a:xfrm>
            <a:off x="10138350" y="4961115"/>
            <a:ext cx="1998455" cy="98833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Magnetic attachment mechanism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953CBCA-20DD-7CF1-994B-E79A5B17181D}"/>
              </a:ext>
            </a:extLst>
          </p:cNvPr>
          <p:cNvSpPr/>
          <p:nvPr/>
        </p:nvSpPr>
        <p:spPr>
          <a:xfrm>
            <a:off x="3873441" y="2504532"/>
            <a:ext cx="1786667" cy="86603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Lateral Movement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2BCCC8A-7ACC-1A15-4826-56CE814D79EB}"/>
              </a:ext>
            </a:extLst>
          </p:cNvPr>
          <p:cNvSpPr/>
          <p:nvPr/>
        </p:nvSpPr>
        <p:spPr>
          <a:xfrm>
            <a:off x="8689432" y="4961115"/>
            <a:ext cx="1183940" cy="98833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Hoisting and Spooling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0B4DD4B-5521-5F54-8E5D-EF5C2125FA84}"/>
              </a:ext>
            </a:extLst>
          </p:cNvPr>
          <p:cNvCxnSpPr>
            <a:stCxn id="8" idx="0"/>
            <a:endCxn id="14" idx="1"/>
          </p:cNvCxnSpPr>
          <p:nvPr/>
        </p:nvCxnSpPr>
        <p:spPr>
          <a:xfrm rot="5400000" flipH="1" flipV="1">
            <a:off x="2888146" y="2738905"/>
            <a:ext cx="786651" cy="11839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E48CD4E-4A18-7C89-A29D-66C1D3F97C83}"/>
              </a:ext>
            </a:extLst>
          </p:cNvPr>
          <p:cNvCxnSpPr>
            <a:stCxn id="8" idx="2"/>
            <a:endCxn id="10" idx="1"/>
          </p:cNvCxnSpPr>
          <p:nvPr/>
        </p:nvCxnSpPr>
        <p:spPr>
          <a:xfrm rot="16200000" flipH="1">
            <a:off x="2796000" y="4483733"/>
            <a:ext cx="865050" cy="10780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85EBAB1-70C2-09FF-D1A6-37544E977989}"/>
              </a:ext>
            </a:extLst>
          </p:cNvPr>
          <p:cNvCxnSpPr>
            <a:cxnSpLocks/>
            <a:stCxn id="3" idx="0"/>
            <a:endCxn id="8" idx="1"/>
          </p:cNvCxnSpPr>
          <p:nvPr/>
        </p:nvCxnSpPr>
        <p:spPr>
          <a:xfrm rot="5400000" flipH="1" flipV="1">
            <a:off x="851324" y="4552907"/>
            <a:ext cx="1340536" cy="5491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3CE5A7C-39B3-9812-D93A-82E5009FE074}"/>
              </a:ext>
            </a:extLst>
          </p:cNvPr>
          <p:cNvSpPr/>
          <p:nvPr/>
        </p:nvSpPr>
        <p:spPr>
          <a:xfrm>
            <a:off x="6247718" y="4964610"/>
            <a:ext cx="2176736" cy="9883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3 phase Induction</a:t>
            </a:r>
          </a:p>
          <a:p>
            <a:pPr algn="ctr"/>
            <a:r>
              <a:rPr lang="en-GB" dirty="0"/>
              <a:t>Motor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0146C2-2A6F-C079-6059-9116D8669845}"/>
              </a:ext>
            </a:extLst>
          </p:cNvPr>
          <p:cNvCxnSpPr>
            <a:stCxn id="10" idx="3"/>
            <a:endCxn id="25" idx="1"/>
          </p:cNvCxnSpPr>
          <p:nvPr/>
        </p:nvCxnSpPr>
        <p:spPr>
          <a:xfrm>
            <a:off x="5766003" y="5455281"/>
            <a:ext cx="481715" cy="3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A597AA6-6A40-CC7D-0BCE-4862A097A77C}"/>
              </a:ext>
            </a:extLst>
          </p:cNvPr>
          <p:cNvCxnSpPr>
            <a:stCxn id="25" idx="3"/>
            <a:endCxn id="16" idx="1"/>
          </p:cNvCxnSpPr>
          <p:nvPr/>
        </p:nvCxnSpPr>
        <p:spPr>
          <a:xfrm flipV="1">
            <a:off x="8424454" y="5455281"/>
            <a:ext cx="264978" cy="3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7E43B4-9566-1335-3726-FFCC86FDC3F1}"/>
              </a:ext>
            </a:extLst>
          </p:cNvPr>
          <p:cNvCxnSpPr>
            <a:stCxn id="16" idx="3"/>
            <a:endCxn id="12" idx="1"/>
          </p:cNvCxnSpPr>
          <p:nvPr/>
        </p:nvCxnSpPr>
        <p:spPr>
          <a:xfrm>
            <a:off x="9873372" y="5455281"/>
            <a:ext cx="2649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3B37E64-E0B0-1C2A-2C6B-D84C83B16AE3}"/>
              </a:ext>
            </a:extLst>
          </p:cNvPr>
          <p:cNvSpPr/>
          <p:nvPr/>
        </p:nvSpPr>
        <p:spPr>
          <a:xfrm>
            <a:off x="1621766" y="2130725"/>
            <a:ext cx="6970143" cy="418381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3FE5BA-4B62-DBBC-021C-43441DF4599C}"/>
              </a:ext>
            </a:extLst>
          </p:cNvPr>
          <p:cNvSpPr txBox="1"/>
          <p:nvPr/>
        </p:nvSpPr>
        <p:spPr>
          <a:xfrm>
            <a:off x="7080131" y="2152832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MINIMAL SET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5FE25F0-78E3-4FDB-A888-136D26B88B63}"/>
              </a:ext>
            </a:extLst>
          </p:cNvPr>
          <p:cNvSpPr/>
          <p:nvPr/>
        </p:nvSpPr>
        <p:spPr>
          <a:xfrm>
            <a:off x="8882514" y="2287587"/>
            <a:ext cx="2235959" cy="43836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MECHATRONICS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99B8BF2-FCAE-CD54-8684-1F4DC76C00EF}"/>
              </a:ext>
            </a:extLst>
          </p:cNvPr>
          <p:cNvSpPr/>
          <p:nvPr/>
        </p:nvSpPr>
        <p:spPr>
          <a:xfrm>
            <a:off x="8882514" y="2876398"/>
            <a:ext cx="2235959" cy="419143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ELECTRICAL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83B8723-70B6-A98A-8718-CDA32CFE421F}"/>
              </a:ext>
            </a:extLst>
          </p:cNvPr>
          <p:cNvSpPr/>
          <p:nvPr/>
        </p:nvSpPr>
        <p:spPr>
          <a:xfrm>
            <a:off x="8882514" y="3478618"/>
            <a:ext cx="2235959" cy="4191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COMPUTER</a:t>
            </a:r>
          </a:p>
        </p:txBody>
      </p:sp>
    </p:spTree>
    <p:extLst>
      <p:ext uri="{BB962C8B-B14F-4D97-AF65-F5344CB8AC3E}">
        <p14:creationId xmlns:p14="http://schemas.microsoft.com/office/powerpoint/2010/main" val="773547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31C9A-33B3-F469-7CE7-9E2B184D5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Looks expensive…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09369-25C6-E5FB-B210-5BF0795528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A" dirty="0"/>
              <a:t>Some components are provided</a:t>
            </a:r>
          </a:p>
          <a:p>
            <a:pPr lvl="1"/>
            <a:r>
              <a:rPr lang="en-ZA" dirty="0"/>
              <a:t>STM32 MCU, wireless module, buttons, motor</a:t>
            </a:r>
          </a:p>
          <a:p>
            <a:r>
              <a:rPr lang="en-ZA" dirty="0"/>
              <a:t>Manufacturing (mostly free of charge)</a:t>
            </a:r>
          </a:p>
          <a:p>
            <a:pPr lvl="1"/>
            <a:r>
              <a:rPr lang="en-ZA" dirty="0"/>
              <a:t>In-house 3D printing, laser cutting (wood, plastic)</a:t>
            </a:r>
          </a:p>
          <a:p>
            <a:pPr lvl="1"/>
            <a:r>
              <a:rPr lang="en-ZA" dirty="0"/>
              <a:t>PCB manufacturing (limits apply, electrical students)</a:t>
            </a:r>
          </a:p>
          <a:p>
            <a:pPr lvl="1"/>
            <a:r>
              <a:rPr lang="en-ZA" dirty="0"/>
              <a:t>Fabrication space (cut, weld, drill, assemble)</a:t>
            </a:r>
          </a:p>
          <a:p>
            <a:r>
              <a:rPr lang="en-ZA" dirty="0"/>
              <a:t>Design driven components ordered</a:t>
            </a:r>
          </a:p>
          <a:p>
            <a:pPr lvl="1"/>
            <a:r>
              <a:rPr lang="en-ZA" dirty="0"/>
              <a:t>Budget of R5000 / group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989DF5-6E64-0A59-C029-978099C5E7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14155" y="2462718"/>
            <a:ext cx="3877895" cy="318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86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7FF61E-4BA9-4C8B-AD03-05E9B2A40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"/>
            <a:ext cx="12192000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66425F-5B9E-47A4-9DDB-F86B87375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614407"/>
            <a:ext cx="750779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B4960-4B92-6058-DE0B-0FAA1578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850" y="702156"/>
            <a:ext cx="7208958" cy="1013800"/>
          </a:xfrm>
        </p:spPr>
        <p:txBody>
          <a:bodyPr>
            <a:normAutofit/>
          </a:bodyPr>
          <a:lstStyle/>
          <a:p>
            <a:r>
              <a:rPr lang="en-ZA" dirty="0"/>
              <a:t>Module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C67FD-E7C5-8055-2FD1-6C66A8633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4" y="2335927"/>
            <a:ext cx="3197126" cy="319712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35214-BC03-E904-2E00-D20DCF89E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849" y="2180496"/>
            <a:ext cx="7208957" cy="4045683"/>
          </a:xfrm>
        </p:spPr>
        <p:txBody>
          <a:bodyPr>
            <a:normAutofit/>
          </a:bodyPr>
          <a:lstStyle/>
          <a:p>
            <a:r>
              <a:rPr lang="en-ZA" dirty="0"/>
              <a:t>Heterogenous Groups, 6 students/group (core and optional blocks)</a:t>
            </a:r>
          </a:p>
          <a:p>
            <a:r>
              <a:rPr lang="en-ZA" dirty="0"/>
              <a:t>EEII327</a:t>
            </a:r>
          </a:p>
          <a:p>
            <a:pPr lvl="1"/>
            <a:r>
              <a:rPr lang="en-ZA" dirty="0"/>
              <a:t>Electronics II, Electrical Machines II, Embedded programming</a:t>
            </a:r>
          </a:p>
          <a:p>
            <a:r>
              <a:rPr lang="en-ZA" dirty="0"/>
              <a:t>MCTR327</a:t>
            </a:r>
          </a:p>
          <a:p>
            <a:pPr lvl="1"/>
            <a:r>
              <a:rPr lang="en-ZA" dirty="0"/>
              <a:t>Electronics, Strength of materials, Systems modelling, embedded programming</a:t>
            </a:r>
          </a:p>
          <a:p>
            <a:r>
              <a:rPr lang="en-ZA" dirty="0"/>
              <a:t>REII327</a:t>
            </a:r>
          </a:p>
          <a:p>
            <a:pPr lvl="1"/>
            <a:r>
              <a:rPr lang="en-ZA" dirty="0"/>
              <a:t>Electronics, Computer programming, embedded programming</a:t>
            </a:r>
          </a:p>
          <a:p>
            <a:r>
              <a:rPr lang="en-ZA" dirty="0">
                <a:solidFill>
                  <a:srgbClr val="FF0000"/>
                </a:solidFill>
              </a:rPr>
              <a:t>No timetable clashes are allowed</a:t>
            </a:r>
          </a:p>
        </p:txBody>
      </p:sp>
    </p:spTree>
    <p:extLst>
      <p:ext uri="{BB962C8B-B14F-4D97-AF65-F5344CB8AC3E}">
        <p14:creationId xmlns:p14="http://schemas.microsoft.com/office/powerpoint/2010/main" val="684227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15DB35-53D7-4EDC-A965-A4349296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BBF896-EE7C-A701-15AE-019B72818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031" y="1208531"/>
            <a:ext cx="4735069" cy="473506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B610F9C-62FE-46FC-8607-C35030B63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3F81E-49A6-EF5D-DA85-EE6FFCD68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>
                <a:solidFill>
                  <a:srgbClr val="FFFFFF"/>
                </a:solidFill>
              </a:rPr>
              <a:t>Module presentation</a:t>
            </a:r>
          </a:p>
        </p:txBody>
      </p:sp>
    </p:spTree>
    <p:extLst>
      <p:ext uri="{BB962C8B-B14F-4D97-AF65-F5344CB8AC3E}">
        <p14:creationId xmlns:p14="http://schemas.microsoft.com/office/powerpoint/2010/main" val="579392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4634E-A6A4-6244-270B-63DDA374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ZA" dirty="0"/>
              <a:t>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6E0CB-7000-2F53-3721-008643FF8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Weekly </a:t>
            </a:r>
            <a:r>
              <a:rPr lang="en-ZA" i="1" dirty="0">
                <a:solidFill>
                  <a:schemeClr val="bg1"/>
                </a:solidFill>
              </a:rPr>
              <a:t>lectures</a:t>
            </a:r>
            <a:endParaRPr lang="en-ZA" dirty="0">
              <a:solidFill>
                <a:schemeClr val="bg1"/>
              </a:solidFill>
            </a:endParaRPr>
          </a:p>
          <a:p>
            <a:pPr lvl="1"/>
            <a:r>
              <a:rPr lang="en-ZA" dirty="0">
                <a:solidFill>
                  <a:schemeClr val="bg1"/>
                </a:solidFill>
              </a:rPr>
              <a:t>Wednesdays 14:30</a:t>
            </a:r>
          </a:p>
          <a:p>
            <a:pPr lvl="1"/>
            <a:r>
              <a:rPr lang="en-ZA" b="1" dirty="0">
                <a:solidFill>
                  <a:schemeClr val="bg1"/>
                </a:solidFill>
              </a:rPr>
              <a:t>Attendance is mandatory</a:t>
            </a:r>
          </a:p>
          <a:p>
            <a:pPr lvl="1"/>
            <a:r>
              <a:rPr lang="en-ZA" b="1" dirty="0">
                <a:solidFill>
                  <a:schemeClr val="bg1"/>
                </a:solidFill>
              </a:rPr>
              <a:t>Friday’s </a:t>
            </a:r>
            <a:r>
              <a:rPr lang="en-ZA" b="1" dirty="0" err="1">
                <a:solidFill>
                  <a:schemeClr val="bg1"/>
                </a:solidFill>
              </a:rPr>
              <a:t>QnA</a:t>
            </a:r>
            <a:r>
              <a:rPr lang="en-ZA" b="1" dirty="0">
                <a:solidFill>
                  <a:schemeClr val="bg1"/>
                </a:solidFill>
              </a:rPr>
              <a:t> / </a:t>
            </a:r>
            <a:r>
              <a:rPr lang="en-ZA" b="1" dirty="0" err="1">
                <a:solidFill>
                  <a:schemeClr val="bg1"/>
                </a:solidFill>
              </a:rPr>
              <a:t>AdHoc</a:t>
            </a:r>
            <a:endParaRPr lang="en-ZA" b="1" dirty="0">
              <a:solidFill>
                <a:schemeClr val="bg1"/>
              </a:solidFill>
            </a:endParaRPr>
          </a:p>
          <a:p>
            <a:r>
              <a:rPr lang="en-ZA" dirty="0">
                <a:solidFill>
                  <a:schemeClr val="bg1"/>
                </a:solidFill>
              </a:rPr>
              <a:t>Weekly activities</a:t>
            </a:r>
          </a:p>
          <a:p>
            <a:pPr lvl="1"/>
            <a:r>
              <a:rPr lang="en-ZA" dirty="0">
                <a:solidFill>
                  <a:schemeClr val="bg1"/>
                </a:solidFill>
              </a:rPr>
              <a:t>Async / online</a:t>
            </a:r>
          </a:p>
          <a:p>
            <a:pPr lvl="1"/>
            <a:r>
              <a:rPr lang="en-ZA" dirty="0">
                <a:solidFill>
                  <a:schemeClr val="bg1"/>
                </a:solidFill>
              </a:rPr>
              <a:t>Group / individual</a:t>
            </a:r>
          </a:p>
          <a:p>
            <a:r>
              <a:rPr lang="en-ZA" dirty="0">
                <a:solidFill>
                  <a:schemeClr val="bg1"/>
                </a:solidFill>
              </a:rPr>
              <a:t>Implementation / Lab work</a:t>
            </a:r>
          </a:p>
          <a:p>
            <a:pPr lvl="1"/>
            <a:r>
              <a:rPr lang="en-ZA" dirty="0">
                <a:solidFill>
                  <a:schemeClr val="bg1"/>
                </a:solidFill>
              </a:rPr>
              <a:t>Personal responsibility</a:t>
            </a:r>
          </a:p>
        </p:txBody>
      </p:sp>
      <p:pic>
        <p:nvPicPr>
          <p:cNvPr id="1026" name="Picture 2" descr="Going beyond the classroom with blended learning - Lateral Communications">
            <a:extLst>
              <a:ext uri="{FF2B5EF4-FFF2-40B4-BE49-F238E27FC236}">
                <a16:creationId xmlns:a16="http://schemas.microsoft.com/office/drawing/2014/main" id="{26D34918-9D84-C6BC-D343-F5A6D5C34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08757" y="1111641"/>
            <a:ext cx="4655348" cy="465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151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15DB35-53D7-4EDC-A965-A4349296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610F9C-62FE-46FC-8607-C35030B63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D9838-76BE-F36E-ECCE-677CA2D8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Why WORK logs?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173BA5-E30F-224F-39B1-23583A1D8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47" y="1522933"/>
            <a:ext cx="7363853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41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F5D0F4-EA4E-47A5-87BE-9ABB1AF6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EC7AA7E-81E8-4755-AC3D-2CE40312D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188C2F-B457-4F86-B4B4-79703666D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1" y="457201"/>
            <a:ext cx="1106164" cy="5859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B956FD-3E35-4658-9C8B-3A48FD2DB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4419" y="457200"/>
            <a:ext cx="9961047" cy="36780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3C4BB-1DD1-4315-A8C7-EC12065DE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278" y="668740"/>
            <a:ext cx="7574507" cy="33300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Air purifier control board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(example)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BC678D-D15E-4FC5-8CBF-5308E841A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4352" y="4244454"/>
            <a:ext cx="9961115" cy="207248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FE016-6AD8-4596-BF54-C37944C78304}"/>
              </a:ext>
            </a:extLst>
          </p:cNvPr>
          <p:cNvSpPr txBox="1"/>
          <p:nvPr/>
        </p:nvSpPr>
        <p:spPr>
          <a:xfrm>
            <a:off x="1784352" y="4276500"/>
            <a:ext cx="52791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This is not a detailed example (contractual reasons)</a:t>
            </a:r>
          </a:p>
          <a:p>
            <a:r>
              <a:rPr lang="en-ZA" dirty="0"/>
              <a:t>Scope of work is indicative</a:t>
            </a:r>
          </a:p>
          <a:p>
            <a:r>
              <a:rPr lang="en-ZA" dirty="0"/>
              <a:t>Quality of work expected in </a:t>
            </a:r>
            <a:r>
              <a:rPr lang="en-ZA" i="1" dirty="0"/>
              <a:t>Engineering Design</a:t>
            </a:r>
          </a:p>
          <a:p>
            <a:r>
              <a:rPr lang="en-ZA" dirty="0"/>
              <a:t>Indicative of a sub-system (</a:t>
            </a:r>
            <a:r>
              <a:rPr lang="en-ZA" i="1" dirty="0"/>
              <a:t>thus 1 group member’s work)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0301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77BCC-5475-42F0-9DAD-22E3B40A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architecture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066E65CB-2089-4A45-83E2-DD77099F8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350" y="1845656"/>
            <a:ext cx="6000749" cy="4824132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BB5489-2D1B-6EC4-D2B9-461800ADC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81127"/>
            <a:ext cx="1576873" cy="1576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10527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B0ED-6201-45AE-A145-43C2F3979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Firmware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23282C6-F0AA-4212-BEBA-80119A526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2397" y="1808955"/>
            <a:ext cx="6607206" cy="5049045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CE9BF2-62BE-F108-04C0-BD04F1F39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6" y="5601852"/>
            <a:ext cx="1233078" cy="11079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3611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F263-1B8E-4213-ADC3-18AC5DF0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schematics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B23225-9077-47F3-A387-4333E1E62D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9701" y="1854018"/>
            <a:ext cx="9039224" cy="4908682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E7152F-4CC3-DCA2-9433-527F01D08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5" y="5954852"/>
            <a:ext cx="807848" cy="80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04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98979-9311-4F7B-8FD5-6F61CD2EA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Some low-level details</a:t>
            </a:r>
          </a:p>
        </p:txBody>
      </p:sp>
      <p:pic>
        <p:nvPicPr>
          <p:cNvPr id="5" name="Content Placeholder 4" descr="Diagram, schematic&#10;&#10;Description automatically generated">
            <a:extLst>
              <a:ext uri="{FF2B5EF4-FFF2-40B4-BE49-F238E27FC236}">
                <a16:creationId xmlns:a16="http://schemas.microsoft.com/office/drawing/2014/main" id="{A7E29E0F-68A7-4276-B668-68F407927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7115" y="2477606"/>
            <a:ext cx="6359570" cy="3678238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1AD2D5-5C82-8AC5-F326-37C6389C4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674566"/>
            <a:ext cx="1183433" cy="118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08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3E9A-2D06-4924-8293-4E884E791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FINAL PCB Layout</a:t>
            </a:r>
          </a:p>
        </p:txBody>
      </p:sp>
      <p:pic>
        <p:nvPicPr>
          <p:cNvPr id="9" name="Picture 8" descr="A picture containing electronics, circuit&#10;&#10;Description automatically generated">
            <a:extLst>
              <a:ext uri="{FF2B5EF4-FFF2-40B4-BE49-F238E27FC236}">
                <a16:creationId xmlns:a16="http://schemas.microsoft.com/office/drawing/2014/main" id="{54F65B44-7EC1-4348-BA1E-9A6A1E6E6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842" y="3541200"/>
            <a:ext cx="4492158" cy="3507300"/>
          </a:xfrm>
          <a:prstGeom prst="rect">
            <a:avLst/>
          </a:prstGeom>
        </p:spPr>
      </p:pic>
      <p:pic>
        <p:nvPicPr>
          <p:cNvPr id="7" name="Picture 6" descr="A picture containing text, electronics, different&#10;&#10;Description automatically generated">
            <a:extLst>
              <a:ext uri="{FF2B5EF4-FFF2-40B4-BE49-F238E27FC236}">
                <a16:creationId xmlns:a16="http://schemas.microsoft.com/office/drawing/2014/main" id="{415228F6-2BED-4E00-9523-5DF8895DE9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26" t="11731" r="25986" b="14008"/>
          <a:stretch/>
        </p:blipFill>
        <p:spPr>
          <a:xfrm>
            <a:off x="4492159" y="1837428"/>
            <a:ext cx="3733800" cy="295874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578CAE-27B1-4D3C-B8F1-1384E238A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94562" y="3514246"/>
            <a:ext cx="4196463" cy="3211106"/>
          </a:xfrm>
        </p:spPr>
      </p:pic>
    </p:spTree>
    <p:extLst>
      <p:ext uri="{BB962C8B-B14F-4D97-AF65-F5344CB8AC3E}">
        <p14:creationId xmlns:p14="http://schemas.microsoft.com/office/powerpoint/2010/main" val="452152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31F22-AA66-49BC-AC09-953E8C5D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Prototype manufacturing run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3B743-0D53-CADE-9A34-45CBAF728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60841"/>
            <a:ext cx="2035319" cy="5971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F2C57D-A62B-2ADA-3843-9EB012659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898" y="5901759"/>
            <a:ext cx="1066800" cy="1066800"/>
          </a:xfrm>
          <a:prstGeom prst="rect">
            <a:avLst/>
          </a:prstGeom>
        </p:spPr>
      </p:pic>
      <p:pic>
        <p:nvPicPr>
          <p:cNvPr id="5" name="Picture 4" descr="A picture containing electronics, circuit&#10;&#10;Description automatically generated">
            <a:extLst>
              <a:ext uri="{FF2B5EF4-FFF2-40B4-BE49-F238E27FC236}">
                <a16:creationId xmlns:a16="http://schemas.microsoft.com/office/drawing/2014/main" id="{ED444271-4E20-4DCE-9C19-C355EB42F1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577" r="8792" b="24951"/>
          <a:stretch/>
        </p:blipFill>
        <p:spPr>
          <a:xfrm>
            <a:off x="581192" y="2439006"/>
            <a:ext cx="5276850" cy="3638551"/>
          </a:xfrm>
          <a:prstGeom prst="rect">
            <a:avLst/>
          </a:prstGeom>
        </p:spPr>
      </p:pic>
      <p:pic>
        <p:nvPicPr>
          <p:cNvPr id="7" name="Picture 6" descr="A picture containing electronics, circuit&#10;&#10;Description automatically generated">
            <a:extLst>
              <a:ext uri="{FF2B5EF4-FFF2-40B4-BE49-F238E27FC236}">
                <a16:creationId xmlns:a16="http://schemas.microsoft.com/office/drawing/2014/main" id="{D6212351-F031-4F44-AAD9-B1952EAA5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8" y="2518781"/>
            <a:ext cx="4638671" cy="3479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84E9FC-92A8-486E-DB63-75A934B6049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5632" b="33955"/>
          <a:stretch/>
        </p:blipFill>
        <p:spPr>
          <a:xfrm>
            <a:off x="9096654" y="6183134"/>
            <a:ext cx="2952750" cy="50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469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F3EED-5DCA-69ED-E063-37CEAF30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CAD MODELS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2967D8-236F-6676-BF81-9AB1A5AE4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5230" y="1932687"/>
            <a:ext cx="7861540" cy="47959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8683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C2C78-F0CE-4455-9B94-C97574C88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FFFEFF"/>
                </a:solidFill>
              </a:rPr>
              <a:t>Wrapping up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0B48CD-F889-41E1-8058-43359E6BD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0644263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9839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F07D7-60E6-7508-9273-29E8475F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ZA" dirty="0"/>
              <a:t>Class activity</a:t>
            </a:r>
          </a:p>
        </p:txBody>
      </p:sp>
      <p:sp>
        <p:nvSpPr>
          <p:cNvPr id="2055" name="Rectangle 2054">
            <a:extLst>
              <a:ext uri="{FF2B5EF4-FFF2-40B4-BE49-F238E27FC236}">
                <a16:creationId xmlns:a16="http://schemas.microsoft.com/office/drawing/2014/main" id="{2E32075D-9299-4657-87D7-B9987B7FD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Google Tasks in 2019? Here Is Everything You Need to Know in a Guide">
            <a:extLst>
              <a:ext uri="{FF2B5EF4-FFF2-40B4-BE49-F238E27FC236}">
                <a16:creationId xmlns:a16="http://schemas.microsoft.com/office/drawing/2014/main" id="{F8C85F8D-1558-7865-CAF2-FFA87B7B2F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7" r="11756" b="-5"/>
          <a:stretch/>
        </p:blipFill>
        <p:spPr bwMode="auto">
          <a:xfrm>
            <a:off x="657225" y="2361056"/>
            <a:ext cx="4962525" cy="3649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AF25A-D056-3F13-965E-A718AE9C3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ZA" i="1" dirty="0">
                <a:solidFill>
                  <a:srgbClr val="FF0000"/>
                </a:solidFill>
              </a:rPr>
              <a:t>Notify lecturer </a:t>
            </a:r>
            <a:r>
              <a:rPr lang="en-ZA" b="1" i="1" dirty="0">
                <a:solidFill>
                  <a:srgbClr val="FF0000"/>
                </a:solidFill>
              </a:rPr>
              <a:t>TODAY</a:t>
            </a:r>
            <a:r>
              <a:rPr lang="en-ZA" i="1" dirty="0">
                <a:solidFill>
                  <a:srgbClr val="FF0000"/>
                </a:solidFill>
              </a:rPr>
              <a:t> if you are not participating in engineering design. </a:t>
            </a:r>
            <a:endParaRPr lang="en-ZA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30358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235</TotalTime>
  <Words>623</Words>
  <Application>Microsoft Office PowerPoint</Application>
  <PresentationFormat>Widescreen</PresentationFormat>
  <Paragraphs>143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Gill Sans MT</vt:lpstr>
      <vt:lpstr>Wingdings 2</vt:lpstr>
      <vt:lpstr>Dividend</vt:lpstr>
      <vt:lpstr>HERE BE DRAGONS…</vt:lpstr>
      <vt:lpstr>Engineering design 2026</vt:lpstr>
      <vt:lpstr>Module admin</vt:lpstr>
      <vt:lpstr>Lecturer Info</vt:lpstr>
      <vt:lpstr>How to get in touch</vt:lpstr>
      <vt:lpstr>Systems engineering based</vt:lpstr>
      <vt:lpstr>Incremental commitment spiral model (ICSM)</vt:lpstr>
      <vt:lpstr>PRESENTATION TIMELINE</vt:lpstr>
      <vt:lpstr>MARKS BREAKDOWN</vt:lpstr>
      <vt:lpstr>Project 2026 GANTRY crawl for sheet metal handling</vt:lpstr>
      <vt:lpstr>Project in 2025</vt:lpstr>
      <vt:lpstr>Project 2026  main use case</vt:lpstr>
      <vt:lpstr>Practically speaking</vt:lpstr>
      <vt:lpstr>Looks expensive…</vt:lpstr>
      <vt:lpstr>Module requirements</vt:lpstr>
      <vt:lpstr>Module presentation</vt:lpstr>
      <vt:lpstr>In practice</vt:lpstr>
      <vt:lpstr>Why WORK logs?</vt:lpstr>
      <vt:lpstr>Air purifier control board (example)</vt:lpstr>
      <vt:lpstr>architecture</vt:lpstr>
      <vt:lpstr>Firmware</vt:lpstr>
      <vt:lpstr>schematics</vt:lpstr>
      <vt:lpstr>Some low-level details</vt:lpstr>
      <vt:lpstr>FINAL PCB Layout</vt:lpstr>
      <vt:lpstr>Prototype manufacturing run</vt:lpstr>
      <vt:lpstr>CAD MODELS</vt:lpstr>
      <vt:lpstr>Wrapping up</vt:lpstr>
      <vt:lpstr>Class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design 2020</dc:title>
  <dc:creator>Henri Marais</dc:creator>
  <cp:lastModifiedBy>Henri Marais</cp:lastModifiedBy>
  <cp:revision>13</cp:revision>
  <dcterms:created xsi:type="dcterms:W3CDTF">2021-08-02T04:36:19Z</dcterms:created>
  <dcterms:modified xsi:type="dcterms:W3CDTF">2026-07-15T12:16:07Z</dcterms:modified>
</cp:coreProperties>
</file>