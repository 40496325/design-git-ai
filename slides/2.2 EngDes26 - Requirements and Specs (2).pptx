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3" r:id="rId1"/>
  </p:sldMasterIdLst>
  <p:notesMasterIdLst>
    <p:notesMasterId r:id="rId33"/>
  </p:notesMasterIdLst>
  <p:sldIdLst>
    <p:sldId id="256" r:id="rId2"/>
    <p:sldId id="293" r:id="rId3"/>
    <p:sldId id="303" r:id="rId4"/>
    <p:sldId id="304" r:id="rId5"/>
    <p:sldId id="305" r:id="rId6"/>
    <p:sldId id="294" r:id="rId7"/>
    <p:sldId id="309" r:id="rId8"/>
    <p:sldId id="295" r:id="rId9"/>
    <p:sldId id="296" r:id="rId10"/>
    <p:sldId id="322" r:id="rId11"/>
    <p:sldId id="306" r:id="rId12"/>
    <p:sldId id="307" r:id="rId13"/>
    <p:sldId id="297" r:id="rId14"/>
    <p:sldId id="298" r:id="rId15"/>
    <p:sldId id="299" r:id="rId16"/>
    <p:sldId id="300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8" r:id="rId25"/>
    <p:sldId id="319" r:id="rId26"/>
    <p:sldId id="320" r:id="rId27"/>
    <p:sldId id="321" r:id="rId28"/>
    <p:sldId id="301" r:id="rId29"/>
    <p:sldId id="302" r:id="rId30"/>
    <p:sldId id="272" r:id="rId31"/>
    <p:sldId id="292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3172" autoAdjust="0"/>
  </p:normalViewPr>
  <p:slideViewPr>
    <p:cSldViewPr snapToGrid="0">
      <p:cViewPr varScale="1">
        <p:scale>
          <a:sx n="87" d="100"/>
          <a:sy n="87" d="100"/>
        </p:scale>
        <p:origin x="28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92B245-4021-4AC5-9460-18E3D15ED907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C4C7B20E-1B58-42B2-9D35-0EDC8319961C}">
      <dgm:prSet phldrT="[Text]"/>
      <dgm:spPr/>
      <dgm:t>
        <a:bodyPr/>
        <a:lstStyle/>
        <a:p>
          <a:r>
            <a:rPr lang="en-ZA" dirty="0"/>
            <a:t>Requirements</a:t>
          </a:r>
        </a:p>
      </dgm:t>
    </dgm:pt>
    <dgm:pt modelId="{4B1D46DA-B528-4C18-9FFD-DC1C926BD02B}" type="parTrans" cxnId="{E2923562-C296-4869-A328-AE3BAB0C06BC}">
      <dgm:prSet/>
      <dgm:spPr/>
      <dgm:t>
        <a:bodyPr/>
        <a:lstStyle/>
        <a:p>
          <a:endParaRPr lang="en-ZA"/>
        </a:p>
      </dgm:t>
    </dgm:pt>
    <dgm:pt modelId="{D158E5C0-2D96-4D46-A85D-E8632EE93569}" type="sibTrans" cxnId="{E2923562-C296-4869-A328-AE3BAB0C06BC}">
      <dgm:prSet/>
      <dgm:spPr/>
      <dgm:t>
        <a:bodyPr/>
        <a:lstStyle/>
        <a:p>
          <a:endParaRPr lang="en-ZA"/>
        </a:p>
      </dgm:t>
    </dgm:pt>
    <dgm:pt modelId="{05061775-16E7-404B-8D67-14B9AADACB81}">
      <dgm:prSet phldrT="[Text]"/>
      <dgm:spPr/>
      <dgm:t>
        <a:bodyPr/>
        <a:lstStyle/>
        <a:p>
          <a:r>
            <a:rPr lang="en-ZA" dirty="0"/>
            <a:t>Figure out what the system or product needs to do</a:t>
          </a:r>
        </a:p>
      </dgm:t>
    </dgm:pt>
    <dgm:pt modelId="{75A07524-2EBF-40F8-9FA5-191F681D9360}" type="parTrans" cxnId="{66C14865-FD70-4ECB-ABA0-EE504846E7D6}">
      <dgm:prSet/>
      <dgm:spPr/>
      <dgm:t>
        <a:bodyPr/>
        <a:lstStyle/>
        <a:p>
          <a:endParaRPr lang="en-ZA"/>
        </a:p>
      </dgm:t>
    </dgm:pt>
    <dgm:pt modelId="{38E7FB46-9182-424B-9954-798B44A291D8}" type="sibTrans" cxnId="{66C14865-FD70-4ECB-ABA0-EE504846E7D6}">
      <dgm:prSet/>
      <dgm:spPr/>
      <dgm:t>
        <a:bodyPr/>
        <a:lstStyle/>
        <a:p>
          <a:endParaRPr lang="en-ZA"/>
        </a:p>
      </dgm:t>
    </dgm:pt>
    <dgm:pt modelId="{55B17077-8055-4F8A-BAF8-C90B220939C5}">
      <dgm:prSet phldrT="[Text]"/>
      <dgm:spPr/>
      <dgm:t>
        <a:bodyPr/>
        <a:lstStyle/>
        <a:p>
          <a:r>
            <a:rPr lang="en-ZA" dirty="0"/>
            <a:t>Specification</a:t>
          </a:r>
        </a:p>
      </dgm:t>
    </dgm:pt>
    <dgm:pt modelId="{DD7F5F07-5232-46F2-B1F7-8CFFA67FC66A}" type="parTrans" cxnId="{226F5B87-A279-4443-A3CD-3BC1061231ED}">
      <dgm:prSet/>
      <dgm:spPr/>
      <dgm:t>
        <a:bodyPr/>
        <a:lstStyle/>
        <a:p>
          <a:endParaRPr lang="en-ZA"/>
        </a:p>
      </dgm:t>
    </dgm:pt>
    <dgm:pt modelId="{8844F50E-3F9B-44D0-8B38-1CDBBE8FA132}" type="sibTrans" cxnId="{226F5B87-A279-4443-A3CD-3BC1061231ED}">
      <dgm:prSet/>
      <dgm:spPr/>
      <dgm:t>
        <a:bodyPr/>
        <a:lstStyle/>
        <a:p>
          <a:endParaRPr lang="en-ZA"/>
        </a:p>
      </dgm:t>
    </dgm:pt>
    <dgm:pt modelId="{E44AC8E5-DABC-47AE-8410-85616713F427}">
      <dgm:prSet phldrT="[Text]"/>
      <dgm:spPr/>
      <dgm:t>
        <a:bodyPr/>
        <a:lstStyle/>
        <a:p>
          <a:r>
            <a:rPr lang="en-ZA" dirty="0"/>
            <a:t>Capture all of the requirements</a:t>
          </a:r>
        </a:p>
      </dgm:t>
    </dgm:pt>
    <dgm:pt modelId="{0B53DF25-1860-4E8B-8E4A-D85DB2E19AFF}" type="parTrans" cxnId="{ED6CE942-8D6B-490B-BC8A-07FFEA63512F}">
      <dgm:prSet/>
      <dgm:spPr/>
      <dgm:t>
        <a:bodyPr/>
        <a:lstStyle/>
        <a:p>
          <a:endParaRPr lang="en-ZA"/>
        </a:p>
      </dgm:t>
    </dgm:pt>
    <dgm:pt modelId="{2E702814-72E7-4917-AC85-FCAE95F10A57}" type="sibTrans" cxnId="{ED6CE942-8D6B-490B-BC8A-07FFEA63512F}">
      <dgm:prSet/>
      <dgm:spPr/>
      <dgm:t>
        <a:bodyPr/>
        <a:lstStyle/>
        <a:p>
          <a:endParaRPr lang="en-ZA"/>
        </a:p>
      </dgm:t>
    </dgm:pt>
    <dgm:pt modelId="{CF3FC296-0429-4C98-A641-2FD0F009C581}">
      <dgm:prSet phldrT="[Text]"/>
      <dgm:spPr/>
      <dgm:t>
        <a:bodyPr/>
        <a:lstStyle/>
        <a:p>
          <a:r>
            <a:rPr lang="en-ZA" dirty="0"/>
            <a:t>Design Process</a:t>
          </a:r>
        </a:p>
      </dgm:t>
    </dgm:pt>
    <dgm:pt modelId="{C81369F1-7160-4631-9397-2A6AB002C131}" type="parTrans" cxnId="{6F7803E4-B9A1-493A-84D9-EEDD8D137266}">
      <dgm:prSet/>
      <dgm:spPr/>
      <dgm:t>
        <a:bodyPr/>
        <a:lstStyle/>
        <a:p>
          <a:endParaRPr lang="en-ZA"/>
        </a:p>
      </dgm:t>
    </dgm:pt>
    <dgm:pt modelId="{DC0BE8CC-2287-4D50-97CD-16B5B84FE98C}" type="sibTrans" cxnId="{6F7803E4-B9A1-493A-84D9-EEDD8D137266}">
      <dgm:prSet/>
      <dgm:spPr/>
      <dgm:t>
        <a:bodyPr/>
        <a:lstStyle/>
        <a:p>
          <a:endParaRPr lang="en-ZA"/>
        </a:p>
      </dgm:t>
    </dgm:pt>
    <dgm:pt modelId="{FDDFC039-DA81-4445-8EE5-3D1B4EEF1BED}">
      <dgm:prSet phldrT="[Text]"/>
      <dgm:spPr/>
      <dgm:t>
        <a:bodyPr/>
        <a:lstStyle/>
        <a:p>
          <a:r>
            <a:rPr lang="en-ZA" dirty="0"/>
            <a:t>Crank the handle on 3</a:t>
          </a:r>
          <a:r>
            <a:rPr lang="en-ZA" baseline="30000" dirty="0"/>
            <a:t>rd</a:t>
          </a:r>
          <a:r>
            <a:rPr lang="en-ZA" dirty="0"/>
            <a:t> Year Design</a:t>
          </a:r>
        </a:p>
      </dgm:t>
    </dgm:pt>
    <dgm:pt modelId="{081A2600-AAAA-41D4-8542-F44DF098D00C}" type="parTrans" cxnId="{6F9D0FB4-8B91-458F-A8A0-FDEAFF2A148F}">
      <dgm:prSet/>
      <dgm:spPr/>
      <dgm:t>
        <a:bodyPr/>
        <a:lstStyle/>
        <a:p>
          <a:endParaRPr lang="en-ZA"/>
        </a:p>
      </dgm:t>
    </dgm:pt>
    <dgm:pt modelId="{65FA2B2B-6690-4F8E-9EFC-5FA44842C9F3}" type="sibTrans" cxnId="{6F9D0FB4-8B91-458F-A8A0-FDEAFF2A148F}">
      <dgm:prSet/>
      <dgm:spPr/>
      <dgm:t>
        <a:bodyPr/>
        <a:lstStyle/>
        <a:p>
          <a:endParaRPr lang="en-ZA"/>
        </a:p>
      </dgm:t>
    </dgm:pt>
    <dgm:pt modelId="{6EEF1B8C-644F-4BA4-99DD-2A2896626DE9}" type="pres">
      <dgm:prSet presAssocID="{3E92B245-4021-4AC5-9460-18E3D15ED907}" presName="Name0" presStyleCnt="0">
        <dgm:presLayoutVars>
          <dgm:chMax val="5"/>
          <dgm:chPref val="5"/>
          <dgm:dir/>
          <dgm:animLvl val="lvl"/>
        </dgm:presLayoutVars>
      </dgm:prSet>
      <dgm:spPr/>
    </dgm:pt>
    <dgm:pt modelId="{4F4DBA42-3317-43C7-AC58-9E70F7B19491}" type="pres">
      <dgm:prSet presAssocID="{C4C7B20E-1B58-42B2-9D35-0EDC8319961C}" presName="parentText1" presStyleLbl="node1" presStyleIdx="0" presStyleCnt="3">
        <dgm:presLayoutVars>
          <dgm:chMax/>
          <dgm:chPref val="3"/>
          <dgm:bulletEnabled val="1"/>
        </dgm:presLayoutVars>
      </dgm:prSet>
      <dgm:spPr/>
    </dgm:pt>
    <dgm:pt modelId="{9F4DFD9F-8F63-429E-AF48-5B58A4F4352A}" type="pres">
      <dgm:prSet presAssocID="{C4C7B20E-1B58-42B2-9D35-0EDC8319961C}" presName="childText1" presStyleLbl="solidAlignAcc1" presStyleIdx="0" presStyleCnt="3">
        <dgm:presLayoutVars>
          <dgm:chMax val="0"/>
          <dgm:chPref val="0"/>
          <dgm:bulletEnabled val="1"/>
        </dgm:presLayoutVars>
      </dgm:prSet>
      <dgm:spPr/>
    </dgm:pt>
    <dgm:pt modelId="{C18FF1FF-EA0E-4103-8C69-04F20BB44B1D}" type="pres">
      <dgm:prSet presAssocID="{55B17077-8055-4F8A-BAF8-C90B220939C5}" presName="parentText2" presStyleLbl="node1" presStyleIdx="1" presStyleCnt="3">
        <dgm:presLayoutVars>
          <dgm:chMax/>
          <dgm:chPref val="3"/>
          <dgm:bulletEnabled val="1"/>
        </dgm:presLayoutVars>
      </dgm:prSet>
      <dgm:spPr/>
    </dgm:pt>
    <dgm:pt modelId="{EBE73C66-BB24-4111-842F-37ADB52827D1}" type="pres">
      <dgm:prSet presAssocID="{55B17077-8055-4F8A-BAF8-C90B220939C5}" presName="childText2" presStyleLbl="solidAlignAcc1" presStyleIdx="1" presStyleCnt="3">
        <dgm:presLayoutVars>
          <dgm:chMax val="0"/>
          <dgm:chPref val="0"/>
          <dgm:bulletEnabled val="1"/>
        </dgm:presLayoutVars>
      </dgm:prSet>
      <dgm:spPr/>
    </dgm:pt>
    <dgm:pt modelId="{92CB619A-90BA-4E03-8301-AA5BB7F9AA4B}" type="pres">
      <dgm:prSet presAssocID="{CF3FC296-0429-4C98-A641-2FD0F009C581}" presName="parentText3" presStyleLbl="node1" presStyleIdx="2" presStyleCnt="3">
        <dgm:presLayoutVars>
          <dgm:chMax/>
          <dgm:chPref val="3"/>
          <dgm:bulletEnabled val="1"/>
        </dgm:presLayoutVars>
      </dgm:prSet>
      <dgm:spPr/>
    </dgm:pt>
    <dgm:pt modelId="{093F4633-68FB-417C-AF37-910E3F92FEAF}" type="pres">
      <dgm:prSet presAssocID="{CF3FC296-0429-4C98-A641-2FD0F009C581}" presName="childText3" presStyleLbl="solidAlignAcc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4409880E-4821-4AB7-8863-F676D1373030}" type="presOf" srcId="{FDDFC039-DA81-4445-8EE5-3D1B4EEF1BED}" destId="{093F4633-68FB-417C-AF37-910E3F92FEAF}" srcOrd="0" destOrd="0" presId="urn:microsoft.com/office/officeart/2009/3/layout/IncreasingArrowsProcess"/>
    <dgm:cxn modelId="{7A5E7812-E6BC-41AC-B573-3A7BEFB661CA}" type="presOf" srcId="{05061775-16E7-404B-8D67-14B9AADACB81}" destId="{9F4DFD9F-8F63-429E-AF48-5B58A4F4352A}" srcOrd="0" destOrd="0" presId="urn:microsoft.com/office/officeart/2009/3/layout/IncreasingArrowsProcess"/>
    <dgm:cxn modelId="{5E33AA1F-0E56-4CEA-9D84-9F2581B64E16}" type="presOf" srcId="{55B17077-8055-4F8A-BAF8-C90B220939C5}" destId="{C18FF1FF-EA0E-4103-8C69-04F20BB44B1D}" srcOrd="0" destOrd="0" presId="urn:microsoft.com/office/officeart/2009/3/layout/IncreasingArrowsProcess"/>
    <dgm:cxn modelId="{E2923562-C296-4869-A328-AE3BAB0C06BC}" srcId="{3E92B245-4021-4AC5-9460-18E3D15ED907}" destId="{C4C7B20E-1B58-42B2-9D35-0EDC8319961C}" srcOrd="0" destOrd="0" parTransId="{4B1D46DA-B528-4C18-9FFD-DC1C926BD02B}" sibTransId="{D158E5C0-2D96-4D46-A85D-E8632EE93569}"/>
    <dgm:cxn modelId="{ED6CE942-8D6B-490B-BC8A-07FFEA63512F}" srcId="{55B17077-8055-4F8A-BAF8-C90B220939C5}" destId="{E44AC8E5-DABC-47AE-8410-85616713F427}" srcOrd="0" destOrd="0" parTransId="{0B53DF25-1860-4E8B-8E4A-D85DB2E19AFF}" sibTransId="{2E702814-72E7-4917-AC85-FCAE95F10A57}"/>
    <dgm:cxn modelId="{66C14865-FD70-4ECB-ABA0-EE504846E7D6}" srcId="{C4C7B20E-1B58-42B2-9D35-0EDC8319961C}" destId="{05061775-16E7-404B-8D67-14B9AADACB81}" srcOrd="0" destOrd="0" parTransId="{75A07524-2EBF-40F8-9FA5-191F681D9360}" sibTransId="{38E7FB46-9182-424B-9954-798B44A291D8}"/>
    <dgm:cxn modelId="{226F5B87-A279-4443-A3CD-3BC1061231ED}" srcId="{3E92B245-4021-4AC5-9460-18E3D15ED907}" destId="{55B17077-8055-4F8A-BAF8-C90B220939C5}" srcOrd="1" destOrd="0" parTransId="{DD7F5F07-5232-46F2-B1F7-8CFFA67FC66A}" sibTransId="{8844F50E-3F9B-44D0-8B38-1CDBBE8FA132}"/>
    <dgm:cxn modelId="{E5643F89-8660-4324-9253-C962D6FE32E1}" type="presOf" srcId="{3E92B245-4021-4AC5-9460-18E3D15ED907}" destId="{6EEF1B8C-644F-4BA4-99DD-2A2896626DE9}" srcOrd="0" destOrd="0" presId="urn:microsoft.com/office/officeart/2009/3/layout/IncreasingArrowsProcess"/>
    <dgm:cxn modelId="{6F9D0FB4-8B91-458F-A8A0-FDEAFF2A148F}" srcId="{CF3FC296-0429-4C98-A641-2FD0F009C581}" destId="{FDDFC039-DA81-4445-8EE5-3D1B4EEF1BED}" srcOrd="0" destOrd="0" parTransId="{081A2600-AAAA-41D4-8542-F44DF098D00C}" sibTransId="{65FA2B2B-6690-4F8E-9EFC-5FA44842C9F3}"/>
    <dgm:cxn modelId="{B2D505BE-7793-4337-9530-6607EB11E678}" type="presOf" srcId="{CF3FC296-0429-4C98-A641-2FD0F009C581}" destId="{92CB619A-90BA-4E03-8301-AA5BB7F9AA4B}" srcOrd="0" destOrd="0" presId="urn:microsoft.com/office/officeart/2009/3/layout/IncreasingArrowsProcess"/>
    <dgm:cxn modelId="{0238EDDE-1419-420B-AC91-B086A243FCA8}" type="presOf" srcId="{E44AC8E5-DABC-47AE-8410-85616713F427}" destId="{EBE73C66-BB24-4111-842F-37ADB52827D1}" srcOrd="0" destOrd="0" presId="urn:microsoft.com/office/officeart/2009/3/layout/IncreasingArrowsProcess"/>
    <dgm:cxn modelId="{6F7803E4-B9A1-493A-84D9-EEDD8D137266}" srcId="{3E92B245-4021-4AC5-9460-18E3D15ED907}" destId="{CF3FC296-0429-4C98-A641-2FD0F009C581}" srcOrd="2" destOrd="0" parTransId="{C81369F1-7160-4631-9397-2A6AB002C131}" sibTransId="{DC0BE8CC-2287-4D50-97CD-16B5B84FE98C}"/>
    <dgm:cxn modelId="{E937D2E8-B5D0-42EB-AAFB-0D989AFFC616}" type="presOf" srcId="{C4C7B20E-1B58-42B2-9D35-0EDC8319961C}" destId="{4F4DBA42-3317-43C7-AC58-9E70F7B19491}" srcOrd="0" destOrd="0" presId="urn:microsoft.com/office/officeart/2009/3/layout/IncreasingArrowsProcess"/>
    <dgm:cxn modelId="{C0CE1901-287B-4018-9B81-212EECA20BB9}" type="presParOf" srcId="{6EEF1B8C-644F-4BA4-99DD-2A2896626DE9}" destId="{4F4DBA42-3317-43C7-AC58-9E70F7B19491}" srcOrd="0" destOrd="0" presId="urn:microsoft.com/office/officeart/2009/3/layout/IncreasingArrowsProcess"/>
    <dgm:cxn modelId="{81007954-187A-4364-84D9-79C69D977564}" type="presParOf" srcId="{6EEF1B8C-644F-4BA4-99DD-2A2896626DE9}" destId="{9F4DFD9F-8F63-429E-AF48-5B58A4F4352A}" srcOrd="1" destOrd="0" presId="urn:microsoft.com/office/officeart/2009/3/layout/IncreasingArrowsProcess"/>
    <dgm:cxn modelId="{5B615DC7-0892-466C-AAD4-7C2DD3D8009F}" type="presParOf" srcId="{6EEF1B8C-644F-4BA4-99DD-2A2896626DE9}" destId="{C18FF1FF-EA0E-4103-8C69-04F20BB44B1D}" srcOrd="2" destOrd="0" presId="urn:microsoft.com/office/officeart/2009/3/layout/IncreasingArrowsProcess"/>
    <dgm:cxn modelId="{B2A6056C-63B3-4724-B760-63BB1BF4BD4B}" type="presParOf" srcId="{6EEF1B8C-644F-4BA4-99DD-2A2896626DE9}" destId="{EBE73C66-BB24-4111-842F-37ADB52827D1}" srcOrd="3" destOrd="0" presId="urn:microsoft.com/office/officeart/2009/3/layout/IncreasingArrowsProcess"/>
    <dgm:cxn modelId="{D9699830-B9EE-4EDD-A891-5E5E1C591402}" type="presParOf" srcId="{6EEF1B8C-644F-4BA4-99DD-2A2896626DE9}" destId="{92CB619A-90BA-4E03-8301-AA5BB7F9AA4B}" srcOrd="4" destOrd="0" presId="urn:microsoft.com/office/officeart/2009/3/layout/IncreasingArrowsProcess"/>
    <dgm:cxn modelId="{B3CDD711-797C-4244-9F5D-7538C325C4A2}" type="presParOf" srcId="{6EEF1B8C-644F-4BA4-99DD-2A2896626DE9}" destId="{093F4633-68FB-417C-AF37-910E3F92FEAF}" srcOrd="5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6CA508-B1C3-4BDB-A97E-97046809D248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1A865D1-399C-468C-AA99-8237103FB48D}">
      <dgm:prSet/>
      <dgm:spPr/>
      <dgm:t>
        <a:bodyPr/>
        <a:lstStyle/>
        <a:p>
          <a:r>
            <a:rPr lang="en-US" dirty="0"/>
            <a:t>Requirements are encapsulated in a specification</a:t>
          </a:r>
        </a:p>
      </dgm:t>
    </dgm:pt>
    <dgm:pt modelId="{5A74C50A-9DAE-470D-9825-8F52ABEE7344}" type="parTrans" cxnId="{F2D7E32F-916E-4147-8753-D4E06AF9D6E1}">
      <dgm:prSet/>
      <dgm:spPr/>
      <dgm:t>
        <a:bodyPr/>
        <a:lstStyle/>
        <a:p>
          <a:endParaRPr lang="en-US"/>
        </a:p>
      </dgm:t>
    </dgm:pt>
    <dgm:pt modelId="{D1786A69-2294-46AB-99DD-B0D5FE0AAFF9}" type="sibTrans" cxnId="{F2D7E32F-916E-4147-8753-D4E06AF9D6E1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FDAC5ED5-EC71-464A-88B4-9AE1BAC8D3D8}">
      <dgm:prSet/>
      <dgm:spPr/>
      <dgm:t>
        <a:bodyPr/>
        <a:lstStyle/>
        <a:p>
          <a:r>
            <a:rPr lang="en-ZA" dirty="0"/>
            <a:t>Requirements have specific characteristics and should express need not drive solutions</a:t>
          </a:r>
          <a:endParaRPr lang="en-US" dirty="0"/>
        </a:p>
      </dgm:t>
    </dgm:pt>
    <dgm:pt modelId="{98D1B30E-F3D0-4261-84AC-51F57B3740E7}" type="parTrans" cxnId="{5DC239FB-641D-423D-8885-1319784F98F1}">
      <dgm:prSet/>
      <dgm:spPr/>
      <dgm:t>
        <a:bodyPr/>
        <a:lstStyle/>
        <a:p>
          <a:endParaRPr lang="en-US"/>
        </a:p>
      </dgm:t>
    </dgm:pt>
    <dgm:pt modelId="{2F4FEF41-44DC-4A00-AE42-185EFD6BD5FD}" type="sibTrans" cxnId="{5DC239FB-641D-423D-8885-1319784F98F1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59BECB7C-3C5E-4D40-9BA2-DDA0D13745CC}">
      <dgm:prSet/>
      <dgm:spPr/>
      <dgm:t>
        <a:bodyPr/>
        <a:lstStyle/>
        <a:p>
          <a:r>
            <a:rPr lang="en-US" dirty="0"/>
            <a:t>Design requirements limit solution space and should be minimized.</a:t>
          </a:r>
        </a:p>
      </dgm:t>
    </dgm:pt>
    <dgm:pt modelId="{56484B16-278B-4183-8899-A87BBA67E5CD}" type="parTrans" cxnId="{6FB130A4-FAF5-40DB-A426-D155A990EA8A}">
      <dgm:prSet/>
      <dgm:spPr/>
      <dgm:t>
        <a:bodyPr/>
        <a:lstStyle/>
        <a:p>
          <a:endParaRPr lang="en-US"/>
        </a:p>
      </dgm:t>
    </dgm:pt>
    <dgm:pt modelId="{03248AA4-13F1-4C5E-A874-3D1E43D5A4E5}" type="sibTrans" cxnId="{6FB130A4-FAF5-40DB-A426-D155A990EA8A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839D4664-57FC-4963-B899-A82C46BC647C}" type="pres">
      <dgm:prSet presAssocID="{A46CA508-B1C3-4BDB-A97E-97046809D248}" presName="Name0" presStyleCnt="0">
        <dgm:presLayoutVars>
          <dgm:animLvl val="lvl"/>
          <dgm:resizeHandles val="exact"/>
        </dgm:presLayoutVars>
      </dgm:prSet>
      <dgm:spPr/>
    </dgm:pt>
    <dgm:pt modelId="{88A688F0-BAD1-43DC-8E5E-A443DBE295C9}" type="pres">
      <dgm:prSet presAssocID="{A1A865D1-399C-468C-AA99-8237103FB48D}" presName="compositeNode" presStyleCnt="0">
        <dgm:presLayoutVars>
          <dgm:bulletEnabled val="1"/>
        </dgm:presLayoutVars>
      </dgm:prSet>
      <dgm:spPr/>
    </dgm:pt>
    <dgm:pt modelId="{DF5D4BEE-6DA1-46CE-9FF3-9244877A7A60}" type="pres">
      <dgm:prSet presAssocID="{A1A865D1-399C-468C-AA99-8237103FB48D}" presName="bgRect" presStyleLbl="alignNode1" presStyleIdx="0" presStyleCnt="3" custLinFactNeighborX="-20"/>
      <dgm:spPr/>
    </dgm:pt>
    <dgm:pt modelId="{BBC4DE70-910C-4948-B26A-FBAF734B0650}" type="pres">
      <dgm:prSet presAssocID="{D1786A69-2294-46AB-99DD-B0D5FE0AAFF9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799C6183-07D9-47DD-9451-B7EB08F8A53C}" type="pres">
      <dgm:prSet presAssocID="{A1A865D1-399C-468C-AA99-8237103FB48D}" presName="nodeRect" presStyleLbl="alignNode1" presStyleIdx="0" presStyleCnt="3">
        <dgm:presLayoutVars>
          <dgm:bulletEnabled val="1"/>
        </dgm:presLayoutVars>
      </dgm:prSet>
      <dgm:spPr/>
    </dgm:pt>
    <dgm:pt modelId="{B5A0BA6D-59BB-4F04-A766-734BCE766F92}" type="pres">
      <dgm:prSet presAssocID="{D1786A69-2294-46AB-99DD-B0D5FE0AAFF9}" presName="sibTrans" presStyleCnt="0"/>
      <dgm:spPr/>
    </dgm:pt>
    <dgm:pt modelId="{2B9E373C-5459-40D4-996C-2A1962191A14}" type="pres">
      <dgm:prSet presAssocID="{FDAC5ED5-EC71-464A-88B4-9AE1BAC8D3D8}" presName="compositeNode" presStyleCnt="0">
        <dgm:presLayoutVars>
          <dgm:bulletEnabled val="1"/>
        </dgm:presLayoutVars>
      </dgm:prSet>
      <dgm:spPr/>
    </dgm:pt>
    <dgm:pt modelId="{D5AFAC22-61B6-44BF-B7E9-F3B357422574}" type="pres">
      <dgm:prSet presAssocID="{FDAC5ED5-EC71-464A-88B4-9AE1BAC8D3D8}" presName="bgRect" presStyleLbl="alignNode1" presStyleIdx="1" presStyleCnt="3"/>
      <dgm:spPr/>
    </dgm:pt>
    <dgm:pt modelId="{7925C6DF-E736-4971-BF6B-F4FF412621C9}" type="pres">
      <dgm:prSet presAssocID="{2F4FEF41-44DC-4A00-AE42-185EFD6BD5FD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45796389-877A-411D-93C3-D5E407CF29D7}" type="pres">
      <dgm:prSet presAssocID="{FDAC5ED5-EC71-464A-88B4-9AE1BAC8D3D8}" presName="nodeRect" presStyleLbl="alignNode1" presStyleIdx="1" presStyleCnt="3">
        <dgm:presLayoutVars>
          <dgm:bulletEnabled val="1"/>
        </dgm:presLayoutVars>
      </dgm:prSet>
      <dgm:spPr/>
    </dgm:pt>
    <dgm:pt modelId="{22414D7E-072A-4288-8F91-67BBB85D4D1A}" type="pres">
      <dgm:prSet presAssocID="{2F4FEF41-44DC-4A00-AE42-185EFD6BD5FD}" presName="sibTrans" presStyleCnt="0"/>
      <dgm:spPr/>
    </dgm:pt>
    <dgm:pt modelId="{8FDBD42D-16E1-454B-B85C-959C64C12930}" type="pres">
      <dgm:prSet presAssocID="{59BECB7C-3C5E-4D40-9BA2-DDA0D13745CC}" presName="compositeNode" presStyleCnt="0">
        <dgm:presLayoutVars>
          <dgm:bulletEnabled val="1"/>
        </dgm:presLayoutVars>
      </dgm:prSet>
      <dgm:spPr/>
    </dgm:pt>
    <dgm:pt modelId="{25CD44DD-DF87-45F8-A128-674B8649AD8F}" type="pres">
      <dgm:prSet presAssocID="{59BECB7C-3C5E-4D40-9BA2-DDA0D13745CC}" presName="bgRect" presStyleLbl="alignNode1" presStyleIdx="2" presStyleCnt="3"/>
      <dgm:spPr/>
    </dgm:pt>
    <dgm:pt modelId="{AE03AC78-88D6-4E79-873A-CF672DA53C34}" type="pres">
      <dgm:prSet presAssocID="{03248AA4-13F1-4C5E-A874-3D1E43D5A4E5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01345652-2061-4C12-AC18-E49C27D79A1B}" type="pres">
      <dgm:prSet presAssocID="{59BECB7C-3C5E-4D40-9BA2-DDA0D13745CC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F2D7E32F-916E-4147-8753-D4E06AF9D6E1}" srcId="{A46CA508-B1C3-4BDB-A97E-97046809D248}" destId="{A1A865D1-399C-468C-AA99-8237103FB48D}" srcOrd="0" destOrd="0" parTransId="{5A74C50A-9DAE-470D-9825-8F52ABEE7344}" sibTransId="{D1786A69-2294-46AB-99DD-B0D5FE0AAFF9}"/>
    <dgm:cxn modelId="{0027383B-E1A8-422A-93DD-C3C37815BD4D}" type="presOf" srcId="{A1A865D1-399C-468C-AA99-8237103FB48D}" destId="{799C6183-07D9-47DD-9451-B7EB08F8A53C}" srcOrd="1" destOrd="0" presId="urn:microsoft.com/office/officeart/2016/7/layout/LinearBlockProcessNumbered"/>
    <dgm:cxn modelId="{F977A445-253A-4959-ACC6-839C40EE55D9}" type="presOf" srcId="{03248AA4-13F1-4C5E-A874-3D1E43D5A4E5}" destId="{AE03AC78-88D6-4E79-873A-CF672DA53C34}" srcOrd="0" destOrd="0" presId="urn:microsoft.com/office/officeart/2016/7/layout/LinearBlockProcessNumbered"/>
    <dgm:cxn modelId="{627E1D7A-053D-4805-98F4-4C237F23787E}" type="presOf" srcId="{FDAC5ED5-EC71-464A-88B4-9AE1BAC8D3D8}" destId="{45796389-877A-411D-93C3-D5E407CF29D7}" srcOrd="1" destOrd="0" presId="urn:microsoft.com/office/officeart/2016/7/layout/LinearBlockProcessNumbered"/>
    <dgm:cxn modelId="{1917D07E-397F-43F6-B7C8-1F047A747234}" type="presOf" srcId="{A46CA508-B1C3-4BDB-A97E-97046809D248}" destId="{839D4664-57FC-4963-B899-A82C46BC647C}" srcOrd="0" destOrd="0" presId="urn:microsoft.com/office/officeart/2016/7/layout/LinearBlockProcessNumbered"/>
    <dgm:cxn modelId="{6FB130A4-FAF5-40DB-A426-D155A990EA8A}" srcId="{A46CA508-B1C3-4BDB-A97E-97046809D248}" destId="{59BECB7C-3C5E-4D40-9BA2-DDA0D13745CC}" srcOrd="2" destOrd="0" parTransId="{56484B16-278B-4183-8899-A87BBA67E5CD}" sibTransId="{03248AA4-13F1-4C5E-A874-3D1E43D5A4E5}"/>
    <dgm:cxn modelId="{D7D872B4-06E2-4E57-9DB1-ACAFEBA2EC32}" type="presOf" srcId="{A1A865D1-399C-468C-AA99-8237103FB48D}" destId="{DF5D4BEE-6DA1-46CE-9FF3-9244877A7A60}" srcOrd="0" destOrd="0" presId="urn:microsoft.com/office/officeart/2016/7/layout/LinearBlockProcessNumbered"/>
    <dgm:cxn modelId="{D78B51CB-D816-495D-9A38-602EAFF1A09A}" type="presOf" srcId="{59BECB7C-3C5E-4D40-9BA2-DDA0D13745CC}" destId="{01345652-2061-4C12-AC18-E49C27D79A1B}" srcOrd="1" destOrd="0" presId="urn:microsoft.com/office/officeart/2016/7/layout/LinearBlockProcessNumbered"/>
    <dgm:cxn modelId="{43F583E3-8C52-4A80-B861-6D1A92C8A8A3}" type="presOf" srcId="{FDAC5ED5-EC71-464A-88B4-9AE1BAC8D3D8}" destId="{D5AFAC22-61B6-44BF-B7E9-F3B357422574}" srcOrd="0" destOrd="0" presId="urn:microsoft.com/office/officeart/2016/7/layout/LinearBlockProcessNumbered"/>
    <dgm:cxn modelId="{230A03EF-6EF5-494B-9C44-AF72F42E7CFC}" type="presOf" srcId="{59BECB7C-3C5E-4D40-9BA2-DDA0D13745CC}" destId="{25CD44DD-DF87-45F8-A128-674B8649AD8F}" srcOrd="0" destOrd="0" presId="urn:microsoft.com/office/officeart/2016/7/layout/LinearBlockProcessNumbered"/>
    <dgm:cxn modelId="{A357EDF2-A487-4231-A168-7CB54133D7BF}" type="presOf" srcId="{2F4FEF41-44DC-4A00-AE42-185EFD6BD5FD}" destId="{7925C6DF-E736-4971-BF6B-F4FF412621C9}" srcOrd="0" destOrd="0" presId="urn:microsoft.com/office/officeart/2016/7/layout/LinearBlockProcessNumbered"/>
    <dgm:cxn modelId="{F5D23FF6-13EF-4792-97F6-05EABB908257}" type="presOf" srcId="{D1786A69-2294-46AB-99DD-B0D5FE0AAFF9}" destId="{BBC4DE70-910C-4948-B26A-FBAF734B0650}" srcOrd="0" destOrd="0" presId="urn:microsoft.com/office/officeart/2016/7/layout/LinearBlockProcessNumbered"/>
    <dgm:cxn modelId="{5DC239FB-641D-423D-8885-1319784F98F1}" srcId="{A46CA508-B1C3-4BDB-A97E-97046809D248}" destId="{FDAC5ED5-EC71-464A-88B4-9AE1BAC8D3D8}" srcOrd="1" destOrd="0" parTransId="{98D1B30E-F3D0-4261-84AC-51F57B3740E7}" sibTransId="{2F4FEF41-44DC-4A00-AE42-185EFD6BD5FD}"/>
    <dgm:cxn modelId="{FFB12F50-51DF-47A4-ACC0-2CBB4A39EC71}" type="presParOf" srcId="{839D4664-57FC-4963-B899-A82C46BC647C}" destId="{88A688F0-BAD1-43DC-8E5E-A443DBE295C9}" srcOrd="0" destOrd="0" presId="urn:microsoft.com/office/officeart/2016/7/layout/LinearBlockProcessNumbered"/>
    <dgm:cxn modelId="{5772A10F-FCFC-486F-BBB2-AE695C897886}" type="presParOf" srcId="{88A688F0-BAD1-43DC-8E5E-A443DBE295C9}" destId="{DF5D4BEE-6DA1-46CE-9FF3-9244877A7A60}" srcOrd="0" destOrd="0" presId="urn:microsoft.com/office/officeart/2016/7/layout/LinearBlockProcessNumbered"/>
    <dgm:cxn modelId="{4E0AF2DA-A878-48C4-A3C5-CCD6ABBBA74F}" type="presParOf" srcId="{88A688F0-BAD1-43DC-8E5E-A443DBE295C9}" destId="{BBC4DE70-910C-4948-B26A-FBAF734B0650}" srcOrd="1" destOrd="0" presId="urn:microsoft.com/office/officeart/2016/7/layout/LinearBlockProcessNumbered"/>
    <dgm:cxn modelId="{3D2831C0-A876-40CC-8B85-E9E22110BB0C}" type="presParOf" srcId="{88A688F0-BAD1-43DC-8E5E-A443DBE295C9}" destId="{799C6183-07D9-47DD-9451-B7EB08F8A53C}" srcOrd="2" destOrd="0" presId="urn:microsoft.com/office/officeart/2016/7/layout/LinearBlockProcessNumbered"/>
    <dgm:cxn modelId="{927ADB50-B9C6-4369-9F4A-A2C771960093}" type="presParOf" srcId="{839D4664-57FC-4963-B899-A82C46BC647C}" destId="{B5A0BA6D-59BB-4F04-A766-734BCE766F92}" srcOrd="1" destOrd="0" presId="urn:microsoft.com/office/officeart/2016/7/layout/LinearBlockProcessNumbered"/>
    <dgm:cxn modelId="{55955448-A3D0-4D65-B961-629DDBAAFF49}" type="presParOf" srcId="{839D4664-57FC-4963-B899-A82C46BC647C}" destId="{2B9E373C-5459-40D4-996C-2A1962191A14}" srcOrd="2" destOrd="0" presId="urn:microsoft.com/office/officeart/2016/7/layout/LinearBlockProcessNumbered"/>
    <dgm:cxn modelId="{9B370C70-319E-4776-AAC2-01144F97C8E2}" type="presParOf" srcId="{2B9E373C-5459-40D4-996C-2A1962191A14}" destId="{D5AFAC22-61B6-44BF-B7E9-F3B357422574}" srcOrd="0" destOrd="0" presId="urn:microsoft.com/office/officeart/2016/7/layout/LinearBlockProcessNumbered"/>
    <dgm:cxn modelId="{C4621C8C-B9AD-4A80-AEED-6FF71B5F661F}" type="presParOf" srcId="{2B9E373C-5459-40D4-996C-2A1962191A14}" destId="{7925C6DF-E736-4971-BF6B-F4FF412621C9}" srcOrd="1" destOrd="0" presId="urn:microsoft.com/office/officeart/2016/7/layout/LinearBlockProcessNumbered"/>
    <dgm:cxn modelId="{B518A397-872E-402A-A098-44116B148B4F}" type="presParOf" srcId="{2B9E373C-5459-40D4-996C-2A1962191A14}" destId="{45796389-877A-411D-93C3-D5E407CF29D7}" srcOrd="2" destOrd="0" presId="urn:microsoft.com/office/officeart/2016/7/layout/LinearBlockProcessNumbered"/>
    <dgm:cxn modelId="{EAEEE9CE-118F-4A9A-8AF8-A20F9938E66C}" type="presParOf" srcId="{839D4664-57FC-4963-B899-A82C46BC647C}" destId="{22414D7E-072A-4288-8F91-67BBB85D4D1A}" srcOrd="3" destOrd="0" presId="urn:microsoft.com/office/officeart/2016/7/layout/LinearBlockProcessNumbered"/>
    <dgm:cxn modelId="{EBA3C1BE-B887-4C3D-A973-A46F7B80A397}" type="presParOf" srcId="{839D4664-57FC-4963-B899-A82C46BC647C}" destId="{8FDBD42D-16E1-454B-B85C-959C64C12930}" srcOrd="4" destOrd="0" presId="urn:microsoft.com/office/officeart/2016/7/layout/LinearBlockProcessNumbered"/>
    <dgm:cxn modelId="{9E809D1B-6677-49F8-9DF7-CC28F9D77C8C}" type="presParOf" srcId="{8FDBD42D-16E1-454B-B85C-959C64C12930}" destId="{25CD44DD-DF87-45F8-A128-674B8649AD8F}" srcOrd="0" destOrd="0" presId="urn:microsoft.com/office/officeart/2016/7/layout/LinearBlockProcessNumbered"/>
    <dgm:cxn modelId="{EC8362FF-36DA-4DE3-9159-574B408B4857}" type="presParOf" srcId="{8FDBD42D-16E1-454B-B85C-959C64C12930}" destId="{AE03AC78-88D6-4E79-873A-CF672DA53C34}" srcOrd="1" destOrd="0" presId="urn:microsoft.com/office/officeart/2016/7/layout/LinearBlockProcessNumbered"/>
    <dgm:cxn modelId="{B6003EB0-10EF-436B-8136-A23ABF567114}" type="presParOf" srcId="{8FDBD42D-16E1-454B-B85C-959C64C12930}" destId="{01345652-2061-4C12-AC18-E49C27D79A1B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4DBA42-3317-43C7-AC58-9E70F7B19491}">
      <dsp:nvSpPr>
        <dsp:cNvPr id="0" name=""/>
        <dsp:cNvSpPr/>
      </dsp:nvSpPr>
      <dsp:spPr>
        <a:xfrm>
          <a:off x="1747031" y="8475"/>
          <a:ext cx="7535887" cy="1097512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254000" bIns="17423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100" kern="1200" dirty="0"/>
            <a:t>Requirements</a:t>
          </a:r>
        </a:p>
      </dsp:txBody>
      <dsp:txXfrm>
        <a:off x="1747031" y="282853"/>
        <a:ext cx="7261509" cy="548756"/>
      </dsp:txXfrm>
    </dsp:sp>
    <dsp:sp modelId="{9F4DFD9F-8F63-429E-AF48-5B58A4F4352A}">
      <dsp:nvSpPr>
        <dsp:cNvPr id="0" name=""/>
        <dsp:cNvSpPr/>
      </dsp:nvSpPr>
      <dsp:spPr>
        <a:xfrm>
          <a:off x="1747031" y="854816"/>
          <a:ext cx="2321053" cy="21142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100" kern="1200" dirty="0"/>
            <a:t>Figure out what the system or product needs to do</a:t>
          </a:r>
        </a:p>
      </dsp:txBody>
      <dsp:txXfrm>
        <a:off x="1747031" y="854816"/>
        <a:ext cx="2321053" cy="2114212"/>
      </dsp:txXfrm>
    </dsp:sp>
    <dsp:sp modelId="{C18FF1FF-EA0E-4103-8C69-04F20BB44B1D}">
      <dsp:nvSpPr>
        <dsp:cNvPr id="0" name=""/>
        <dsp:cNvSpPr/>
      </dsp:nvSpPr>
      <dsp:spPr>
        <a:xfrm>
          <a:off x="4068084" y="374313"/>
          <a:ext cx="5214834" cy="1097512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254000" bIns="17423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100" kern="1200" dirty="0"/>
            <a:t>Specification</a:t>
          </a:r>
        </a:p>
      </dsp:txBody>
      <dsp:txXfrm>
        <a:off x="4068084" y="648691"/>
        <a:ext cx="4940456" cy="548756"/>
      </dsp:txXfrm>
    </dsp:sp>
    <dsp:sp modelId="{EBE73C66-BB24-4111-842F-37ADB52827D1}">
      <dsp:nvSpPr>
        <dsp:cNvPr id="0" name=""/>
        <dsp:cNvSpPr/>
      </dsp:nvSpPr>
      <dsp:spPr>
        <a:xfrm>
          <a:off x="4068084" y="1220653"/>
          <a:ext cx="2321053" cy="21142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100" kern="1200" dirty="0"/>
            <a:t>Capture all of the requirements</a:t>
          </a:r>
        </a:p>
      </dsp:txBody>
      <dsp:txXfrm>
        <a:off x="4068084" y="1220653"/>
        <a:ext cx="2321053" cy="2114212"/>
      </dsp:txXfrm>
    </dsp:sp>
    <dsp:sp modelId="{92CB619A-90BA-4E03-8301-AA5BB7F9AA4B}">
      <dsp:nvSpPr>
        <dsp:cNvPr id="0" name=""/>
        <dsp:cNvSpPr/>
      </dsp:nvSpPr>
      <dsp:spPr>
        <a:xfrm>
          <a:off x="6389137" y="740150"/>
          <a:ext cx="2893780" cy="1097512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254000" bIns="17423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100" kern="1200" dirty="0"/>
            <a:t>Design Process</a:t>
          </a:r>
        </a:p>
      </dsp:txBody>
      <dsp:txXfrm>
        <a:off x="6389137" y="1014528"/>
        <a:ext cx="2619402" cy="548756"/>
      </dsp:txXfrm>
    </dsp:sp>
    <dsp:sp modelId="{093F4633-68FB-417C-AF37-910E3F92FEAF}">
      <dsp:nvSpPr>
        <dsp:cNvPr id="0" name=""/>
        <dsp:cNvSpPr/>
      </dsp:nvSpPr>
      <dsp:spPr>
        <a:xfrm>
          <a:off x="6389137" y="1586490"/>
          <a:ext cx="2321053" cy="20832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100" kern="1200" dirty="0"/>
            <a:t>Crank the handle on 3</a:t>
          </a:r>
          <a:r>
            <a:rPr lang="en-ZA" sz="2100" kern="1200" baseline="30000" dirty="0"/>
            <a:t>rd</a:t>
          </a:r>
          <a:r>
            <a:rPr lang="en-ZA" sz="2100" kern="1200" dirty="0"/>
            <a:t> Year Design</a:t>
          </a:r>
        </a:p>
      </dsp:txBody>
      <dsp:txXfrm>
        <a:off x="6389137" y="1586490"/>
        <a:ext cx="2321053" cy="20832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5D4BEE-6DA1-46CE-9FF3-9244877A7A60}">
      <dsp:nvSpPr>
        <dsp:cNvPr id="0" name=""/>
        <dsp:cNvSpPr/>
      </dsp:nvSpPr>
      <dsp:spPr>
        <a:xfrm>
          <a:off x="163" y="0"/>
          <a:ext cx="3489945" cy="36782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0" rIns="34472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Requirements are encapsulated in a specification</a:t>
          </a:r>
        </a:p>
      </dsp:txBody>
      <dsp:txXfrm>
        <a:off x="163" y="1471295"/>
        <a:ext cx="3489945" cy="2206942"/>
      </dsp:txXfrm>
    </dsp:sp>
    <dsp:sp modelId="{BBC4DE70-910C-4948-B26A-FBAF734B0650}">
      <dsp:nvSpPr>
        <dsp:cNvPr id="0" name=""/>
        <dsp:cNvSpPr/>
      </dsp:nvSpPr>
      <dsp:spPr>
        <a:xfrm>
          <a:off x="861" y="0"/>
          <a:ext cx="3489945" cy="1471295"/>
        </a:xfrm>
        <a:prstGeom prst="rect">
          <a:avLst/>
        </a:prstGeom>
        <a:noFill/>
        <a:ln w="2222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165100" rIns="34472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61" y="0"/>
        <a:ext cx="3489945" cy="1471295"/>
      </dsp:txXfrm>
    </dsp:sp>
    <dsp:sp modelId="{D5AFAC22-61B6-44BF-B7E9-F3B357422574}">
      <dsp:nvSpPr>
        <dsp:cNvPr id="0" name=""/>
        <dsp:cNvSpPr/>
      </dsp:nvSpPr>
      <dsp:spPr>
        <a:xfrm>
          <a:off x="3770002" y="0"/>
          <a:ext cx="3489945" cy="36782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0" rIns="34472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kern="1200" dirty="0"/>
            <a:t>Requirements have specific characteristics and should express need not drive solutions</a:t>
          </a:r>
          <a:endParaRPr lang="en-US" sz="2600" kern="1200" dirty="0"/>
        </a:p>
      </dsp:txBody>
      <dsp:txXfrm>
        <a:off x="3770002" y="1471295"/>
        <a:ext cx="3489945" cy="2206942"/>
      </dsp:txXfrm>
    </dsp:sp>
    <dsp:sp modelId="{7925C6DF-E736-4971-BF6B-F4FF412621C9}">
      <dsp:nvSpPr>
        <dsp:cNvPr id="0" name=""/>
        <dsp:cNvSpPr/>
      </dsp:nvSpPr>
      <dsp:spPr>
        <a:xfrm>
          <a:off x="3770002" y="0"/>
          <a:ext cx="3489945" cy="1471295"/>
        </a:xfrm>
        <a:prstGeom prst="rect">
          <a:avLst/>
        </a:prstGeom>
        <a:noFill/>
        <a:ln w="2222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165100" rIns="34472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70002" y="0"/>
        <a:ext cx="3489945" cy="1471295"/>
      </dsp:txXfrm>
    </dsp:sp>
    <dsp:sp modelId="{25CD44DD-DF87-45F8-A128-674B8649AD8F}">
      <dsp:nvSpPr>
        <dsp:cNvPr id="0" name=""/>
        <dsp:cNvSpPr/>
      </dsp:nvSpPr>
      <dsp:spPr>
        <a:xfrm>
          <a:off x="7539143" y="0"/>
          <a:ext cx="3489945" cy="367823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0" rIns="34472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Design requirements limit solution space and should be minimized.</a:t>
          </a:r>
        </a:p>
      </dsp:txBody>
      <dsp:txXfrm>
        <a:off x="7539143" y="1471295"/>
        <a:ext cx="3489945" cy="2206942"/>
      </dsp:txXfrm>
    </dsp:sp>
    <dsp:sp modelId="{AE03AC78-88D6-4E79-873A-CF672DA53C34}">
      <dsp:nvSpPr>
        <dsp:cNvPr id="0" name=""/>
        <dsp:cNvSpPr/>
      </dsp:nvSpPr>
      <dsp:spPr>
        <a:xfrm>
          <a:off x="7539143" y="0"/>
          <a:ext cx="3489945" cy="1471295"/>
        </a:xfrm>
        <a:prstGeom prst="rect">
          <a:avLst/>
        </a:prstGeom>
        <a:noFill/>
        <a:ln w="2222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165100" rIns="34472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539143" y="0"/>
        <a:ext cx="3489945" cy="14712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1BABC7-DAE0-4041-AE55-8098537A4F71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95338-AEAB-456A-9E65-33FAB70ABE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130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5009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95338-AEAB-456A-9E65-33FAB70ABE1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001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You’ll notice that we generally refer to form fit and function when referring to systems as this keeps thigs clear but more formal language also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95338-AEAB-456A-9E65-33FAB70ABE1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3440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95338-AEAB-456A-9E65-33FAB70ABE1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242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95338-AEAB-456A-9E65-33FAB70ABE1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329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*** with reference to slide on design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95338-AEAB-456A-9E65-33FAB70ABE1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382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It</a:t>
            </a:r>
            <a:r>
              <a:rPr lang="en-GB" baseline="0" dirty="0"/>
              <a:t> is quite typical that the requirements received from the client / customer / higher-level will be in text-based form. This leads to all sorts of problems associated with natural language, but also gives us the ability to perform parsing on those textual requirements. </a:t>
            </a:r>
          </a:p>
          <a:p>
            <a:endParaRPr lang="en-GB" baseline="0" dirty="0"/>
          </a:p>
          <a:p>
            <a:r>
              <a:rPr lang="en-GB" baseline="0" dirty="0"/>
              <a:t>One advantage is that a parsing template can be used in reverse to write good requirements to begin with!</a:t>
            </a:r>
          </a:p>
          <a:p>
            <a:endParaRPr lang="en-GB" baseline="0" dirty="0"/>
          </a:p>
          <a:p>
            <a:r>
              <a:rPr lang="en-GB" baseline="0" dirty="0"/>
              <a:t>NOTE: This is not the only parsing template but is a very comprehensive one. Not all requirements will necessarily comply with all elements of the parsing template. If only a few elements are present it is typically indicative of low-quality requirements.</a:t>
            </a:r>
            <a:endParaRPr lang="en-GB" dirty="0"/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D7796-BC32-4325-A677-4D94B668FBE8}" type="slidenum">
              <a:rPr lang="en-ZA" smtClean="0"/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26731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95338-AEAB-456A-9E65-33FAB70ABE16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828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95338-AEAB-456A-9E65-33FAB70ABE16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3740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01924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2" r:id="rId4"/>
    <p:sldLayoutId id="2147483653" r:id="rId5"/>
    <p:sldLayoutId id="2147483662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  <p:sldLayoutId id="2147483674" r:id="rId13"/>
    <p:sldLayoutId id="2147483651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30AD-669F-4550-8B9C-2F07152FF1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Engineering design 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5D9-69B4-4263-BCEB-B78FBA6C7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ZA" dirty="0"/>
              <a:t>Lecture Week 3</a:t>
            </a:r>
          </a:p>
          <a:p>
            <a:r>
              <a:rPr lang="en-ZA" dirty="0"/>
              <a:t>Deck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06299C-5978-4A26-94D2-8952A9D710DE}"/>
              </a:ext>
            </a:extLst>
          </p:cNvPr>
          <p:cNvSpPr txBox="1"/>
          <p:nvPr/>
        </p:nvSpPr>
        <p:spPr>
          <a:xfrm>
            <a:off x="9841831" y="5835812"/>
            <a:ext cx="1852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400" dirty="0">
                <a:solidFill>
                  <a:schemeClr val="bg1"/>
                </a:solidFill>
              </a:rPr>
              <a:t>Prof Henri Marais</a:t>
            </a:r>
          </a:p>
          <a:p>
            <a:pPr algn="r"/>
            <a:r>
              <a:rPr lang="en-ZA" sz="1400" dirty="0">
                <a:solidFill>
                  <a:schemeClr val="bg1"/>
                </a:solidFill>
              </a:rPr>
              <a:t>29 Jul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AB6D6-FDF0-56E8-D814-F566FF541864}"/>
              </a:ext>
            </a:extLst>
          </p:cNvPr>
          <p:cNvSpPr txBox="1"/>
          <p:nvPr/>
        </p:nvSpPr>
        <p:spPr>
          <a:xfrm>
            <a:off x="581191" y="3098706"/>
            <a:ext cx="4687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2"/>
                </a:solidFill>
              </a:rPr>
              <a:t>Requirements and </a:t>
            </a:r>
          </a:p>
          <a:p>
            <a:r>
              <a:rPr lang="en-GB" sz="3600" b="1" dirty="0">
                <a:solidFill>
                  <a:schemeClr val="bg2"/>
                </a:solidFill>
              </a:rPr>
              <a:t>Specifications</a:t>
            </a:r>
          </a:p>
        </p:txBody>
      </p:sp>
    </p:spTree>
    <p:extLst>
      <p:ext uri="{BB962C8B-B14F-4D97-AF65-F5344CB8AC3E}">
        <p14:creationId xmlns:p14="http://schemas.microsoft.com/office/powerpoint/2010/main" val="1854232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34DB6C-422A-39FE-812B-65CFB4AFA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Requirements vs Characteristics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E3AAA0-B413-4AA9-EFEC-4719D08CA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</a:t>
            </a:fld>
            <a:endParaRPr lang="en-US" noProof="0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8E1B0A3-032A-4505-CE03-08833FBB30F0}"/>
              </a:ext>
            </a:extLst>
          </p:cNvPr>
          <p:cNvCxnSpPr/>
          <p:nvPr/>
        </p:nvCxnSpPr>
        <p:spPr>
          <a:xfrm>
            <a:off x="6409211" y="2427520"/>
            <a:ext cx="0" cy="3960440"/>
          </a:xfrm>
          <a:prstGeom prst="line">
            <a:avLst/>
          </a:prstGeom>
          <a:ln w="127000">
            <a:solidFill>
              <a:srgbClr val="63B7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8">
            <a:extLst>
              <a:ext uri="{FF2B5EF4-FFF2-40B4-BE49-F238E27FC236}">
                <a16:creationId xmlns:a16="http://schemas.microsoft.com/office/drawing/2014/main" id="{22953A95-C945-F6C0-33DD-EB6469504BF8}"/>
              </a:ext>
            </a:extLst>
          </p:cNvPr>
          <p:cNvSpPr>
            <a:spLocks/>
          </p:cNvSpPr>
          <p:nvPr/>
        </p:nvSpPr>
        <p:spPr bwMode="auto">
          <a:xfrm>
            <a:off x="8337468" y="1970399"/>
            <a:ext cx="2548709" cy="470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r>
              <a:rPr lang="en-US" sz="2200" b="1" dirty="0">
                <a:solidFill>
                  <a:srgbClr val="63B7C6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Solution Domain</a:t>
            </a:r>
          </a:p>
        </p:txBody>
      </p:sp>
      <p:sp>
        <p:nvSpPr>
          <p:cNvPr id="46" name="Rectangle 8">
            <a:extLst>
              <a:ext uri="{FF2B5EF4-FFF2-40B4-BE49-F238E27FC236}">
                <a16:creationId xmlns:a16="http://schemas.microsoft.com/office/drawing/2014/main" id="{1BE94AB6-FECC-D23D-F470-A2040BA924A7}"/>
              </a:ext>
            </a:extLst>
          </p:cNvPr>
          <p:cNvSpPr>
            <a:spLocks/>
          </p:cNvSpPr>
          <p:nvPr/>
        </p:nvSpPr>
        <p:spPr bwMode="auto">
          <a:xfrm>
            <a:off x="1673893" y="1998349"/>
            <a:ext cx="3042953" cy="470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r>
              <a:rPr lang="en-US" sz="2200" b="1" dirty="0">
                <a:solidFill>
                  <a:srgbClr val="63B7C6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Problem Domain</a:t>
            </a:r>
          </a:p>
        </p:txBody>
      </p:sp>
      <p:sp>
        <p:nvSpPr>
          <p:cNvPr id="47" name="Rectangle 8">
            <a:extLst>
              <a:ext uri="{FF2B5EF4-FFF2-40B4-BE49-F238E27FC236}">
                <a16:creationId xmlns:a16="http://schemas.microsoft.com/office/drawing/2014/main" id="{6660313F-B5B6-1E5A-381C-B7310BB48AED}"/>
              </a:ext>
            </a:extLst>
          </p:cNvPr>
          <p:cNvSpPr>
            <a:spLocks/>
          </p:cNvSpPr>
          <p:nvPr/>
        </p:nvSpPr>
        <p:spPr bwMode="auto">
          <a:xfrm>
            <a:off x="2151982" y="2554873"/>
            <a:ext cx="2548709" cy="470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r>
              <a:rPr lang="en-US" b="1" dirty="0">
                <a:solidFill>
                  <a:srgbClr val="FFC000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What is needed?</a:t>
            </a:r>
          </a:p>
          <a:p>
            <a:r>
              <a:rPr lang="en-US" b="1" dirty="0">
                <a:solidFill>
                  <a:srgbClr val="FFC000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(</a:t>
            </a:r>
            <a:r>
              <a:rPr lang="en-US" b="1" u="sng" dirty="0">
                <a:solidFill>
                  <a:srgbClr val="FFC000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Requirements</a:t>
            </a:r>
            <a:r>
              <a:rPr lang="en-US" b="1" dirty="0">
                <a:solidFill>
                  <a:srgbClr val="FFC000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)</a:t>
            </a:r>
          </a:p>
        </p:txBody>
      </p:sp>
      <p:sp>
        <p:nvSpPr>
          <p:cNvPr id="48" name="Rectangle 8">
            <a:extLst>
              <a:ext uri="{FF2B5EF4-FFF2-40B4-BE49-F238E27FC236}">
                <a16:creationId xmlns:a16="http://schemas.microsoft.com/office/drawing/2014/main" id="{497515D1-CE02-6E1E-AF2F-E5EDD7E74375}"/>
              </a:ext>
            </a:extLst>
          </p:cNvPr>
          <p:cNvSpPr>
            <a:spLocks/>
          </p:cNvSpPr>
          <p:nvPr/>
        </p:nvSpPr>
        <p:spPr bwMode="auto">
          <a:xfrm>
            <a:off x="8679952" y="2554873"/>
            <a:ext cx="2548709" cy="470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r>
              <a:rPr lang="en-US" b="1" dirty="0">
                <a:solidFill>
                  <a:srgbClr val="FFC000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What is offered?</a:t>
            </a:r>
          </a:p>
          <a:p>
            <a:r>
              <a:rPr lang="en-US" b="1" dirty="0">
                <a:solidFill>
                  <a:srgbClr val="FFC000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(</a:t>
            </a:r>
            <a:r>
              <a:rPr lang="en-US" b="1" u="sng" dirty="0">
                <a:solidFill>
                  <a:srgbClr val="FFC000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Characteristics</a:t>
            </a:r>
            <a:r>
              <a:rPr lang="en-US" b="1" dirty="0">
                <a:solidFill>
                  <a:srgbClr val="FFC000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)</a:t>
            </a:r>
          </a:p>
        </p:txBody>
      </p:sp>
      <p:sp>
        <p:nvSpPr>
          <p:cNvPr id="49" name="Right Arrow 41">
            <a:extLst>
              <a:ext uri="{FF2B5EF4-FFF2-40B4-BE49-F238E27FC236}">
                <a16:creationId xmlns:a16="http://schemas.microsoft.com/office/drawing/2014/main" id="{2CA0E984-B49F-F665-BEE8-F31DFC52B661}"/>
              </a:ext>
            </a:extLst>
          </p:cNvPr>
          <p:cNvSpPr/>
          <p:nvPr/>
        </p:nvSpPr>
        <p:spPr>
          <a:xfrm>
            <a:off x="4609011" y="2458896"/>
            <a:ext cx="3728457" cy="622795"/>
          </a:xfrm>
          <a:prstGeom prst="rightArrow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900"/>
          </a:p>
        </p:txBody>
      </p:sp>
      <p:sp>
        <p:nvSpPr>
          <p:cNvPr id="50" name="Rectangle 8">
            <a:extLst>
              <a:ext uri="{FF2B5EF4-FFF2-40B4-BE49-F238E27FC236}">
                <a16:creationId xmlns:a16="http://schemas.microsoft.com/office/drawing/2014/main" id="{118D3D64-7EBA-C899-7949-A8B2190C2844}"/>
              </a:ext>
            </a:extLst>
          </p:cNvPr>
          <p:cNvSpPr>
            <a:spLocks/>
          </p:cNvSpPr>
          <p:nvPr/>
        </p:nvSpPr>
        <p:spPr bwMode="auto">
          <a:xfrm>
            <a:off x="8337468" y="3443562"/>
            <a:ext cx="2924948" cy="867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r>
              <a:rPr lang="en-US" b="1" dirty="0"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Some items you will evaluate, buy, integrate, and test</a:t>
            </a:r>
          </a:p>
        </p:txBody>
      </p:sp>
      <p:sp>
        <p:nvSpPr>
          <p:cNvPr id="51" name="Right Arrow 43">
            <a:extLst>
              <a:ext uri="{FF2B5EF4-FFF2-40B4-BE49-F238E27FC236}">
                <a16:creationId xmlns:a16="http://schemas.microsoft.com/office/drawing/2014/main" id="{65115B6F-31F7-A5A1-8E6C-CB60492D20D9}"/>
              </a:ext>
            </a:extLst>
          </p:cNvPr>
          <p:cNvSpPr/>
          <p:nvPr/>
        </p:nvSpPr>
        <p:spPr>
          <a:xfrm rot="10800000">
            <a:off x="4902160" y="3579649"/>
            <a:ext cx="2991826" cy="622795"/>
          </a:xfrm>
          <a:prstGeom prst="rightArrow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900"/>
          </a:p>
        </p:txBody>
      </p:sp>
      <p:sp>
        <p:nvSpPr>
          <p:cNvPr id="52" name="Rectangle 8">
            <a:extLst>
              <a:ext uri="{FF2B5EF4-FFF2-40B4-BE49-F238E27FC236}">
                <a16:creationId xmlns:a16="http://schemas.microsoft.com/office/drawing/2014/main" id="{059F43D1-9A08-B5B1-51C8-0400170F9225}"/>
              </a:ext>
            </a:extLst>
          </p:cNvPr>
          <p:cNvSpPr>
            <a:spLocks/>
          </p:cNvSpPr>
          <p:nvPr/>
        </p:nvSpPr>
        <p:spPr bwMode="auto">
          <a:xfrm>
            <a:off x="5491187" y="3655826"/>
            <a:ext cx="2988332" cy="470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Buy (Procurement)</a:t>
            </a:r>
          </a:p>
        </p:txBody>
      </p:sp>
      <p:sp>
        <p:nvSpPr>
          <p:cNvPr id="53" name="Right Arrow 45">
            <a:extLst>
              <a:ext uri="{FF2B5EF4-FFF2-40B4-BE49-F238E27FC236}">
                <a16:creationId xmlns:a16="http://schemas.microsoft.com/office/drawing/2014/main" id="{89CBC661-3C79-1A84-856E-1A5E6D59FF14}"/>
              </a:ext>
            </a:extLst>
          </p:cNvPr>
          <p:cNvSpPr/>
          <p:nvPr/>
        </p:nvSpPr>
        <p:spPr>
          <a:xfrm rot="10800000">
            <a:off x="4927632" y="4767780"/>
            <a:ext cx="2991826" cy="622795"/>
          </a:xfrm>
          <a:prstGeom prst="rightArrow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900"/>
          </a:p>
        </p:txBody>
      </p:sp>
      <p:sp>
        <p:nvSpPr>
          <p:cNvPr id="54" name="Rectangle 8">
            <a:extLst>
              <a:ext uri="{FF2B5EF4-FFF2-40B4-BE49-F238E27FC236}">
                <a16:creationId xmlns:a16="http://schemas.microsoft.com/office/drawing/2014/main" id="{BF1068B2-5F69-9218-4348-427E583156BA}"/>
              </a:ext>
            </a:extLst>
          </p:cNvPr>
          <p:cNvSpPr>
            <a:spLocks/>
          </p:cNvSpPr>
          <p:nvPr/>
        </p:nvSpPr>
        <p:spPr bwMode="auto">
          <a:xfrm>
            <a:off x="5349136" y="4833923"/>
            <a:ext cx="2988332" cy="470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Make (Engineering)</a:t>
            </a:r>
          </a:p>
        </p:txBody>
      </p:sp>
      <p:sp>
        <p:nvSpPr>
          <p:cNvPr id="55" name="Rectangle 8">
            <a:extLst>
              <a:ext uri="{FF2B5EF4-FFF2-40B4-BE49-F238E27FC236}">
                <a16:creationId xmlns:a16="http://schemas.microsoft.com/office/drawing/2014/main" id="{B9ED543C-B97E-930F-C23E-BEDCD4F05CA7}"/>
              </a:ext>
            </a:extLst>
          </p:cNvPr>
          <p:cNvSpPr>
            <a:spLocks/>
          </p:cNvSpPr>
          <p:nvPr/>
        </p:nvSpPr>
        <p:spPr bwMode="auto">
          <a:xfrm>
            <a:off x="8350353" y="4652290"/>
            <a:ext cx="2988332" cy="823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r>
              <a:rPr lang="en-US" b="1" dirty="0"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Other items you will design, build integrate, and test</a:t>
            </a:r>
          </a:p>
        </p:txBody>
      </p:sp>
      <p:sp>
        <p:nvSpPr>
          <p:cNvPr id="56" name="Left Brace 55">
            <a:extLst>
              <a:ext uri="{FF2B5EF4-FFF2-40B4-BE49-F238E27FC236}">
                <a16:creationId xmlns:a16="http://schemas.microsoft.com/office/drawing/2014/main" id="{6868910D-9318-581A-B20A-810B257CB9A7}"/>
              </a:ext>
            </a:extLst>
          </p:cNvPr>
          <p:cNvSpPr/>
          <p:nvPr/>
        </p:nvSpPr>
        <p:spPr>
          <a:xfrm>
            <a:off x="3807803" y="3579649"/>
            <a:ext cx="468052" cy="1882935"/>
          </a:xfrm>
          <a:prstGeom prst="leftBrac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 sz="900">
              <a:solidFill>
                <a:srgbClr val="FFC00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AC72387-709A-704C-77A6-2DAF78E0250F}"/>
              </a:ext>
            </a:extLst>
          </p:cNvPr>
          <p:cNvSpPr/>
          <p:nvPr/>
        </p:nvSpPr>
        <p:spPr>
          <a:xfrm>
            <a:off x="2406698" y="3629018"/>
            <a:ext cx="1095814" cy="1577355"/>
          </a:xfrm>
          <a:prstGeom prst="rect">
            <a:avLst/>
          </a:prstGeom>
          <a:noFill/>
        </p:spPr>
        <p:txBody>
          <a:bodyPr wrap="none" lIns="45720" tIns="22860" rIns="45720" bIns="22860">
            <a:spAutoFit/>
          </a:bodyPr>
          <a:lstStyle/>
          <a:p>
            <a:pPr algn="ctr"/>
            <a:r>
              <a:rPr lang="en-US" sz="9950" b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sym typeface="Wingdings"/>
              </a:rPr>
              <a:t></a:t>
            </a:r>
            <a:endParaRPr lang="en-US" sz="2700" b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C7CF2FA-9EDC-2B22-B7B7-9A8F92FFB9AF}"/>
              </a:ext>
            </a:extLst>
          </p:cNvPr>
          <p:cNvSpPr/>
          <p:nvPr/>
        </p:nvSpPr>
        <p:spPr>
          <a:xfrm>
            <a:off x="4762495" y="3429000"/>
            <a:ext cx="3269682" cy="2093264"/>
          </a:xfrm>
          <a:prstGeom prst="rect">
            <a:avLst/>
          </a:prstGeom>
          <a:noFill/>
          <a:ln w="635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900">
              <a:solidFill>
                <a:srgbClr val="FFC000"/>
              </a:solidFill>
            </a:endParaRPr>
          </a:p>
        </p:txBody>
      </p:sp>
      <p:sp>
        <p:nvSpPr>
          <p:cNvPr id="59" name="Rectangle 8">
            <a:extLst>
              <a:ext uri="{FF2B5EF4-FFF2-40B4-BE49-F238E27FC236}">
                <a16:creationId xmlns:a16="http://schemas.microsoft.com/office/drawing/2014/main" id="{A4D6BFA6-6F1E-8AFF-FC9A-ED610E7BBB01}"/>
              </a:ext>
            </a:extLst>
          </p:cNvPr>
          <p:cNvSpPr>
            <a:spLocks/>
          </p:cNvSpPr>
          <p:nvPr/>
        </p:nvSpPr>
        <p:spPr bwMode="auto">
          <a:xfrm>
            <a:off x="2544535" y="5643724"/>
            <a:ext cx="3461623" cy="1135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r>
              <a:rPr lang="en-US" b="1" dirty="0">
                <a:solidFill>
                  <a:srgbClr val="FFC000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Combinations of bought and developed items will make up the final product / system</a:t>
            </a: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58204D52-D94F-5FAE-7DA2-20697B06EAAD}"/>
              </a:ext>
            </a:extLst>
          </p:cNvPr>
          <p:cNvSpPr>
            <a:spLocks/>
          </p:cNvSpPr>
          <p:nvPr/>
        </p:nvSpPr>
        <p:spPr bwMode="auto">
          <a:xfrm>
            <a:off x="1933960" y="4661384"/>
            <a:ext cx="2358828" cy="73887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r>
              <a:rPr lang="en-US" b="1" dirty="0">
                <a:solidFill>
                  <a:srgbClr val="FFC000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Close the loop…</a:t>
            </a:r>
          </a:p>
        </p:txBody>
      </p:sp>
      <p:sp>
        <p:nvSpPr>
          <p:cNvPr id="61" name="Rectangle 8">
            <a:extLst>
              <a:ext uri="{FF2B5EF4-FFF2-40B4-BE49-F238E27FC236}">
                <a16:creationId xmlns:a16="http://schemas.microsoft.com/office/drawing/2014/main" id="{5B84D4B8-F076-10AD-89B8-5C12B7D1283D}"/>
              </a:ext>
            </a:extLst>
          </p:cNvPr>
          <p:cNvSpPr>
            <a:spLocks/>
          </p:cNvSpPr>
          <p:nvPr/>
        </p:nvSpPr>
        <p:spPr bwMode="auto">
          <a:xfrm>
            <a:off x="4792372" y="2526925"/>
            <a:ext cx="3269682" cy="470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Requirements Analysis</a:t>
            </a:r>
          </a:p>
        </p:txBody>
      </p:sp>
    </p:spTree>
    <p:extLst>
      <p:ext uri="{BB962C8B-B14F-4D97-AF65-F5344CB8AC3E}">
        <p14:creationId xmlns:p14="http://schemas.microsoft.com/office/powerpoint/2010/main" val="369479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8" grpId="0"/>
      <p:bldP spid="49" grpId="0" animBg="1"/>
      <p:bldP spid="50" grpId="0"/>
      <p:bldP spid="51" grpId="0" animBg="1"/>
      <p:bldP spid="52" grpId="0"/>
      <p:bldP spid="53" grpId="0" animBg="1"/>
      <p:bldP spid="54" grpId="0"/>
      <p:bldP spid="55" grpId="0"/>
      <p:bldP spid="56" grpId="0" animBg="1"/>
      <p:bldP spid="57" grpId="0"/>
      <p:bldP spid="59" grpId="0"/>
      <p:bldP spid="60" grpId="0"/>
      <p:bldP spid="6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Some Context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824784" y="4418202"/>
            <a:ext cx="2425459" cy="155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84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E55317-E569-43A9-AA34-C78AAE709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40" y="2793263"/>
            <a:ext cx="11301984" cy="1271473"/>
          </a:xfrm>
          <a:prstGeom prst="rect">
            <a:avLst/>
          </a:prstGeom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3CAC3BE7-20C4-4EF7-80D6-2C658DFEFAB6}"/>
              </a:ext>
            </a:extLst>
          </p:cNvPr>
          <p:cNvSpPr/>
          <p:nvPr/>
        </p:nvSpPr>
        <p:spPr>
          <a:xfrm>
            <a:off x="581192" y="3248137"/>
            <a:ext cx="155448" cy="914400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8CBFE45C-A776-457E-871B-6A1A0E1BB63B}"/>
              </a:ext>
            </a:extLst>
          </p:cNvPr>
          <p:cNvSpPr/>
          <p:nvPr/>
        </p:nvSpPr>
        <p:spPr>
          <a:xfrm>
            <a:off x="3705986" y="3338511"/>
            <a:ext cx="155448" cy="914400"/>
          </a:xfrm>
          <a:prstGeom prst="righ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EC21A8-59C9-4CA4-A4EE-92AABB5611D6}"/>
              </a:ext>
            </a:extLst>
          </p:cNvPr>
          <p:cNvSpPr txBox="1"/>
          <p:nvPr/>
        </p:nvSpPr>
        <p:spPr>
          <a:xfrm>
            <a:off x="1158782" y="4819462"/>
            <a:ext cx="509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400" b="1" dirty="0">
                <a:solidFill>
                  <a:schemeClr val="accent2">
                    <a:lumMod val="50000"/>
                  </a:schemeClr>
                </a:solidFill>
              </a:rPr>
              <a:t>REQUIREMENTS ELLICITATION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734EB1-EE57-4F07-A9E5-821E6073FCB2}"/>
              </a:ext>
            </a:extLst>
          </p:cNvPr>
          <p:cNvSpPr txBox="1"/>
          <p:nvPr/>
        </p:nvSpPr>
        <p:spPr>
          <a:xfrm>
            <a:off x="2966835" y="4320339"/>
            <a:ext cx="3528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400" b="1" dirty="0">
                <a:solidFill>
                  <a:schemeClr val="accent2">
                    <a:lumMod val="50000"/>
                  </a:schemeClr>
                </a:solidFill>
              </a:rPr>
              <a:t>SPECIFICATION DOC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9DC179DA-214E-45DB-BFAC-DEB3EB37F770}"/>
              </a:ext>
            </a:extLst>
          </p:cNvPr>
          <p:cNvCxnSpPr>
            <a:stCxn id="6" idx="1"/>
            <a:endCxn id="8" idx="1"/>
          </p:cNvCxnSpPr>
          <p:nvPr/>
        </p:nvCxnSpPr>
        <p:spPr>
          <a:xfrm rot="10800000" flipH="1" flipV="1">
            <a:off x="581192" y="3705337"/>
            <a:ext cx="577590" cy="1344958"/>
          </a:xfrm>
          <a:prstGeom prst="bentConnector3">
            <a:avLst>
              <a:gd name="adj1" fmla="val -39578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B3406B4E-83C2-41D3-A265-2EB3D5D9A512}"/>
              </a:ext>
            </a:extLst>
          </p:cNvPr>
          <p:cNvCxnSpPr>
            <a:stCxn id="7" idx="2"/>
            <a:endCxn id="13" idx="1"/>
          </p:cNvCxnSpPr>
          <p:nvPr/>
        </p:nvCxnSpPr>
        <p:spPr>
          <a:xfrm rot="16200000" flipH="1" flipV="1">
            <a:off x="3187280" y="4032465"/>
            <a:ext cx="298261" cy="739151"/>
          </a:xfrm>
          <a:prstGeom prst="bentConnector4">
            <a:avLst>
              <a:gd name="adj1" fmla="val -1503"/>
              <a:gd name="adj2" fmla="val 164886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EB7EC589-2087-61BF-1C71-1BCA2007C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Engineering design, requirements, and ga 1</a:t>
            </a:r>
          </a:p>
        </p:txBody>
      </p:sp>
    </p:spTree>
    <p:extLst>
      <p:ext uri="{BB962C8B-B14F-4D97-AF65-F5344CB8AC3E}">
        <p14:creationId xmlns:p14="http://schemas.microsoft.com/office/powerpoint/2010/main" val="510968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C30D7-3D1F-4BC8-8ED0-5F9918FBD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Specification vs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758EC-A731-4A81-895C-BDAD8CFEDF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ZA" b="1" dirty="0"/>
              <a:t>Requirement</a:t>
            </a:r>
          </a:p>
          <a:p>
            <a:r>
              <a:rPr lang="en-ZA" dirty="0"/>
              <a:t>- Statement of ONE thing</a:t>
            </a:r>
          </a:p>
          <a:p>
            <a:r>
              <a:rPr lang="en-ZA" dirty="0"/>
              <a:t>- System performance or characteristic</a:t>
            </a:r>
          </a:p>
          <a:p>
            <a:r>
              <a:rPr lang="en-ZA" dirty="0"/>
              <a:t>- Must be complete and exact to be useful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C6F008-335F-4915-AEBF-1D50C70274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ZA" b="1" dirty="0"/>
              <a:t>Specification (Requirement Specification)</a:t>
            </a:r>
          </a:p>
          <a:p>
            <a:r>
              <a:rPr lang="en-ZA" dirty="0"/>
              <a:t>- Collection of all requirements</a:t>
            </a:r>
          </a:p>
          <a:p>
            <a:r>
              <a:rPr lang="en-ZA" dirty="0"/>
              <a:t>- Including verification requirements</a:t>
            </a:r>
          </a:p>
        </p:txBody>
      </p:sp>
      <p:pic>
        <p:nvPicPr>
          <p:cNvPr id="1026" name="Picture 2" descr="Records Management in Spain - Scan Transport">
            <a:extLst>
              <a:ext uri="{FF2B5EF4-FFF2-40B4-BE49-F238E27FC236}">
                <a16:creationId xmlns:a16="http://schemas.microsoft.com/office/drawing/2014/main" id="{5E5DF4FA-CEF9-4EF9-BA87-891DDBEA6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9613" y="4044526"/>
            <a:ext cx="3719846" cy="3195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6826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47DC7-BC82-59B6-78F0-BAB1507BE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Requirements: Levels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6C4583-A067-C5D1-77D3-92FE49F9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06BDFF-170C-DF74-4A38-C06D24C2A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There are commonly several levels to any system</a:t>
            </a:r>
          </a:p>
          <a:p>
            <a:pPr lvl="1"/>
            <a:r>
              <a:rPr lang="en-ZA" dirty="0"/>
              <a:t>Business</a:t>
            </a:r>
          </a:p>
          <a:p>
            <a:pPr lvl="1"/>
            <a:r>
              <a:rPr lang="en-ZA" dirty="0"/>
              <a:t>Operational</a:t>
            </a:r>
          </a:p>
          <a:p>
            <a:pPr lvl="1"/>
            <a:r>
              <a:rPr lang="en-ZA" dirty="0"/>
              <a:t>Technical</a:t>
            </a:r>
          </a:p>
          <a:p>
            <a:pPr lvl="1"/>
            <a:r>
              <a:rPr lang="en-ZA" dirty="0"/>
              <a:t>Detail</a:t>
            </a:r>
          </a:p>
          <a:p>
            <a:r>
              <a:rPr lang="en-ZA" dirty="0"/>
              <a:t>A business requirement is usually the beginning </a:t>
            </a:r>
          </a:p>
          <a:p>
            <a:r>
              <a:rPr lang="en-ZA" dirty="0"/>
              <a:t>In this module we work from the operational level towards the detail</a:t>
            </a:r>
          </a:p>
          <a:p>
            <a:r>
              <a:rPr lang="en-ZA" dirty="0"/>
              <a:t>Detail requirements are typically passed to specialist engineering</a:t>
            </a:r>
          </a:p>
        </p:txBody>
      </p:sp>
    </p:spTree>
    <p:extLst>
      <p:ext uri="{BB962C8B-B14F-4D97-AF65-F5344CB8AC3E}">
        <p14:creationId xmlns:p14="http://schemas.microsoft.com/office/powerpoint/2010/main" val="2578325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Details of a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ZA" dirty="0"/>
              <a:t>Requirements must be:</a:t>
            </a:r>
          </a:p>
          <a:p>
            <a:pPr lvl="1"/>
            <a:r>
              <a:rPr lang="en-ZA" dirty="0"/>
              <a:t>Clear and Specific</a:t>
            </a:r>
          </a:p>
          <a:p>
            <a:pPr lvl="1"/>
            <a:r>
              <a:rPr lang="en-ZA" dirty="0"/>
              <a:t>Unambiguous</a:t>
            </a:r>
          </a:p>
          <a:p>
            <a:pPr lvl="1"/>
            <a:r>
              <a:rPr lang="en-ZA" dirty="0"/>
              <a:t>Measurable</a:t>
            </a:r>
          </a:p>
          <a:p>
            <a:pPr lvl="1"/>
            <a:r>
              <a:rPr lang="en-ZA" dirty="0"/>
              <a:t>Verifiable</a:t>
            </a:r>
          </a:p>
          <a:p>
            <a:pPr lvl="1"/>
            <a:endParaRPr lang="en-ZA" dirty="0"/>
          </a:p>
          <a:p>
            <a:r>
              <a:rPr lang="en-ZA" dirty="0"/>
              <a:t>Requirements are either</a:t>
            </a:r>
          </a:p>
          <a:p>
            <a:pPr lvl="1"/>
            <a:r>
              <a:rPr lang="en-ZA" dirty="0"/>
              <a:t>Functional (technology/implementation agnostic) or, </a:t>
            </a:r>
          </a:p>
          <a:p>
            <a:pPr lvl="1"/>
            <a:r>
              <a:rPr lang="en-ZA" dirty="0"/>
              <a:t>Non-functional</a:t>
            </a:r>
          </a:p>
          <a:p>
            <a:pPr lvl="1"/>
            <a:r>
              <a:rPr lang="en-ZA" dirty="0"/>
              <a:t>Design related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584" y="2483658"/>
            <a:ext cx="5259898" cy="437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942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33F277-20C2-D6EF-8EBB-0DDFB277B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Requirements : Types (Functional)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BB4B5-AA68-B345-2178-EE07CAC19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684213" indent="-685800"/>
            <a:r>
              <a:rPr lang="en-US" sz="3200" b="1" dirty="0">
                <a:solidFill>
                  <a:schemeClr val="accent1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Client / user requirements (User Requirement Statement - URS)</a:t>
            </a:r>
          </a:p>
          <a:p>
            <a:pPr marL="684213" indent="-685800"/>
            <a:r>
              <a:rPr lang="en-US" sz="3200" b="1" dirty="0">
                <a:solidFill>
                  <a:schemeClr val="accent1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Functional requirements (what the system / product must do)</a:t>
            </a:r>
          </a:p>
          <a:p>
            <a:pPr marL="684213" indent="-685800"/>
            <a:r>
              <a:rPr lang="en-US" sz="3200" b="1" dirty="0">
                <a:solidFill>
                  <a:schemeClr val="accent1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Performance requirements (how well, how much, how often </a:t>
            </a:r>
            <a:r>
              <a:rPr lang="en-US" sz="3200" b="1" dirty="0" err="1">
                <a:solidFill>
                  <a:schemeClr val="accent1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etc</a:t>
            </a:r>
            <a:r>
              <a:rPr lang="en-US" sz="3200" b="1" dirty="0">
                <a:solidFill>
                  <a:schemeClr val="accent1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)</a:t>
            </a:r>
          </a:p>
          <a:p>
            <a:pPr marL="684213" indent="-685800"/>
            <a:r>
              <a:rPr lang="en-US" sz="3200" b="1" dirty="0">
                <a:solidFill>
                  <a:schemeClr val="accent1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Physical requirements (weight, size, materials </a:t>
            </a:r>
            <a:r>
              <a:rPr lang="en-US" sz="3200" b="1" dirty="0" err="1">
                <a:solidFill>
                  <a:schemeClr val="accent1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etc</a:t>
            </a:r>
            <a:r>
              <a:rPr lang="en-US" sz="3200" b="1" dirty="0">
                <a:solidFill>
                  <a:schemeClr val="accent1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)</a:t>
            </a:r>
          </a:p>
          <a:p>
            <a:pPr marL="684213" indent="-685800"/>
            <a:r>
              <a:rPr lang="en-US" sz="3200" b="1" dirty="0">
                <a:solidFill>
                  <a:schemeClr val="accent1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Interface requirements (physical interfaces, human-machine </a:t>
            </a:r>
            <a:r>
              <a:rPr lang="en-US" sz="3200" b="1" dirty="0" err="1">
                <a:solidFill>
                  <a:schemeClr val="accent1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etc</a:t>
            </a:r>
            <a:r>
              <a:rPr lang="en-US" sz="3200" b="1" dirty="0">
                <a:solidFill>
                  <a:schemeClr val="accent1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)</a:t>
            </a:r>
          </a:p>
          <a:p>
            <a:pPr marL="684213" indent="-685800"/>
            <a:r>
              <a:rPr lang="en-US" sz="3200" b="1" dirty="0">
                <a:solidFill>
                  <a:schemeClr val="accent1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Design requirements (“build to”, “code to”, “buy to”, “-</a:t>
            </a:r>
            <a:r>
              <a:rPr lang="en-US" sz="3200" b="1" dirty="0" err="1">
                <a:solidFill>
                  <a:schemeClr val="accent1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ilities</a:t>
            </a:r>
            <a:r>
              <a:rPr lang="en-US" sz="3200" b="1" dirty="0">
                <a:solidFill>
                  <a:schemeClr val="accent1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”)</a:t>
            </a:r>
          </a:p>
          <a:p>
            <a:pPr marL="684213" indent="-685800"/>
            <a:r>
              <a:rPr lang="en-US" sz="3200" b="1" dirty="0">
                <a:solidFill>
                  <a:schemeClr val="accent1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Deployment (where used, modes of use, context of product in physical system)</a:t>
            </a:r>
          </a:p>
          <a:p>
            <a:pPr marL="684213" indent="-685800"/>
            <a:r>
              <a:rPr lang="en-US" sz="3200" b="1" dirty="0">
                <a:solidFill>
                  <a:schemeClr val="accent1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Other requirements (see slides below) falling under “non-functional”</a:t>
            </a:r>
          </a:p>
          <a:p>
            <a:pPr marL="684213" indent="-685800"/>
            <a:r>
              <a:rPr lang="en-US" sz="3200" b="1" dirty="0">
                <a:solidFill>
                  <a:schemeClr val="accent1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Derived requirement (implied or transformed from higher level)</a:t>
            </a:r>
          </a:p>
          <a:p>
            <a:pPr marL="684213" indent="-685800"/>
            <a:r>
              <a:rPr lang="en-US" sz="3200" b="1" dirty="0">
                <a:solidFill>
                  <a:schemeClr val="accent1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Allocated requirement (created by dividing other requirement)</a:t>
            </a:r>
          </a:p>
          <a:p>
            <a:endParaRPr lang="en-ZA" dirty="0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27327ED1-F98F-CD04-40C9-875DEEB91D94}"/>
              </a:ext>
            </a:extLst>
          </p:cNvPr>
          <p:cNvSpPr/>
          <p:nvPr/>
        </p:nvSpPr>
        <p:spPr>
          <a:xfrm>
            <a:off x="8749794" y="2196524"/>
            <a:ext cx="345746" cy="716745"/>
          </a:xfrm>
          <a:prstGeom prst="rightBrace">
            <a:avLst/>
          </a:prstGeom>
          <a:ln w="635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EC449AA2-DDD4-8445-1BE3-C15F5E7B730F}"/>
              </a:ext>
            </a:extLst>
          </p:cNvPr>
          <p:cNvSpPr>
            <a:spLocks/>
          </p:cNvSpPr>
          <p:nvPr/>
        </p:nvSpPr>
        <p:spPr bwMode="auto">
          <a:xfrm>
            <a:off x="9577961" y="2065355"/>
            <a:ext cx="2880320" cy="953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sz="2400" b="1" dirty="0">
                <a:solidFill>
                  <a:srgbClr val="FF9900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Function</a:t>
            </a:r>
            <a:endParaRPr lang="en-US" sz="4000" b="1" dirty="0">
              <a:solidFill>
                <a:srgbClr val="FF9900"/>
              </a:solidFill>
              <a:latin typeface="Century Gothic" panose="020B0502020202020204" pitchFamily="34" charset="0"/>
              <a:ea typeface="ＭＳ Ｐゴシック" charset="0"/>
              <a:cs typeface="ＭＳ Ｐゴシック" charset="0"/>
              <a:sym typeface="Titillium Regular" charset="0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15DC5F52-47EB-424F-5846-A41E824B425C}"/>
              </a:ext>
            </a:extLst>
          </p:cNvPr>
          <p:cNvSpPr>
            <a:spLocks/>
          </p:cNvSpPr>
          <p:nvPr/>
        </p:nvSpPr>
        <p:spPr bwMode="auto">
          <a:xfrm>
            <a:off x="9577961" y="2889928"/>
            <a:ext cx="1598269" cy="953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sz="2400" b="1" dirty="0">
                <a:solidFill>
                  <a:srgbClr val="FF9900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Form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8DC6A7-86C2-4EA5-60F8-430ADD19DDC4}"/>
              </a:ext>
            </a:extLst>
          </p:cNvPr>
          <p:cNvSpPr>
            <a:spLocks/>
          </p:cNvSpPr>
          <p:nvPr/>
        </p:nvSpPr>
        <p:spPr bwMode="auto">
          <a:xfrm>
            <a:off x="9577961" y="3253770"/>
            <a:ext cx="1229107" cy="953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sz="2400" b="1" dirty="0">
                <a:solidFill>
                  <a:srgbClr val="FF9900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Fit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CA716A-C871-AC77-70C2-EAEFEDFFC35D}"/>
              </a:ext>
            </a:extLst>
          </p:cNvPr>
          <p:cNvCxnSpPr>
            <a:cxnSpLocks/>
          </p:cNvCxnSpPr>
          <p:nvPr/>
        </p:nvCxnSpPr>
        <p:spPr>
          <a:xfrm flipH="1">
            <a:off x="6971598" y="3366486"/>
            <a:ext cx="2488644" cy="0"/>
          </a:xfrm>
          <a:prstGeom prst="line">
            <a:avLst/>
          </a:prstGeom>
          <a:ln w="63500">
            <a:solidFill>
              <a:srgbClr val="FF990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177D2E-1DB4-7638-C1D5-A8871A119A4E}"/>
              </a:ext>
            </a:extLst>
          </p:cNvPr>
          <p:cNvCxnSpPr>
            <a:cxnSpLocks/>
          </p:cNvCxnSpPr>
          <p:nvPr/>
        </p:nvCxnSpPr>
        <p:spPr>
          <a:xfrm flipH="1">
            <a:off x="9082049" y="3730328"/>
            <a:ext cx="378193" cy="0"/>
          </a:xfrm>
          <a:prstGeom prst="line">
            <a:avLst/>
          </a:prstGeom>
          <a:ln w="63500">
            <a:solidFill>
              <a:srgbClr val="FF990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629482E-D3F3-D3E4-4F8B-26BAE11029B6}"/>
              </a:ext>
            </a:extLst>
          </p:cNvPr>
          <p:cNvCxnSpPr>
            <a:cxnSpLocks/>
          </p:cNvCxnSpPr>
          <p:nvPr/>
        </p:nvCxnSpPr>
        <p:spPr>
          <a:xfrm flipH="1">
            <a:off x="9082049" y="2554742"/>
            <a:ext cx="378193" cy="0"/>
          </a:xfrm>
          <a:prstGeom prst="line">
            <a:avLst/>
          </a:prstGeom>
          <a:ln w="63500">
            <a:solidFill>
              <a:srgbClr val="FF990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00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4A4B8-D4AA-FA05-D3C5-5EC6F05BE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Requirements: Types (non-Functional)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E2E1AA-A59E-DE5E-8A3A-A89AD3DA7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D3B88-2A50-8B39-F5D4-1425C7901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ZA" dirty="0"/>
              <a:t>“Design for” – all the “-</a:t>
            </a:r>
            <a:r>
              <a:rPr lang="en-ZA" dirty="0" err="1"/>
              <a:t>ilities</a:t>
            </a:r>
            <a:r>
              <a:rPr lang="en-ZA" dirty="0"/>
              <a:t>”:</a:t>
            </a:r>
          </a:p>
          <a:p>
            <a:pPr lvl="1"/>
            <a:r>
              <a:rPr lang="en-ZA" dirty="0"/>
              <a:t>Usability</a:t>
            </a:r>
          </a:p>
          <a:p>
            <a:pPr lvl="1"/>
            <a:r>
              <a:rPr lang="en-ZA" dirty="0"/>
              <a:t>Modularity</a:t>
            </a:r>
          </a:p>
          <a:p>
            <a:pPr lvl="1"/>
            <a:r>
              <a:rPr lang="en-ZA" dirty="0"/>
              <a:t>Maintainability</a:t>
            </a:r>
          </a:p>
          <a:p>
            <a:pPr lvl="1"/>
            <a:r>
              <a:rPr lang="en-ZA" dirty="0"/>
              <a:t>Reliability</a:t>
            </a:r>
          </a:p>
          <a:p>
            <a:pPr lvl="1"/>
            <a:r>
              <a:rPr lang="en-ZA" dirty="0"/>
              <a:t>Interoperability</a:t>
            </a:r>
          </a:p>
          <a:p>
            <a:pPr lvl="1"/>
            <a:r>
              <a:rPr lang="en-ZA" dirty="0"/>
              <a:t>Transportability</a:t>
            </a:r>
          </a:p>
          <a:p>
            <a:r>
              <a:rPr lang="en-ZA" dirty="0"/>
              <a:t>Environmental requirements – ingress, corrosive, etc.</a:t>
            </a:r>
          </a:p>
          <a:p>
            <a:r>
              <a:rPr lang="en-ZA" dirty="0"/>
              <a:t>Legal requirements – regulatory, standards</a:t>
            </a:r>
          </a:p>
          <a:p>
            <a:r>
              <a:rPr lang="en-ZA" dirty="0"/>
              <a:t>Social requirements – safety, ergonomics, cultural considerations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53E9FA7-5302-3267-7D21-D6C6F38CDFC9}"/>
              </a:ext>
            </a:extLst>
          </p:cNvPr>
          <p:cNvSpPr>
            <a:spLocks/>
          </p:cNvSpPr>
          <p:nvPr/>
        </p:nvSpPr>
        <p:spPr bwMode="auto">
          <a:xfrm>
            <a:off x="5118100" y="3066766"/>
            <a:ext cx="4392911" cy="953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l"/>
            <a:r>
              <a:rPr lang="en-US" sz="2400" b="1" dirty="0">
                <a:solidFill>
                  <a:srgbClr val="FF9900"/>
                </a:solidFill>
                <a:latin typeface="Century Gothic" panose="020B0502020202020204" pitchFamily="34" charset="0"/>
                <a:ea typeface="ＭＳ Ｐゴシック" charset="0"/>
                <a:cs typeface="ＭＳ Ｐゴシック" charset="0"/>
                <a:sym typeface="Titillium Regular" charset="0"/>
              </a:rPr>
              <a:t>Commonly an engineering specialty in own right, e.g. “Reliability engineering”</a:t>
            </a:r>
            <a:endParaRPr lang="en-US" sz="4000" b="1" dirty="0">
              <a:solidFill>
                <a:srgbClr val="FF9900"/>
              </a:solidFill>
              <a:latin typeface="Century Gothic" panose="020B0502020202020204" pitchFamily="34" charset="0"/>
              <a:ea typeface="ＭＳ Ｐゴシック" charset="0"/>
              <a:cs typeface="ＭＳ Ｐゴシック" charset="0"/>
              <a:sym typeface="Titillium Regular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C2D168E-7662-5020-FA2E-D44D7098F9CF}"/>
              </a:ext>
            </a:extLst>
          </p:cNvPr>
          <p:cNvCxnSpPr>
            <a:cxnSpLocks/>
          </p:cNvCxnSpPr>
          <p:nvPr/>
        </p:nvCxnSpPr>
        <p:spPr>
          <a:xfrm flipH="1">
            <a:off x="4199562" y="3543324"/>
            <a:ext cx="777550" cy="0"/>
          </a:xfrm>
          <a:prstGeom prst="line">
            <a:avLst/>
          </a:prstGeom>
          <a:ln w="63500">
            <a:solidFill>
              <a:srgbClr val="FF9900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ight Brace 6">
            <a:extLst>
              <a:ext uri="{FF2B5EF4-FFF2-40B4-BE49-F238E27FC236}">
                <a16:creationId xmlns:a16="http://schemas.microsoft.com/office/drawing/2014/main" id="{56D05FB3-9B75-8BC8-8E90-D1605E4CA2D9}"/>
              </a:ext>
            </a:extLst>
          </p:cNvPr>
          <p:cNvSpPr/>
          <p:nvPr/>
        </p:nvSpPr>
        <p:spPr>
          <a:xfrm>
            <a:off x="3890685" y="2810436"/>
            <a:ext cx="308877" cy="1465777"/>
          </a:xfrm>
          <a:prstGeom prst="rightBrace">
            <a:avLst>
              <a:gd name="adj1" fmla="val 53634"/>
              <a:gd name="adj2" fmla="val 50000"/>
            </a:avLst>
          </a:prstGeom>
          <a:ln w="635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67562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60B79-92D5-8D16-D148-9C0C40A16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8B7D0-34E3-2665-6362-59F6B59BA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Technically speaking can be functional or non-functional</a:t>
            </a:r>
          </a:p>
          <a:p>
            <a:r>
              <a:rPr lang="en-GB" dirty="0"/>
              <a:t>Specifies elements of the technical design</a:t>
            </a:r>
          </a:p>
          <a:p>
            <a:pPr lvl="1"/>
            <a:r>
              <a:rPr lang="en-GB" dirty="0"/>
              <a:t>A Siemens S7-1200 PLC shall be used</a:t>
            </a:r>
          </a:p>
          <a:p>
            <a:pPr lvl="1"/>
            <a:r>
              <a:rPr lang="en-GB" dirty="0"/>
              <a:t>No Arduino derived or based software libraries shall be used</a:t>
            </a:r>
          </a:p>
          <a:p>
            <a:r>
              <a:rPr lang="en-GB" dirty="0"/>
              <a:t>Since this limits the solution space (early on without all the information available) should be used very conservatively and with good reason</a:t>
            </a:r>
          </a:p>
        </p:txBody>
      </p:sp>
    </p:spTree>
    <p:extLst>
      <p:ext uri="{BB962C8B-B14F-4D97-AF65-F5344CB8AC3E}">
        <p14:creationId xmlns:p14="http://schemas.microsoft.com/office/powerpoint/2010/main" val="1739186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3DAE-8F07-490D-89DD-77513A780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Measures of Effectiveness (MOE</a:t>
            </a:r>
            <a:r>
              <a:rPr lang="en-ZA" sz="1800" dirty="0"/>
              <a:t>s</a:t>
            </a:r>
            <a:r>
              <a:rPr lang="en-ZA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7A50D-777B-4A67-A9E8-2F24302C13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ZA" dirty="0"/>
              <a:t>- Relates to </a:t>
            </a:r>
            <a:r>
              <a:rPr lang="en-ZA" b="1" dirty="0"/>
              <a:t>mission</a:t>
            </a:r>
            <a:r>
              <a:rPr lang="en-ZA" dirty="0"/>
              <a:t> performance</a:t>
            </a:r>
          </a:p>
          <a:p>
            <a:r>
              <a:rPr lang="en-ZA" dirty="0"/>
              <a:t>- Simple to state</a:t>
            </a:r>
          </a:p>
          <a:p>
            <a:r>
              <a:rPr lang="en-ZA" dirty="0"/>
              <a:t>- Testable</a:t>
            </a:r>
          </a:p>
          <a:p>
            <a:r>
              <a:rPr lang="en-ZA" dirty="0"/>
              <a:t>- Can be measured quantitatively</a:t>
            </a:r>
          </a:p>
          <a:p>
            <a:r>
              <a:rPr lang="en-ZA" dirty="0"/>
              <a:t>- Easy to measure</a:t>
            </a:r>
          </a:p>
          <a:p>
            <a:r>
              <a:rPr lang="en-ZA" dirty="0"/>
              <a:t>- Can be expressed probabilistically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02177-BE98-4108-AFF2-8C95EED3C1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ZA" dirty="0"/>
              <a:t>Measure of Performance (MOP)</a:t>
            </a:r>
          </a:p>
          <a:p>
            <a:r>
              <a:rPr lang="en-ZA" dirty="0"/>
              <a:t>- Directly quantifiable</a:t>
            </a:r>
          </a:p>
          <a:p>
            <a:r>
              <a:rPr lang="en-ZA" dirty="0"/>
              <a:t>- Speed, payload, Voltage, range, etc.</a:t>
            </a:r>
          </a:p>
          <a:p>
            <a:endParaRPr lang="en-ZA" dirty="0"/>
          </a:p>
          <a:p>
            <a:endParaRPr lang="en-ZA" dirty="0"/>
          </a:p>
          <a:p>
            <a:r>
              <a:rPr lang="en-ZA" dirty="0"/>
              <a:t>Measure of Suitability (MOS)</a:t>
            </a:r>
          </a:p>
          <a:p>
            <a:r>
              <a:rPr lang="en-ZA" dirty="0"/>
              <a:t>- Ability to be supported</a:t>
            </a:r>
          </a:p>
          <a:p>
            <a:r>
              <a:rPr lang="en-ZA" dirty="0"/>
              <a:t>- Reliability, Maintainability, etc.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F95ED91-33F9-4FB0-BD35-368156997AB0}"/>
              </a:ext>
            </a:extLst>
          </p:cNvPr>
          <p:cNvCxnSpPr/>
          <p:nvPr/>
        </p:nvCxnSpPr>
        <p:spPr>
          <a:xfrm flipV="1">
            <a:off x="4965700" y="3035300"/>
            <a:ext cx="1130300" cy="5334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9F7AFB-EE58-4D4F-A6AD-A916A3829200}"/>
              </a:ext>
            </a:extLst>
          </p:cNvPr>
          <p:cNvCxnSpPr/>
          <p:nvPr/>
        </p:nvCxnSpPr>
        <p:spPr>
          <a:xfrm>
            <a:off x="4965700" y="3568700"/>
            <a:ext cx="1130300" cy="6604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4CFE271-9B67-490D-A17E-DBE00856E120}"/>
              </a:ext>
            </a:extLst>
          </p:cNvPr>
          <p:cNvSpPr txBox="1"/>
          <p:nvPr/>
        </p:nvSpPr>
        <p:spPr>
          <a:xfrm>
            <a:off x="1823383" y="5205012"/>
            <a:ext cx="386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5400" b="1" dirty="0">
                <a:solidFill>
                  <a:schemeClr val="accent2"/>
                </a:solidFill>
              </a:rPr>
              <a:t>HOW WELL?</a:t>
            </a:r>
          </a:p>
        </p:txBody>
      </p:sp>
    </p:spTree>
    <p:extLst>
      <p:ext uri="{BB962C8B-B14F-4D97-AF65-F5344CB8AC3E}">
        <p14:creationId xmlns:p14="http://schemas.microsoft.com/office/powerpoint/2010/main" val="2784670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Where to start? – Get some requirements…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Requirements elicitation</a:t>
            </a:r>
          </a:p>
          <a:p>
            <a:pPr lvl="1"/>
            <a:r>
              <a:rPr lang="en-ZA" dirty="0"/>
              <a:t>Getting the requirements from the customer</a:t>
            </a:r>
          </a:p>
          <a:p>
            <a:pPr lvl="1"/>
            <a:endParaRPr lang="en-ZA" dirty="0"/>
          </a:p>
          <a:p>
            <a:r>
              <a:rPr lang="en-ZA" dirty="0"/>
              <a:t>Ideal world – customer provides all requirements in usable form</a:t>
            </a:r>
          </a:p>
          <a:p>
            <a:r>
              <a:rPr lang="en-ZA" dirty="0"/>
              <a:t>Real world – customer provides some requirements, implicit requirements, vague requirements, contradictory requirements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3B8C95-4598-488A-80D4-53D2F37F9047}"/>
              </a:ext>
            </a:extLst>
          </p:cNvPr>
          <p:cNvSpPr txBox="1"/>
          <p:nvPr/>
        </p:nvSpPr>
        <p:spPr>
          <a:xfrm>
            <a:off x="0" y="5858799"/>
            <a:ext cx="124324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5400" b="1" dirty="0">
                <a:solidFill>
                  <a:schemeClr val="accent2"/>
                </a:solidFill>
              </a:rPr>
              <a:t>Conceptual Design / Context Analysis</a:t>
            </a:r>
          </a:p>
        </p:txBody>
      </p:sp>
    </p:spTree>
    <p:extLst>
      <p:ext uri="{BB962C8B-B14F-4D97-AF65-F5344CB8AC3E}">
        <p14:creationId xmlns:p14="http://schemas.microsoft.com/office/powerpoint/2010/main" val="159123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DA5F4-5AB6-5F13-2611-4978E0D4A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Attributes of good requirements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56F722-FE3F-C10A-35C4-46567ACB1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A1C3BB-6AC6-E608-809E-AF1DB6DB8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Achievable</a:t>
            </a:r>
          </a:p>
          <a:p>
            <a:r>
              <a:rPr lang="en-ZA" dirty="0"/>
              <a:t>Verifiable</a:t>
            </a:r>
          </a:p>
          <a:p>
            <a:r>
              <a:rPr lang="en-ZA" dirty="0"/>
              <a:t>Unambiguous</a:t>
            </a:r>
          </a:p>
          <a:p>
            <a:r>
              <a:rPr lang="en-ZA" dirty="0"/>
              <a:t>Complete</a:t>
            </a:r>
          </a:p>
          <a:p>
            <a:r>
              <a:rPr lang="en-ZA" dirty="0"/>
              <a:t>Consistent</a:t>
            </a:r>
          </a:p>
          <a:p>
            <a:r>
              <a:rPr lang="en-ZA" dirty="0"/>
              <a:t>Express need</a:t>
            </a:r>
          </a:p>
          <a:p>
            <a:r>
              <a:rPr lang="en-ZA" dirty="0"/>
              <a:t>Appropriate for level</a:t>
            </a:r>
          </a:p>
        </p:txBody>
      </p:sp>
    </p:spTree>
    <p:extLst>
      <p:ext uri="{BB962C8B-B14F-4D97-AF65-F5344CB8AC3E}">
        <p14:creationId xmlns:p14="http://schemas.microsoft.com/office/powerpoint/2010/main" val="3615802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DA5F4-5AB6-5F13-2611-4978E0D4A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Attributes of good requirements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56F722-FE3F-C10A-35C4-46567ACB1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A1C3BB-6AC6-E608-809E-AF1DB6DB8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ZA" b="1" dirty="0">
                <a:solidFill>
                  <a:srgbClr val="FFC000"/>
                </a:solidFill>
              </a:rPr>
              <a:t>Achievable</a:t>
            </a:r>
          </a:p>
          <a:p>
            <a:pPr lvl="1"/>
            <a:r>
              <a:rPr lang="en-ZA" dirty="0"/>
              <a:t>Reflect a need or objective for which a solution is technically achievable at a cost considered affordable.</a:t>
            </a:r>
          </a:p>
          <a:p>
            <a:r>
              <a:rPr lang="en-ZA" b="1" dirty="0">
                <a:solidFill>
                  <a:srgbClr val="FFC000"/>
                </a:solidFill>
              </a:rPr>
              <a:t>Verifiable</a:t>
            </a:r>
          </a:p>
          <a:p>
            <a:pPr lvl="1"/>
            <a:r>
              <a:rPr lang="en-ZA" dirty="0"/>
              <a:t>Not defined by words such as sufficient, resistant, light, heavy, excessive.</a:t>
            </a:r>
          </a:p>
          <a:p>
            <a:pPr lvl="1"/>
            <a:r>
              <a:rPr lang="en-ZA" dirty="0"/>
              <a:t>Expected performance must be objective, preferably quantitative</a:t>
            </a:r>
          </a:p>
          <a:p>
            <a:r>
              <a:rPr lang="en-ZA" dirty="0"/>
              <a:t>Unambiguous</a:t>
            </a:r>
          </a:p>
          <a:p>
            <a:r>
              <a:rPr lang="en-ZA" dirty="0"/>
              <a:t>Complete</a:t>
            </a:r>
          </a:p>
          <a:p>
            <a:r>
              <a:rPr lang="en-ZA" dirty="0"/>
              <a:t>Consistent</a:t>
            </a:r>
          </a:p>
          <a:p>
            <a:r>
              <a:rPr lang="en-ZA" dirty="0"/>
              <a:t>Express need</a:t>
            </a:r>
          </a:p>
          <a:p>
            <a:r>
              <a:rPr lang="en-ZA" dirty="0"/>
              <a:t>Appropriate for level</a:t>
            </a:r>
          </a:p>
        </p:txBody>
      </p:sp>
    </p:spTree>
    <p:extLst>
      <p:ext uri="{BB962C8B-B14F-4D97-AF65-F5344CB8AC3E}">
        <p14:creationId xmlns:p14="http://schemas.microsoft.com/office/powerpoint/2010/main" val="578107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DA5F4-5AB6-5F13-2611-4978E0D4A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Attributes of good requirements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56F722-FE3F-C10A-35C4-46567ACB1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A1C3BB-6AC6-E608-809E-AF1DB6DB8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ZA" dirty="0"/>
              <a:t>Achievable</a:t>
            </a:r>
          </a:p>
          <a:p>
            <a:r>
              <a:rPr lang="en-ZA" dirty="0"/>
              <a:t>Verifiable</a:t>
            </a:r>
          </a:p>
          <a:p>
            <a:r>
              <a:rPr lang="en-ZA" dirty="0"/>
              <a:t>Unambiguous</a:t>
            </a:r>
          </a:p>
          <a:p>
            <a:r>
              <a:rPr lang="en-ZA" b="1" dirty="0">
                <a:solidFill>
                  <a:srgbClr val="FFC000"/>
                </a:solidFill>
              </a:rPr>
              <a:t>Complete</a:t>
            </a:r>
          </a:p>
          <a:p>
            <a:pPr lvl="1"/>
            <a:r>
              <a:rPr lang="en-ZA" dirty="0"/>
              <a:t>Include all environmental considerations, operational concepts, and constraints</a:t>
            </a:r>
          </a:p>
          <a:p>
            <a:r>
              <a:rPr lang="en-ZA" b="1" dirty="0">
                <a:solidFill>
                  <a:srgbClr val="FFC000"/>
                </a:solidFill>
              </a:rPr>
              <a:t>Consistent</a:t>
            </a:r>
          </a:p>
          <a:p>
            <a:pPr lvl="1"/>
            <a:r>
              <a:rPr lang="en-ZA" dirty="0"/>
              <a:t>Must be consistent with other requirements</a:t>
            </a:r>
          </a:p>
          <a:p>
            <a:pPr lvl="1"/>
            <a:r>
              <a:rPr lang="en-ZA" dirty="0"/>
              <a:t>Conflicts must be resolved up front</a:t>
            </a:r>
          </a:p>
          <a:p>
            <a:r>
              <a:rPr lang="en-ZA" dirty="0"/>
              <a:t>Express need</a:t>
            </a:r>
          </a:p>
          <a:p>
            <a:r>
              <a:rPr lang="en-ZA" dirty="0"/>
              <a:t>Appropriate for level</a:t>
            </a:r>
          </a:p>
        </p:txBody>
      </p:sp>
    </p:spTree>
    <p:extLst>
      <p:ext uri="{BB962C8B-B14F-4D97-AF65-F5344CB8AC3E}">
        <p14:creationId xmlns:p14="http://schemas.microsoft.com/office/powerpoint/2010/main" val="4173608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DA5F4-5AB6-5F13-2611-4978E0D4A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Attributes of good requirements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56F722-FE3F-C10A-35C4-46567ACB1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A1C3BB-6AC6-E608-809E-AF1DB6DB8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ZA" dirty="0"/>
              <a:t>Achievable</a:t>
            </a:r>
          </a:p>
          <a:p>
            <a:r>
              <a:rPr lang="en-ZA" dirty="0"/>
              <a:t>Verifiable</a:t>
            </a:r>
          </a:p>
          <a:p>
            <a:r>
              <a:rPr lang="en-ZA" dirty="0"/>
              <a:t>Unambiguous</a:t>
            </a:r>
          </a:p>
          <a:p>
            <a:r>
              <a:rPr lang="en-ZA" dirty="0"/>
              <a:t>Complete</a:t>
            </a:r>
          </a:p>
          <a:p>
            <a:r>
              <a:rPr lang="en-ZA" dirty="0"/>
              <a:t>Consistent</a:t>
            </a:r>
          </a:p>
          <a:p>
            <a:r>
              <a:rPr lang="en-ZA" b="1" dirty="0">
                <a:solidFill>
                  <a:srgbClr val="FFC000"/>
                </a:solidFill>
              </a:rPr>
              <a:t>Express</a:t>
            </a:r>
            <a:r>
              <a:rPr lang="en-ZA" b="1" dirty="0">
                <a:solidFill>
                  <a:srgbClr val="FFFF00"/>
                </a:solidFill>
              </a:rPr>
              <a:t> </a:t>
            </a:r>
            <a:r>
              <a:rPr lang="en-ZA" b="1" dirty="0">
                <a:solidFill>
                  <a:srgbClr val="FFC000"/>
                </a:solidFill>
              </a:rPr>
              <a:t>need</a:t>
            </a:r>
          </a:p>
          <a:p>
            <a:pPr lvl="1"/>
            <a:r>
              <a:rPr lang="en-ZA" dirty="0"/>
              <a:t>“Why” and “What” of the need. NOT how to do it</a:t>
            </a:r>
          </a:p>
          <a:p>
            <a:r>
              <a:rPr lang="en-ZA" b="1" dirty="0">
                <a:solidFill>
                  <a:srgbClr val="FFC000"/>
                </a:solidFill>
              </a:rPr>
              <a:t>Appropriate for level</a:t>
            </a:r>
          </a:p>
          <a:p>
            <a:pPr lvl="1"/>
            <a:r>
              <a:rPr lang="en-ZA" dirty="0"/>
              <a:t>Not too detailed for current level</a:t>
            </a:r>
          </a:p>
          <a:p>
            <a:pPr lvl="1"/>
            <a:r>
              <a:rPr lang="en-ZA" dirty="0"/>
              <a:t>Component level requirements are best left to lower levels of decomposition</a:t>
            </a:r>
          </a:p>
        </p:txBody>
      </p:sp>
    </p:spTree>
    <p:extLst>
      <p:ext uri="{BB962C8B-B14F-4D97-AF65-F5344CB8AC3E}">
        <p14:creationId xmlns:p14="http://schemas.microsoft.com/office/powerpoint/2010/main" val="1501191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Bad stuff – avoid like the plague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424336"/>
            <a:ext cx="11029615" cy="3678303"/>
          </a:xfrm>
        </p:spPr>
        <p:txBody>
          <a:bodyPr>
            <a:noAutofit/>
          </a:bodyPr>
          <a:lstStyle/>
          <a:p>
            <a:r>
              <a:rPr lang="en-ZA" sz="2000" dirty="0"/>
              <a:t>Ambiguity				</a:t>
            </a:r>
            <a:r>
              <a:rPr lang="en-ZA" sz="2000" i="1" dirty="0"/>
              <a:t>The system shall be able to provide historical reports</a:t>
            </a:r>
            <a:endParaRPr lang="en-ZA" sz="2000" dirty="0"/>
          </a:p>
          <a:p>
            <a:r>
              <a:rPr lang="en-ZA" sz="2000" dirty="0"/>
              <a:t>Vague terminology		</a:t>
            </a:r>
            <a:r>
              <a:rPr lang="en-ZA" sz="2000" i="1" dirty="0"/>
              <a:t>The e-mail application must have an intuitive user interface.</a:t>
            </a:r>
          </a:p>
          <a:p>
            <a:r>
              <a:rPr lang="en-ZA" sz="2000" dirty="0"/>
              <a:t>Illusions and fantasies	</a:t>
            </a:r>
            <a:r>
              <a:rPr lang="en-ZA" sz="2000" i="1" dirty="0"/>
              <a:t>The printer shall be always operational</a:t>
            </a:r>
          </a:p>
          <a:p>
            <a:r>
              <a:rPr lang="en-ZA" sz="2000" dirty="0"/>
              <a:t>Multiple requirements	</a:t>
            </a:r>
            <a:r>
              <a:rPr lang="en-ZA" sz="2000" i="1" dirty="0"/>
              <a:t>The guest shall pay the bill with money or credit card</a:t>
            </a:r>
          </a:p>
          <a:p>
            <a:r>
              <a:rPr lang="en-ZA" sz="2000" dirty="0"/>
              <a:t>Design***				</a:t>
            </a:r>
            <a:r>
              <a:rPr lang="en-ZA" sz="2000" i="1" dirty="0"/>
              <a:t>The clock shall present the current civil local time, by receiving code time</a:t>
            </a:r>
          </a:p>
          <a:p>
            <a:pPr marL="0" indent="0">
              <a:buNone/>
            </a:pPr>
            <a:r>
              <a:rPr lang="en-ZA" sz="2000" i="1" dirty="0"/>
              <a:t>						signals from a radio station</a:t>
            </a:r>
          </a:p>
          <a:p>
            <a:r>
              <a:rPr lang="en-ZA" sz="2000" dirty="0"/>
              <a:t>Speculations			</a:t>
            </a:r>
            <a:r>
              <a:rPr lang="en-ZA" sz="2000" i="1" dirty="0"/>
              <a:t>It is possible that the vending machine might offer mineral water</a:t>
            </a:r>
          </a:p>
          <a:p>
            <a:r>
              <a:rPr lang="en-ZA" sz="2000" dirty="0"/>
              <a:t>Suggestions			</a:t>
            </a:r>
            <a:r>
              <a:rPr lang="en-ZA" sz="2000" i="1" dirty="0"/>
              <a:t>The product should probably be able to receive signals from the outside,</a:t>
            </a:r>
          </a:p>
          <a:p>
            <a:pPr marL="0" indent="0">
              <a:buNone/>
            </a:pPr>
            <a:r>
              <a:rPr lang="en-ZA" sz="2000" i="1" dirty="0"/>
              <a:t>						even when used in a train moving at least at 130 km/h.</a:t>
            </a:r>
          </a:p>
          <a:p>
            <a:r>
              <a:rPr lang="en-ZA" sz="2000" dirty="0"/>
              <a:t>Project plans</a:t>
            </a:r>
            <a:endParaRPr lang="en-ZA" sz="2000" i="1" dirty="0"/>
          </a:p>
        </p:txBody>
      </p:sp>
    </p:spTree>
    <p:extLst>
      <p:ext uri="{BB962C8B-B14F-4D97-AF65-F5344CB8AC3E}">
        <p14:creationId xmlns:p14="http://schemas.microsoft.com/office/powerpoint/2010/main" val="117127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CDA24-9EB1-414D-B00D-F55587D92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Good requirements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01F31-9A3B-441B-8736-32FC48AD42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5608320" cy="3748193"/>
          </a:xfrm>
        </p:spPr>
        <p:txBody>
          <a:bodyPr>
            <a:normAutofit/>
          </a:bodyPr>
          <a:lstStyle/>
          <a:p>
            <a:r>
              <a:rPr lang="en-ZA" dirty="0"/>
              <a:t>- Require structure</a:t>
            </a:r>
          </a:p>
          <a:p>
            <a:r>
              <a:rPr lang="en-ZA" dirty="0"/>
              <a:t>- Must be complete</a:t>
            </a:r>
          </a:p>
          <a:p>
            <a:r>
              <a:rPr lang="en-ZA" dirty="0"/>
              <a:t>- Must be verifiable</a:t>
            </a:r>
          </a:p>
          <a:p>
            <a:r>
              <a:rPr lang="en-ZA" dirty="0"/>
              <a:t>- Cannot be optional</a:t>
            </a:r>
          </a:p>
          <a:p>
            <a:endParaRPr lang="en-ZA" dirty="0"/>
          </a:p>
          <a:p>
            <a:r>
              <a:rPr lang="en-ZA" dirty="0"/>
              <a:t>The parsing template helps to:</a:t>
            </a:r>
          </a:p>
          <a:p>
            <a:r>
              <a:rPr lang="en-ZA" dirty="0"/>
              <a:t>- Identify missing elements in existing requirements</a:t>
            </a:r>
          </a:p>
          <a:p>
            <a:r>
              <a:rPr lang="en-ZA" dirty="0"/>
              <a:t>- Write better requirements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0B5B8D1-F1E7-4A76-A69C-CC9918717C1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60414" y="2120900"/>
          <a:ext cx="2795266" cy="39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7818">
                <a:tc>
                  <a:txBody>
                    <a:bodyPr/>
                    <a:lstStyle/>
                    <a:p>
                      <a:r>
                        <a:rPr lang="en-GB" dirty="0"/>
                        <a:t>Parsing Template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818">
                <a:tc>
                  <a:txBody>
                    <a:bodyPr/>
                    <a:lstStyle/>
                    <a:p>
                      <a:r>
                        <a:rPr lang="en-GB" dirty="0"/>
                        <a:t>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818">
                <a:tc>
                  <a:txBody>
                    <a:bodyPr/>
                    <a:lstStyle/>
                    <a:p>
                      <a:r>
                        <a:rPr lang="en-GB" dirty="0"/>
                        <a:t>Condition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818">
                <a:tc>
                  <a:txBody>
                    <a:bodyPr/>
                    <a:lstStyle/>
                    <a:p>
                      <a:r>
                        <a:rPr lang="en-GB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818">
                <a:tc>
                  <a:txBody>
                    <a:bodyPr/>
                    <a:lstStyle/>
                    <a:p>
                      <a:r>
                        <a:rPr lang="en-GB" dirty="0"/>
                        <a:t>Object of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818">
                <a:tc>
                  <a:txBody>
                    <a:bodyPr/>
                    <a:lstStyle/>
                    <a:p>
                      <a:r>
                        <a:rPr lang="en-GB" dirty="0"/>
                        <a:t>Constraints</a:t>
                      </a:r>
                      <a:r>
                        <a:rPr lang="en-GB" baseline="0" dirty="0"/>
                        <a:t> of action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818">
                <a:tc>
                  <a:txBody>
                    <a:bodyPr/>
                    <a:lstStyle/>
                    <a:p>
                      <a:r>
                        <a:rPr lang="en-GB" dirty="0"/>
                        <a:t>Refinement of object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818">
                <a:tc>
                  <a:txBody>
                    <a:bodyPr/>
                    <a:lstStyle/>
                    <a:p>
                      <a:r>
                        <a:rPr lang="en-GB" dirty="0"/>
                        <a:t>Source of object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7818">
                <a:tc>
                  <a:txBody>
                    <a:bodyPr/>
                    <a:lstStyle/>
                    <a:p>
                      <a:r>
                        <a:rPr lang="en-GB" dirty="0"/>
                        <a:t>Destination of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7818">
                <a:tc>
                  <a:txBody>
                    <a:bodyPr/>
                    <a:lstStyle/>
                    <a:p>
                      <a:r>
                        <a:rPr lang="en-GB" dirty="0"/>
                        <a:t>Refinement of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958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3CDAB-351A-4FEF-9C78-F48B1FEEA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 (very) bad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0FF66-1A6A-4034-9B8F-51F890D3B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sz="2800" i="1" dirty="0">
                <a:solidFill>
                  <a:srgbClr val="FF0000"/>
                </a:solidFill>
              </a:rPr>
              <a:t>“Messages should be switched.”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Unclear which messages</a:t>
            </a:r>
          </a:p>
          <a:p>
            <a:pPr marL="0" indent="0">
              <a:buNone/>
            </a:pPr>
            <a:r>
              <a:rPr lang="en-GB" dirty="0"/>
              <a:t>What should do the switching</a:t>
            </a:r>
          </a:p>
          <a:p>
            <a:pPr marL="0" indent="0">
              <a:buNone/>
            </a:pPr>
            <a:r>
              <a:rPr lang="en-GB" dirty="0"/>
              <a:t>Performance limits of the switching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“should” denotes optionality. So is this functionality optional?</a:t>
            </a:r>
          </a:p>
          <a:p>
            <a:endParaRPr lang="en-Z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FF2953-6EE4-438E-9A47-EABEBD137517}"/>
              </a:ext>
            </a:extLst>
          </p:cNvPr>
          <p:cNvSpPr txBox="1"/>
          <p:nvPr/>
        </p:nvSpPr>
        <p:spPr>
          <a:xfrm>
            <a:off x="964733" y="6021897"/>
            <a:ext cx="124324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800" b="1" dirty="0">
                <a:solidFill>
                  <a:schemeClr val="accent2"/>
                </a:solidFill>
              </a:rPr>
              <a:t>Don’t interpret! AS IT IS WRITTEN</a:t>
            </a:r>
          </a:p>
        </p:txBody>
      </p:sp>
    </p:spTree>
    <p:extLst>
      <p:ext uri="{BB962C8B-B14F-4D97-AF65-F5344CB8AC3E}">
        <p14:creationId xmlns:p14="http://schemas.microsoft.com/office/powerpoint/2010/main" val="111678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419AD-3CE0-4FC4-BA4D-A42A4FB25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Example of template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3ED94-913F-4BE6-AFC5-0639D33F2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21BEE13-D4BF-4A54-8084-74DE9F921F02}"/>
              </a:ext>
            </a:extLst>
          </p:cNvPr>
          <p:cNvGraphicFramePr>
            <a:graphicFrameLocks noGrp="1"/>
          </p:cNvGraphicFramePr>
          <p:nvPr/>
        </p:nvGraphicFramePr>
        <p:xfrm>
          <a:off x="1170036" y="1983420"/>
          <a:ext cx="9924684" cy="419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884">
                <a:tc>
                  <a:txBody>
                    <a:bodyPr/>
                    <a:lstStyle/>
                    <a:p>
                      <a:r>
                        <a:rPr lang="en-GB" dirty="0"/>
                        <a:t>Parsing 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884">
                <a:tc>
                  <a:txBody>
                    <a:bodyPr/>
                    <a:lstStyle/>
                    <a:p>
                      <a:r>
                        <a:rPr lang="en-GB" dirty="0"/>
                        <a:t>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884">
                <a:tc>
                  <a:txBody>
                    <a:bodyPr/>
                    <a:lstStyle/>
                    <a:p>
                      <a:r>
                        <a:rPr lang="en-GB" dirty="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884">
                <a:tc>
                  <a:txBody>
                    <a:bodyPr/>
                    <a:lstStyle/>
                    <a:p>
                      <a:r>
                        <a:rPr lang="en-GB" dirty="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884">
                <a:tc>
                  <a:txBody>
                    <a:bodyPr/>
                    <a:lstStyle/>
                    <a:p>
                      <a:r>
                        <a:rPr lang="en-GB" dirty="0"/>
                        <a:t>Object of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884">
                <a:tc>
                  <a:txBody>
                    <a:bodyPr/>
                    <a:lstStyle/>
                    <a:p>
                      <a:r>
                        <a:rPr lang="en-GB" dirty="0"/>
                        <a:t>Constraints</a:t>
                      </a:r>
                      <a:r>
                        <a:rPr lang="en-GB" baseline="0" dirty="0"/>
                        <a:t> of action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884">
                <a:tc>
                  <a:txBody>
                    <a:bodyPr/>
                    <a:lstStyle/>
                    <a:p>
                      <a:r>
                        <a:rPr lang="en-GB" dirty="0"/>
                        <a:t>Refinement of 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884">
                <a:tc>
                  <a:txBody>
                    <a:bodyPr/>
                    <a:lstStyle/>
                    <a:p>
                      <a:r>
                        <a:rPr lang="en-GB" dirty="0"/>
                        <a:t>Source of 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884">
                <a:tc>
                  <a:txBody>
                    <a:bodyPr/>
                    <a:lstStyle/>
                    <a:p>
                      <a:r>
                        <a:rPr lang="en-GB" dirty="0"/>
                        <a:t>Destination of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884">
                <a:tc>
                  <a:txBody>
                    <a:bodyPr/>
                    <a:lstStyle/>
                    <a:p>
                      <a:r>
                        <a:rPr lang="en-GB" dirty="0"/>
                        <a:t>Refinement of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722C4FE3-3E1A-4E2E-814C-DAC58B3E2E0A}"/>
              </a:ext>
            </a:extLst>
          </p:cNvPr>
          <p:cNvSpPr txBox="1"/>
          <p:nvPr/>
        </p:nvSpPr>
        <p:spPr>
          <a:xfrm>
            <a:off x="3898274" y="2417782"/>
            <a:ext cx="2945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What will do the work?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310E01-585A-466B-B9B2-4414B22C285C}"/>
              </a:ext>
            </a:extLst>
          </p:cNvPr>
          <p:cNvSpPr txBox="1"/>
          <p:nvPr/>
        </p:nvSpPr>
        <p:spPr>
          <a:xfrm>
            <a:off x="3933899" y="2854534"/>
            <a:ext cx="4641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When will the “ACTOR” do the work?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45C11A-4CE3-4505-B7E3-55A250315A9F}"/>
              </a:ext>
            </a:extLst>
          </p:cNvPr>
          <p:cNvSpPr txBox="1"/>
          <p:nvPr/>
        </p:nvSpPr>
        <p:spPr>
          <a:xfrm>
            <a:off x="3933899" y="3271488"/>
            <a:ext cx="6255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What is the “ACTION” that the “ACTOR” will take?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EC9803-69A1-42EF-91B5-694860755517}"/>
              </a:ext>
            </a:extLst>
          </p:cNvPr>
          <p:cNvSpPr txBox="1"/>
          <p:nvPr/>
        </p:nvSpPr>
        <p:spPr>
          <a:xfrm>
            <a:off x="3933899" y="3696485"/>
            <a:ext cx="4551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On what object will action be taken?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D71B4A-C536-4A50-BA5F-A047257D8D09}"/>
              </a:ext>
            </a:extLst>
          </p:cNvPr>
          <p:cNvSpPr txBox="1"/>
          <p:nvPr/>
        </p:nvSpPr>
        <p:spPr>
          <a:xfrm>
            <a:off x="3933899" y="4109101"/>
            <a:ext cx="6486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Performance constraints on the action being taken…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2F1E78-C52C-442F-A24A-DCF5C2750ACF}"/>
              </a:ext>
            </a:extLst>
          </p:cNvPr>
          <p:cNvSpPr txBox="1"/>
          <p:nvPr/>
        </p:nvSpPr>
        <p:spPr>
          <a:xfrm>
            <a:off x="3933899" y="4516570"/>
            <a:ext cx="4818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Can we make the object more specific?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8FDAD1-5473-4F3E-A75B-B1D7C2DE457A}"/>
              </a:ext>
            </a:extLst>
          </p:cNvPr>
          <p:cNvSpPr txBox="1"/>
          <p:nvPr/>
        </p:nvSpPr>
        <p:spPr>
          <a:xfrm>
            <a:off x="3933898" y="4954557"/>
            <a:ext cx="4262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Where does the object come from?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6F74D8-22BB-4E48-8265-042A62E8709F}"/>
              </a:ext>
            </a:extLst>
          </p:cNvPr>
          <p:cNvSpPr txBox="1"/>
          <p:nvPr/>
        </p:nvSpPr>
        <p:spPr>
          <a:xfrm>
            <a:off x="3933899" y="5397167"/>
            <a:ext cx="4275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Where does this action terminate?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F97E80-235C-4A95-B64C-581D3D92E97F}"/>
              </a:ext>
            </a:extLst>
          </p:cNvPr>
          <p:cNvSpPr txBox="1"/>
          <p:nvPr/>
        </p:nvSpPr>
        <p:spPr>
          <a:xfrm>
            <a:off x="3933899" y="5789713"/>
            <a:ext cx="4602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Can we refine the action some more?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F19332-62E7-4E6B-8AE5-03901F91D131}"/>
              </a:ext>
            </a:extLst>
          </p:cNvPr>
          <p:cNvSpPr txBox="1"/>
          <p:nvPr/>
        </p:nvSpPr>
        <p:spPr>
          <a:xfrm>
            <a:off x="3898274" y="2416463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The system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2084B2-97E7-484C-8F30-E1895CE2AB92}"/>
              </a:ext>
            </a:extLst>
          </p:cNvPr>
          <p:cNvSpPr txBox="1"/>
          <p:nvPr/>
        </p:nvSpPr>
        <p:spPr>
          <a:xfrm>
            <a:off x="3933898" y="2854534"/>
            <a:ext cx="3567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Upon receipt of the message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1DA2DD-6792-4CDF-9EF0-3710D9D7023B}"/>
              </a:ext>
            </a:extLst>
          </p:cNvPr>
          <p:cNvSpPr txBox="1"/>
          <p:nvPr/>
        </p:nvSpPr>
        <p:spPr>
          <a:xfrm>
            <a:off x="3933898" y="3271488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Shall switch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49049A-49CA-4608-94B6-2B321FECE52E}"/>
              </a:ext>
            </a:extLst>
          </p:cNvPr>
          <p:cNvSpPr txBox="1"/>
          <p:nvPr/>
        </p:nvSpPr>
        <p:spPr>
          <a:xfrm>
            <a:off x="3933898" y="3696485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The message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52571A-6368-41D0-BB6C-A58CCC8537C5}"/>
              </a:ext>
            </a:extLst>
          </p:cNvPr>
          <p:cNvSpPr txBox="1"/>
          <p:nvPr/>
        </p:nvSpPr>
        <p:spPr>
          <a:xfrm>
            <a:off x="3960149" y="4109101"/>
            <a:ext cx="2945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Within 10 </a:t>
            </a:r>
            <a:r>
              <a:rPr lang="en-GB" b="1" dirty="0" err="1">
                <a:solidFill>
                  <a:srgbClr val="00B0F0"/>
                </a:solidFill>
              </a:rPr>
              <a:t>ms</a:t>
            </a:r>
            <a:r>
              <a:rPr lang="en-GB" b="1" dirty="0">
                <a:solidFill>
                  <a:srgbClr val="00B0F0"/>
                </a:solidFill>
              </a:rPr>
              <a:t> of receipt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87DF7B-4BCF-483E-9456-EAEBAC1E50DF}"/>
              </a:ext>
            </a:extLst>
          </p:cNvPr>
          <p:cNvSpPr txBox="1"/>
          <p:nvPr/>
        </p:nvSpPr>
        <p:spPr>
          <a:xfrm>
            <a:off x="3933898" y="4511947"/>
            <a:ext cx="4437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For messages in the ABC123 format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B0A23F-801E-4DFD-AFF7-AA394A34C9AC}"/>
              </a:ext>
            </a:extLst>
          </p:cNvPr>
          <p:cNvSpPr txBox="1"/>
          <p:nvPr/>
        </p:nvSpPr>
        <p:spPr>
          <a:xfrm>
            <a:off x="3933898" y="4950196"/>
            <a:ext cx="3656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From the message input port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C6A8B0-5CE3-4B92-A7D0-18F6F887C157}"/>
              </a:ext>
            </a:extLst>
          </p:cNvPr>
          <p:cNvSpPr txBox="1"/>
          <p:nvPr/>
        </p:nvSpPr>
        <p:spPr>
          <a:xfrm>
            <a:off x="3933898" y="5397166"/>
            <a:ext cx="3219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To a message output port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1CD7B9-3BA6-4B73-ACE3-40D1F500AEEA}"/>
              </a:ext>
            </a:extLst>
          </p:cNvPr>
          <p:cNvSpPr txBox="1"/>
          <p:nvPr/>
        </p:nvSpPr>
        <p:spPr>
          <a:xfrm>
            <a:off x="3933898" y="5789713"/>
            <a:ext cx="4891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Corresponding to the routing indicator</a:t>
            </a:r>
          </a:p>
        </p:txBody>
      </p:sp>
    </p:spTree>
    <p:extLst>
      <p:ext uri="{BB962C8B-B14F-4D97-AF65-F5344CB8AC3E}">
        <p14:creationId xmlns:p14="http://schemas.microsoft.com/office/powerpoint/2010/main" val="1963282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9F4F6-7D22-411D-9914-BA230269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 (much) improved requirement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5A568-2B23-4AF1-ABED-FDEBD1288D97}"/>
              </a:ext>
            </a:extLst>
          </p:cNvPr>
          <p:cNvSpPr txBox="1"/>
          <p:nvPr/>
        </p:nvSpPr>
        <p:spPr>
          <a:xfrm>
            <a:off x="1648103" y="2779879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The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6D7217-427C-49B2-93D0-60A750DE8E68}"/>
              </a:ext>
            </a:extLst>
          </p:cNvPr>
          <p:cNvSpPr txBox="1"/>
          <p:nvPr/>
        </p:nvSpPr>
        <p:spPr>
          <a:xfrm>
            <a:off x="3087247" y="2779879"/>
            <a:ext cx="3567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upon receipt of the message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AF0934-512C-483D-AD38-3D20CE649E99}"/>
              </a:ext>
            </a:extLst>
          </p:cNvPr>
          <p:cNvSpPr txBox="1"/>
          <p:nvPr/>
        </p:nvSpPr>
        <p:spPr>
          <a:xfrm>
            <a:off x="6512365" y="2779879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shall switch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E8C127-32EE-4FF5-90F5-A14CDBC283E6}"/>
              </a:ext>
            </a:extLst>
          </p:cNvPr>
          <p:cNvSpPr txBox="1"/>
          <p:nvPr/>
        </p:nvSpPr>
        <p:spPr>
          <a:xfrm>
            <a:off x="8027975" y="2779879"/>
            <a:ext cx="1641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the message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5A5D73-AB4F-44A2-9E0A-DB4B0C79736B}"/>
              </a:ext>
            </a:extLst>
          </p:cNvPr>
          <p:cNvSpPr txBox="1"/>
          <p:nvPr/>
        </p:nvSpPr>
        <p:spPr>
          <a:xfrm>
            <a:off x="1648103" y="3145652"/>
            <a:ext cx="2945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within 10 </a:t>
            </a:r>
            <a:r>
              <a:rPr lang="en-GB" b="1" dirty="0" err="1">
                <a:solidFill>
                  <a:srgbClr val="00B0F0"/>
                </a:solidFill>
              </a:rPr>
              <a:t>ms</a:t>
            </a:r>
            <a:r>
              <a:rPr lang="en-GB" b="1" dirty="0">
                <a:solidFill>
                  <a:srgbClr val="00B0F0"/>
                </a:solidFill>
              </a:rPr>
              <a:t> of receipt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84638F-A879-4212-BD2A-74BC59F5417B}"/>
              </a:ext>
            </a:extLst>
          </p:cNvPr>
          <p:cNvSpPr txBox="1"/>
          <p:nvPr/>
        </p:nvSpPr>
        <p:spPr>
          <a:xfrm>
            <a:off x="6360502" y="3518263"/>
            <a:ext cx="4437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for messages in the ABC123 format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EDCE29-91AD-497E-A8AA-2F2620ED807E}"/>
              </a:ext>
            </a:extLst>
          </p:cNvPr>
          <p:cNvSpPr txBox="1"/>
          <p:nvPr/>
        </p:nvSpPr>
        <p:spPr>
          <a:xfrm>
            <a:off x="4466455" y="3139546"/>
            <a:ext cx="3656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from the message input port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697714-2DBD-4B87-94E0-995DA8F63AC6}"/>
              </a:ext>
            </a:extLst>
          </p:cNvPr>
          <p:cNvSpPr txBox="1"/>
          <p:nvPr/>
        </p:nvSpPr>
        <p:spPr>
          <a:xfrm>
            <a:off x="7936529" y="3139546"/>
            <a:ext cx="3219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to a message output port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514FB6-5354-444E-A338-36A03D375FFE}"/>
              </a:ext>
            </a:extLst>
          </p:cNvPr>
          <p:cNvSpPr txBox="1"/>
          <p:nvPr/>
        </p:nvSpPr>
        <p:spPr>
          <a:xfrm>
            <a:off x="1648103" y="3511425"/>
            <a:ext cx="4891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corresponding to the routing indicator</a:t>
            </a:r>
          </a:p>
        </p:txBody>
      </p:sp>
    </p:spTree>
    <p:extLst>
      <p:ext uri="{BB962C8B-B14F-4D97-AF65-F5344CB8AC3E}">
        <p14:creationId xmlns:p14="http://schemas.microsoft.com/office/powerpoint/2010/main" val="261122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Example – User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400" b="1" dirty="0"/>
              <a:t>User requirements</a:t>
            </a:r>
          </a:p>
          <a:p>
            <a:pPr marL="0" indent="0">
              <a:buNone/>
            </a:pPr>
            <a:endParaRPr lang="en-ZA" dirty="0"/>
          </a:p>
          <a:p>
            <a:r>
              <a:rPr lang="en-ZA" dirty="0"/>
              <a:t>Subject that indicates the type of user(s)</a:t>
            </a:r>
          </a:p>
          <a:p>
            <a:r>
              <a:rPr lang="en-ZA" dirty="0"/>
              <a:t>Intended functionality to achieve</a:t>
            </a:r>
          </a:p>
          <a:p>
            <a:r>
              <a:rPr lang="en-ZA" dirty="0"/>
              <a:t>The object involved</a:t>
            </a:r>
          </a:p>
          <a:p>
            <a:r>
              <a:rPr lang="en-ZA" dirty="0"/>
              <a:t>Mechanism to allow a </a:t>
            </a:r>
            <a:r>
              <a:rPr lang="en-ZA" b="1" dirty="0"/>
              <a:t>test </a:t>
            </a:r>
            <a:r>
              <a:rPr lang="en-ZA" dirty="0"/>
              <a:t>to be achieved</a:t>
            </a:r>
            <a:endParaRPr lang="en-ZA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614160" y="3738880"/>
            <a:ext cx="52888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(user)			The </a:t>
            </a:r>
            <a:r>
              <a:rPr lang="en-ZA" i="1" dirty="0">
                <a:solidFill>
                  <a:schemeClr val="accent6"/>
                </a:solidFill>
              </a:rPr>
              <a:t>Hotel receptionist</a:t>
            </a:r>
          </a:p>
          <a:p>
            <a:r>
              <a:rPr lang="en-ZA" dirty="0"/>
              <a:t>(functionality)		shall </a:t>
            </a:r>
            <a:r>
              <a:rPr lang="en-ZA" i="1" dirty="0">
                <a:solidFill>
                  <a:schemeClr val="accent6"/>
                </a:solidFill>
              </a:rPr>
              <a:t>visualise</a:t>
            </a:r>
          </a:p>
          <a:p>
            <a:r>
              <a:rPr lang="en-ZA" dirty="0"/>
              <a:t>(object)			the </a:t>
            </a:r>
            <a:r>
              <a:rPr lang="en-ZA" i="1" dirty="0">
                <a:solidFill>
                  <a:schemeClr val="accent6"/>
                </a:solidFill>
              </a:rPr>
              <a:t>room number of a guest</a:t>
            </a:r>
          </a:p>
          <a:p>
            <a:r>
              <a:rPr lang="en-ZA" dirty="0"/>
              <a:t>(test)			</a:t>
            </a:r>
            <a:r>
              <a:rPr lang="en-ZA" i="1" dirty="0">
                <a:solidFill>
                  <a:schemeClr val="accent6"/>
                </a:solidFill>
              </a:rPr>
              <a:t>within 2 s</a:t>
            </a:r>
            <a:r>
              <a:rPr lang="en-ZA" dirty="0"/>
              <a:t> after making the request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70741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Example – System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400" b="1" dirty="0"/>
              <a:t>System requirements</a:t>
            </a:r>
          </a:p>
          <a:p>
            <a:pPr marL="0" indent="0">
              <a:buNone/>
            </a:pPr>
            <a:endParaRPr lang="en-ZA" dirty="0"/>
          </a:p>
          <a:p>
            <a:r>
              <a:rPr lang="en-ZA" dirty="0"/>
              <a:t>System or entity related to this requirement</a:t>
            </a:r>
          </a:p>
          <a:p>
            <a:r>
              <a:rPr lang="en-ZA" dirty="0"/>
              <a:t>Intended functionality</a:t>
            </a:r>
          </a:p>
          <a:p>
            <a:r>
              <a:rPr lang="en-ZA" dirty="0"/>
              <a:t>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14160" y="4019647"/>
            <a:ext cx="53621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(system/entity)	The </a:t>
            </a:r>
            <a:r>
              <a:rPr lang="en-ZA" i="1" dirty="0">
                <a:solidFill>
                  <a:schemeClr val="accent6"/>
                </a:solidFill>
              </a:rPr>
              <a:t>charge signal of the power supply</a:t>
            </a:r>
          </a:p>
          <a:p>
            <a:r>
              <a:rPr lang="en-ZA" dirty="0"/>
              <a:t>(functionality)		shall </a:t>
            </a:r>
            <a:r>
              <a:rPr lang="en-ZA" i="1" dirty="0">
                <a:solidFill>
                  <a:schemeClr val="accent6"/>
                </a:solidFill>
              </a:rPr>
              <a:t>turn on</a:t>
            </a:r>
          </a:p>
          <a:p>
            <a:r>
              <a:rPr lang="en-ZA" dirty="0"/>
              <a:t>(object)			if the </a:t>
            </a:r>
            <a:r>
              <a:rPr lang="en-ZA" i="1" dirty="0">
                <a:solidFill>
                  <a:schemeClr val="accent6"/>
                </a:solidFill>
              </a:rPr>
              <a:t>batteries are below 10% of full</a:t>
            </a:r>
          </a:p>
        </p:txBody>
      </p:sp>
    </p:spTree>
    <p:extLst>
      <p:ext uri="{BB962C8B-B14F-4D97-AF65-F5344CB8AC3E}">
        <p14:creationId xmlns:p14="http://schemas.microsoft.com/office/powerpoint/2010/main" val="1859041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Examples – 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400" b="1" dirty="0"/>
              <a:t>Non-Functional requirements</a:t>
            </a:r>
          </a:p>
          <a:p>
            <a:pPr marL="0" indent="0">
              <a:buNone/>
            </a:pPr>
            <a:endParaRPr lang="en-ZA" dirty="0"/>
          </a:p>
          <a:p>
            <a:r>
              <a:rPr lang="en-ZA" dirty="0"/>
              <a:t>System or entity related to this requirement</a:t>
            </a:r>
          </a:p>
          <a:p>
            <a:r>
              <a:rPr lang="en-ZA" dirty="0"/>
              <a:t>A quality to be achieved</a:t>
            </a:r>
          </a:p>
          <a:p>
            <a:r>
              <a:rPr lang="en-ZA" dirty="0"/>
              <a:t>Description to complete the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8727" y="3938367"/>
            <a:ext cx="50220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i="1" dirty="0">
                <a:solidFill>
                  <a:schemeClr val="accent6"/>
                </a:solidFill>
              </a:rPr>
              <a:t>The product shall be easy to use for illiterate people</a:t>
            </a:r>
          </a:p>
          <a:p>
            <a:r>
              <a:rPr lang="en-ZA" i="1" dirty="0">
                <a:solidFill>
                  <a:schemeClr val="accent6"/>
                </a:solidFill>
              </a:rPr>
              <a:t>The product must function at 10 m under water</a:t>
            </a:r>
          </a:p>
          <a:p>
            <a:r>
              <a:rPr lang="en-ZA" i="1" dirty="0">
                <a:solidFill>
                  <a:schemeClr val="accent6"/>
                </a:solidFill>
              </a:rPr>
              <a:t>The source code of the product must contain comments</a:t>
            </a:r>
          </a:p>
          <a:p>
            <a:r>
              <a:rPr lang="en-ZA" i="1" dirty="0">
                <a:solidFill>
                  <a:schemeClr val="accent6"/>
                </a:solidFill>
              </a:rPr>
              <a:t>The source code must be subjected to 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288028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12A79DA-6696-4656-BEE9-8B5708390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86" y="808483"/>
            <a:ext cx="5890489" cy="508054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606" y="938022"/>
            <a:ext cx="4597758" cy="11887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Verification of requirements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6873606" y="2340864"/>
            <a:ext cx="4597758" cy="37932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Deals with determining if your system meets the requirements</a:t>
            </a:r>
          </a:p>
          <a:p>
            <a:r>
              <a:rPr lang="en-US" dirty="0">
                <a:solidFill>
                  <a:schemeClr val="tx1"/>
                </a:solidFill>
              </a:rPr>
              <a:t>Must be explicit in terms of HOW</a:t>
            </a:r>
          </a:p>
          <a:p>
            <a:r>
              <a:rPr lang="en-US" dirty="0">
                <a:solidFill>
                  <a:schemeClr val="tx1"/>
                </a:solidFill>
              </a:rPr>
              <a:t>For EACH requirement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How will compliance be measured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With what will it be measured</a:t>
            </a:r>
          </a:p>
          <a:p>
            <a:r>
              <a:rPr lang="en-US" dirty="0">
                <a:solidFill>
                  <a:schemeClr val="tx1"/>
                </a:solidFill>
              </a:rPr>
              <a:t>If possible, use existing standards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556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9398F-5E33-40C9-B054-DB84A3229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Verification requirements and GA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034BE-477B-42DD-B166-87379D1D9B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ZA" sz="2000" dirty="0"/>
              <a:t>Verification requirements can help to </a:t>
            </a:r>
            <a:r>
              <a:rPr lang="en-ZA" sz="2000" b="1" dirty="0"/>
              <a:t>prove</a:t>
            </a:r>
            <a:r>
              <a:rPr lang="en-ZA" sz="2000" dirty="0"/>
              <a:t> that </a:t>
            </a:r>
            <a:r>
              <a:rPr lang="en-ZA" sz="2000" b="1" dirty="0"/>
              <a:t>at least part</a:t>
            </a:r>
            <a:r>
              <a:rPr lang="en-ZA" sz="2000" dirty="0"/>
              <a:t> of the complex problem was solved</a:t>
            </a:r>
          </a:p>
          <a:p>
            <a:r>
              <a:rPr lang="en-ZA" sz="2000" dirty="0"/>
              <a:t>Implies that a performance requirement is at play</a:t>
            </a:r>
          </a:p>
          <a:p>
            <a:r>
              <a:rPr lang="en-ZA" sz="2000" dirty="0"/>
              <a:t>Necessitates careful wording of the verification requirement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D109AA-F8B1-46D4-B5CC-31D52C9588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530167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Verification requirement: </a:t>
            </a:r>
            <a:br>
              <a:rPr lang="en-ZA" dirty="0"/>
            </a:br>
            <a:r>
              <a:rPr lang="en-ZA" dirty="0"/>
              <a:t>Example OF GA 1 UTILITY (SOLVE aspect)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E7FF987-A1A6-4850-B83F-9471246199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ZA" dirty="0"/>
              <a:t>Stand-alone PV system is required</a:t>
            </a:r>
          </a:p>
          <a:p>
            <a:r>
              <a:rPr lang="en-ZA" dirty="0"/>
              <a:t>MPPT shall be implemented</a:t>
            </a:r>
          </a:p>
          <a:p>
            <a:r>
              <a:rPr lang="en-ZA" dirty="0"/>
              <a:t>Power a load of say 500W (student computer)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EF947E4-DA78-4742-96F5-BC3F952F9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40824" y="2904701"/>
            <a:ext cx="5422392" cy="3633047"/>
          </a:xfrm>
        </p:spPr>
        <p:txBody>
          <a:bodyPr/>
          <a:lstStyle/>
          <a:p>
            <a:r>
              <a:rPr lang="en-ZA" dirty="0"/>
              <a:t>Power converter functionality shall be demonstrated in a controlled environment. </a:t>
            </a:r>
            <a:r>
              <a:rPr lang="en-ZA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[VREQID_001]</a:t>
            </a:r>
            <a:endParaRPr lang="en-ZA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ZA" dirty="0"/>
              <a:t>Power converter performance shall be determined by application of a known I-V source (laboratory grade DC power supply ABC-123). </a:t>
            </a:r>
            <a:r>
              <a:rPr lang="en-ZA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[VREQID_002]</a:t>
            </a:r>
          </a:p>
          <a:p>
            <a:r>
              <a:rPr lang="en-ZA" dirty="0"/>
              <a:t>The power converter performance characteristics, the mathematical MPPT point, and the input I-V values shall be graphed on a single axis to demonstrate MPPT functionality of the power converter. </a:t>
            </a:r>
            <a:r>
              <a:rPr lang="en-ZA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[VREQID_003]</a:t>
            </a:r>
            <a:endParaRPr lang="en-ZA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78C9D90-07DB-4AC9-9245-59FDE5C7FFBF}"/>
              </a:ext>
            </a:extLst>
          </p:cNvPr>
          <p:cNvCxnSpPr/>
          <p:nvPr/>
        </p:nvCxnSpPr>
        <p:spPr>
          <a:xfrm flipH="1">
            <a:off x="4413732" y="2814918"/>
            <a:ext cx="896471" cy="614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2A10EAA-7292-4B0B-B628-ADE36919472B}"/>
              </a:ext>
            </a:extLst>
          </p:cNvPr>
          <p:cNvSpPr/>
          <p:nvPr/>
        </p:nvSpPr>
        <p:spPr>
          <a:xfrm>
            <a:off x="923365" y="3429000"/>
            <a:ext cx="3478306" cy="46168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E02C27-F7CC-41EB-9D24-723619282EE3}"/>
              </a:ext>
            </a:extLst>
          </p:cNvPr>
          <p:cNvSpPr/>
          <p:nvPr/>
        </p:nvSpPr>
        <p:spPr>
          <a:xfrm>
            <a:off x="923364" y="4259543"/>
            <a:ext cx="4455459" cy="46168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2F47D5-E595-415F-9C7E-2D3DB2FE0F84}"/>
              </a:ext>
            </a:extLst>
          </p:cNvPr>
          <p:cNvCxnSpPr>
            <a:cxnSpLocks/>
          </p:cNvCxnSpPr>
          <p:nvPr/>
        </p:nvCxnSpPr>
        <p:spPr>
          <a:xfrm flipV="1">
            <a:off x="1685365" y="4721225"/>
            <a:ext cx="1017492" cy="720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3388DA0-41E0-4531-9B5C-9FB8175D782D}"/>
              </a:ext>
            </a:extLst>
          </p:cNvPr>
          <p:cNvSpPr txBox="1"/>
          <p:nvPr/>
        </p:nvSpPr>
        <p:spPr>
          <a:xfrm>
            <a:off x="2966367" y="2459170"/>
            <a:ext cx="4824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Requires that EVERYTHING has been completed.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A7D6D0-CEE7-4807-ACD2-27EF0CCDB7BB}"/>
              </a:ext>
            </a:extLst>
          </p:cNvPr>
          <p:cNvSpPr txBox="1"/>
          <p:nvPr/>
        </p:nvSpPr>
        <p:spPr>
          <a:xfrm>
            <a:off x="485292" y="5427308"/>
            <a:ext cx="3677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Very stringent requirement with little</a:t>
            </a:r>
          </a:p>
          <a:p>
            <a:r>
              <a:rPr lang="en-ZA" dirty="0"/>
              <a:t>room for deviation / non-compliance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9C07879-2777-431A-A188-ADE2C6E898E1}"/>
              </a:ext>
            </a:extLst>
          </p:cNvPr>
          <p:cNvCxnSpPr/>
          <p:nvPr/>
        </p:nvCxnSpPr>
        <p:spPr>
          <a:xfrm flipH="1">
            <a:off x="5214037" y="5190200"/>
            <a:ext cx="896471" cy="614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CFF4E57-CD62-453F-B792-1F428954880F}"/>
              </a:ext>
            </a:extLst>
          </p:cNvPr>
          <p:cNvSpPr/>
          <p:nvPr/>
        </p:nvSpPr>
        <p:spPr>
          <a:xfrm>
            <a:off x="6125667" y="3164541"/>
            <a:ext cx="5422390" cy="3188541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549313-7656-4F59-B2F0-EE2472BFCC00}"/>
              </a:ext>
            </a:extLst>
          </p:cNvPr>
          <p:cNvSpPr txBox="1"/>
          <p:nvPr/>
        </p:nvSpPr>
        <p:spPr>
          <a:xfrm>
            <a:off x="485292" y="5769051"/>
            <a:ext cx="54776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This only deals with functionality, the performance</a:t>
            </a:r>
          </a:p>
          <a:p>
            <a:r>
              <a:rPr lang="en-ZA" dirty="0"/>
              <a:t>of the system may be limited (say only 150W achievable).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D80F1517-5E22-4FA7-97D5-30E538CBF38C}"/>
              </a:ext>
            </a:extLst>
          </p:cNvPr>
          <p:cNvSpPr/>
          <p:nvPr/>
        </p:nvSpPr>
        <p:spPr>
          <a:xfrm>
            <a:off x="3715574" y="3982429"/>
            <a:ext cx="2247371" cy="1582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2027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1" grpId="0" animBg="1"/>
      <p:bldP spid="11" grpId="1" animBg="1"/>
      <p:bldP spid="13" grpId="0" animBg="1"/>
      <p:bldP spid="13" grpId="1" animBg="1"/>
      <p:bldP spid="16" grpId="0"/>
      <p:bldP spid="16" grpId="1"/>
      <p:bldP spid="18" grpId="0"/>
      <p:bldP spid="18" grpId="1"/>
      <p:bldP spid="25" grpId="0" animBg="1"/>
      <p:bldP spid="26" grpId="0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02DF4-2DE3-B3F9-B674-F7AB875E4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Requirements analysis: Questions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D50541-214D-6FF2-8BE4-7BEA76CD1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DA96F5-730F-FBDD-ED61-00FD182EB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dirty="0"/>
              <a:t>Reasons behind system development</a:t>
            </a:r>
          </a:p>
          <a:p>
            <a:r>
              <a:rPr lang="en-ZA" dirty="0"/>
              <a:t>Customer expectations</a:t>
            </a:r>
          </a:p>
          <a:p>
            <a:r>
              <a:rPr lang="en-ZA" dirty="0"/>
              <a:t>Who are the users, how do they intend to use the system?</a:t>
            </a:r>
          </a:p>
          <a:p>
            <a:r>
              <a:rPr lang="en-ZA" dirty="0"/>
              <a:t>What do users expect from the product?</a:t>
            </a:r>
          </a:p>
          <a:p>
            <a:r>
              <a:rPr lang="en-ZA" dirty="0"/>
              <a:t>What is the level of expertise of the users?</a:t>
            </a:r>
          </a:p>
          <a:p>
            <a:r>
              <a:rPr lang="en-ZA" dirty="0"/>
              <a:t>Under which environmental conditions should the system operate?</a:t>
            </a:r>
          </a:p>
          <a:p>
            <a:r>
              <a:rPr lang="en-ZA" dirty="0"/>
              <a:t>What are existing and planned interfaces?</a:t>
            </a:r>
          </a:p>
          <a:p>
            <a:r>
              <a:rPr lang="en-ZA" dirty="0"/>
              <a:t>What functions will the system perform?</a:t>
            </a:r>
          </a:p>
          <a:p>
            <a:r>
              <a:rPr lang="en-ZA" dirty="0"/>
              <a:t>What are the constraints?</a:t>
            </a:r>
          </a:p>
        </p:txBody>
      </p:sp>
    </p:spTree>
    <p:extLst>
      <p:ext uri="{BB962C8B-B14F-4D97-AF65-F5344CB8AC3E}">
        <p14:creationId xmlns:p14="http://schemas.microsoft.com/office/powerpoint/2010/main" val="4340543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A74E2-AADC-DF35-0B0E-76D7DFBFF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Operational Requirements: Basic questions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E1BDE9-C0D1-78CB-73DD-94FE01257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FB605C-9589-F71A-B057-9602E878B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60396"/>
            <a:ext cx="11029615" cy="3678303"/>
          </a:xfrm>
        </p:spPr>
        <p:txBody>
          <a:bodyPr/>
          <a:lstStyle/>
          <a:p>
            <a:r>
              <a:rPr lang="en-ZA" b="1" dirty="0">
                <a:solidFill>
                  <a:srgbClr val="FFC000"/>
                </a:solidFill>
              </a:rPr>
              <a:t>Deployment / Distribution </a:t>
            </a:r>
            <a:r>
              <a:rPr lang="en-ZA" dirty="0"/>
              <a:t>where will the system be used</a:t>
            </a:r>
          </a:p>
          <a:p>
            <a:r>
              <a:rPr lang="en-ZA" b="1" dirty="0">
                <a:solidFill>
                  <a:srgbClr val="FFC000"/>
                </a:solidFill>
              </a:rPr>
              <a:t>Performance and related parameters </a:t>
            </a:r>
            <a:r>
              <a:rPr lang="en-ZA" dirty="0"/>
              <a:t>critical parameters</a:t>
            </a:r>
          </a:p>
          <a:p>
            <a:r>
              <a:rPr lang="en-ZA" b="1" dirty="0">
                <a:solidFill>
                  <a:srgbClr val="FFC000"/>
                </a:solidFill>
              </a:rPr>
              <a:t>Concept of use </a:t>
            </a:r>
            <a:r>
              <a:rPr lang="en-ZA" dirty="0"/>
              <a:t>how is the system to be used</a:t>
            </a:r>
          </a:p>
          <a:p>
            <a:r>
              <a:rPr lang="en-ZA" b="1" dirty="0">
                <a:solidFill>
                  <a:srgbClr val="FFC000"/>
                </a:solidFill>
              </a:rPr>
              <a:t>Effectiveness requirements </a:t>
            </a:r>
            <a:r>
              <a:rPr lang="en-ZA" dirty="0"/>
              <a:t>how effective or efficient must missions be performed</a:t>
            </a:r>
          </a:p>
          <a:p>
            <a:r>
              <a:rPr lang="en-ZA" b="1" dirty="0">
                <a:solidFill>
                  <a:srgbClr val="FFC000"/>
                </a:solidFill>
              </a:rPr>
              <a:t>Operational life-cycle </a:t>
            </a:r>
            <a:r>
              <a:rPr lang="en-ZA" dirty="0"/>
              <a:t>how long will the system be in use?</a:t>
            </a:r>
          </a:p>
          <a:p>
            <a:r>
              <a:rPr lang="en-ZA" b="1" dirty="0">
                <a:solidFill>
                  <a:srgbClr val="FFC000"/>
                </a:solidFill>
              </a:rPr>
              <a:t>Environment</a:t>
            </a:r>
            <a:r>
              <a:rPr lang="en-ZA" b="1" dirty="0"/>
              <a:t> </a:t>
            </a:r>
            <a:r>
              <a:rPr lang="en-ZA" dirty="0"/>
              <a:t>where will the system be used</a:t>
            </a:r>
          </a:p>
          <a:p>
            <a:endParaRPr lang="en-ZA" b="1" dirty="0"/>
          </a:p>
          <a:p>
            <a:endParaRPr lang="en-ZA" b="1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640114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C2C78-F0CE-4455-9B94-C97574C88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ZA" dirty="0">
                <a:solidFill>
                  <a:srgbClr val="FFFEFF"/>
                </a:solidFill>
              </a:rPr>
              <a:t>Wrapping up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0B48CD-F889-41E1-8058-43359E6BD9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0680393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98393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D54DB8-C150-4290-85D6-F5B0262BF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27B0A6-FA66-D052-FCE7-F233ADBD81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715" b="775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rgbClr val="EAB5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rgbClr val="EAB5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rgbClr val="EAB5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7CBB7FD-B774-5E59-CDB6-499C791DD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15" y="4161580"/>
            <a:ext cx="10993549" cy="8952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Individual activity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3548F05-4D01-9577-A27A-AB1E53E0D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5056824"/>
            <a:ext cx="10993546" cy="13439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cap="all" dirty="0">
                <a:solidFill>
                  <a:srgbClr val="EAB55B"/>
                </a:solidFill>
              </a:rPr>
              <a:t>For the hoisting system (as an individual) develop at least 7 requirements (5 functional, 2 non-functional) using the parsing template. Upload completed works to </a:t>
            </a:r>
            <a:r>
              <a:rPr lang="en-US" sz="2000" cap="all" dirty="0" err="1">
                <a:solidFill>
                  <a:srgbClr val="EAB55B"/>
                </a:solidFill>
              </a:rPr>
              <a:t>efundi</a:t>
            </a:r>
            <a:r>
              <a:rPr lang="en-US" sz="2000" cap="all" dirty="0">
                <a:solidFill>
                  <a:srgbClr val="EAB55B"/>
                </a:solidFill>
              </a:rPr>
              <a:t>.</a:t>
            </a:r>
            <a:endParaRPr lang="en-US" sz="1200" cap="all" dirty="0">
              <a:solidFill>
                <a:srgbClr val="EAB55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28942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</TotalTime>
  <Words>1951</Words>
  <Application>Microsoft Office PowerPoint</Application>
  <PresentationFormat>Widescreen</PresentationFormat>
  <Paragraphs>341</Paragraphs>
  <Slides>31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Aptos</vt:lpstr>
      <vt:lpstr>Arial</vt:lpstr>
      <vt:lpstr>Century Gothic</vt:lpstr>
      <vt:lpstr>Gill Sans MT</vt:lpstr>
      <vt:lpstr>Trade Gothic LT Pro</vt:lpstr>
      <vt:lpstr>Wingdings</vt:lpstr>
      <vt:lpstr>Wingdings 2</vt:lpstr>
      <vt:lpstr>Dividend</vt:lpstr>
      <vt:lpstr>Engineering design 2025</vt:lpstr>
      <vt:lpstr>Requirements vs Characteristics</vt:lpstr>
      <vt:lpstr>Some Context</vt:lpstr>
      <vt:lpstr>Engineering design, requirements, and ga 1</vt:lpstr>
      <vt:lpstr>Specification vs Requirements</vt:lpstr>
      <vt:lpstr>Requirements: Levels</vt:lpstr>
      <vt:lpstr>Details of a requirement</vt:lpstr>
      <vt:lpstr>Requirements : Types (Functional)</vt:lpstr>
      <vt:lpstr>Requirements: Types (non-Functional)</vt:lpstr>
      <vt:lpstr>Design requirement</vt:lpstr>
      <vt:lpstr>Measures of Effectiveness (MOEs)</vt:lpstr>
      <vt:lpstr>Where to start? – Get some requirements…</vt:lpstr>
      <vt:lpstr>Attributes of good requirements</vt:lpstr>
      <vt:lpstr>Attributes of good requirements</vt:lpstr>
      <vt:lpstr>Attributes of good requirements</vt:lpstr>
      <vt:lpstr>Attributes of good requirements</vt:lpstr>
      <vt:lpstr>Bad stuff – avoid like the plague</vt:lpstr>
      <vt:lpstr>Good requirements </vt:lpstr>
      <vt:lpstr>A (very) bad requirement</vt:lpstr>
      <vt:lpstr>Example of template application</vt:lpstr>
      <vt:lpstr>A (much) improved requirement</vt:lpstr>
      <vt:lpstr>Example – User requirement</vt:lpstr>
      <vt:lpstr>Example – System Requirement</vt:lpstr>
      <vt:lpstr>Examples – Non-functional requirements</vt:lpstr>
      <vt:lpstr>Verification of requirements</vt:lpstr>
      <vt:lpstr>Verification requirements and GA 1</vt:lpstr>
      <vt:lpstr>Verification requirement:  Example OF GA 1 UTILITY (SOLVE aspect)</vt:lpstr>
      <vt:lpstr>Requirements analysis: Questions</vt:lpstr>
      <vt:lpstr>Operational Requirements: Basic questions</vt:lpstr>
      <vt:lpstr>Wrapping up</vt:lpstr>
      <vt:lpstr>Individual 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design 2020</dc:title>
  <dc:creator>Henri Marais</dc:creator>
  <cp:lastModifiedBy>Henri Marais</cp:lastModifiedBy>
  <cp:revision>20</cp:revision>
  <dcterms:created xsi:type="dcterms:W3CDTF">2021-08-02T04:36:19Z</dcterms:created>
  <dcterms:modified xsi:type="dcterms:W3CDTF">2026-07-29T10:09:13Z</dcterms:modified>
</cp:coreProperties>
</file>