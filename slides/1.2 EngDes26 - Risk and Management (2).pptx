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3" r:id="rId1"/>
  </p:sldMasterIdLst>
  <p:notesMasterIdLst>
    <p:notesMasterId r:id="rId19"/>
  </p:notesMasterIdLst>
  <p:sldIdLst>
    <p:sldId id="256" r:id="rId2"/>
    <p:sldId id="321" r:id="rId3"/>
    <p:sldId id="322" r:id="rId4"/>
    <p:sldId id="323" r:id="rId5"/>
    <p:sldId id="324" r:id="rId6"/>
    <p:sldId id="325" r:id="rId7"/>
    <p:sldId id="330" r:id="rId8"/>
    <p:sldId id="331" r:id="rId9"/>
    <p:sldId id="332" r:id="rId10"/>
    <p:sldId id="333" r:id="rId11"/>
    <p:sldId id="326" r:id="rId12"/>
    <p:sldId id="335" r:id="rId13"/>
    <p:sldId id="336" r:id="rId14"/>
    <p:sldId id="337" r:id="rId15"/>
    <p:sldId id="338" r:id="rId16"/>
    <p:sldId id="339" r:id="rId17"/>
    <p:sldId id="34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7070" autoAdjust="0"/>
  </p:normalViewPr>
  <p:slideViewPr>
    <p:cSldViewPr snapToGrid="0">
      <p:cViewPr>
        <p:scale>
          <a:sx n="75" d="100"/>
          <a:sy n="75" d="100"/>
        </p:scale>
        <p:origin x="1014"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DA860-FBB5-45B4-8516-B049249CB9F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C078189-0527-4171-B682-5240C4DF909C}">
      <dgm:prSet/>
      <dgm:spPr/>
      <dgm:t>
        <a:bodyPr/>
        <a:lstStyle/>
        <a:p>
          <a:pPr>
            <a:lnSpc>
              <a:spcPct val="100000"/>
            </a:lnSpc>
          </a:pPr>
          <a:r>
            <a:rPr lang="en-US" b="0" dirty="0"/>
            <a:t>Monitor open risks</a:t>
          </a:r>
        </a:p>
      </dgm:t>
    </dgm:pt>
    <dgm:pt modelId="{AEB2B58C-4328-4C9B-ABF7-8F3DA7E96097}" type="parTrans" cxnId="{EF856F7A-431F-4E78-812C-A8675F81846D}">
      <dgm:prSet/>
      <dgm:spPr/>
      <dgm:t>
        <a:bodyPr/>
        <a:lstStyle/>
        <a:p>
          <a:endParaRPr lang="en-US"/>
        </a:p>
      </dgm:t>
    </dgm:pt>
    <dgm:pt modelId="{4DD0D23D-FD7D-4D7D-886D-16BAE54B9009}" type="sibTrans" cxnId="{EF856F7A-431F-4E78-812C-A8675F81846D}">
      <dgm:prSet/>
      <dgm:spPr/>
      <dgm:t>
        <a:bodyPr/>
        <a:lstStyle/>
        <a:p>
          <a:endParaRPr lang="en-US"/>
        </a:p>
      </dgm:t>
    </dgm:pt>
    <dgm:pt modelId="{664CD7E7-5033-4495-B979-8742A09E9CC9}">
      <dgm:prSet/>
      <dgm:spPr/>
      <dgm:t>
        <a:bodyPr/>
        <a:lstStyle/>
        <a:p>
          <a:pPr>
            <a:lnSpc>
              <a:spcPct val="100000"/>
            </a:lnSpc>
          </a:pPr>
          <a:r>
            <a:rPr lang="en-US" b="0" dirty="0"/>
            <a:t>Adjust risk likelihood and severity over time </a:t>
          </a:r>
        </a:p>
        <a:p>
          <a:pPr>
            <a:lnSpc>
              <a:spcPct val="100000"/>
            </a:lnSpc>
          </a:pPr>
          <a:r>
            <a:rPr lang="en-US" b="0" dirty="0"/>
            <a:t>(as work is completed)</a:t>
          </a:r>
        </a:p>
      </dgm:t>
    </dgm:pt>
    <dgm:pt modelId="{EDF3B0A2-1486-45C6-B331-C0080B81DBD8}" type="parTrans" cxnId="{BE333E78-2780-40D9-8D66-62B829B9A3B4}">
      <dgm:prSet/>
      <dgm:spPr/>
      <dgm:t>
        <a:bodyPr/>
        <a:lstStyle/>
        <a:p>
          <a:endParaRPr lang="en-US"/>
        </a:p>
      </dgm:t>
    </dgm:pt>
    <dgm:pt modelId="{90F5D75B-3C72-47A6-9F38-631572EE85F8}" type="sibTrans" cxnId="{BE333E78-2780-40D9-8D66-62B829B9A3B4}">
      <dgm:prSet/>
      <dgm:spPr/>
      <dgm:t>
        <a:bodyPr/>
        <a:lstStyle/>
        <a:p>
          <a:endParaRPr lang="en-US"/>
        </a:p>
      </dgm:t>
    </dgm:pt>
    <dgm:pt modelId="{41536E1D-8FEC-4CD5-BD93-DEA375DA443B}">
      <dgm:prSet/>
      <dgm:spPr/>
      <dgm:t>
        <a:bodyPr/>
        <a:lstStyle/>
        <a:p>
          <a:pPr>
            <a:lnSpc>
              <a:spcPct val="100000"/>
            </a:lnSpc>
          </a:pPr>
          <a:r>
            <a:rPr lang="en-US" dirty="0"/>
            <a:t>Add risks that are identified as project progresses (as needed)</a:t>
          </a:r>
        </a:p>
      </dgm:t>
    </dgm:pt>
    <dgm:pt modelId="{299DFD20-EC6B-423C-9248-3960213AC2BF}" type="parTrans" cxnId="{F93ADE2A-F753-4FC5-B07C-0CC720D4974E}">
      <dgm:prSet/>
      <dgm:spPr/>
      <dgm:t>
        <a:bodyPr/>
        <a:lstStyle/>
        <a:p>
          <a:endParaRPr lang="en-GB"/>
        </a:p>
      </dgm:t>
    </dgm:pt>
    <dgm:pt modelId="{18C4F0B4-5728-4D3E-864A-287F89242023}" type="sibTrans" cxnId="{F93ADE2A-F753-4FC5-B07C-0CC720D4974E}">
      <dgm:prSet/>
      <dgm:spPr/>
      <dgm:t>
        <a:bodyPr/>
        <a:lstStyle/>
        <a:p>
          <a:endParaRPr lang="en-GB"/>
        </a:p>
      </dgm:t>
    </dgm:pt>
    <dgm:pt modelId="{FB541DB6-4FD1-4CEF-BD7E-F13E2AE857E4}" type="pres">
      <dgm:prSet presAssocID="{38FDA860-FBB5-45B4-8516-B049249CB9F6}" presName="root" presStyleCnt="0">
        <dgm:presLayoutVars>
          <dgm:dir/>
          <dgm:resizeHandles val="exact"/>
        </dgm:presLayoutVars>
      </dgm:prSet>
      <dgm:spPr/>
    </dgm:pt>
    <dgm:pt modelId="{05A076CA-67D4-4280-B001-35DDB2FD4C83}" type="pres">
      <dgm:prSet presAssocID="{2C078189-0527-4171-B682-5240C4DF909C}" presName="compNode" presStyleCnt="0"/>
      <dgm:spPr/>
    </dgm:pt>
    <dgm:pt modelId="{5E570972-BD2D-440B-8558-DCAAF50382DB}" type="pres">
      <dgm:prSet presAssocID="{2C078189-0527-4171-B682-5240C4DF909C}" presName="bgRect" presStyleLbl="bgShp" presStyleIdx="0" presStyleCnt="3"/>
      <dgm:spPr/>
    </dgm:pt>
    <dgm:pt modelId="{9D27B10C-9AF1-4F21-AC33-3F34EA814D2C}" type="pres">
      <dgm:prSet presAssocID="{2C078189-0527-4171-B682-5240C4DF909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Warning"/>
        </a:ext>
      </dgm:extLst>
    </dgm:pt>
    <dgm:pt modelId="{56B3718A-6075-4E68-A205-0AE1C7C440F0}" type="pres">
      <dgm:prSet presAssocID="{2C078189-0527-4171-B682-5240C4DF909C}" presName="spaceRect" presStyleCnt="0"/>
      <dgm:spPr/>
    </dgm:pt>
    <dgm:pt modelId="{F99C3CBB-2425-47AA-A3C8-55D34B334E32}" type="pres">
      <dgm:prSet presAssocID="{2C078189-0527-4171-B682-5240C4DF909C}" presName="parTx" presStyleLbl="revTx" presStyleIdx="0" presStyleCnt="3">
        <dgm:presLayoutVars>
          <dgm:chMax val="0"/>
          <dgm:chPref val="0"/>
        </dgm:presLayoutVars>
      </dgm:prSet>
      <dgm:spPr/>
    </dgm:pt>
    <dgm:pt modelId="{F5D20BC5-E8EA-4010-BCFF-3A7282489A12}" type="pres">
      <dgm:prSet presAssocID="{4DD0D23D-FD7D-4D7D-886D-16BAE54B9009}" presName="sibTrans" presStyleCnt="0"/>
      <dgm:spPr/>
    </dgm:pt>
    <dgm:pt modelId="{1334CFEC-FF1B-4081-AFFB-774E657D7947}" type="pres">
      <dgm:prSet presAssocID="{664CD7E7-5033-4495-B979-8742A09E9CC9}" presName="compNode" presStyleCnt="0"/>
      <dgm:spPr/>
    </dgm:pt>
    <dgm:pt modelId="{C8364F1B-F51F-41BC-B162-4494408CCAC7}" type="pres">
      <dgm:prSet presAssocID="{664CD7E7-5033-4495-B979-8742A09E9CC9}" presName="bgRect" presStyleLbl="bgShp" presStyleIdx="1" presStyleCnt="3"/>
      <dgm:spPr/>
    </dgm:pt>
    <dgm:pt modelId="{258DD56F-A34E-438D-B39C-292DD7D244B9}" type="pres">
      <dgm:prSet presAssocID="{664CD7E7-5033-4495-B979-8742A09E9CC9}"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32D0E8CB-C598-467A-8608-8F4930F2C93B}" type="pres">
      <dgm:prSet presAssocID="{664CD7E7-5033-4495-B979-8742A09E9CC9}" presName="spaceRect" presStyleCnt="0"/>
      <dgm:spPr/>
    </dgm:pt>
    <dgm:pt modelId="{BB824D0F-5278-42BE-932B-CAB588CD77F3}" type="pres">
      <dgm:prSet presAssocID="{664CD7E7-5033-4495-B979-8742A09E9CC9}" presName="parTx" presStyleLbl="revTx" presStyleIdx="1" presStyleCnt="3">
        <dgm:presLayoutVars>
          <dgm:chMax val="0"/>
          <dgm:chPref val="0"/>
        </dgm:presLayoutVars>
      </dgm:prSet>
      <dgm:spPr/>
    </dgm:pt>
    <dgm:pt modelId="{D1663D64-375A-4391-A946-F2C262A330AE}" type="pres">
      <dgm:prSet presAssocID="{90F5D75B-3C72-47A6-9F38-631572EE85F8}" presName="sibTrans" presStyleCnt="0"/>
      <dgm:spPr/>
    </dgm:pt>
    <dgm:pt modelId="{D63FA2C1-0F70-4D36-A44E-3B12BAFBC717}" type="pres">
      <dgm:prSet presAssocID="{41536E1D-8FEC-4CD5-BD93-DEA375DA443B}" presName="compNode" presStyleCnt="0"/>
      <dgm:spPr/>
    </dgm:pt>
    <dgm:pt modelId="{5E0B8245-28FF-4539-BB94-27AE438D293D}" type="pres">
      <dgm:prSet presAssocID="{41536E1D-8FEC-4CD5-BD93-DEA375DA443B}" presName="bgRect" presStyleLbl="bgShp" presStyleIdx="2" presStyleCnt="3"/>
      <dgm:spPr/>
    </dgm:pt>
    <dgm:pt modelId="{8B39E49F-ADAF-4B14-A0FB-81D7DDDF4594}" type="pres">
      <dgm:prSet presAssocID="{41536E1D-8FEC-4CD5-BD93-DEA375DA443B}"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Banana Peel with solid fill"/>
        </a:ext>
      </dgm:extLst>
    </dgm:pt>
    <dgm:pt modelId="{F0D9C001-4C6B-403C-8CED-FB9A0BEB0E8C}" type="pres">
      <dgm:prSet presAssocID="{41536E1D-8FEC-4CD5-BD93-DEA375DA443B}" presName="spaceRect" presStyleCnt="0"/>
      <dgm:spPr/>
    </dgm:pt>
    <dgm:pt modelId="{BC84B202-085D-4452-8C1F-2778827B4616}" type="pres">
      <dgm:prSet presAssocID="{41536E1D-8FEC-4CD5-BD93-DEA375DA443B}" presName="parTx" presStyleLbl="revTx" presStyleIdx="2" presStyleCnt="3">
        <dgm:presLayoutVars>
          <dgm:chMax val="0"/>
          <dgm:chPref val="0"/>
        </dgm:presLayoutVars>
      </dgm:prSet>
      <dgm:spPr/>
    </dgm:pt>
  </dgm:ptLst>
  <dgm:cxnLst>
    <dgm:cxn modelId="{88E00E13-AD95-49EC-928A-83BA70B97CD6}" type="presOf" srcId="{38FDA860-FBB5-45B4-8516-B049249CB9F6}" destId="{FB541DB6-4FD1-4CEF-BD7E-F13E2AE857E4}" srcOrd="0" destOrd="0" presId="urn:microsoft.com/office/officeart/2018/2/layout/IconVerticalSolidList"/>
    <dgm:cxn modelId="{B125A123-259B-43AD-9E3C-B0F0B9762602}" type="presOf" srcId="{664CD7E7-5033-4495-B979-8742A09E9CC9}" destId="{BB824D0F-5278-42BE-932B-CAB588CD77F3}" srcOrd="0" destOrd="0" presId="urn:microsoft.com/office/officeart/2018/2/layout/IconVerticalSolidList"/>
    <dgm:cxn modelId="{F93ADE2A-F753-4FC5-B07C-0CC720D4974E}" srcId="{38FDA860-FBB5-45B4-8516-B049249CB9F6}" destId="{41536E1D-8FEC-4CD5-BD93-DEA375DA443B}" srcOrd="2" destOrd="0" parTransId="{299DFD20-EC6B-423C-9248-3960213AC2BF}" sibTransId="{18C4F0B4-5728-4D3E-864A-287F89242023}"/>
    <dgm:cxn modelId="{BE333E78-2780-40D9-8D66-62B829B9A3B4}" srcId="{38FDA860-FBB5-45B4-8516-B049249CB9F6}" destId="{664CD7E7-5033-4495-B979-8742A09E9CC9}" srcOrd="1" destOrd="0" parTransId="{EDF3B0A2-1486-45C6-B331-C0080B81DBD8}" sibTransId="{90F5D75B-3C72-47A6-9F38-631572EE85F8}"/>
    <dgm:cxn modelId="{EF856F7A-431F-4E78-812C-A8675F81846D}" srcId="{38FDA860-FBB5-45B4-8516-B049249CB9F6}" destId="{2C078189-0527-4171-B682-5240C4DF909C}" srcOrd="0" destOrd="0" parTransId="{AEB2B58C-4328-4C9B-ABF7-8F3DA7E96097}" sibTransId="{4DD0D23D-FD7D-4D7D-886D-16BAE54B9009}"/>
    <dgm:cxn modelId="{0702C95A-E50A-4104-A8C8-D9AE07F1895B}" type="presOf" srcId="{41536E1D-8FEC-4CD5-BD93-DEA375DA443B}" destId="{BC84B202-085D-4452-8C1F-2778827B4616}" srcOrd="0" destOrd="0" presId="urn:microsoft.com/office/officeart/2018/2/layout/IconVerticalSolidList"/>
    <dgm:cxn modelId="{1CD3E1AE-9CAC-4D10-9EED-B273BA943B63}" type="presOf" srcId="{2C078189-0527-4171-B682-5240C4DF909C}" destId="{F99C3CBB-2425-47AA-A3C8-55D34B334E32}" srcOrd="0" destOrd="0" presId="urn:microsoft.com/office/officeart/2018/2/layout/IconVerticalSolidList"/>
    <dgm:cxn modelId="{E152E512-00EC-4B16-88FC-D6D8E9387065}" type="presParOf" srcId="{FB541DB6-4FD1-4CEF-BD7E-F13E2AE857E4}" destId="{05A076CA-67D4-4280-B001-35DDB2FD4C83}" srcOrd="0" destOrd="0" presId="urn:microsoft.com/office/officeart/2018/2/layout/IconVerticalSolidList"/>
    <dgm:cxn modelId="{693DABD9-9751-4234-97DA-1224EC67C1BC}" type="presParOf" srcId="{05A076CA-67D4-4280-B001-35DDB2FD4C83}" destId="{5E570972-BD2D-440B-8558-DCAAF50382DB}" srcOrd="0" destOrd="0" presId="urn:microsoft.com/office/officeart/2018/2/layout/IconVerticalSolidList"/>
    <dgm:cxn modelId="{23EBD472-4C7E-4317-B2C0-748B943DE624}" type="presParOf" srcId="{05A076CA-67D4-4280-B001-35DDB2FD4C83}" destId="{9D27B10C-9AF1-4F21-AC33-3F34EA814D2C}" srcOrd="1" destOrd="0" presId="urn:microsoft.com/office/officeart/2018/2/layout/IconVerticalSolidList"/>
    <dgm:cxn modelId="{2950EE48-4551-463A-967B-CD33CBFE62C8}" type="presParOf" srcId="{05A076CA-67D4-4280-B001-35DDB2FD4C83}" destId="{56B3718A-6075-4E68-A205-0AE1C7C440F0}" srcOrd="2" destOrd="0" presId="urn:microsoft.com/office/officeart/2018/2/layout/IconVerticalSolidList"/>
    <dgm:cxn modelId="{2FF24CB0-93FD-4DE0-A3FF-37E008C27EEF}" type="presParOf" srcId="{05A076CA-67D4-4280-B001-35DDB2FD4C83}" destId="{F99C3CBB-2425-47AA-A3C8-55D34B334E32}" srcOrd="3" destOrd="0" presId="urn:microsoft.com/office/officeart/2018/2/layout/IconVerticalSolidList"/>
    <dgm:cxn modelId="{CC930F63-EDF3-4D20-B1D2-9F14F890DF53}" type="presParOf" srcId="{FB541DB6-4FD1-4CEF-BD7E-F13E2AE857E4}" destId="{F5D20BC5-E8EA-4010-BCFF-3A7282489A12}" srcOrd="1" destOrd="0" presId="urn:microsoft.com/office/officeart/2018/2/layout/IconVerticalSolidList"/>
    <dgm:cxn modelId="{30DFB67A-72E2-4D93-AA90-73CE16B82543}" type="presParOf" srcId="{FB541DB6-4FD1-4CEF-BD7E-F13E2AE857E4}" destId="{1334CFEC-FF1B-4081-AFFB-774E657D7947}" srcOrd="2" destOrd="0" presId="urn:microsoft.com/office/officeart/2018/2/layout/IconVerticalSolidList"/>
    <dgm:cxn modelId="{A0922060-0DC4-42F2-AF41-445845F2767C}" type="presParOf" srcId="{1334CFEC-FF1B-4081-AFFB-774E657D7947}" destId="{C8364F1B-F51F-41BC-B162-4494408CCAC7}" srcOrd="0" destOrd="0" presId="urn:microsoft.com/office/officeart/2018/2/layout/IconVerticalSolidList"/>
    <dgm:cxn modelId="{4F290321-DF73-4FA4-BAF2-41646CCDBF62}" type="presParOf" srcId="{1334CFEC-FF1B-4081-AFFB-774E657D7947}" destId="{258DD56F-A34E-438D-B39C-292DD7D244B9}" srcOrd="1" destOrd="0" presId="urn:microsoft.com/office/officeart/2018/2/layout/IconVerticalSolidList"/>
    <dgm:cxn modelId="{2B735F84-F88D-4357-A7E5-73B68D23FF32}" type="presParOf" srcId="{1334CFEC-FF1B-4081-AFFB-774E657D7947}" destId="{32D0E8CB-C598-467A-8608-8F4930F2C93B}" srcOrd="2" destOrd="0" presId="urn:microsoft.com/office/officeart/2018/2/layout/IconVerticalSolidList"/>
    <dgm:cxn modelId="{ECB8CF10-7E46-4CCB-AC72-62AF2F6818B9}" type="presParOf" srcId="{1334CFEC-FF1B-4081-AFFB-774E657D7947}" destId="{BB824D0F-5278-42BE-932B-CAB588CD77F3}" srcOrd="3" destOrd="0" presId="urn:microsoft.com/office/officeart/2018/2/layout/IconVerticalSolidList"/>
    <dgm:cxn modelId="{49257898-A2A1-47D5-B867-3989738B7AF4}" type="presParOf" srcId="{FB541DB6-4FD1-4CEF-BD7E-F13E2AE857E4}" destId="{D1663D64-375A-4391-A946-F2C262A330AE}" srcOrd="3" destOrd="0" presId="urn:microsoft.com/office/officeart/2018/2/layout/IconVerticalSolidList"/>
    <dgm:cxn modelId="{1ABECB36-24BB-49F8-BF74-6ED3EB60D4F0}" type="presParOf" srcId="{FB541DB6-4FD1-4CEF-BD7E-F13E2AE857E4}" destId="{D63FA2C1-0F70-4D36-A44E-3B12BAFBC717}" srcOrd="4" destOrd="0" presId="urn:microsoft.com/office/officeart/2018/2/layout/IconVerticalSolidList"/>
    <dgm:cxn modelId="{06920DBE-F7AF-4AC1-B46D-F95A67C7A174}" type="presParOf" srcId="{D63FA2C1-0F70-4D36-A44E-3B12BAFBC717}" destId="{5E0B8245-28FF-4539-BB94-27AE438D293D}" srcOrd="0" destOrd="0" presId="urn:microsoft.com/office/officeart/2018/2/layout/IconVerticalSolidList"/>
    <dgm:cxn modelId="{10272871-531E-4E82-B18C-130552936108}" type="presParOf" srcId="{D63FA2C1-0F70-4D36-A44E-3B12BAFBC717}" destId="{8B39E49F-ADAF-4B14-A0FB-81D7DDDF4594}" srcOrd="1" destOrd="0" presId="urn:microsoft.com/office/officeart/2018/2/layout/IconVerticalSolidList"/>
    <dgm:cxn modelId="{7098D1E7-96C9-41D2-93F7-48682C17D6AF}" type="presParOf" srcId="{D63FA2C1-0F70-4D36-A44E-3B12BAFBC717}" destId="{F0D9C001-4C6B-403C-8CED-FB9A0BEB0E8C}" srcOrd="2" destOrd="0" presId="urn:microsoft.com/office/officeart/2018/2/layout/IconVerticalSolidList"/>
    <dgm:cxn modelId="{249165B6-E1C3-4E35-89D0-339111A6C86F}" type="presParOf" srcId="{D63FA2C1-0F70-4D36-A44E-3B12BAFBC717}" destId="{BC84B202-085D-4452-8C1F-2778827B461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4DFD8E-1E04-4E31-BDD2-21E69E5A8108}" type="doc">
      <dgm:prSet loTypeId="urn:microsoft.com/office/officeart/2008/layout/AlternatingHexagons" loCatId="list" qsTypeId="urn:microsoft.com/office/officeart/2005/8/quickstyle/simple2" qsCatId="simple" csTypeId="urn:microsoft.com/office/officeart/2005/8/colors/accent2_2" csCatId="accent2" phldr="1"/>
      <dgm:spPr/>
      <dgm:t>
        <a:bodyPr/>
        <a:lstStyle/>
        <a:p>
          <a:endParaRPr lang="en-US"/>
        </a:p>
      </dgm:t>
    </dgm:pt>
    <dgm:pt modelId="{F5B5387C-45AC-4A49-93BB-D20FE8909A06}">
      <dgm:prSet/>
      <dgm:spPr/>
      <dgm:t>
        <a:bodyPr/>
        <a:lstStyle/>
        <a:p>
          <a:r>
            <a:rPr lang="en-GB"/>
            <a:t>Risk is ever present and takes several forms</a:t>
          </a:r>
          <a:endParaRPr lang="en-US"/>
        </a:p>
      </dgm:t>
    </dgm:pt>
    <dgm:pt modelId="{3941EC85-8227-43E0-B7B7-CF20DD13FAEC}" type="parTrans" cxnId="{C5644BEC-C116-4AF1-A259-1DC0E2F7C324}">
      <dgm:prSet/>
      <dgm:spPr/>
      <dgm:t>
        <a:bodyPr/>
        <a:lstStyle/>
        <a:p>
          <a:endParaRPr lang="en-US"/>
        </a:p>
      </dgm:t>
    </dgm:pt>
    <dgm:pt modelId="{DFDD2A22-49F8-487B-94B5-FE1297D4A0F3}" type="sibTrans" cxnId="{C5644BEC-C116-4AF1-A259-1DC0E2F7C324}">
      <dgm:prSet/>
      <dgm:spPr/>
      <dgm:t>
        <a:bodyPr/>
        <a:lstStyle/>
        <a:p>
          <a:endParaRPr lang="en-US"/>
        </a:p>
      </dgm:t>
    </dgm:pt>
    <dgm:pt modelId="{5DB4A3FF-B819-4A1C-80B8-76D8078A9132}">
      <dgm:prSet/>
      <dgm:spPr/>
      <dgm:t>
        <a:bodyPr/>
        <a:lstStyle/>
        <a:p>
          <a:r>
            <a:rPr lang="en-GB" dirty="0"/>
            <a:t>Mitigation reduces the likelihood, severity, or both</a:t>
          </a:r>
          <a:endParaRPr lang="en-US" dirty="0"/>
        </a:p>
      </dgm:t>
    </dgm:pt>
    <dgm:pt modelId="{A43422B7-7F85-4A92-8582-01A078510CA2}" type="parTrans" cxnId="{EAF219BB-864E-459C-A424-9D5986B0D5DD}">
      <dgm:prSet/>
      <dgm:spPr/>
      <dgm:t>
        <a:bodyPr/>
        <a:lstStyle/>
        <a:p>
          <a:endParaRPr lang="en-US"/>
        </a:p>
      </dgm:t>
    </dgm:pt>
    <dgm:pt modelId="{B6E94462-80BC-43A9-AEDA-2F05BE0C47FA}" type="sibTrans" cxnId="{EAF219BB-864E-459C-A424-9D5986B0D5DD}">
      <dgm:prSet/>
      <dgm:spPr/>
      <dgm:t>
        <a:bodyPr/>
        <a:lstStyle/>
        <a:p>
          <a:endParaRPr lang="en-US"/>
        </a:p>
      </dgm:t>
    </dgm:pt>
    <dgm:pt modelId="{CEDB853A-314B-4C8D-AF9C-D12B38E1E2D2}">
      <dgm:prSet/>
      <dgm:spPr/>
      <dgm:t>
        <a:bodyPr/>
        <a:lstStyle/>
        <a:p>
          <a:r>
            <a:rPr lang="en-US" dirty="0"/>
            <a:t>Successful management reduces residual risk over time</a:t>
          </a:r>
        </a:p>
      </dgm:t>
    </dgm:pt>
    <dgm:pt modelId="{41CD14E9-328E-46FD-948F-1D85F5D25FC7}" type="parTrans" cxnId="{4B34A4B8-201F-4293-82A5-8C9F0E4AB425}">
      <dgm:prSet/>
      <dgm:spPr/>
      <dgm:t>
        <a:bodyPr/>
        <a:lstStyle/>
        <a:p>
          <a:endParaRPr lang="en-GB"/>
        </a:p>
      </dgm:t>
    </dgm:pt>
    <dgm:pt modelId="{4D7CC964-E4D6-4120-9CF9-9FAA6BC92284}" type="sibTrans" cxnId="{4B34A4B8-201F-4293-82A5-8C9F0E4AB425}">
      <dgm:prSet/>
      <dgm:spPr/>
      <dgm:t>
        <a:bodyPr/>
        <a:lstStyle/>
        <a:p>
          <a:endParaRPr lang="en-GB"/>
        </a:p>
      </dgm:t>
    </dgm:pt>
    <dgm:pt modelId="{B09DF8B7-3F12-40ED-A008-342DE8CAAA17}" type="pres">
      <dgm:prSet presAssocID="{794DFD8E-1E04-4E31-BDD2-21E69E5A8108}" presName="Name0" presStyleCnt="0">
        <dgm:presLayoutVars>
          <dgm:chMax/>
          <dgm:chPref/>
          <dgm:dir/>
          <dgm:animLvl val="lvl"/>
        </dgm:presLayoutVars>
      </dgm:prSet>
      <dgm:spPr/>
    </dgm:pt>
    <dgm:pt modelId="{6F96B9A3-EBCC-46A2-9FB8-453891D8C2F3}" type="pres">
      <dgm:prSet presAssocID="{F5B5387C-45AC-4A49-93BB-D20FE8909A06}" presName="composite" presStyleCnt="0"/>
      <dgm:spPr/>
    </dgm:pt>
    <dgm:pt modelId="{266E53F8-654E-488B-AD6C-B0FAF14222E1}" type="pres">
      <dgm:prSet presAssocID="{F5B5387C-45AC-4A49-93BB-D20FE8909A06}" presName="Parent1" presStyleLbl="node1" presStyleIdx="0" presStyleCnt="6">
        <dgm:presLayoutVars>
          <dgm:chMax val="1"/>
          <dgm:chPref val="1"/>
          <dgm:bulletEnabled val="1"/>
        </dgm:presLayoutVars>
      </dgm:prSet>
      <dgm:spPr/>
    </dgm:pt>
    <dgm:pt modelId="{23405927-3D67-4A08-9028-557D08B7D401}" type="pres">
      <dgm:prSet presAssocID="{F5B5387C-45AC-4A49-93BB-D20FE8909A06}" presName="Childtext1" presStyleLbl="revTx" presStyleIdx="0" presStyleCnt="3">
        <dgm:presLayoutVars>
          <dgm:chMax val="0"/>
          <dgm:chPref val="0"/>
          <dgm:bulletEnabled val="1"/>
        </dgm:presLayoutVars>
      </dgm:prSet>
      <dgm:spPr/>
    </dgm:pt>
    <dgm:pt modelId="{4B7F4706-9D90-49CA-B11B-DCE63A638A6E}" type="pres">
      <dgm:prSet presAssocID="{F5B5387C-45AC-4A49-93BB-D20FE8909A06}" presName="BalanceSpacing" presStyleCnt="0"/>
      <dgm:spPr/>
    </dgm:pt>
    <dgm:pt modelId="{A36F0B31-4C1A-476C-BD2A-E79057C70376}" type="pres">
      <dgm:prSet presAssocID="{F5B5387C-45AC-4A49-93BB-D20FE8909A06}" presName="BalanceSpacing1" presStyleCnt="0"/>
      <dgm:spPr/>
    </dgm:pt>
    <dgm:pt modelId="{79D4933A-CFE7-4809-97B9-B917FD13218C}" type="pres">
      <dgm:prSet presAssocID="{DFDD2A22-49F8-487B-94B5-FE1297D4A0F3}" presName="Accent1Text" presStyleLbl="node1" presStyleIdx="1" presStyleCnt="6"/>
      <dgm:spPr/>
    </dgm:pt>
    <dgm:pt modelId="{012B0F3E-1197-41BD-A509-64A08866EFE3}" type="pres">
      <dgm:prSet presAssocID="{DFDD2A22-49F8-487B-94B5-FE1297D4A0F3}" presName="spaceBetweenRectangles" presStyleCnt="0"/>
      <dgm:spPr/>
    </dgm:pt>
    <dgm:pt modelId="{943F312A-7988-4AF5-A068-6B69D2C31F98}" type="pres">
      <dgm:prSet presAssocID="{5DB4A3FF-B819-4A1C-80B8-76D8078A9132}" presName="composite" presStyleCnt="0"/>
      <dgm:spPr/>
    </dgm:pt>
    <dgm:pt modelId="{C14642B7-5054-436A-B65E-1974A82B1983}" type="pres">
      <dgm:prSet presAssocID="{5DB4A3FF-B819-4A1C-80B8-76D8078A9132}" presName="Parent1" presStyleLbl="node1" presStyleIdx="2" presStyleCnt="6">
        <dgm:presLayoutVars>
          <dgm:chMax val="1"/>
          <dgm:chPref val="1"/>
          <dgm:bulletEnabled val="1"/>
        </dgm:presLayoutVars>
      </dgm:prSet>
      <dgm:spPr/>
    </dgm:pt>
    <dgm:pt modelId="{25FDAC44-6AAC-4736-8D0A-CAB2349FD0B9}" type="pres">
      <dgm:prSet presAssocID="{5DB4A3FF-B819-4A1C-80B8-76D8078A9132}" presName="Childtext1" presStyleLbl="revTx" presStyleIdx="1" presStyleCnt="3">
        <dgm:presLayoutVars>
          <dgm:chMax val="0"/>
          <dgm:chPref val="0"/>
          <dgm:bulletEnabled val="1"/>
        </dgm:presLayoutVars>
      </dgm:prSet>
      <dgm:spPr/>
    </dgm:pt>
    <dgm:pt modelId="{DEF2DC3F-4FBB-43E4-B4EF-3F816810747A}" type="pres">
      <dgm:prSet presAssocID="{5DB4A3FF-B819-4A1C-80B8-76D8078A9132}" presName="BalanceSpacing" presStyleCnt="0"/>
      <dgm:spPr/>
    </dgm:pt>
    <dgm:pt modelId="{05BEBAFD-9C1F-4545-8504-C998F998C2CC}" type="pres">
      <dgm:prSet presAssocID="{5DB4A3FF-B819-4A1C-80B8-76D8078A9132}" presName="BalanceSpacing1" presStyleCnt="0"/>
      <dgm:spPr/>
    </dgm:pt>
    <dgm:pt modelId="{A93AE3D5-2B91-4FFA-93F8-5786FF21523F}" type="pres">
      <dgm:prSet presAssocID="{B6E94462-80BC-43A9-AEDA-2F05BE0C47FA}" presName="Accent1Text" presStyleLbl="node1" presStyleIdx="3" presStyleCnt="6"/>
      <dgm:spPr/>
    </dgm:pt>
    <dgm:pt modelId="{5A51FEB9-CE17-48B3-BB6F-D99DF3CF9157}" type="pres">
      <dgm:prSet presAssocID="{B6E94462-80BC-43A9-AEDA-2F05BE0C47FA}" presName="spaceBetweenRectangles" presStyleCnt="0"/>
      <dgm:spPr/>
    </dgm:pt>
    <dgm:pt modelId="{22644899-98E3-4303-B9AB-4823D4029AA9}" type="pres">
      <dgm:prSet presAssocID="{CEDB853A-314B-4C8D-AF9C-D12B38E1E2D2}" presName="composite" presStyleCnt="0"/>
      <dgm:spPr/>
    </dgm:pt>
    <dgm:pt modelId="{F23642A3-CCBD-4491-9F53-92A53AF4D22D}" type="pres">
      <dgm:prSet presAssocID="{CEDB853A-314B-4C8D-AF9C-D12B38E1E2D2}" presName="Parent1" presStyleLbl="node1" presStyleIdx="4" presStyleCnt="6">
        <dgm:presLayoutVars>
          <dgm:chMax val="1"/>
          <dgm:chPref val="1"/>
          <dgm:bulletEnabled val="1"/>
        </dgm:presLayoutVars>
      </dgm:prSet>
      <dgm:spPr/>
    </dgm:pt>
    <dgm:pt modelId="{F4B543D0-506D-4AA9-857B-1D1BB0097A07}" type="pres">
      <dgm:prSet presAssocID="{CEDB853A-314B-4C8D-AF9C-D12B38E1E2D2}" presName="Childtext1" presStyleLbl="revTx" presStyleIdx="2" presStyleCnt="3">
        <dgm:presLayoutVars>
          <dgm:chMax val="0"/>
          <dgm:chPref val="0"/>
          <dgm:bulletEnabled val="1"/>
        </dgm:presLayoutVars>
      </dgm:prSet>
      <dgm:spPr/>
    </dgm:pt>
    <dgm:pt modelId="{9855FC95-9336-4F06-86B1-F12660C63216}" type="pres">
      <dgm:prSet presAssocID="{CEDB853A-314B-4C8D-AF9C-D12B38E1E2D2}" presName="BalanceSpacing" presStyleCnt="0"/>
      <dgm:spPr/>
    </dgm:pt>
    <dgm:pt modelId="{20702ED7-C89F-412E-903D-196DF00ECB2D}" type="pres">
      <dgm:prSet presAssocID="{CEDB853A-314B-4C8D-AF9C-D12B38E1E2D2}" presName="BalanceSpacing1" presStyleCnt="0"/>
      <dgm:spPr/>
    </dgm:pt>
    <dgm:pt modelId="{FAF21DA8-31E1-4624-9A87-2016B6DF50C9}" type="pres">
      <dgm:prSet presAssocID="{4D7CC964-E4D6-4120-9CF9-9FAA6BC92284}" presName="Accent1Text" presStyleLbl="node1" presStyleIdx="5" presStyleCnt="6"/>
      <dgm:spPr/>
    </dgm:pt>
  </dgm:ptLst>
  <dgm:cxnLst>
    <dgm:cxn modelId="{F7B31B33-BF3B-4366-AF1E-94106BB7EBE0}" type="presOf" srcId="{4D7CC964-E4D6-4120-9CF9-9FAA6BC92284}" destId="{FAF21DA8-31E1-4624-9A87-2016B6DF50C9}" srcOrd="0" destOrd="0" presId="urn:microsoft.com/office/officeart/2008/layout/AlternatingHexagons"/>
    <dgm:cxn modelId="{B1D09963-7BB5-4073-952F-045AF7EE9689}" type="presOf" srcId="{DFDD2A22-49F8-487B-94B5-FE1297D4A0F3}" destId="{79D4933A-CFE7-4809-97B9-B917FD13218C}" srcOrd="0" destOrd="0" presId="urn:microsoft.com/office/officeart/2008/layout/AlternatingHexagons"/>
    <dgm:cxn modelId="{73400E87-5035-4281-85E8-2B460ABF8149}" type="presOf" srcId="{F5B5387C-45AC-4A49-93BB-D20FE8909A06}" destId="{266E53F8-654E-488B-AD6C-B0FAF14222E1}" srcOrd="0" destOrd="0" presId="urn:microsoft.com/office/officeart/2008/layout/AlternatingHexagons"/>
    <dgm:cxn modelId="{D1B7EF89-3537-4B9C-9C96-34137AABBAED}" type="presOf" srcId="{CEDB853A-314B-4C8D-AF9C-D12B38E1E2D2}" destId="{F23642A3-CCBD-4491-9F53-92A53AF4D22D}" srcOrd="0" destOrd="0" presId="urn:microsoft.com/office/officeart/2008/layout/AlternatingHexagons"/>
    <dgm:cxn modelId="{96AF0895-B0B2-4F60-AF4B-2A2697E0BD52}" type="presOf" srcId="{794DFD8E-1E04-4E31-BDD2-21E69E5A8108}" destId="{B09DF8B7-3F12-40ED-A008-342DE8CAAA17}" srcOrd="0" destOrd="0" presId="urn:microsoft.com/office/officeart/2008/layout/AlternatingHexagons"/>
    <dgm:cxn modelId="{C3714EB8-E917-4C61-B036-5ADD0F63ACE5}" type="presOf" srcId="{B6E94462-80BC-43A9-AEDA-2F05BE0C47FA}" destId="{A93AE3D5-2B91-4FFA-93F8-5786FF21523F}" srcOrd="0" destOrd="0" presId="urn:microsoft.com/office/officeart/2008/layout/AlternatingHexagons"/>
    <dgm:cxn modelId="{4B34A4B8-201F-4293-82A5-8C9F0E4AB425}" srcId="{794DFD8E-1E04-4E31-BDD2-21E69E5A8108}" destId="{CEDB853A-314B-4C8D-AF9C-D12B38E1E2D2}" srcOrd="2" destOrd="0" parTransId="{41CD14E9-328E-46FD-948F-1D85F5D25FC7}" sibTransId="{4D7CC964-E4D6-4120-9CF9-9FAA6BC92284}"/>
    <dgm:cxn modelId="{EAF219BB-864E-459C-A424-9D5986B0D5DD}" srcId="{794DFD8E-1E04-4E31-BDD2-21E69E5A8108}" destId="{5DB4A3FF-B819-4A1C-80B8-76D8078A9132}" srcOrd="1" destOrd="0" parTransId="{A43422B7-7F85-4A92-8582-01A078510CA2}" sibTransId="{B6E94462-80BC-43A9-AEDA-2F05BE0C47FA}"/>
    <dgm:cxn modelId="{67EDE6C2-9FE7-4EF0-A160-7615A8D85092}" type="presOf" srcId="{5DB4A3FF-B819-4A1C-80B8-76D8078A9132}" destId="{C14642B7-5054-436A-B65E-1974A82B1983}" srcOrd="0" destOrd="0" presId="urn:microsoft.com/office/officeart/2008/layout/AlternatingHexagons"/>
    <dgm:cxn modelId="{C5644BEC-C116-4AF1-A259-1DC0E2F7C324}" srcId="{794DFD8E-1E04-4E31-BDD2-21E69E5A8108}" destId="{F5B5387C-45AC-4A49-93BB-D20FE8909A06}" srcOrd="0" destOrd="0" parTransId="{3941EC85-8227-43E0-B7B7-CF20DD13FAEC}" sibTransId="{DFDD2A22-49F8-487B-94B5-FE1297D4A0F3}"/>
    <dgm:cxn modelId="{1BED1E1E-999E-49FE-83A9-AEC9A895880A}" type="presParOf" srcId="{B09DF8B7-3F12-40ED-A008-342DE8CAAA17}" destId="{6F96B9A3-EBCC-46A2-9FB8-453891D8C2F3}" srcOrd="0" destOrd="0" presId="urn:microsoft.com/office/officeart/2008/layout/AlternatingHexagons"/>
    <dgm:cxn modelId="{609B9100-EFAB-46B0-92C0-81432C1DC843}" type="presParOf" srcId="{6F96B9A3-EBCC-46A2-9FB8-453891D8C2F3}" destId="{266E53F8-654E-488B-AD6C-B0FAF14222E1}" srcOrd="0" destOrd="0" presId="urn:microsoft.com/office/officeart/2008/layout/AlternatingHexagons"/>
    <dgm:cxn modelId="{2B8FE811-3B73-47D4-8DB0-851B3FEBF743}" type="presParOf" srcId="{6F96B9A3-EBCC-46A2-9FB8-453891D8C2F3}" destId="{23405927-3D67-4A08-9028-557D08B7D401}" srcOrd="1" destOrd="0" presId="urn:microsoft.com/office/officeart/2008/layout/AlternatingHexagons"/>
    <dgm:cxn modelId="{870CD4EF-4CFF-4979-B7E7-71C81639CDEA}" type="presParOf" srcId="{6F96B9A3-EBCC-46A2-9FB8-453891D8C2F3}" destId="{4B7F4706-9D90-49CA-B11B-DCE63A638A6E}" srcOrd="2" destOrd="0" presId="urn:microsoft.com/office/officeart/2008/layout/AlternatingHexagons"/>
    <dgm:cxn modelId="{9299C7B5-4B28-4621-992D-4576E148CE53}" type="presParOf" srcId="{6F96B9A3-EBCC-46A2-9FB8-453891D8C2F3}" destId="{A36F0B31-4C1A-476C-BD2A-E79057C70376}" srcOrd="3" destOrd="0" presId="urn:microsoft.com/office/officeart/2008/layout/AlternatingHexagons"/>
    <dgm:cxn modelId="{4908262D-2270-45A4-85AC-3202E252A3AC}" type="presParOf" srcId="{6F96B9A3-EBCC-46A2-9FB8-453891D8C2F3}" destId="{79D4933A-CFE7-4809-97B9-B917FD13218C}" srcOrd="4" destOrd="0" presId="urn:microsoft.com/office/officeart/2008/layout/AlternatingHexagons"/>
    <dgm:cxn modelId="{D804FCBA-3F77-4856-98B1-C54BFFC33A9C}" type="presParOf" srcId="{B09DF8B7-3F12-40ED-A008-342DE8CAAA17}" destId="{012B0F3E-1197-41BD-A509-64A08866EFE3}" srcOrd="1" destOrd="0" presId="urn:microsoft.com/office/officeart/2008/layout/AlternatingHexagons"/>
    <dgm:cxn modelId="{E3B2191F-81C8-49F5-BB9D-A403D55C04DA}" type="presParOf" srcId="{B09DF8B7-3F12-40ED-A008-342DE8CAAA17}" destId="{943F312A-7988-4AF5-A068-6B69D2C31F98}" srcOrd="2" destOrd="0" presId="urn:microsoft.com/office/officeart/2008/layout/AlternatingHexagons"/>
    <dgm:cxn modelId="{0EC9F710-484A-4B3A-A999-2F439007A5BE}" type="presParOf" srcId="{943F312A-7988-4AF5-A068-6B69D2C31F98}" destId="{C14642B7-5054-436A-B65E-1974A82B1983}" srcOrd="0" destOrd="0" presId="urn:microsoft.com/office/officeart/2008/layout/AlternatingHexagons"/>
    <dgm:cxn modelId="{E426ECE0-0AAE-4AB3-932B-6351D3E301DE}" type="presParOf" srcId="{943F312A-7988-4AF5-A068-6B69D2C31F98}" destId="{25FDAC44-6AAC-4736-8D0A-CAB2349FD0B9}" srcOrd="1" destOrd="0" presId="urn:microsoft.com/office/officeart/2008/layout/AlternatingHexagons"/>
    <dgm:cxn modelId="{BDB30703-81E1-4343-815B-E08EAFC3B074}" type="presParOf" srcId="{943F312A-7988-4AF5-A068-6B69D2C31F98}" destId="{DEF2DC3F-4FBB-43E4-B4EF-3F816810747A}" srcOrd="2" destOrd="0" presId="urn:microsoft.com/office/officeart/2008/layout/AlternatingHexagons"/>
    <dgm:cxn modelId="{B79354B0-6AF6-4DAA-BA74-A82336CCBDF9}" type="presParOf" srcId="{943F312A-7988-4AF5-A068-6B69D2C31F98}" destId="{05BEBAFD-9C1F-4545-8504-C998F998C2CC}" srcOrd="3" destOrd="0" presId="urn:microsoft.com/office/officeart/2008/layout/AlternatingHexagons"/>
    <dgm:cxn modelId="{160FA4DE-4C40-4EFE-8326-2A2AB029317D}" type="presParOf" srcId="{943F312A-7988-4AF5-A068-6B69D2C31F98}" destId="{A93AE3D5-2B91-4FFA-93F8-5786FF21523F}" srcOrd="4" destOrd="0" presId="urn:microsoft.com/office/officeart/2008/layout/AlternatingHexagons"/>
    <dgm:cxn modelId="{1821CE8B-FB61-4FB3-B247-5C3BED719CA7}" type="presParOf" srcId="{B09DF8B7-3F12-40ED-A008-342DE8CAAA17}" destId="{5A51FEB9-CE17-48B3-BB6F-D99DF3CF9157}" srcOrd="3" destOrd="0" presId="urn:microsoft.com/office/officeart/2008/layout/AlternatingHexagons"/>
    <dgm:cxn modelId="{24ECE5A8-59E9-4FFF-BF2D-EFB65DABEF03}" type="presParOf" srcId="{B09DF8B7-3F12-40ED-A008-342DE8CAAA17}" destId="{22644899-98E3-4303-B9AB-4823D4029AA9}" srcOrd="4" destOrd="0" presId="urn:microsoft.com/office/officeart/2008/layout/AlternatingHexagons"/>
    <dgm:cxn modelId="{1ADEFEB3-86FF-4DF2-A1A2-560E5356938F}" type="presParOf" srcId="{22644899-98E3-4303-B9AB-4823D4029AA9}" destId="{F23642A3-CCBD-4491-9F53-92A53AF4D22D}" srcOrd="0" destOrd="0" presId="urn:microsoft.com/office/officeart/2008/layout/AlternatingHexagons"/>
    <dgm:cxn modelId="{74D71992-4FE8-4D3F-A6D9-3B6F684FA28B}" type="presParOf" srcId="{22644899-98E3-4303-B9AB-4823D4029AA9}" destId="{F4B543D0-506D-4AA9-857B-1D1BB0097A07}" srcOrd="1" destOrd="0" presId="urn:microsoft.com/office/officeart/2008/layout/AlternatingHexagons"/>
    <dgm:cxn modelId="{F549A11D-A601-44A6-B03F-0BFD1523E843}" type="presParOf" srcId="{22644899-98E3-4303-B9AB-4823D4029AA9}" destId="{9855FC95-9336-4F06-86B1-F12660C63216}" srcOrd="2" destOrd="0" presId="urn:microsoft.com/office/officeart/2008/layout/AlternatingHexagons"/>
    <dgm:cxn modelId="{E3C6AC06-A6E2-4E94-959F-2413FD8C1EB0}" type="presParOf" srcId="{22644899-98E3-4303-B9AB-4823D4029AA9}" destId="{20702ED7-C89F-412E-903D-196DF00ECB2D}" srcOrd="3" destOrd="0" presId="urn:microsoft.com/office/officeart/2008/layout/AlternatingHexagons"/>
    <dgm:cxn modelId="{A97A6F4D-5657-4F08-BE29-6A8EEE86FF60}" type="presParOf" srcId="{22644899-98E3-4303-B9AB-4823D4029AA9}" destId="{FAF21DA8-31E1-4624-9A87-2016B6DF50C9}"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570972-BD2D-440B-8558-DCAAF50382DB}">
      <dsp:nvSpPr>
        <dsp:cNvPr id="0" name=""/>
        <dsp:cNvSpPr/>
      </dsp:nvSpPr>
      <dsp:spPr>
        <a:xfrm>
          <a:off x="0" y="449"/>
          <a:ext cx="11029950" cy="10506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27B10C-9AF1-4F21-AC33-3F34EA814D2C}">
      <dsp:nvSpPr>
        <dsp:cNvPr id="0" name=""/>
        <dsp:cNvSpPr/>
      </dsp:nvSpPr>
      <dsp:spPr>
        <a:xfrm>
          <a:off x="317827" y="236849"/>
          <a:ext cx="577867" cy="57786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99C3CBB-2425-47AA-A3C8-55D34B334E32}">
      <dsp:nvSpPr>
        <dsp:cNvPr id="0" name=""/>
        <dsp:cNvSpPr/>
      </dsp:nvSpPr>
      <dsp:spPr>
        <a:xfrm>
          <a:off x="1213522" y="449"/>
          <a:ext cx="9816427" cy="1050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6" tIns="111196" rIns="111196" bIns="111196" numCol="1" spcCol="1270" anchor="ctr" anchorCtr="0">
          <a:noAutofit/>
        </a:bodyPr>
        <a:lstStyle/>
        <a:p>
          <a:pPr marL="0" lvl="0" indent="0" algn="l" defTabSz="1022350">
            <a:lnSpc>
              <a:spcPct val="100000"/>
            </a:lnSpc>
            <a:spcBef>
              <a:spcPct val="0"/>
            </a:spcBef>
            <a:spcAft>
              <a:spcPct val="35000"/>
            </a:spcAft>
            <a:buNone/>
          </a:pPr>
          <a:r>
            <a:rPr lang="en-US" sz="2300" b="0" kern="1200" dirty="0"/>
            <a:t>Monitor open risks</a:t>
          </a:r>
        </a:p>
      </dsp:txBody>
      <dsp:txXfrm>
        <a:off x="1213522" y="449"/>
        <a:ext cx="9816427" cy="1050668"/>
      </dsp:txXfrm>
    </dsp:sp>
    <dsp:sp modelId="{C8364F1B-F51F-41BC-B162-4494408CCAC7}">
      <dsp:nvSpPr>
        <dsp:cNvPr id="0" name=""/>
        <dsp:cNvSpPr/>
      </dsp:nvSpPr>
      <dsp:spPr>
        <a:xfrm>
          <a:off x="0" y="1313784"/>
          <a:ext cx="11029950" cy="10506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8DD56F-A34E-438D-B39C-292DD7D244B9}">
      <dsp:nvSpPr>
        <dsp:cNvPr id="0" name=""/>
        <dsp:cNvSpPr/>
      </dsp:nvSpPr>
      <dsp:spPr>
        <a:xfrm>
          <a:off x="317827" y="1550185"/>
          <a:ext cx="577867" cy="57786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B824D0F-5278-42BE-932B-CAB588CD77F3}">
      <dsp:nvSpPr>
        <dsp:cNvPr id="0" name=""/>
        <dsp:cNvSpPr/>
      </dsp:nvSpPr>
      <dsp:spPr>
        <a:xfrm>
          <a:off x="1213522" y="1313784"/>
          <a:ext cx="9816427" cy="1050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6" tIns="111196" rIns="111196" bIns="111196" numCol="1" spcCol="1270" anchor="ctr" anchorCtr="0">
          <a:noAutofit/>
        </a:bodyPr>
        <a:lstStyle/>
        <a:p>
          <a:pPr marL="0" lvl="0" indent="0" algn="l" defTabSz="1022350">
            <a:lnSpc>
              <a:spcPct val="100000"/>
            </a:lnSpc>
            <a:spcBef>
              <a:spcPct val="0"/>
            </a:spcBef>
            <a:spcAft>
              <a:spcPct val="35000"/>
            </a:spcAft>
            <a:buNone/>
          </a:pPr>
          <a:r>
            <a:rPr lang="en-US" sz="2300" b="0" kern="1200" dirty="0"/>
            <a:t>Adjust risk likelihood and severity over time </a:t>
          </a:r>
        </a:p>
        <a:p>
          <a:pPr marL="0" lvl="0" indent="0" algn="l" defTabSz="1022350">
            <a:lnSpc>
              <a:spcPct val="100000"/>
            </a:lnSpc>
            <a:spcBef>
              <a:spcPct val="0"/>
            </a:spcBef>
            <a:spcAft>
              <a:spcPct val="35000"/>
            </a:spcAft>
            <a:buNone/>
          </a:pPr>
          <a:r>
            <a:rPr lang="en-US" sz="2300" b="0" kern="1200" dirty="0"/>
            <a:t>(as work is completed)</a:t>
          </a:r>
        </a:p>
      </dsp:txBody>
      <dsp:txXfrm>
        <a:off x="1213522" y="1313784"/>
        <a:ext cx="9816427" cy="1050668"/>
      </dsp:txXfrm>
    </dsp:sp>
    <dsp:sp modelId="{5E0B8245-28FF-4539-BB94-27AE438D293D}">
      <dsp:nvSpPr>
        <dsp:cNvPr id="0" name=""/>
        <dsp:cNvSpPr/>
      </dsp:nvSpPr>
      <dsp:spPr>
        <a:xfrm>
          <a:off x="0" y="2627120"/>
          <a:ext cx="11029950" cy="10506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39E49F-ADAF-4B14-A0FB-81D7DDDF4594}">
      <dsp:nvSpPr>
        <dsp:cNvPr id="0" name=""/>
        <dsp:cNvSpPr/>
      </dsp:nvSpPr>
      <dsp:spPr>
        <a:xfrm>
          <a:off x="317827" y="2863520"/>
          <a:ext cx="577867" cy="577867"/>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2225"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84B202-085D-4452-8C1F-2778827B4616}">
      <dsp:nvSpPr>
        <dsp:cNvPr id="0" name=""/>
        <dsp:cNvSpPr/>
      </dsp:nvSpPr>
      <dsp:spPr>
        <a:xfrm>
          <a:off x="1213522" y="2627120"/>
          <a:ext cx="9816427" cy="1050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6" tIns="111196" rIns="111196" bIns="111196" numCol="1" spcCol="1270" anchor="ctr" anchorCtr="0">
          <a:noAutofit/>
        </a:bodyPr>
        <a:lstStyle/>
        <a:p>
          <a:pPr marL="0" lvl="0" indent="0" algn="l" defTabSz="1022350">
            <a:lnSpc>
              <a:spcPct val="100000"/>
            </a:lnSpc>
            <a:spcBef>
              <a:spcPct val="0"/>
            </a:spcBef>
            <a:spcAft>
              <a:spcPct val="35000"/>
            </a:spcAft>
            <a:buNone/>
          </a:pPr>
          <a:r>
            <a:rPr lang="en-US" sz="2300" kern="1200" dirty="0"/>
            <a:t>Add risks that are identified as project progresses (as needed)</a:t>
          </a:r>
        </a:p>
      </dsp:txBody>
      <dsp:txXfrm>
        <a:off x="1213522" y="2627120"/>
        <a:ext cx="9816427" cy="10506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6E53F8-654E-488B-AD6C-B0FAF14222E1}">
      <dsp:nvSpPr>
        <dsp:cNvPr id="0" name=""/>
        <dsp:cNvSpPr/>
      </dsp:nvSpPr>
      <dsp:spPr>
        <a:xfrm rot="5400000">
          <a:off x="3022304" y="115178"/>
          <a:ext cx="1744342" cy="1517577"/>
        </a:xfrm>
        <a:prstGeom prst="hexagon">
          <a:avLst>
            <a:gd name="adj" fmla="val 25000"/>
            <a:gd name="vf" fmla="val 115470"/>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Risk is ever present and takes several forms</a:t>
          </a:r>
          <a:endParaRPr lang="en-US" sz="1400" kern="1200"/>
        </a:p>
      </dsp:txBody>
      <dsp:txXfrm rot="-5400000">
        <a:off x="3372175" y="273623"/>
        <a:ext cx="1044599" cy="1200688"/>
      </dsp:txXfrm>
    </dsp:sp>
    <dsp:sp modelId="{23405927-3D67-4A08-9028-557D08B7D401}">
      <dsp:nvSpPr>
        <dsp:cNvPr id="0" name=""/>
        <dsp:cNvSpPr/>
      </dsp:nvSpPr>
      <dsp:spPr>
        <a:xfrm>
          <a:off x="4699315" y="350665"/>
          <a:ext cx="1946685" cy="1046605"/>
        </a:xfrm>
        <a:prstGeom prst="rect">
          <a:avLst/>
        </a:prstGeom>
        <a:noFill/>
        <a:ln>
          <a:noFill/>
        </a:ln>
        <a:effectLst/>
      </dsp:spPr>
      <dsp:style>
        <a:lnRef idx="0">
          <a:scrgbClr r="0" g="0" b="0"/>
        </a:lnRef>
        <a:fillRef idx="0">
          <a:scrgbClr r="0" g="0" b="0"/>
        </a:fillRef>
        <a:effectRef idx="0">
          <a:scrgbClr r="0" g="0" b="0"/>
        </a:effectRef>
        <a:fontRef idx="minor"/>
      </dsp:style>
    </dsp:sp>
    <dsp:sp modelId="{79D4933A-CFE7-4809-97B9-B917FD13218C}">
      <dsp:nvSpPr>
        <dsp:cNvPr id="0" name=""/>
        <dsp:cNvSpPr/>
      </dsp:nvSpPr>
      <dsp:spPr>
        <a:xfrm rot="5400000">
          <a:off x="1383320" y="115178"/>
          <a:ext cx="1744342" cy="1517577"/>
        </a:xfrm>
        <a:prstGeom prst="hexagon">
          <a:avLst>
            <a:gd name="adj" fmla="val 25000"/>
            <a:gd name="vf" fmla="val 115470"/>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733191" y="273623"/>
        <a:ext cx="1044599" cy="1200688"/>
      </dsp:txXfrm>
    </dsp:sp>
    <dsp:sp modelId="{C14642B7-5054-436A-B65E-1974A82B1983}">
      <dsp:nvSpPr>
        <dsp:cNvPr id="0" name=""/>
        <dsp:cNvSpPr/>
      </dsp:nvSpPr>
      <dsp:spPr>
        <a:xfrm rot="5400000">
          <a:off x="2199672" y="1595776"/>
          <a:ext cx="1744342" cy="1517577"/>
        </a:xfrm>
        <a:prstGeom prst="hexagon">
          <a:avLst>
            <a:gd name="adj" fmla="val 25000"/>
            <a:gd name="vf" fmla="val 115470"/>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Mitigation reduces the likelihood, severity, or both</a:t>
          </a:r>
          <a:endParaRPr lang="en-US" sz="1400" kern="1200" dirty="0"/>
        </a:p>
      </dsp:txBody>
      <dsp:txXfrm rot="-5400000">
        <a:off x="2549543" y="1754221"/>
        <a:ext cx="1044599" cy="1200688"/>
      </dsp:txXfrm>
    </dsp:sp>
    <dsp:sp modelId="{25FDAC44-6AAC-4736-8D0A-CAB2349FD0B9}">
      <dsp:nvSpPr>
        <dsp:cNvPr id="0" name=""/>
        <dsp:cNvSpPr/>
      </dsp:nvSpPr>
      <dsp:spPr>
        <a:xfrm>
          <a:off x="366368" y="1831262"/>
          <a:ext cx="1883889" cy="1046605"/>
        </a:xfrm>
        <a:prstGeom prst="rect">
          <a:avLst/>
        </a:prstGeom>
        <a:noFill/>
        <a:ln>
          <a:noFill/>
        </a:ln>
        <a:effectLst/>
      </dsp:spPr>
      <dsp:style>
        <a:lnRef idx="0">
          <a:scrgbClr r="0" g="0" b="0"/>
        </a:lnRef>
        <a:fillRef idx="0">
          <a:scrgbClr r="0" g="0" b="0"/>
        </a:fillRef>
        <a:effectRef idx="0">
          <a:scrgbClr r="0" g="0" b="0"/>
        </a:effectRef>
        <a:fontRef idx="minor"/>
      </dsp:style>
    </dsp:sp>
    <dsp:sp modelId="{A93AE3D5-2B91-4FFA-93F8-5786FF21523F}">
      <dsp:nvSpPr>
        <dsp:cNvPr id="0" name=""/>
        <dsp:cNvSpPr/>
      </dsp:nvSpPr>
      <dsp:spPr>
        <a:xfrm rot="5400000">
          <a:off x="3838656" y="1595776"/>
          <a:ext cx="1744342" cy="1517577"/>
        </a:xfrm>
        <a:prstGeom prst="hexagon">
          <a:avLst>
            <a:gd name="adj" fmla="val 25000"/>
            <a:gd name="vf" fmla="val 115470"/>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4188527" y="1754221"/>
        <a:ext cx="1044599" cy="1200688"/>
      </dsp:txXfrm>
    </dsp:sp>
    <dsp:sp modelId="{F23642A3-CCBD-4491-9F53-92A53AF4D22D}">
      <dsp:nvSpPr>
        <dsp:cNvPr id="0" name=""/>
        <dsp:cNvSpPr/>
      </dsp:nvSpPr>
      <dsp:spPr>
        <a:xfrm rot="5400000">
          <a:off x="3022304" y="3076374"/>
          <a:ext cx="1744342" cy="1517577"/>
        </a:xfrm>
        <a:prstGeom prst="hexagon">
          <a:avLst>
            <a:gd name="adj" fmla="val 25000"/>
            <a:gd name="vf" fmla="val 115470"/>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Successful management reduces residual risk over time</a:t>
          </a:r>
        </a:p>
      </dsp:txBody>
      <dsp:txXfrm rot="-5400000">
        <a:off x="3372175" y="3234819"/>
        <a:ext cx="1044599" cy="1200688"/>
      </dsp:txXfrm>
    </dsp:sp>
    <dsp:sp modelId="{F4B543D0-506D-4AA9-857B-1D1BB0097A07}">
      <dsp:nvSpPr>
        <dsp:cNvPr id="0" name=""/>
        <dsp:cNvSpPr/>
      </dsp:nvSpPr>
      <dsp:spPr>
        <a:xfrm>
          <a:off x="4699315" y="3311860"/>
          <a:ext cx="1946685" cy="1046605"/>
        </a:xfrm>
        <a:prstGeom prst="rect">
          <a:avLst/>
        </a:prstGeom>
        <a:noFill/>
        <a:ln>
          <a:noFill/>
        </a:ln>
        <a:effectLst/>
      </dsp:spPr>
      <dsp:style>
        <a:lnRef idx="0">
          <a:scrgbClr r="0" g="0" b="0"/>
        </a:lnRef>
        <a:fillRef idx="0">
          <a:scrgbClr r="0" g="0" b="0"/>
        </a:fillRef>
        <a:effectRef idx="0">
          <a:scrgbClr r="0" g="0" b="0"/>
        </a:effectRef>
        <a:fontRef idx="minor"/>
      </dsp:style>
    </dsp:sp>
    <dsp:sp modelId="{FAF21DA8-31E1-4624-9A87-2016B6DF50C9}">
      <dsp:nvSpPr>
        <dsp:cNvPr id="0" name=""/>
        <dsp:cNvSpPr/>
      </dsp:nvSpPr>
      <dsp:spPr>
        <a:xfrm rot="5400000">
          <a:off x="1383320" y="3076374"/>
          <a:ext cx="1744342" cy="1517577"/>
        </a:xfrm>
        <a:prstGeom prst="hexagon">
          <a:avLst>
            <a:gd name="adj" fmla="val 25000"/>
            <a:gd name="vf" fmla="val 115470"/>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GB" sz="3600" kern="1200"/>
        </a:p>
      </dsp:txBody>
      <dsp:txXfrm rot="-5400000">
        <a:off x="1733191" y="3234819"/>
        <a:ext cx="1044599" cy="120068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1BABC7-DAE0-4041-AE55-8098537A4F71}" type="datetimeFigureOut">
              <a:rPr lang="en-GB" smtClean="0"/>
              <a:t>22/07/2026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095338-AEAB-456A-9E65-33FAB70ABE16}" type="slidenum">
              <a:rPr lang="en-GB" smtClean="0"/>
              <a:t>‹#›</a:t>
            </a:fld>
            <a:endParaRPr lang="en-GB"/>
          </a:p>
        </p:txBody>
      </p:sp>
    </p:spTree>
    <p:extLst>
      <p:ext uri="{BB962C8B-B14F-4D97-AF65-F5344CB8AC3E}">
        <p14:creationId xmlns:p14="http://schemas.microsoft.com/office/powerpoint/2010/main" val="2740130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Initially all risks start out as unknown (ergo it being a risk…) essentially if you were to do nothing at this point you accept this risk and continue. This is dangerous (obviously) since you literally don’t know what you’ve agreed to accept…</a:t>
            </a:r>
          </a:p>
          <a:p>
            <a:r>
              <a:rPr lang="en-ZA" dirty="0"/>
              <a:t>So the first step is to identify that there is risk, then to identify risks and categorise these risks. Thereafter, you determine the likelihood of the identified risk occurring (this is a bit of a guessing game – informed by experience) and also the impact that it would have should it occur.</a:t>
            </a:r>
          </a:p>
          <a:p>
            <a:endParaRPr lang="en-ZA" dirty="0"/>
          </a:p>
          <a:p>
            <a:r>
              <a:rPr lang="en-ZA" dirty="0"/>
              <a:t>As an example, let’s take the writing of an exam in a module. Obviously, there is a lot of risks but let’s assume you’re seated and ready to go. </a:t>
            </a:r>
          </a:p>
          <a:p>
            <a:r>
              <a:rPr lang="en-ZA" b="1" dirty="0"/>
              <a:t>Identified risk : </a:t>
            </a:r>
            <a:r>
              <a:rPr lang="en-ZA" dirty="0"/>
              <a:t>Pen is not working</a:t>
            </a:r>
          </a:p>
          <a:p>
            <a:r>
              <a:rPr lang="en-ZA" b="1" dirty="0"/>
              <a:t>Categorise: </a:t>
            </a:r>
            <a:r>
              <a:rPr lang="en-ZA" dirty="0"/>
              <a:t>Technical risk (something is malfunctioning / not working as it should)</a:t>
            </a:r>
          </a:p>
          <a:p>
            <a:r>
              <a:rPr lang="en-ZA" b="1" dirty="0"/>
              <a:t>Likelihood: </a:t>
            </a:r>
            <a:r>
              <a:rPr lang="en-ZA" dirty="0"/>
              <a:t>I have cheap pens so 50%</a:t>
            </a:r>
          </a:p>
          <a:p>
            <a:r>
              <a:rPr lang="en-ZA" b="1" dirty="0"/>
              <a:t>Impact: </a:t>
            </a:r>
            <a:r>
              <a:rPr lang="en-ZA" dirty="0"/>
              <a:t>Severe. Can’t write down any answers.</a:t>
            </a:r>
          </a:p>
          <a:p>
            <a:endParaRPr lang="en-ZA" dirty="0"/>
          </a:p>
          <a:p>
            <a:r>
              <a:rPr lang="en-ZA" dirty="0"/>
              <a:t>Ok so now what?</a:t>
            </a:r>
          </a:p>
        </p:txBody>
      </p:sp>
      <p:sp>
        <p:nvSpPr>
          <p:cNvPr id="4" name="Slide Number Placeholder 3"/>
          <p:cNvSpPr>
            <a:spLocks noGrp="1"/>
          </p:cNvSpPr>
          <p:nvPr>
            <p:ph type="sldNum" sz="quarter" idx="5"/>
          </p:nvPr>
        </p:nvSpPr>
        <p:spPr/>
        <p:txBody>
          <a:bodyPr/>
          <a:lstStyle/>
          <a:p>
            <a:fld id="{1734D747-9380-41EE-9946-EC9EC0CA5D1E}" type="slidenum">
              <a:rPr lang="en-US" noProof="0" smtClean="0"/>
              <a:t>2</a:t>
            </a:fld>
            <a:endParaRPr lang="en-US" noProof="0" dirty="0"/>
          </a:p>
        </p:txBody>
      </p:sp>
    </p:spTree>
    <p:extLst>
      <p:ext uri="{BB962C8B-B14F-4D97-AF65-F5344CB8AC3E}">
        <p14:creationId xmlns:p14="http://schemas.microsoft.com/office/powerpoint/2010/main" val="2638752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Ok the next step is to identify the consequences. In this example that is pretty clear. We then make a list of possible ways in which we can reduce the risk of this event happening (mitigations). This requires some experience / homework / guidance. Thereafter, you determine the cost of the mitigations against the cost of the consequence(s). Aiming for the highest reduction for the least cost. You might also need to implement multiple mitigations for a single risk (depending on the severity of course).</a:t>
            </a:r>
          </a:p>
          <a:p>
            <a:endParaRPr lang="en-ZA" dirty="0"/>
          </a:p>
          <a:p>
            <a:r>
              <a:rPr lang="en-ZA" dirty="0"/>
              <a:t>Ok so for our example…</a:t>
            </a:r>
          </a:p>
          <a:p>
            <a:endParaRPr lang="en-ZA" dirty="0"/>
          </a:p>
          <a:p>
            <a:r>
              <a:rPr lang="en-ZA" b="1" dirty="0"/>
              <a:t>Consequence(s):</a:t>
            </a:r>
            <a:r>
              <a:rPr lang="en-ZA" dirty="0"/>
              <a:t> Fail exam (possibly module), might lead to failing the year, etc.</a:t>
            </a:r>
          </a:p>
          <a:p>
            <a:r>
              <a:rPr lang="en-ZA" b="1" dirty="0"/>
              <a:t>Mitigations:</a:t>
            </a:r>
          </a:p>
          <a:p>
            <a:r>
              <a:rPr lang="en-ZA" dirty="0"/>
              <a:t>	- Write exam in close proximity to stationary store</a:t>
            </a:r>
          </a:p>
          <a:p>
            <a:r>
              <a:rPr lang="en-ZA" dirty="0"/>
              <a:t>	- Make loads of friends so that I can borrow a pen</a:t>
            </a:r>
          </a:p>
          <a:p>
            <a:r>
              <a:rPr lang="en-ZA" dirty="0"/>
              <a:t>	- Get more than 1 pen</a:t>
            </a:r>
          </a:p>
          <a:p>
            <a:r>
              <a:rPr lang="en-ZA" b="1" dirty="0"/>
              <a:t>Mitigation costs:</a:t>
            </a:r>
          </a:p>
          <a:p>
            <a:r>
              <a:rPr lang="en-ZA" dirty="0"/>
              <a:t>	- Write in close proximity (not within your control) – ignored</a:t>
            </a:r>
          </a:p>
          <a:p>
            <a:r>
              <a:rPr lang="en-ZA" dirty="0"/>
              <a:t>	- Make loads of friends (ok, but this only works if I forgot my pen at home, not during the exam) – ignored</a:t>
            </a:r>
          </a:p>
          <a:p>
            <a:r>
              <a:rPr lang="en-ZA" dirty="0"/>
              <a:t>	- Get more pens (R10/pen, failed module R5000) – this looks like a good option</a:t>
            </a:r>
          </a:p>
          <a:p>
            <a:endParaRPr lang="en-ZA" dirty="0"/>
          </a:p>
          <a:p>
            <a:r>
              <a:rPr lang="en-ZA" dirty="0"/>
              <a:t>	</a:t>
            </a:r>
          </a:p>
        </p:txBody>
      </p:sp>
      <p:sp>
        <p:nvSpPr>
          <p:cNvPr id="4" name="Slide Number Placeholder 3"/>
          <p:cNvSpPr>
            <a:spLocks noGrp="1"/>
          </p:cNvSpPr>
          <p:nvPr>
            <p:ph type="sldNum" sz="quarter" idx="5"/>
          </p:nvPr>
        </p:nvSpPr>
        <p:spPr/>
        <p:txBody>
          <a:bodyPr/>
          <a:lstStyle/>
          <a:p>
            <a:fld id="{1734D747-9380-41EE-9946-EC9EC0CA5D1E}" type="slidenum">
              <a:rPr lang="en-US" noProof="0" smtClean="0"/>
              <a:t>3</a:t>
            </a:fld>
            <a:endParaRPr lang="en-US" noProof="0" dirty="0"/>
          </a:p>
        </p:txBody>
      </p:sp>
    </p:spTree>
    <p:extLst>
      <p:ext uri="{BB962C8B-B14F-4D97-AF65-F5344CB8AC3E}">
        <p14:creationId xmlns:p14="http://schemas.microsoft.com/office/powerpoint/2010/main" val="2073764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So, at this point the risk is known, and the residual risk is also known (and quantifiable). In this example your backup pen might also fail… There is residual risk (but much less than having only a single pen) and this risk can be accepted (you know what you are dealing with). The likelihood of both pens failing is much less than if you just had one pen.</a:t>
            </a:r>
          </a:p>
          <a:p>
            <a:r>
              <a:rPr lang="en-ZA" dirty="0"/>
              <a:t>Finally, you monitor the risk, its associated mitigation, and control accordingly. If things change revise as required.</a:t>
            </a:r>
          </a:p>
          <a:p>
            <a:endParaRPr lang="en-ZA" dirty="0"/>
          </a:p>
          <a:p>
            <a:r>
              <a:rPr lang="en-ZA" dirty="0"/>
              <a:t>In our example, </a:t>
            </a:r>
            <a:r>
              <a:rPr lang="en-ZA" b="1" dirty="0"/>
              <a:t>monitoring </a:t>
            </a:r>
            <a:r>
              <a:rPr lang="en-ZA" b="0" dirty="0"/>
              <a:t>might be that you check the remaining ink level in both your usual pen and the backup one, and that you test each pen the day before. </a:t>
            </a:r>
            <a:r>
              <a:rPr lang="en-ZA" b="1" dirty="0"/>
              <a:t>Control</a:t>
            </a:r>
            <a:r>
              <a:rPr lang="en-ZA" b="0" dirty="0"/>
              <a:t> would be replacing the pen when the ink reaches a certain level, or if either of the pens don’t function as expected during the testing beforehand.</a:t>
            </a:r>
            <a:endParaRPr lang="en-ZA" b="1" dirty="0"/>
          </a:p>
        </p:txBody>
      </p:sp>
      <p:sp>
        <p:nvSpPr>
          <p:cNvPr id="4" name="Slide Number Placeholder 3"/>
          <p:cNvSpPr>
            <a:spLocks noGrp="1"/>
          </p:cNvSpPr>
          <p:nvPr>
            <p:ph type="sldNum" sz="quarter" idx="5"/>
          </p:nvPr>
        </p:nvSpPr>
        <p:spPr/>
        <p:txBody>
          <a:bodyPr/>
          <a:lstStyle/>
          <a:p>
            <a:fld id="{1734D747-9380-41EE-9946-EC9EC0CA5D1E}" type="slidenum">
              <a:rPr lang="en-US" noProof="0" smtClean="0"/>
              <a:t>4</a:t>
            </a:fld>
            <a:endParaRPr lang="en-US" noProof="0" dirty="0"/>
          </a:p>
        </p:txBody>
      </p:sp>
    </p:spTree>
    <p:extLst>
      <p:ext uri="{BB962C8B-B14F-4D97-AF65-F5344CB8AC3E}">
        <p14:creationId xmlns:p14="http://schemas.microsoft.com/office/powerpoint/2010/main" val="2660860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Based on the information on the previous slides’ information this table can be used to determine a score for an identified risk.</a:t>
            </a:r>
          </a:p>
          <a:p>
            <a:r>
              <a:rPr lang="en-ZA" dirty="0"/>
              <a:t>For the pen example (prior to mitigation) the impact would be severe, and the likelihood of occurrence likely. So that puts you at a high risk level (meaning that it needs significant attention).</a:t>
            </a:r>
          </a:p>
          <a:p>
            <a:r>
              <a:rPr lang="en-ZA" dirty="0"/>
              <a:t>After mitigation, the impact of your pen not working is still severe BUT since you have 2 pens now the likelihood has reduced to very unlikely. So the risk has fallen from 25, to 5 which is quite </a:t>
            </a:r>
            <a:r>
              <a:rPr lang="en-ZA"/>
              <a:t>a reduction.</a:t>
            </a:r>
            <a:endParaRPr lang="en-ZA" dirty="0"/>
          </a:p>
        </p:txBody>
      </p:sp>
      <p:sp>
        <p:nvSpPr>
          <p:cNvPr id="4" name="Slide Number Placeholder 3"/>
          <p:cNvSpPr>
            <a:spLocks noGrp="1"/>
          </p:cNvSpPr>
          <p:nvPr>
            <p:ph type="sldNum" sz="quarter" idx="5"/>
          </p:nvPr>
        </p:nvSpPr>
        <p:spPr/>
        <p:txBody>
          <a:bodyPr/>
          <a:lstStyle/>
          <a:p>
            <a:fld id="{1734D747-9380-41EE-9946-EC9EC0CA5D1E}" type="slidenum">
              <a:rPr lang="en-US" noProof="0" smtClean="0"/>
              <a:t>5</a:t>
            </a:fld>
            <a:endParaRPr lang="en-US" noProof="0" dirty="0"/>
          </a:p>
        </p:txBody>
      </p:sp>
    </p:spTree>
    <p:extLst>
      <p:ext uri="{BB962C8B-B14F-4D97-AF65-F5344CB8AC3E}">
        <p14:creationId xmlns:p14="http://schemas.microsoft.com/office/powerpoint/2010/main" val="748683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734D747-9380-41EE-9946-EC9EC0CA5D1E}" type="slidenum">
              <a:rPr lang="en-US" noProof="0" smtClean="0"/>
              <a:t>6</a:t>
            </a:fld>
            <a:endParaRPr lang="en-US" noProof="0" dirty="0"/>
          </a:p>
        </p:txBody>
      </p:sp>
    </p:spTree>
    <p:extLst>
      <p:ext uri="{BB962C8B-B14F-4D97-AF65-F5344CB8AC3E}">
        <p14:creationId xmlns:p14="http://schemas.microsoft.com/office/powerpoint/2010/main" val="1392201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7/22/2026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1001924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7/22/2026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52" r:id="rId4"/>
    <p:sldLayoutId id="2147483653" r:id="rId5"/>
    <p:sldLayoutId id="2147483662" r:id="rId6"/>
    <p:sldLayoutId id="2147483655" r:id="rId7"/>
    <p:sldLayoutId id="2147483656" r:id="rId8"/>
    <p:sldLayoutId id="2147483657" r:id="rId9"/>
    <p:sldLayoutId id="2147483658" r:id="rId10"/>
    <p:sldLayoutId id="2147483659" r:id="rId11"/>
    <p:sldLayoutId id="2147483675" r:id="rId12"/>
    <p:sldLayoutId id="2147483674" r:id="rId13"/>
    <p:sldLayoutId id="2147483651" r:id="rId14"/>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30AD-669F-4550-8B9C-2F07152FF174}"/>
              </a:ext>
            </a:extLst>
          </p:cNvPr>
          <p:cNvSpPr>
            <a:spLocks noGrp="1"/>
          </p:cNvSpPr>
          <p:nvPr>
            <p:ph type="ctrTitle"/>
          </p:nvPr>
        </p:nvSpPr>
        <p:spPr/>
        <p:txBody>
          <a:bodyPr/>
          <a:lstStyle/>
          <a:p>
            <a:r>
              <a:rPr lang="en-ZA" dirty="0"/>
              <a:t>Engineering design 2026</a:t>
            </a:r>
          </a:p>
        </p:txBody>
      </p:sp>
      <p:sp>
        <p:nvSpPr>
          <p:cNvPr id="3" name="Subtitle 2">
            <a:extLst>
              <a:ext uri="{FF2B5EF4-FFF2-40B4-BE49-F238E27FC236}">
                <a16:creationId xmlns:a16="http://schemas.microsoft.com/office/drawing/2014/main" id="{74ACA5D9-69B4-4263-BCEB-B78FBA6C7512}"/>
              </a:ext>
            </a:extLst>
          </p:cNvPr>
          <p:cNvSpPr>
            <a:spLocks noGrp="1"/>
          </p:cNvSpPr>
          <p:nvPr>
            <p:ph type="subTitle" idx="1"/>
          </p:nvPr>
        </p:nvSpPr>
        <p:spPr/>
        <p:txBody>
          <a:bodyPr>
            <a:normAutofit fontScale="92500" lnSpcReduction="20000"/>
          </a:bodyPr>
          <a:lstStyle/>
          <a:p>
            <a:r>
              <a:rPr lang="en-ZA" dirty="0"/>
              <a:t>Lecture Week 2</a:t>
            </a:r>
          </a:p>
          <a:p>
            <a:r>
              <a:rPr lang="en-ZA" dirty="0"/>
              <a:t>Deck 2</a:t>
            </a:r>
          </a:p>
        </p:txBody>
      </p:sp>
      <p:sp>
        <p:nvSpPr>
          <p:cNvPr id="4" name="TextBox 3">
            <a:extLst>
              <a:ext uri="{FF2B5EF4-FFF2-40B4-BE49-F238E27FC236}">
                <a16:creationId xmlns:a16="http://schemas.microsoft.com/office/drawing/2014/main" id="{DC06299C-5978-4A26-94D2-8952A9D710DE}"/>
              </a:ext>
            </a:extLst>
          </p:cNvPr>
          <p:cNvSpPr txBox="1"/>
          <p:nvPr/>
        </p:nvSpPr>
        <p:spPr>
          <a:xfrm>
            <a:off x="9841831" y="5835812"/>
            <a:ext cx="1852864" cy="523220"/>
          </a:xfrm>
          <a:prstGeom prst="rect">
            <a:avLst/>
          </a:prstGeom>
          <a:noFill/>
        </p:spPr>
        <p:txBody>
          <a:bodyPr wrap="square" rtlCol="0">
            <a:spAutoFit/>
          </a:bodyPr>
          <a:lstStyle/>
          <a:p>
            <a:pPr algn="r"/>
            <a:r>
              <a:rPr lang="en-ZA" sz="1400" dirty="0">
                <a:solidFill>
                  <a:schemeClr val="bg1"/>
                </a:solidFill>
              </a:rPr>
              <a:t>Prof Henri Marais</a:t>
            </a:r>
          </a:p>
          <a:p>
            <a:pPr algn="r"/>
            <a:r>
              <a:rPr lang="en-ZA" sz="1400">
                <a:solidFill>
                  <a:schemeClr val="bg1"/>
                </a:solidFill>
              </a:rPr>
              <a:t>30 </a:t>
            </a:r>
            <a:r>
              <a:rPr lang="en-ZA" sz="1400" dirty="0">
                <a:solidFill>
                  <a:schemeClr val="bg1"/>
                </a:solidFill>
              </a:rPr>
              <a:t>Jul 2025</a:t>
            </a:r>
          </a:p>
        </p:txBody>
      </p:sp>
      <p:sp>
        <p:nvSpPr>
          <p:cNvPr id="5" name="TextBox 4">
            <a:extLst>
              <a:ext uri="{FF2B5EF4-FFF2-40B4-BE49-F238E27FC236}">
                <a16:creationId xmlns:a16="http://schemas.microsoft.com/office/drawing/2014/main" id="{13AAB6D6-FDF0-56E8-D814-F566FF541864}"/>
              </a:ext>
            </a:extLst>
          </p:cNvPr>
          <p:cNvSpPr txBox="1"/>
          <p:nvPr/>
        </p:nvSpPr>
        <p:spPr>
          <a:xfrm>
            <a:off x="581190" y="3098706"/>
            <a:ext cx="5729457" cy="646331"/>
          </a:xfrm>
          <a:prstGeom prst="rect">
            <a:avLst/>
          </a:prstGeom>
          <a:noFill/>
        </p:spPr>
        <p:txBody>
          <a:bodyPr wrap="square" rtlCol="0">
            <a:spAutoFit/>
          </a:bodyPr>
          <a:lstStyle/>
          <a:p>
            <a:r>
              <a:rPr lang="en-GB" sz="3600" b="1" dirty="0">
                <a:solidFill>
                  <a:schemeClr val="bg2"/>
                </a:solidFill>
              </a:rPr>
              <a:t>Risk and Management</a:t>
            </a:r>
          </a:p>
        </p:txBody>
      </p:sp>
      <p:sp>
        <p:nvSpPr>
          <p:cNvPr id="6" name="Text Placeholder 4">
            <a:extLst>
              <a:ext uri="{FF2B5EF4-FFF2-40B4-BE49-F238E27FC236}">
                <a16:creationId xmlns:a16="http://schemas.microsoft.com/office/drawing/2014/main" id="{C842F2C0-10A1-712B-F59A-A366D27EA408}"/>
              </a:ext>
            </a:extLst>
          </p:cNvPr>
          <p:cNvSpPr txBox="1">
            <a:spLocks/>
          </p:cNvSpPr>
          <p:nvPr/>
        </p:nvSpPr>
        <p:spPr>
          <a:xfrm>
            <a:off x="581191" y="3346208"/>
            <a:ext cx="10882928" cy="1823346"/>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nSpc>
                <a:spcPct val="90000"/>
              </a:lnSpc>
            </a:pPr>
            <a:r>
              <a:rPr lang="en-US" sz="2800">
                <a:solidFill>
                  <a:srgbClr val="FFFFFF"/>
                </a:solidFill>
              </a:rPr>
              <a:t>Never assume! </a:t>
            </a:r>
          </a:p>
          <a:p>
            <a:pPr>
              <a:lnSpc>
                <a:spcPct val="90000"/>
              </a:lnSpc>
            </a:pPr>
            <a:r>
              <a:rPr lang="en-US" sz="2800">
                <a:solidFill>
                  <a:srgbClr val="FFFFFF"/>
                </a:solidFill>
              </a:rPr>
              <a:t>It makes your life unpredictable but interesting</a:t>
            </a:r>
            <a:endParaRPr lang="en-US" sz="2800" dirty="0">
              <a:solidFill>
                <a:srgbClr val="FFFFFF"/>
              </a:solidFill>
            </a:endParaRPr>
          </a:p>
        </p:txBody>
      </p:sp>
    </p:spTree>
    <p:extLst>
      <p:ext uri="{BB962C8B-B14F-4D97-AF65-F5344CB8AC3E}">
        <p14:creationId xmlns:p14="http://schemas.microsoft.com/office/powerpoint/2010/main" val="1854232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0B3A1-CB36-5244-E1C8-2B0E41493F35}"/>
              </a:ext>
            </a:extLst>
          </p:cNvPr>
          <p:cNvSpPr>
            <a:spLocks noGrp="1"/>
          </p:cNvSpPr>
          <p:nvPr>
            <p:ph type="title"/>
          </p:nvPr>
        </p:nvSpPr>
        <p:spPr/>
        <p:txBody>
          <a:bodyPr/>
          <a:lstStyle/>
          <a:p>
            <a:r>
              <a:rPr lang="en-ZA" dirty="0"/>
              <a:t>Risk management process</a:t>
            </a:r>
          </a:p>
        </p:txBody>
      </p:sp>
      <p:sp>
        <p:nvSpPr>
          <p:cNvPr id="35" name="7-Point Star 1">
            <a:extLst>
              <a:ext uri="{FF2B5EF4-FFF2-40B4-BE49-F238E27FC236}">
                <a16:creationId xmlns:a16="http://schemas.microsoft.com/office/drawing/2014/main" id="{78255D23-D06E-4AC4-6B99-8553C521A485}"/>
              </a:ext>
            </a:extLst>
          </p:cNvPr>
          <p:cNvSpPr/>
          <p:nvPr/>
        </p:nvSpPr>
        <p:spPr>
          <a:xfrm>
            <a:off x="899412" y="2533309"/>
            <a:ext cx="1627820" cy="1624685"/>
          </a:xfrm>
          <a:prstGeom prst="star7">
            <a:avLst/>
          </a:prstGeom>
          <a:solidFill>
            <a:srgbClr val="FF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Initial</a:t>
            </a:r>
          </a:p>
          <a:p>
            <a:pPr algn="ctr"/>
            <a:r>
              <a:rPr lang="en-ZA" sz="2000" b="1" dirty="0">
                <a:solidFill>
                  <a:schemeClr val="bg1"/>
                </a:solidFill>
              </a:rPr>
              <a:t>Risk</a:t>
            </a:r>
          </a:p>
        </p:txBody>
      </p:sp>
      <p:sp>
        <p:nvSpPr>
          <p:cNvPr id="37" name="Rectangle 36">
            <a:extLst>
              <a:ext uri="{FF2B5EF4-FFF2-40B4-BE49-F238E27FC236}">
                <a16:creationId xmlns:a16="http://schemas.microsoft.com/office/drawing/2014/main" id="{89F5959C-F273-4F9C-9832-E67E7DB8054E}"/>
              </a:ext>
            </a:extLst>
          </p:cNvPr>
          <p:cNvSpPr>
            <a:spLocks/>
          </p:cNvSpPr>
          <p:nvPr/>
        </p:nvSpPr>
        <p:spPr bwMode="auto">
          <a:xfrm>
            <a:off x="490520" y="4157994"/>
            <a:ext cx="2445604" cy="733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C00000"/>
                </a:solidFill>
                <a:latin typeface="Century Gothic" panose="020B0502020202020204" pitchFamily="34" charset="0"/>
                <a:ea typeface="ＭＳ Ｐゴシック" charset="0"/>
                <a:cs typeface="ＭＳ Ｐゴシック" charset="0"/>
                <a:sym typeface="Titillium Regular" charset="0"/>
              </a:rPr>
              <a:t>Initial risk acceptance</a:t>
            </a:r>
          </a:p>
        </p:txBody>
      </p:sp>
      <p:grpSp>
        <p:nvGrpSpPr>
          <p:cNvPr id="40" name="Group 39">
            <a:extLst>
              <a:ext uri="{FF2B5EF4-FFF2-40B4-BE49-F238E27FC236}">
                <a16:creationId xmlns:a16="http://schemas.microsoft.com/office/drawing/2014/main" id="{0029C099-EEE5-B139-9D20-CCF691C5BBC0}"/>
              </a:ext>
            </a:extLst>
          </p:cNvPr>
          <p:cNvGrpSpPr/>
          <p:nvPr/>
        </p:nvGrpSpPr>
        <p:grpSpPr>
          <a:xfrm>
            <a:off x="1713322" y="2629178"/>
            <a:ext cx="2880320" cy="1015555"/>
            <a:chOff x="1777477" y="1584428"/>
            <a:chExt cx="2880320" cy="1015555"/>
          </a:xfrm>
        </p:grpSpPr>
        <p:sp>
          <p:nvSpPr>
            <p:cNvPr id="38" name="Right Arrow 61">
              <a:extLst>
                <a:ext uri="{FF2B5EF4-FFF2-40B4-BE49-F238E27FC236}">
                  <a16:creationId xmlns:a16="http://schemas.microsoft.com/office/drawing/2014/main" id="{FC49F9B4-8460-579A-3ED6-B619BFE836A9}"/>
                </a:ext>
              </a:extLst>
            </p:cNvPr>
            <p:cNvSpPr/>
            <p:nvPr/>
          </p:nvSpPr>
          <p:spPr>
            <a:xfrm>
              <a:off x="2795833" y="2284434"/>
              <a:ext cx="910779" cy="315549"/>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39" name="Rectangle 38">
              <a:extLst>
                <a:ext uri="{FF2B5EF4-FFF2-40B4-BE49-F238E27FC236}">
                  <a16:creationId xmlns:a16="http://schemas.microsoft.com/office/drawing/2014/main" id="{89F5959C-F273-4F9C-9832-E67E7DB8054E}"/>
                </a:ext>
              </a:extLst>
            </p:cNvPr>
            <p:cNvSpPr>
              <a:spLocks/>
            </p:cNvSpPr>
            <p:nvPr/>
          </p:nvSpPr>
          <p:spPr bwMode="auto">
            <a:xfrm>
              <a:off x="1777477" y="1584428"/>
              <a:ext cx="2880320"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C00000"/>
                  </a:solidFill>
                  <a:latin typeface="Century Gothic" panose="020B0502020202020204" pitchFamily="34" charset="0"/>
                  <a:ea typeface="ＭＳ Ｐゴシック" charset="0"/>
                  <a:cs typeface="ＭＳ Ｐゴシック" charset="0"/>
                  <a:sym typeface="Titillium Regular" charset="0"/>
                </a:rPr>
                <a:t>Open</a:t>
              </a:r>
            </a:p>
          </p:txBody>
        </p:sp>
      </p:grpSp>
      <p:sp>
        <p:nvSpPr>
          <p:cNvPr id="41" name="Horizontal Scroll 5">
            <a:extLst>
              <a:ext uri="{FF2B5EF4-FFF2-40B4-BE49-F238E27FC236}">
                <a16:creationId xmlns:a16="http://schemas.microsoft.com/office/drawing/2014/main" id="{0BF7023D-B9F3-89D5-F3B5-7AEDC2F8B872}"/>
              </a:ext>
            </a:extLst>
          </p:cNvPr>
          <p:cNvSpPr/>
          <p:nvPr/>
        </p:nvSpPr>
        <p:spPr>
          <a:xfrm>
            <a:off x="3898691" y="2951256"/>
            <a:ext cx="1766037" cy="940877"/>
          </a:xfrm>
          <a:prstGeom prst="horizontalScroll">
            <a:avLst/>
          </a:prstGeom>
          <a:solidFill>
            <a:srgbClr val="FF0000"/>
          </a:solid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Identify risk</a:t>
            </a:r>
          </a:p>
        </p:txBody>
      </p:sp>
      <p:sp>
        <p:nvSpPr>
          <p:cNvPr id="42" name="Rectangle 41">
            <a:extLst>
              <a:ext uri="{FF2B5EF4-FFF2-40B4-BE49-F238E27FC236}">
                <a16:creationId xmlns:a16="http://schemas.microsoft.com/office/drawing/2014/main" id="{89F5959C-F273-4F9C-9832-E67E7DB8054E}"/>
              </a:ext>
            </a:extLst>
          </p:cNvPr>
          <p:cNvSpPr>
            <a:spLocks/>
          </p:cNvSpPr>
          <p:nvPr/>
        </p:nvSpPr>
        <p:spPr bwMode="auto">
          <a:xfrm>
            <a:off x="3466472" y="3644733"/>
            <a:ext cx="2880320"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C00000"/>
                </a:solidFill>
                <a:latin typeface="Century Gothic" panose="020B0502020202020204" pitchFamily="34" charset="0"/>
                <a:ea typeface="ＭＳ Ｐゴシック" charset="0"/>
                <a:cs typeface="ＭＳ Ｐゴシック" charset="0"/>
                <a:sym typeface="Titillium Regular" charset="0"/>
              </a:rPr>
              <a:t>Categorize risk</a:t>
            </a:r>
          </a:p>
        </p:txBody>
      </p:sp>
      <p:sp>
        <p:nvSpPr>
          <p:cNvPr id="44" name="Right Arrow 61">
            <a:extLst>
              <a:ext uri="{FF2B5EF4-FFF2-40B4-BE49-F238E27FC236}">
                <a16:creationId xmlns:a16="http://schemas.microsoft.com/office/drawing/2014/main" id="{EBC96247-69EE-903A-4647-BB5D8B964D75}"/>
              </a:ext>
            </a:extLst>
          </p:cNvPr>
          <p:cNvSpPr/>
          <p:nvPr/>
        </p:nvSpPr>
        <p:spPr>
          <a:xfrm>
            <a:off x="5920962" y="3290006"/>
            <a:ext cx="910779" cy="315549"/>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46" name="Curved Down Arrow 6">
            <a:extLst>
              <a:ext uri="{FF2B5EF4-FFF2-40B4-BE49-F238E27FC236}">
                <a16:creationId xmlns:a16="http://schemas.microsoft.com/office/drawing/2014/main" id="{CDD1A7FC-DAA4-B912-C3D0-803AEF356394}"/>
              </a:ext>
            </a:extLst>
          </p:cNvPr>
          <p:cNvSpPr/>
          <p:nvPr/>
        </p:nvSpPr>
        <p:spPr>
          <a:xfrm>
            <a:off x="7364579" y="2412581"/>
            <a:ext cx="1889437" cy="707988"/>
          </a:xfrm>
          <a:prstGeom prst="curvedDown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solidFill>
                <a:schemeClr val="tx1"/>
              </a:solidFill>
            </a:endParaRPr>
          </a:p>
        </p:txBody>
      </p:sp>
      <p:sp>
        <p:nvSpPr>
          <p:cNvPr id="47" name="Horizontal Scroll 43">
            <a:extLst>
              <a:ext uri="{FF2B5EF4-FFF2-40B4-BE49-F238E27FC236}">
                <a16:creationId xmlns:a16="http://schemas.microsoft.com/office/drawing/2014/main" id="{FA7B8E6B-580E-FF6F-E9AE-7F566ED84A84}"/>
              </a:ext>
            </a:extLst>
          </p:cNvPr>
          <p:cNvSpPr/>
          <p:nvPr/>
        </p:nvSpPr>
        <p:spPr>
          <a:xfrm>
            <a:off x="6979921" y="2951256"/>
            <a:ext cx="2760983" cy="940877"/>
          </a:xfrm>
          <a:prstGeom prst="horizontalScroll">
            <a:avLst/>
          </a:prstGeom>
          <a:solidFill>
            <a:srgbClr val="FF0000"/>
          </a:solid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Likelihood   Impact</a:t>
            </a:r>
          </a:p>
        </p:txBody>
      </p:sp>
      <p:sp>
        <p:nvSpPr>
          <p:cNvPr id="48" name="Rectangle 47">
            <a:extLst>
              <a:ext uri="{FF2B5EF4-FFF2-40B4-BE49-F238E27FC236}">
                <a16:creationId xmlns:a16="http://schemas.microsoft.com/office/drawing/2014/main" id="{89F5959C-F273-4F9C-9832-E67E7DB8054E}"/>
              </a:ext>
            </a:extLst>
          </p:cNvPr>
          <p:cNvSpPr>
            <a:spLocks/>
          </p:cNvSpPr>
          <p:nvPr/>
        </p:nvSpPr>
        <p:spPr bwMode="auto">
          <a:xfrm>
            <a:off x="6779011" y="3566377"/>
            <a:ext cx="3384376"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1800" b="1" dirty="0">
                <a:solidFill>
                  <a:srgbClr val="C00000"/>
                </a:solidFill>
                <a:latin typeface="Century Gothic" panose="020B0502020202020204" pitchFamily="34" charset="0"/>
                <a:ea typeface="ＭＳ Ｐゴシック" charset="0"/>
                <a:cs typeface="ＭＳ Ｐゴシック" charset="0"/>
                <a:sym typeface="Titillium Regular" charset="0"/>
              </a:rPr>
              <a:t>Determine impact</a:t>
            </a:r>
          </a:p>
        </p:txBody>
      </p:sp>
      <p:sp>
        <p:nvSpPr>
          <p:cNvPr id="50" name="Right Arrow 61">
            <a:extLst>
              <a:ext uri="{FF2B5EF4-FFF2-40B4-BE49-F238E27FC236}">
                <a16:creationId xmlns:a16="http://schemas.microsoft.com/office/drawing/2014/main" id="{C69441D5-70DE-F2D3-35EE-73453ADA281E}"/>
              </a:ext>
            </a:extLst>
          </p:cNvPr>
          <p:cNvSpPr/>
          <p:nvPr/>
        </p:nvSpPr>
        <p:spPr>
          <a:xfrm>
            <a:off x="9889084" y="3263919"/>
            <a:ext cx="910779" cy="315549"/>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3" name="Rectangle 2">
            <a:extLst>
              <a:ext uri="{FF2B5EF4-FFF2-40B4-BE49-F238E27FC236}">
                <a16:creationId xmlns:a16="http://schemas.microsoft.com/office/drawing/2014/main" id="{720B1AE4-8698-B14A-98BC-55A40CD3002B}"/>
              </a:ext>
            </a:extLst>
          </p:cNvPr>
          <p:cNvSpPr>
            <a:spLocks/>
          </p:cNvSpPr>
          <p:nvPr/>
        </p:nvSpPr>
        <p:spPr bwMode="auto">
          <a:xfrm rot="16200000">
            <a:off x="-872162" y="2951255"/>
            <a:ext cx="2880320"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C00000"/>
                </a:solidFill>
                <a:latin typeface="Century Gothic" panose="020B0502020202020204" pitchFamily="34" charset="0"/>
                <a:ea typeface="ＭＳ Ｐゴシック" charset="0"/>
                <a:cs typeface="ＭＳ Ｐゴシック" charset="0"/>
                <a:sym typeface="Titillium Regular" charset="0"/>
              </a:rPr>
              <a:t>Unknown</a:t>
            </a:r>
          </a:p>
        </p:txBody>
      </p:sp>
    </p:spTree>
    <p:extLst>
      <p:ext uri="{BB962C8B-B14F-4D97-AF65-F5344CB8AC3E}">
        <p14:creationId xmlns:p14="http://schemas.microsoft.com/office/powerpoint/2010/main" val="1404353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0B3A1-CB36-5244-E1C8-2B0E41493F35}"/>
              </a:ext>
            </a:extLst>
          </p:cNvPr>
          <p:cNvSpPr>
            <a:spLocks noGrp="1"/>
          </p:cNvSpPr>
          <p:nvPr>
            <p:ph type="title"/>
          </p:nvPr>
        </p:nvSpPr>
        <p:spPr/>
        <p:txBody>
          <a:bodyPr/>
          <a:lstStyle/>
          <a:p>
            <a:r>
              <a:rPr lang="en-ZA" dirty="0"/>
              <a:t>Risk management process</a:t>
            </a:r>
          </a:p>
        </p:txBody>
      </p:sp>
      <p:sp>
        <p:nvSpPr>
          <p:cNvPr id="3" name="Slide Number Placeholder 2">
            <a:extLst>
              <a:ext uri="{FF2B5EF4-FFF2-40B4-BE49-F238E27FC236}">
                <a16:creationId xmlns:a16="http://schemas.microsoft.com/office/drawing/2014/main" id="{30D9C960-E5F7-5DBB-4268-C76C92179908}"/>
              </a:ext>
            </a:extLst>
          </p:cNvPr>
          <p:cNvSpPr>
            <a:spLocks noGrp="1"/>
          </p:cNvSpPr>
          <p:nvPr>
            <p:ph type="sldNum" sz="quarter" idx="12"/>
          </p:nvPr>
        </p:nvSpPr>
        <p:spPr/>
        <p:txBody>
          <a:bodyPr/>
          <a:lstStyle/>
          <a:p>
            <a:fld id="{C263D6C4-4840-40CC-AC84-17E24B3B7BDE}" type="slidenum">
              <a:rPr lang="en-US" noProof="0" smtClean="0"/>
              <a:pPr/>
              <a:t>3</a:t>
            </a:fld>
            <a:endParaRPr lang="en-US" noProof="0" dirty="0"/>
          </a:p>
        </p:txBody>
      </p:sp>
      <p:sp>
        <p:nvSpPr>
          <p:cNvPr id="35" name="7-Point Star 1">
            <a:extLst>
              <a:ext uri="{FF2B5EF4-FFF2-40B4-BE49-F238E27FC236}">
                <a16:creationId xmlns:a16="http://schemas.microsoft.com/office/drawing/2014/main" id="{78255D23-D06E-4AC4-6B99-8553C521A485}"/>
              </a:ext>
            </a:extLst>
          </p:cNvPr>
          <p:cNvSpPr/>
          <p:nvPr/>
        </p:nvSpPr>
        <p:spPr>
          <a:xfrm>
            <a:off x="346519" y="1965348"/>
            <a:ext cx="1627820" cy="1624685"/>
          </a:xfrm>
          <a:prstGeom prst="star7">
            <a:avLst/>
          </a:prstGeom>
          <a:solidFill>
            <a:srgbClr val="FF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Initial</a:t>
            </a:r>
          </a:p>
          <a:p>
            <a:pPr algn="ctr"/>
            <a:r>
              <a:rPr lang="en-ZA" sz="2000" b="1" dirty="0">
                <a:solidFill>
                  <a:schemeClr val="bg1"/>
                </a:solidFill>
              </a:rPr>
              <a:t>Risk</a:t>
            </a:r>
          </a:p>
        </p:txBody>
      </p:sp>
      <p:sp>
        <p:nvSpPr>
          <p:cNvPr id="37" name="Rectangle 36">
            <a:extLst>
              <a:ext uri="{FF2B5EF4-FFF2-40B4-BE49-F238E27FC236}">
                <a16:creationId xmlns:a16="http://schemas.microsoft.com/office/drawing/2014/main" id="{89F5959C-F273-4F9C-9832-E67E7DB8054E}"/>
              </a:ext>
            </a:extLst>
          </p:cNvPr>
          <p:cNvSpPr>
            <a:spLocks/>
          </p:cNvSpPr>
          <p:nvPr/>
        </p:nvSpPr>
        <p:spPr bwMode="auto">
          <a:xfrm>
            <a:off x="-62373" y="3590033"/>
            <a:ext cx="2445604" cy="733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C00000"/>
                </a:solidFill>
                <a:latin typeface="Century Gothic" panose="020B0502020202020204" pitchFamily="34" charset="0"/>
                <a:ea typeface="ＭＳ Ｐゴシック" charset="0"/>
                <a:cs typeface="ＭＳ Ｐゴシック" charset="0"/>
                <a:sym typeface="Titillium Regular" charset="0"/>
              </a:rPr>
              <a:t>Initial risk acceptance</a:t>
            </a:r>
          </a:p>
        </p:txBody>
      </p:sp>
      <p:grpSp>
        <p:nvGrpSpPr>
          <p:cNvPr id="40" name="Group 39">
            <a:extLst>
              <a:ext uri="{FF2B5EF4-FFF2-40B4-BE49-F238E27FC236}">
                <a16:creationId xmlns:a16="http://schemas.microsoft.com/office/drawing/2014/main" id="{0029C099-EEE5-B139-9D20-CCF691C5BBC0}"/>
              </a:ext>
            </a:extLst>
          </p:cNvPr>
          <p:cNvGrpSpPr/>
          <p:nvPr/>
        </p:nvGrpSpPr>
        <p:grpSpPr>
          <a:xfrm>
            <a:off x="1160429" y="2057539"/>
            <a:ext cx="2880320" cy="1015555"/>
            <a:chOff x="1777477" y="1584428"/>
            <a:chExt cx="2880320" cy="1015555"/>
          </a:xfrm>
        </p:grpSpPr>
        <p:sp>
          <p:nvSpPr>
            <p:cNvPr id="38" name="Right Arrow 61">
              <a:extLst>
                <a:ext uri="{FF2B5EF4-FFF2-40B4-BE49-F238E27FC236}">
                  <a16:creationId xmlns:a16="http://schemas.microsoft.com/office/drawing/2014/main" id="{FC49F9B4-8460-579A-3ED6-B619BFE836A9}"/>
                </a:ext>
              </a:extLst>
            </p:cNvPr>
            <p:cNvSpPr/>
            <p:nvPr/>
          </p:nvSpPr>
          <p:spPr>
            <a:xfrm>
              <a:off x="2795833" y="2284434"/>
              <a:ext cx="910779" cy="315549"/>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39" name="Rectangle 38">
              <a:extLst>
                <a:ext uri="{FF2B5EF4-FFF2-40B4-BE49-F238E27FC236}">
                  <a16:creationId xmlns:a16="http://schemas.microsoft.com/office/drawing/2014/main" id="{89F5959C-F273-4F9C-9832-E67E7DB8054E}"/>
                </a:ext>
              </a:extLst>
            </p:cNvPr>
            <p:cNvSpPr>
              <a:spLocks/>
            </p:cNvSpPr>
            <p:nvPr/>
          </p:nvSpPr>
          <p:spPr bwMode="auto">
            <a:xfrm>
              <a:off x="1777477" y="1584428"/>
              <a:ext cx="2880320"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C00000"/>
                  </a:solidFill>
                  <a:latin typeface="Century Gothic" panose="020B0502020202020204" pitchFamily="34" charset="0"/>
                  <a:ea typeface="ＭＳ Ｐゴシック" charset="0"/>
                  <a:cs typeface="ＭＳ Ｐゴシック" charset="0"/>
                  <a:sym typeface="Titillium Regular" charset="0"/>
                </a:rPr>
                <a:t>Open</a:t>
              </a:r>
            </a:p>
          </p:txBody>
        </p:sp>
      </p:grpSp>
      <p:sp>
        <p:nvSpPr>
          <p:cNvPr id="41" name="Horizontal Scroll 5">
            <a:extLst>
              <a:ext uri="{FF2B5EF4-FFF2-40B4-BE49-F238E27FC236}">
                <a16:creationId xmlns:a16="http://schemas.microsoft.com/office/drawing/2014/main" id="{0BF7023D-B9F3-89D5-F3B5-7AEDC2F8B872}"/>
              </a:ext>
            </a:extLst>
          </p:cNvPr>
          <p:cNvSpPr/>
          <p:nvPr/>
        </p:nvSpPr>
        <p:spPr>
          <a:xfrm>
            <a:off x="3345798" y="2383295"/>
            <a:ext cx="1766037" cy="940877"/>
          </a:xfrm>
          <a:prstGeom prst="horizontalScroll">
            <a:avLst/>
          </a:prstGeom>
          <a:solidFill>
            <a:srgbClr val="FF0000"/>
          </a:solid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Identify risk</a:t>
            </a:r>
          </a:p>
        </p:txBody>
      </p:sp>
      <p:sp>
        <p:nvSpPr>
          <p:cNvPr id="42" name="Rectangle 41">
            <a:extLst>
              <a:ext uri="{FF2B5EF4-FFF2-40B4-BE49-F238E27FC236}">
                <a16:creationId xmlns:a16="http://schemas.microsoft.com/office/drawing/2014/main" id="{89F5959C-F273-4F9C-9832-E67E7DB8054E}"/>
              </a:ext>
            </a:extLst>
          </p:cNvPr>
          <p:cNvSpPr>
            <a:spLocks/>
          </p:cNvSpPr>
          <p:nvPr/>
        </p:nvSpPr>
        <p:spPr bwMode="auto">
          <a:xfrm>
            <a:off x="2913579" y="3076772"/>
            <a:ext cx="2880320"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C00000"/>
                </a:solidFill>
                <a:latin typeface="Century Gothic" panose="020B0502020202020204" pitchFamily="34" charset="0"/>
                <a:ea typeface="ＭＳ Ｐゴシック" charset="0"/>
                <a:cs typeface="ＭＳ Ｐゴシック" charset="0"/>
                <a:sym typeface="Titillium Regular" charset="0"/>
              </a:rPr>
              <a:t>Categorize risk</a:t>
            </a:r>
          </a:p>
        </p:txBody>
      </p:sp>
      <p:sp>
        <p:nvSpPr>
          <p:cNvPr id="44" name="Right Arrow 61">
            <a:extLst>
              <a:ext uri="{FF2B5EF4-FFF2-40B4-BE49-F238E27FC236}">
                <a16:creationId xmlns:a16="http://schemas.microsoft.com/office/drawing/2014/main" id="{EBC96247-69EE-903A-4647-BB5D8B964D75}"/>
              </a:ext>
            </a:extLst>
          </p:cNvPr>
          <p:cNvSpPr/>
          <p:nvPr/>
        </p:nvSpPr>
        <p:spPr>
          <a:xfrm>
            <a:off x="5368069" y="2722045"/>
            <a:ext cx="910779" cy="315549"/>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46" name="Curved Down Arrow 6">
            <a:extLst>
              <a:ext uri="{FF2B5EF4-FFF2-40B4-BE49-F238E27FC236}">
                <a16:creationId xmlns:a16="http://schemas.microsoft.com/office/drawing/2014/main" id="{CDD1A7FC-DAA4-B912-C3D0-803AEF356394}"/>
              </a:ext>
            </a:extLst>
          </p:cNvPr>
          <p:cNvSpPr/>
          <p:nvPr/>
        </p:nvSpPr>
        <p:spPr>
          <a:xfrm>
            <a:off x="6811686" y="1844620"/>
            <a:ext cx="1889437" cy="707988"/>
          </a:xfrm>
          <a:prstGeom prst="curvedDown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solidFill>
                <a:schemeClr val="tx1"/>
              </a:solidFill>
            </a:endParaRPr>
          </a:p>
        </p:txBody>
      </p:sp>
      <p:sp>
        <p:nvSpPr>
          <p:cNvPr id="47" name="Horizontal Scroll 43">
            <a:extLst>
              <a:ext uri="{FF2B5EF4-FFF2-40B4-BE49-F238E27FC236}">
                <a16:creationId xmlns:a16="http://schemas.microsoft.com/office/drawing/2014/main" id="{FA7B8E6B-580E-FF6F-E9AE-7F566ED84A84}"/>
              </a:ext>
            </a:extLst>
          </p:cNvPr>
          <p:cNvSpPr/>
          <p:nvPr/>
        </p:nvSpPr>
        <p:spPr>
          <a:xfrm>
            <a:off x="6427028" y="2383295"/>
            <a:ext cx="2760983" cy="940877"/>
          </a:xfrm>
          <a:prstGeom prst="horizontalScroll">
            <a:avLst/>
          </a:prstGeom>
          <a:solidFill>
            <a:srgbClr val="FF0000"/>
          </a:solid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Likelihood   Impact</a:t>
            </a:r>
          </a:p>
        </p:txBody>
      </p:sp>
      <p:sp>
        <p:nvSpPr>
          <p:cNvPr id="48" name="Rectangle 47">
            <a:extLst>
              <a:ext uri="{FF2B5EF4-FFF2-40B4-BE49-F238E27FC236}">
                <a16:creationId xmlns:a16="http://schemas.microsoft.com/office/drawing/2014/main" id="{89F5959C-F273-4F9C-9832-E67E7DB8054E}"/>
              </a:ext>
            </a:extLst>
          </p:cNvPr>
          <p:cNvSpPr>
            <a:spLocks/>
          </p:cNvSpPr>
          <p:nvPr/>
        </p:nvSpPr>
        <p:spPr bwMode="auto">
          <a:xfrm>
            <a:off x="6226118" y="2998416"/>
            <a:ext cx="3384376"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1800" b="1" dirty="0">
                <a:solidFill>
                  <a:srgbClr val="C00000"/>
                </a:solidFill>
                <a:latin typeface="Century Gothic" panose="020B0502020202020204" pitchFamily="34" charset="0"/>
                <a:ea typeface="ＭＳ Ｐゴシック" charset="0"/>
                <a:cs typeface="ＭＳ Ｐゴシック" charset="0"/>
                <a:sym typeface="Titillium Regular" charset="0"/>
              </a:rPr>
              <a:t>Determine impact</a:t>
            </a:r>
          </a:p>
        </p:txBody>
      </p:sp>
      <p:sp>
        <p:nvSpPr>
          <p:cNvPr id="49" name="7-Point Star 55">
            <a:extLst>
              <a:ext uri="{FF2B5EF4-FFF2-40B4-BE49-F238E27FC236}">
                <a16:creationId xmlns:a16="http://schemas.microsoft.com/office/drawing/2014/main" id="{EF185254-1877-1BD0-A2BE-E0E316B81D59}"/>
              </a:ext>
            </a:extLst>
          </p:cNvPr>
          <p:cNvSpPr/>
          <p:nvPr/>
        </p:nvSpPr>
        <p:spPr>
          <a:xfrm>
            <a:off x="10290031" y="2130146"/>
            <a:ext cx="1489367" cy="1338708"/>
          </a:xfrm>
          <a:prstGeom prst="star7">
            <a:avLst/>
          </a:prstGeom>
          <a:solidFill>
            <a:srgbClr val="FF9900"/>
          </a:solidFill>
          <a:ln>
            <a:solidFill>
              <a:srgbClr val="FFC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Consequences</a:t>
            </a:r>
          </a:p>
        </p:txBody>
      </p:sp>
      <p:sp>
        <p:nvSpPr>
          <p:cNvPr id="50" name="Right Arrow 61">
            <a:extLst>
              <a:ext uri="{FF2B5EF4-FFF2-40B4-BE49-F238E27FC236}">
                <a16:creationId xmlns:a16="http://schemas.microsoft.com/office/drawing/2014/main" id="{C69441D5-70DE-F2D3-35EE-73453ADA281E}"/>
              </a:ext>
            </a:extLst>
          </p:cNvPr>
          <p:cNvSpPr/>
          <p:nvPr/>
        </p:nvSpPr>
        <p:spPr>
          <a:xfrm>
            <a:off x="9336191" y="2695958"/>
            <a:ext cx="910779" cy="315549"/>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51" name="Horizontal Scroll 46">
            <a:extLst>
              <a:ext uri="{FF2B5EF4-FFF2-40B4-BE49-F238E27FC236}">
                <a16:creationId xmlns:a16="http://schemas.microsoft.com/office/drawing/2014/main" id="{C8EBBD39-851D-B339-0481-6B055C370691}"/>
              </a:ext>
            </a:extLst>
          </p:cNvPr>
          <p:cNvSpPr/>
          <p:nvPr/>
        </p:nvSpPr>
        <p:spPr>
          <a:xfrm>
            <a:off x="10093878" y="5127889"/>
            <a:ext cx="1881670" cy="950620"/>
          </a:xfrm>
          <a:prstGeom prst="horizontalScroll">
            <a:avLst/>
          </a:prstGeom>
          <a:solidFill>
            <a:srgbClr val="FF9900"/>
          </a:solid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Mitigation(s)</a:t>
            </a:r>
          </a:p>
        </p:txBody>
      </p:sp>
      <p:sp>
        <p:nvSpPr>
          <p:cNvPr id="52" name="Rectangle 51">
            <a:extLst>
              <a:ext uri="{FF2B5EF4-FFF2-40B4-BE49-F238E27FC236}">
                <a16:creationId xmlns:a16="http://schemas.microsoft.com/office/drawing/2014/main" id="{89F5959C-F273-4F9C-9832-E67E7DB8054E}"/>
              </a:ext>
            </a:extLst>
          </p:cNvPr>
          <p:cNvSpPr>
            <a:spLocks/>
          </p:cNvSpPr>
          <p:nvPr/>
        </p:nvSpPr>
        <p:spPr bwMode="auto">
          <a:xfrm>
            <a:off x="9018853" y="5762873"/>
            <a:ext cx="3888433"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FF9900"/>
                </a:solidFill>
                <a:latin typeface="Century Gothic" panose="020B0502020202020204" pitchFamily="34" charset="0"/>
                <a:ea typeface="ＭＳ Ｐゴシック" charset="0"/>
                <a:cs typeface="ＭＳ Ｐゴシック" charset="0"/>
                <a:sym typeface="Titillium Regular" charset="0"/>
              </a:rPr>
              <a:t>Identify alternatives</a:t>
            </a:r>
          </a:p>
        </p:txBody>
      </p:sp>
      <p:sp>
        <p:nvSpPr>
          <p:cNvPr id="53" name="Right Arrow 61">
            <a:extLst>
              <a:ext uri="{FF2B5EF4-FFF2-40B4-BE49-F238E27FC236}">
                <a16:creationId xmlns:a16="http://schemas.microsoft.com/office/drawing/2014/main" id="{DEF9893C-A0A5-3665-48CA-89B8D09C25AC}"/>
              </a:ext>
            </a:extLst>
          </p:cNvPr>
          <p:cNvSpPr/>
          <p:nvPr/>
        </p:nvSpPr>
        <p:spPr>
          <a:xfrm rot="5400000">
            <a:off x="10365359" y="4145957"/>
            <a:ext cx="1338708" cy="315549"/>
          </a:xfrm>
          <a:prstGeom prst="rightArrow">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54" name="Right Arrow 61">
            <a:extLst>
              <a:ext uri="{FF2B5EF4-FFF2-40B4-BE49-F238E27FC236}">
                <a16:creationId xmlns:a16="http://schemas.microsoft.com/office/drawing/2014/main" id="{4AE4E00F-C278-E4B0-57B4-EF604EFD37CA}"/>
              </a:ext>
            </a:extLst>
          </p:cNvPr>
          <p:cNvSpPr/>
          <p:nvPr/>
        </p:nvSpPr>
        <p:spPr>
          <a:xfrm rot="10800000">
            <a:off x="9035869" y="5447324"/>
            <a:ext cx="910779" cy="315549"/>
          </a:xfrm>
          <a:prstGeom prst="rightArrow">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55" name="Curved Down Arrow 49">
            <a:extLst>
              <a:ext uri="{FF2B5EF4-FFF2-40B4-BE49-F238E27FC236}">
                <a16:creationId xmlns:a16="http://schemas.microsoft.com/office/drawing/2014/main" id="{0096F057-FAD3-F8BB-1B1E-D4F6A7D23D9B}"/>
              </a:ext>
            </a:extLst>
          </p:cNvPr>
          <p:cNvSpPr/>
          <p:nvPr/>
        </p:nvSpPr>
        <p:spPr>
          <a:xfrm>
            <a:off x="6810314" y="4695659"/>
            <a:ext cx="1818072" cy="580245"/>
          </a:xfrm>
          <a:prstGeom prst="curvedDownArrow">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solidFill>
                <a:schemeClr val="tx1"/>
              </a:solidFill>
            </a:endParaRPr>
          </a:p>
        </p:txBody>
      </p:sp>
      <p:sp>
        <p:nvSpPr>
          <p:cNvPr id="56" name="Horizontal Scroll 50">
            <a:extLst>
              <a:ext uri="{FF2B5EF4-FFF2-40B4-BE49-F238E27FC236}">
                <a16:creationId xmlns:a16="http://schemas.microsoft.com/office/drawing/2014/main" id="{D0882E3A-F290-128A-994D-906A4CA9D5BB}"/>
              </a:ext>
            </a:extLst>
          </p:cNvPr>
          <p:cNvSpPr/>
          <p:nvPr/>
        </p:nvSpPr>
        <p:spPr>
          <a:xfrm>
            <a:off x="6341695" y="5114131"/>
            <a:ext cx="2604029" cy="1041713"/>
          </a:xfrm>
          <a:prstGeom prst="horizontalScroll">
            <a:avLst/>
          </a:prstGeom>
          <a:solidFill>
            <a:srgbClr val="FFC000"/>
          </a:solid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Mitigation     Cost</a:t>
            </a:r>
          </a:p>
        </p:txBody>
      </p:sp>
      <p:sp>
        <p:nvSpPr>
          <p:cNvPr id="57" name="Rectangle 56">
            <a:extLst>
              <a:ext uri="{FF2B5EF4-FFF2-40B4-BE49-F238E27FC236}">
                <a16:creationId xmlns:a16="http://schemas.microsoft.com/office/drawing/2014/main" id="{89F5959C-F273-4F9C-9832-E67E7DB8054E}"/>
              </a:ext>
            </a:extLst>
          </p:cNvPr>
          <p:cNvSpPr>
            <a:spLocks/>
          </p:cNvSpPr>
          <p:nvPr/>
        </p:nvSpPr>
        <p:spPr bwMode="auto">
          <a:xfrm>
            <a:off x="5914102" y="6073320"/>
            <a:ext cx="3774538"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FFC000"/>
                </a:solidFill>
                <a:latin typeface="Century Gothic" panose="020B0502020202020204" pitchFamily="34" charset="0"/>
                <a:ea typeface="ＭＳ Ｐゴシック" charset="0"/>
                <a:cs typeface="ＭＳ Ｐゴシック" charset="0"/>
                <a:sym typeface="Titillium Regular" charset="0"/>
              </a:rPr>
              <a:t>Trade-off between </a:t>
            </a:r>
          </a:p>
          <a:p>
            <a:r>
              <a:rPr lang="en-US" sz="2000" b="1" dirty="0">
                <a:solidFill>
                  <a:srgbClr val="FFC000"/>
                </a:solidFill>
                <a:latin typeface="Century Gothic" panose="020B0502020202020204" pitchFamily="34" charset="0"/>
                <a:ea typeface="ＭＳ Ｐゴシック" charset="0"/>
                <a:cs typeface="ＭＳ Ｐゴシック" charset="0"/>
                <a:sym typeface="Titillium Regular" charset="0"/>
              </a:rPr>
              <a:t>cost and residual risk</a:t>
            </a:r>
          </a:p>
        </p:txBody>
      </p:sp>
      <p:sp>
        <p:nvSpPr>
          <p:cNvPr id="5" name="Rectangle 4">
            <a:extLst>
              <a:ext uri="{FF2B5EF4-FFF2-40B4-BE49-F238E27FC236}">
                <a16:creationId xmlns:a16="http://schemas.microsoft.com/office/drawing/2014/main" id="{C9D5DE88-75CF-5770-52CB-CCB616D32D7D}"/>
              </a:ext>
            </a:extLst>
          </p:cNvPr>
          <p:cNvSpPr>
            <a:spLocks/>
          </p:cNvSpPr>
          <p:nvPr/>
        </p:nvSpPr>
        <p:spPr bwMode="auto">
          <a:xfrm rot="16200000">
            <a:off x="-1223466" y="2365373"/>
            <a:ext cx="2880320"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C00000"/>
                </a:solidFill>
                <a:latin typeface="Century Gothic" panose="020B0502020202020204" pitchFamily="34" charset="0"/>
                <a:ea typeface="ＭＳ Ｐゴシック" charset="0"/>
                <a:cs typeface="ＭＳ Ｐゴシック" charset="0"/>
                <a:sym typeface="Titillium Regular" charset="0"/>
              </a:rPr>
              <a:t>Unknown</a:t>
            </a:r>
          </a:p>
        </p:txBody>
      </p:sp>
    </p:spTree>
    <p:extLst>
      <p:ext uri="{BB962C8B-B14F-4D97-AF65-F5344CB8AC3E}">
        <p14:creationId xmlns:p14="http://schemas.microsoft.com/office/powerpoint/2010/main" val="1746386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0B3A1-CB36-5244-E1C8-2B0E41493F35}"/>
              </a:ext>
            </a:extLst>
          </p:cNvPr>
          <p:cNvSpPr>
            <a:spLocks noGrp="1"/>
          </p:cNvSpPr>
          <p:nvPr>
            <p:ph type="title"/>
          </p:nvPr>
        </p:nvSpPr>
        <p:spPr/>
        <p:txBody>
          <a:bodyPr/>
          <a:lstStyle/>
          <a:p>
            <a:r>
              <a:rPr lang="en-ZA" dirty="0"/>
              <a:t>Risk management process</a:t>
            </a:r>
          </a:p>
        </p:txBody>
      </p:sp>
      <p:sp>
        <p:nvSpPr>
          <p:cNvPr id="3" name="Slide Number Placeholder 2">
            <a:extLst>
              <a:ext uri="{FF2B5EF4-FFF2-40B4-BE49-F238E27FC236}">
                <a16:creationId xmlns:a16="http://schemas.microsoft.com/office/drawing/2014/main" id="{30D9C960-E5F7-5DBB-4268-C76C92179908}"/>
              </a:ext>
            </a:extLst>
          </p:cNvPr>
          <p:cNvSpPr>
            <a:spLocks noGrp="1"/>
          </p:cNvSpPr>
          <p:nvPr>
            <p:ph type="sldNum" sz="quarter" idx="12"/>
          </p:nvPr>
        </p:nvSpPr>
        <p:spPr>
          <a:xfrm>
            <a:off x="10652571" y="6393190"/>
            <a:ext cx="1052508" cy="365125"/>
          </a:xfrm>
        </p:spPr>
        <p:txBody>
          <a:bodyPr/>
          <a:lstStyle/>
          <a:p>
            <a:fld id="{C263D6C4-4840-40CC-AC84-17E24B3B7BDE}" type="slidenum">
              <a:rPr lang="en-US" noProof="0" smtClean="0"/>
              <a:pPr/>
              <a:t>4</a:t>
            </a:fld>
            <a:endParaRPr lang="en-US" noProof="0" dirty="0"/>
          </a:p>
        </p:txBody>
      </p:sp>
      <p:sp>
        <p:nvSpPr>
          <p:cNvPr id="35" name="7-Point Star 1">
            <a:extLst>
              <a:ext uri="{FF2B5EF4-FFF2-40B4-BE49-F238E27FC236}">
                <a16:creationId xmlns:a16="http://schemas.microsoft.com/office/drawing/2014/main" id="{78255D23-D06E-4AC4-6B99-8553C521A485}"/>
              </a:ext>
            </a:extLst>
          </p:cNvPr>
          <p:cNvSpPr/>
          <p:nvPr/>
        </p:nvSpPr>
        <p:spPr>
          <a:xfrm>
            <a:off x="408892" y="1885841"/>
            <a:ext cx="1627820" cy="1624685"/>
          </a:xfrm>
          <a:prstGeom prst="star7">
            <a:avLst/>
          </a:prstGeom>
          <a:solidFill>
            <a:srgbClr val="FF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Initial</a:t>
            </a:r>
          </a:p>
          <a:p>
            <a:pPr algn="ctr"/>
            <a:r>
              <a:rPr lang="en-ZA" sz="2000" b="1" dirty="0">
                <a:solidFill>
                  <a:schemeClr val="bg1"/>
                </a:solidFill>
              </a:rPr>
              <a:t>Risk</a:t>
            </a:r>
          </a:p>
        </p:txBody>
      </p:sp>
      <p:sp>
        <p:nvSpPr>
          <p:cNvPr id="36" name="Rectangle 35">
            <a:extLst>
              <a:ext uri="{FF2B5EF4-FFF2-40B4-BE49-F238E27FC236}">
                <a16:creationId xmlns:a16="http://schemas.microsoft.com/office/drawing/2014/main" id="{89F5959C-F273-4F9C-9832-E67E7DB8054E}"/>
              </a:ext>
            </a:extLst>
          </p:cNvPr>
          <p:cNvSpPr>
            <a:spLocks/>
          </p:cNvSpPr>
          <p:nvPr/>
        </p:nvSpPr>
        <p:spPr bwMode="auto">
          <a:xfrm rot="16200000">
            <a:off x="-1223466" y="2365373"/>
            <a:ext cx="2880320"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C00000"/>
                </a:solidFill>
                <a:latin typeface="Century Gothic" panose="020B0502020202020204" pitchFamily="34" charset="0"/>
                <a:ea typeface="ＭＳ Ｐゴシック" charset="0"/>
                <a:cs typeface="ＭＳ Ｐゴシック" charset="0"/>
                <a:sym typeface="Titillium Regular" charset="0"/>
              </a:rPr>
              <a:t>Unknown</a:t>
            </a:r>
          </a:p>
        </p:txBody>
      </p:sp>
      <p:sp>
        <p:nvSpPr>
          <p:cNvPr id="37" name="Rectangle 36">
            <a:extLst>
              <a:ext uri="{FF2B5EF4-FFF2-40B4-BE49-F238E27FC236}">
                <a16:creationId xmlns:a16="http://schemas.microsoft.com/office/drawing/2014/main" id="{89F5959C-F273-4F9C-9832-E67E7DB8054E}"/>
              </a:ext>
            </a:extLst>
          </p:cNvPr>
          <p:cNvSpPr>
            <a:spLocks/>
          </p:cNvSpPr>
          <p:nvPr/>
        </p:nvSpPr>
        <p:spPr bwMode="auto">
          <a:xfrm>
            <a:off x="0" y="3510526"/>
            <a:ext cx="2445604" cy="733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C00000"/>
                </a:solidFill>
                <a:latin typeface="Century Gothic" panose="020B0502020202020204" pitchFamily="34" charset="0"/>
                <a:ea typeface="ＭＳ Ｐゴシック" charset="0"/>
                <a:cs typeface="ＭＳ Ｐゴシック" charset="0"/>
                <a:sym typeface="Titillium Regular" charset="0"/>
              </a:rPr>
              <a:t>Initial risk acceptance</a:t>
            </a:r>
          </a:p>
        </p:txBody>
      </p:sp>
      <p:grpSp>
        <p:nvGrpSpPr>
          <p:cNvPr id="40" name="Group 39">
            <a:extLst>
              <a:ext uri="{FF2B5EF4-FFF2-40B4-BE49-F238E27FC236}">
                <a16:creationId xmlns:a16="http://schemas.microsoft.com/office/drawing/2014/main" id="{0029C099-EEE5-B139-9D20-CCF691C5BBC0}"/>
              </a:ext>
            </a:extLst>
          </p:cNvPr>
          <p:cNvGrpSpPr/>
          <p:nvPr/>
        </p:nvGrpSpPr>
        <p:grpSpPr>
          <a:xfrm>
            <a:off x="1222802" y="1978032"/>
            <a:ext cx="2880320" cy="1015555"/>
            <a:chOff x="1777477" y="1584428"/>
            <a:chExt cx="2880320" cy="1015555"/>
          </a:xfrm>
        </p:grpSpPr>
        <p:sp>
          <p:nvSpPr>
            <p:cNvPr id="38" name="Right Arrow 61">
              <a:extLst>
                <a:ext uri="{FF2B5EF4-FFF2-40B4-BE49-F238E27FC236}">
                  <a16:creationId xmlns:a16="http://schemas.microsoft.com/office/drawing/2014/main" id="{FC49F9B4-8460-579A-3ED6-B619BFE836A9}"/>
                </a:ext>
              </a:extLst>
            </p:cNvPr>
            <p:cNvSpPr/>
            <p:nvPr/>
          </p:nvSpPr>
          <p:spPr>
            <a:xfrm>
              <a:off x="2795833" y="2284434"/>
              <a:ext cx="910779" cy="315549"/>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39" name="Rectangle 38">
              <a:extLst>
                <a:ext uri="{FF2B5EF4-FFF2-40B4-BE49-F238E27FC236}">
                  <a16:creationId xmlns:a16="http://schemas.microsoft.com/office/drawing/2014/main" id="{89F5959C-F273-4F9C-9832-E67E7DB8054E}"/>
                </a:ext>
              </a:extLst>
            </p:cNvPr>
            <p:cNvSpPr>
              <a:spLocks/>
            </p:cNvSpPr>
            <p:nvPr/>
          </p:nvSpPr>
          <p:spPr bwMode="auto">
            <a:xfrm>
              <a:off x="1777477" y="1584428"/>
              <a:ext cx="2880320"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C00000"/>
                  </a:solidFill>
                  <a:latin typeface="Century Gothic" panose="020B0502020202020204" pitchFamily="34" charset="0"/>
                  <a:ea typeface="ＭＳ Ｐゴシック" charset="0"/>
                  <a:cs typeface="ＭＳ Ｐゴシック" charset="0"/>
                  <a:sym typeface="Titillium Regular" charset="0"/>
                </a:rPr>
                <a:t>Open</a:t>
              </a:r>
            </a:p>
          </p:txBody>
        </p:sp>
      </p:grpSp>
      <p:sp>
        <p:nvSpPr>
          <p:cNvPr id="41" name="Horizontal Scroll 5">
            <a:extLst>
              <a:ext uri="{FF2B5EF4-FFF2-40B4-BE49-F238E27FC236}">
                <a16:creationId xmlns:a16="http://schemas.microsoft.com/office/drawing/2014/main" id="{0BF7023D-B9F3-89D5-F3B5-7AEDC2F8B872}"/>
              </a:ext>
            </a:extLst>
          </p:cNvPr>
          <p:cNvSpPr/>
          <p:nvPr/>
        </p:nvSpPr>
        <p:spPr>
          <a:xfrm>
            <a:off x="3408171" y="2303788"/>
            <a:ext cx="1766037" cy="940877"/>
          </a:xfrm>
          <a:prstGeom prst="horizontalScroll">
            <a:avLst/>
          </a:prstGeom>
          <a:solidFill>
            <a:srgbClr val="FF0000"/>
          </a:solid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Identify risk</a:t>
            </a:r>
          </a:p>
        </p:txBody>
      </p:sp>
      <p:sp>
        <p:nvSpPr>
          <p:cNvPr id="42" name="Rectangle 41">
            <a:extLst>
              <a:ext uri="{FF2B5EF4-FFF2-40B4-BE49-F238E27FC236}">
                <a16:creationId xmlns:a16="http://schemas.microsoft.com/office/drawing/2014/main" id="{89F5959C-F273-4F9C-9832-E67E7DB8054E}"/>
              </a:ext>
            </a:extLst>
          </p:cNvPr>
          <p:cNvSpPr>
            <a:spLocks/>
          </p:cNvSpPr>
          <p:nvPr/>
        </p:nvSpPr>
        <p:spPr bwMode="auto">
          <a:xfrm>
            <a:off x="2975952" y="2997265"/>
            <a:ext cx="2880320"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C00000"/>
                </a:solidFill>
                <a:latin typeface="Century Gothic" panose="020B0502020202020204" pitchFamily="34" charset="0"/>
                <a:ea typeface="ＭＳ Ｐゴシック" charset="0"/>
                <a:cs typeface="ＭＳ Ｐゴシック" charset="0"/>
                <a:sym typeface="Titillium Regular" charset="0"/>
              </a:rPr>
              <a:t>Categorize risk</a:t>
            </a:r>
          </a:p>
        </p:txBody>
      </p:sp>
      <p:sp>
        <p:nvSpPr>
          <p:cNvPr id="44" name="Right Arrow 61">
            <a:extLst>
              <a:ext uri="{FF2B5EF4-FFF2-40B4-BE49-F238E27FC236}">
                <a16:creationId xmlns:a16="http://schemas.microsoft.com/office/drawing/2014/main" id="{EBC96247-69EE-903A-4647-BB5D8B964D75}"/>
              </a:ext>
            </a:extLst>
          </p:cNvPr>
          <p:cNvSpPr/>
          <p:nvPr/>
        </p:nvSpPr>
        <p:spPr>
          <a:xfrm>
            <a:off x="5430442" y="2642538"/>
            <a:ext cx="910779" cy="315549"/>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46" name="Curved Down Arrow 6">
            <a:extLst>
              <a:ext uri="{FF2B5EF4-FFF2-40B4-BE49-F238E27FC236}">
                <a16:creationId xmlns:a16="http://schemas.microsoft.com/office/drawing/2014/main" id="{CDD1A7FC-DAA4-B912-C3D0-803AEF356394}"/>
              </a:ext>
            </a:extLst>
          </p:cNvPr>
          <p:cNvSpPr/>
          <p:nvPr/>
        </p:nvSpPr>
        <p:spPr>
          <a:xfrm>
            <a:off x="6874059" y="1765113"/>
            <a:ext cx="1889437" cy="707988"/>
          </a:xfrm>
          <a:prstGeom prst="curvedDown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solidFill>
                <a:schemeClr val="tx1"/>
              </a:solidFill>
            </a:endParaRPr>
          </a:p>
        </p:txBody>
      </p:sp>
      <p:sp>
        <p:nvSpPr>
          <p:cNvPr id="47" name="Horizontal Scroll 43">
            <a:extLst>
              <a:ext uri="{FF2B5EF4-FFF2-40B4-BE49-F238E27FC236}">
                <a16:creationId xmlns:a16="http://schemas.microsoft.com/office/drawing/2014/main" id="{FA7B8E6B-580E-FF6F-E9AE-7F566ED84A84}"/>
              </a:ext>
            </a:extLst>
          </p:cNvPr>
          <p:cNvSpPr/>
          <p:nvPr/>
        </p:nvSpPr>
        <p:spPr>
          <a:xfrm>
            <a:off x="6489401" y="2303788"/>
            <a:ext cx="2760983" cy="940877"/>
          </a:xfrm>
          <a:prstGeom prst="horizontalScroll">
            <a:avLst/>
          </a:prstGeom>
          <a:solidFill>
            <a:srgbClr val="FF0000"/>
          </a:solid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Likelihood   Impact</a:t>
            </a:r>
          </a:p>
        </p:txBody>
      </p:sp>
      <p:sp>
        <p:nvSpPr>
          <p:cNvPr id="48" name="Rectangle 47">
            <a:extLst>
              <a:ext uri="{FF2B5EF4-FFF2-40B4-BE49-F238E27FC236}">
                <a16:creationId xmlns:a16="http://schemas.microsoft.com/office/drawing/2014/main" id="{89F5959C-F273-4F9C-9832-E67E7DB8054E}"/>
              </a:ext>
            </a:extLst>
          </p:cNvPr>
          <p:cNvSpPr>
            <a:spLocks/>
          </p:cNvSpPr>
          <p:nvPr/>
        </p:nvSpPr>
        <p:spPr bwMode="auto">
          <a:xfrm>
            <a:off x="6288491" y="2918909"/>
            <a:ext cx="3384376"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1800" b="1" dirty="0">
                <a:solidFill>
                  <a:srgbClr val="C00000"/>
                </a:solidFill>
                <a:latin typeface="Century Gothic" panose="020B0502020202020204" pitchFamily="34" charset="0"/>
                <a:ea typeface="ＭＳ Ｐゴシック" charset="0"/>
                <a:cs typeface="ＭＳ Ｐゴシック" charset="0"/>
                <a:sym typeface="Titillium Regular" charset="0"/>
              </a:rPr>
              <a:t>Determine impact</a:t>
            </a:r>
          </a:p>
        </p:txBody>
      </p:sp>
      <p:sp>
        <p:nvSpPr>
          <p:cNvPr id="49" name="7-Point Star 55">
            <a:extLst>
              <a:ext uri="{FF2B5EF4-FFF2-40B4-BE49-F238E27FC236}">
                <a16:creationId xmlns:a16="http://schemas.microsoft.com/office/drawing/2014/main" id="{EF185254-1877-1BD0-A2BE-E0E316B81D59}"/>
              </a:ext>
            </a:extLst>
          </p:cNvPr>
          <p:cNvSpPr/>
          <p:nvPr/>
        </p:nvSpPr>
        <p:spPr>
          <a:xfrm>
            <a:off x="10352404" y="2050639"/>
            <a:ext cx="1489367" cy="1338708"/>
          </a:xfrm>
          <a:prstGeom prst="star7">
            <a:avLst/>
          </a:prstGeom>
          <a:solidFill>
            <a:srgbClr val="FF9900"/>
          </a:solidFill>
          <a:ln>
            <a:solidFill>
              <a:srgbClr val="FFC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Consequences</a:t>
            </a:r>
          </a:p>
        </p:txBody>
      </p:sp>
      <p:sp>
        <p:nvSpPr>
          <p:cNvPr id="50" name="Right Arrow 61">
            <a:extLst>
              <a:ext uri="{FF2B5EF4-FFF2-40B4-BE49-F238E27FC236}">
                <a16:creationId xmlns:a16="http://schemas.microsoft.com/office/drawing/2014/main" id="{C69441D5-70DE-F2D3-35EE-73453ADA281E}"/>
              </a:ext>
            </a:extLst>
          </p:cNvPr>
          <p:cNvSpPr/>
          <p:nvPr/>
        </p:nvSpPr>
        <p:spPr>
          <a:xfrm>
            <a:off x="9398564" y="2616451"/>
            <a:ext cx="910779" cy="315549"/>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51" name="Horizontal Scroll 46">
            <a:extLst>
              <a:ext uri="{FF2B5EF4-FFF2-40B4-BE49-F238E27FC236}">
                <a16:creationId xmlns:a16="http://schemas.microsoft.com/office/drawing/2014/main" id="{C8EBBD39-851D-B339-0481-6B055C370691}"/>
              </a:ext>
            </a:extLst>
          </p:cNvPr>
          <p:cNvSpPr/>
          <p:nvPr/>
        </p:nvSpPr>
        <p:spPr>
          <a:xfrm>
            <a:off x="10156251" y="5048382"/>
            <a:ext cx="1881670" cy="950620"/>
          </a:xfrm>
          <a:prstGeom prst="horizontalScroll">
            <a:avLst/>
          </a:prstGeom>
          <a:solidFill>
            <a:srgbClr val="FF9900"/>
          </a:solid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Mitigation(s)</a:t>
            </a:r>
          </a:p>
        </p:txBody>
      </p:sp>
      <p:sp>
        <p:nvSpPr>
          <p:cNvPr id="52" name="Rectangle 51">
            <a:extLst>
              <a:ext uri="{FF2B5EF4-FFF2-40B4-BE49-F238E27FC236}">
                <a16:creationId xmlns:a16="http://schemas.microsoft.com/office/drawing/2014/main" id="{89F5959C-F273-4F9C-9832-E67E7DB8054E}"/>
              </a:ext>
            </a:extLst>
          </p:cNvPr>
          <p:cNvSpPr>
            <a:spLocks/>
          </p:cNvSpPr>
          <p:nvPr/>
        </p:nvSpPr>
        <p:spPr bwMode="auto">
          <a:xfrm>
            <a:off x="8841662" y="5775566"/>
            <a:ext cx="3888433"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FF9900"/>
                </a:solidFill>
                <a:latin typeface="Century Gothic" panose="020B0502020202020204" pitchFamily="34" charset="0"/>
                <a:ea typeface="ＭＳ Ｐゴシック" charset="0"/>
                <a:cs typeface="ＭＳ Ｐゴシック" charset="0"/>
                <a:sym typeface="Titillium Regular" charset="0"/>
              </a:rPr>
              <a:t>Identify alternatives</a:t>
            </a:r>
          </a:p>
        </p:txBody>
      </p:sp>
      <p:sp>
        <p:nvSpPr>
          <p:cNvPr id="53" name="Right Arrow 61">
            <a:extLst>
              <a:ext uri="{FF2B5EF4-FFF2-40B4-BE49-F238E27FC236}">
                <a16:creationId xmlns:a16="http://schemas.microsoft.com/office/drawing/2014/main" id="{DEF9893C-A0A5-3665-48CA-89B8D09C25AC}"/>
              </a:ext>
            </a:extLst>
          </p:cNvPr>
          <p:cNvSpPr/>
          <p:nvPr/>
        </p:nvSpPr>
        <p:spPr>
          <a:xfrm rot="5400000">
            <a:off x="10427732" y="4066450"/>
            <a:ext cx="1338708" cy="315549"/>
          </a:xfrm>
          <a:prstGeom prst="rightArrow">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54" name="Right Arrow 61">
            <a:extLst>
              <a:ext uri="{FF2B5EF4-FFF2-40B4-BE49-F238E27FC236}">
                <a16:creationId xmlns:a16="http://schemas.microsoft.com/office/drawing/2014/main" id="{4AE4E00F-C278-E4B0-57B4-EF604EFD37CA}"/>
              </a:ext>
            </a:extLst>
          </p:cNvPr>
          <p:cNvSpPr/>
          <p:nvPr/>
        </p:nvSpPr>
        <p:spPr>
          <a:xfrm rot="10800000">
            <a:off x="9098242" y="5367817"/>
            <a:ext cx="910779" cy="315549"/>
          </a:xfrm>
          <a:prstGeom prst="rightArrow">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55" name="Curved Down Arrow 49">
            <a:extLst>
              <a:ext uri="{FF2B5EF4-FFF2-40B4-BE49-F238E27FC236}">
                <a16:creationId xmlns:a16="http://schemas.microsoft.com/office/drawing/2014/main" id="{0096F057-FAD3-F8BB-1B1E-D4F6A7D23D9B}"/>
              </a:ext>
            </a:extLst>
          </p:cNvPr>
          <p:cNvSpPr/>
          <p:nvPr/>
        </p:nvSpPr>
        <p:spPr>
          <a:xfrm>
            <a:off x="6872687" y="4616152"/>
            <a:ext cx="1818072" cy="580245"/>
          </a:xfrm>
          <a:prstGeom prst="curvedDownArrow">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solidFill>
                <a:schemeClr val="tx1"/>
              </a:solidFill>
            </a:endParaRPr>
          </a:p>
        </p:txBody>
      </p:sp>
      <p:sp>
        <p:nvSpPr>
          <p:cNvPr id="56" name="Horizontal Scroll 50">
            <a:extLst>
              <a:ext uri="{FF2B5EF4-FFF2-40B4-BE49-F238E27FC236}">
                <a16:creationId xmlns:a16="http://schemas.microsoft.com/office/drawing/2014/main" id="{D0882E3A-F290-128A-994D-906A4CA9D5BB}"/>
              </a:ext>
            </a:extLst>
          </p:cNvPr>
          <p:cNvSpPr/>
          <p:nvPr/>
        </p:nvSpPr>
        <p:spPr>
          <a:xfrm>
            <a:off x="6404068" y="5034624"/>
            <a:ext cx="2604029" cy="1041713"/>
          </a:xfrm>
          <a:prstGeom prst="horizontalScroll">
            <a:avLst/>
          </a:prstGeom>
          <a:solidFill>
            <a:srgbClr val="FFC000"/>
          </a:solid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2000" b="1" dirty="0">
                <a:solidFill>
                  <a:schemeClr val="bg1"/>
                </a:solidFill>
              </a:rPr>
              <a:t>Mitigation     Cost</a:t>
            </a:r>
          </a:p>
        </p:txBody>
      </p:sp>
      <p:sp>
        <p:nvSpPr>
          <p:cNvPr id="57" name="Rectangle 56">
            <a:extLst>
              <a:ext uri="{FF2B5EF4-FFF2-40B4-BE49-F238E27FC236}">
                <a16:creationId xmlns:a16="http://schemas.microsoft.com/office/drawing/2014/main" id="{89F5959C-F273-4F9C-9832-E67E7DB8054E}"/>
              </a:ext>
            </a:extLst>
          </p:cNvPr>
          <p:cNvSpPr>
            <a:spLocks/>
          </p:cNvSpPr>
          <p:nvPr/>
        </p:nvSpPr>
        <p:spPr bwMode="auto">
          <a:xfrm>
            <a:off x="5976475" y="5993813"/>
            <a:ext cx="3774538"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b="1" dirty="0">
                <a:solidFill>
                  <a:srgbClr val="FFC000"/>
                </a:solidFill>
                <a:latin typeface="Century Gothic" panose="020B0502020202020204" pitchFamily="34" charset="0"/>
                <a:ea typeface="ＭＳ Ｐゴシック" charset="0"/>
                <a:cs typeface="ＭＳ Ｐゴシック" charset="0"/>
                <a:sym typeface="Titillium Regular" charset="0"/>
              </a:rPr>
              <a:t>Trade-off between </a:t>
            </a:r>
          </a:p>
          <a:p>
            <a:r>
              <a:rPr lang="en-US" sz="2000" b="1" dirty="0">
                <a:solidFill>
                  <a:srgbClr val="FFC000"/>
                </a:solidFill>
                <a:latin typeface="Century Gothic" panose="020B0502020202020204" pitchFamily="34" charset="0"/>
                <a:ea typeface="ＭＳ Ｐゴシック" charset="0"/>
                <a:cs typeface="ＭＳ Ｐゴシック" charset="0"/>
                <a:sym typeface="Titillium Regular" charset="0"/>
              </a:rPr>
              <a:t>cost and residual risk</a:t>
            </a:r>
          </a:p>
        </p:txBody>
      </p:sp>
      <p:sp>
        <p:nvSpPr>
          <p:cNvPr id="58" name="7-Point Star 26">
            <a:extLst>
              <a:ext uri="{FF2B5EF4-FFF2-40B4-BE49-F238E27FC236}">
                <a16:creationId xmlns:a16="http://schemas.microsoft.com/office/drawing/2014/main" id="{43255BBC-67DE-9E99-55E1-B63173183D5D}"/>
              </a:ext>
            </a:extLst>
          </p:cNvPr>
          <p:cNvSpPr/>
          <p:nvPr/>
        </p:nvSpPr>
        <p:spPr>
          <a:xfrm>
            <a:off x="4155516" y="5070881"/>
            <a:ext cx="1213686" cy="1041713"/>
          </a:xfrm>
          <a:prstGeom prst="star7">
            <a:avLst/>
          </a:prstGeom>
          <a:solidFill>
            <a:srgbClr val="92D050"/>
          </a:solidFill>
          <a:ln>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pPr algn="ctr"/>
            <a:r>
              <a:rPr lang="en-ZA" sz="1600" b="1" dirty="0">
                <a:solidFill>
                  <a:schemeClr val="accent6">
                    <a:lumMod val="50000"/>
                  </a:schemeClr>
                </a:solidFill>
              </a:rPr>
              <a:t>Residual</a:t>
            </a:r>
          </a:p>
          <a:p>
            <a:pPr algn="ctr"/>
            <a:r>
              <a:rPr lang="en-ZA" sz="1600" b="1" dirty="0">
                <a:solidFill>
                  <a:schemeClr val="accent6">
                    <a:lumMod val="50000"/>
                  </a:schemeClr>
                </a:solidFill>
              </a:rPr>
              <a:t>Risk</a:t>
            </a:r>
          </a:p>
        </p:txBody>
      </p:sp>
      <p:sp>
        <p:nvSpPr>
          <p:cNvPr id="59" name="Right Arrow 56">
            <a:extLst>
              <a:ext uri="{FF2B5EF4-FFF2-40B4-BE49-F238E27FC236}">
                <a16:creationId xmlns:a16="http://schemas.microsoft.com/office/drawing/2014/main" id="{E4912AD3-7058-97A9-B96D-4B2935477F18}"/>
              </a:ext>
            </a:extLst>
          </p:cNvPr>
          <p:cNvSpPr/>
          <p:nvPr/>
        </p:nvSpPr>
        <p:spPr>
          <a:xfrm rot="10800000">
            <a:off x="5377711" y="5435421"/>
            <a:ext cx="910779" cy="403167"/>
          </a:xfrm>
          <a:prstGeom prst="rightArrow">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61" name="Rectangle 60">
            <a:extLst>
              <a:ext uri="{FF2B5EF4-FFF2-40B4-BE49-F238E27FC236}">
                <a16:creationId xmlns:a16="http://schemas.microsoft.com/office/drawing/2014/main" id="{89F5959C-F273-4F9C-9832-E67E7DB8054E}"/>
              </a:ext>
            </a:extLst>
          </p:cNvPr>
          <p:cNvSpPr>
            <a:spLocks/>
          </p:cNvSpPr>
          <p:nvPr/>
        </p:nvSpPr>
        <p:spPr bwMode="auto">
          <a:xfrm>
            <a:off x="3759083" y="5993813"/>
            <a:ext cx="2185220"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dirty="0">
                <a:ln>
                  <a:solidFill>
                    <a:srgbClr val="92D050"/>
                  </a:solidFill>
                </a:ln>
                <a:solidFill>
                  <a:srgbClr val="92D050"/>
                </a:solidFill>
                <a:sym typeface="Titillium Regular" charset="0"/>
              </a:rPr>
              <a:t>Residual risk acceptance</a:t>
            </a:r>
          </a:p>
        </p:txBody>
      </p:sp>
      <p:sp>
        <p:nvSpPr>
          <p:cNvPr id="62" name="Curved Down Arrow 62">
            <a:extLst>
              <a:ext uri="{FF2B5EF4-FFF2-40B4-BE49-F238E27FC236}">
                <a16:creationId xmlns:a16="http://schemas.microsoft.com/office/drawing/2014/main" id="{B2E85A61-C8AB-19A5-11EC-938C32776640}"/>
              </a:ext>
            </a:extLst>
          </p:cNvPr>
          <p:cNvSpPr/>
          <p:nvPr/>
        </p:nvSpPr>
        <p:spPr>
          <a:xfrm>
            <a:off x="889293" y="4684089"/>
            <a:ext cx="1730590" cy="609681"/>
          </a:xfrm>
          <a:prstGeom prst="curvedDownArrow">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solidFill>
                <a:schemeClr val="tx1"/>
              </a:solidFill>
            </a:endParaRPr>
          </a:p>
        </p:txBody>
      </p:sp>
      <p:sp>
        <p:nvSpPr>
          <p:cNvPr id="63" name="Horizontal Scroll 63">
            <a:extLst>
              <a:ext uri="{FF2B5EF4-FFF2-40B4-BE49-F238E27FC236}">
                <a16:creationId xmlns:a16="http://schemas.microsoft.com/office/drawing/2014/main" id="{6BF9CA86-6F43-6332-B34E-62D816FB7B1B}"/>
              </a:ext>
            </a:extLst>
          </p:cNvPr>
          <p:cNvSpPr/>
          <p:nvPr/>
        </p:nvSpPr>
        <p:spPr>
          <a:xfrm>
            <a:off x="253549" y="5181178"/>
            <a:ext cx="2880320" cy="1004375"/>
          </a:xfrm>
          <a:prstGeom prst="horizontalScroll">
            <a:avLst/>
          </a:prstGeom>
          <a:solidFill>
            <a:srgbClr val="92D050"/>
          </a:solidFill>
          <a:ln>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rtl="0" fontAlgn="base">
              <a:spcBef>
                <a:spcPct val="0"/>
              </a:spcBef>
              <a:spcAft>
                <a:spcPct val="0"/>
              </a:spcAft>
              <a:defRPr sz="5700" kern="1200">
                <a:solidFill>
                  <a:schemeClr val="dk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dk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dk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dk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dk1"/>
                </a:solidFill>
                <a:latin typeface="+mn-lt"/>
                <a:ea typeface="+mn-ea"/>
                <a:cs typeface="+mn-cs"/>
                <a:sym typeface="Gill Sans" charset="0"/>
              </a:defRPr>
            </a:lvl5pPr>
            <a:lvl6pPr marL="2286000" algn="l" defTabSz="457200" rtl="0" eaLnBrk="1" latinLnBrk="0" hangingPunct="1">
              <a:defRPr sz="5700" kern="1200">
                <a:solidFill>
                  <a:schemeClr val="dk1"/>
                </a:solidFill>
                <a:latin typeface="+mn-lt"/>
                <a:ea typeface="+mn-ea"/>
                <a:cs typeface="+mn-cs"/>
                <a:sym typeface="Gill Sans" charset="0"/>
              </a:defRPr>
            </a:lvl6pPr>
            <a:lvl7pPr marL="2743200" algn="l" defTabSz="457200" rtl="0" eaLnBrk="1" latinLnBrk="0" hangingPunct="1">
              <a:defRPr sz="5700" kern="1200">
                <a:solidFill>
                  <a:schemeClr val="dk1"/>
                </a:solidFill>
                <a:latin typeface="+mn-lt"/>
                <a:ea typeface="+mn-ea"/>
                <a:cs typeface="+mn-cs"/>
                <a:sym typeface="Gill Sans" charset="0"/>
              </a:defRPr>
            </a:lvl7pPr>
            <a:lvl8pPr marL="3200400" algn="l" defTabSz="457200" rtl="0" eaLnBrk="1" latinLnBrk="0" hangingPunct="1">
              <a:defRPr sz="5700" kern="1200">
                <a:solidFill>
                  <a:schemeClr val="dk1"/>
                </a:solidFill>
                <a:latin typeface="+mn-lt"/>
                <a:ea typeface="+mn-ea"/>
                <a:cs typeface="+mn-cs"/>
                <a:sym typeface="Gill Sans" charset="0"/>
              </a:defRPr>
            </a:lvl8pPr>
            <a:lvl9pPr marL="3657600" algn="l" defTabSz="457200" rtl="0" eaLnBrk="1" latinLnBrk="0" hangingPunct="1">
              <a:defRPr sz="5700" kern="1200">
                <a:solidFill>
                  <a:schemeClr val="dk1"/>
                </a:solidFill>
                <a:latin typeface="+mn-lt"/>
                <a:ea typeface="+mn-ea"/>
                <a:cs typeface="+mn-cs"/>
                <a:sym typeface="Gill Sans" charset="0"/>
              </a:defRPr>
            </a:lvl9pPr>
          </a:lstStyle>
          <a:p>
            <a:r>
              <a:rPr lang="en-ZA" sz="2000" b="1" dirty="0">
                <a:solidFill>
                  <a:schemeClr val="accent6">
                    <a:lumMod val="50000"/>
                  </a:schemeClr>
                </a:solidFill>
              </a:rPr>
              <a:t>Monitor   Control</a:t>
            </a:r>
          </a:p>
        </p:txBody>
      </p:sp>
      <p:sp>
        <p:nvSpPr>
          <p:cNvPr id="64" name="Rectangle 63">
            <a:extLst>
              <a:ext uri="{FF2B5EF4-FFF2-40B4-BE49-F238E27FC236}">
                <a16:creationId xmlns:a16="http://schemas.microsoft.com/office/drawing/2014/main" id="{89F5959C-F273-4F9C-9832-E67E7DB8054E}"/>
              </a:ext>
            </a:extLst>
          </p:cNvPr>
          <p:cNvSpPr>
            <a:spLocks/>
          </p:cNvSpPr>
          <p:nvPr/>
        </p:nvSpPr>
        <p:spPr bwMode="auto">
          <a:xfrm>
            <a:off x="23795" y="5888843"/>
            <a:ext cx="3384376" cy="940877"/>
          </a:xfrm>
          <a:prstGeom prst="rect">
            <a:avLst/>
          </a:prstGeom>
          <a:noFill/>
          <a:ln>
            <a:noFill/>
          </a:ln>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dirty="0">
                <a:ln>
                  <a:solidFill>
                    <a:srgbClr val="92D050"/>
                  </a:solidFill>
                </a:ln>
                <a:solidFill>
                  <a:srgbClr val="92D050"/>
                </a:solidFill>
                <a:sym typeface="Titillium Regular" charset="0"/>
              </a:rPr>
              <a:t>Measure, control and adjust</a:t>
            </a:r>
          </a:p>
        </p:txBody>
      </p:sp>
      <p:sp>
        <p:nvSpPr>
          <p:cNvPr id="67" name="Right Arrow 56">
            <a:extLst>
              <a:ext uri="{FF2B5EF4-FFF2-40B4-BE49-F238E27FC236}">
                <a16:creationId xmlns:a16="http://schemas.microsoft.com/office/drawing/2014/main" id="{74C540C4-0309-465C-3BC3-2A422D9BB898}"/>
              </a:ext>
            </a:extLst>
          </p:cNvPr>
          <p:cNvSpPr/>
          <p:nvPr/>
        </p:nvSpPr>
        <p:spPr>
          <a:xfrm rot="10800000">
            <a:off x="3176129" y="5449334"/>
            <a:ext cx="910779" cy="403167"/>
          </a:xfrm>
          <a:prstGeom prst="rightArrow">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rtl="0" fontAlgn="base">
              <a:spcBef>
                <a:spcPct val="0"/>
              </a:spcBef>
              <a:spcAft>
                <a:spcPct val="0"/>
              </a:spcAft>
              <a:defRPr sz="5700" kern="1200">
                <a:solidFill>
                  <a:schemeClr val="lt1"/>
                </a:solidFill>
                <a:latin typeface="+mn-lt"/>
                <a:ea typeface="+mn-ea"/>
                <a:cs typeface="+mn-cs"/>
                <a:sym typeface="Gill Sans" charset="0"/>
              </a:defRPr>
            </a:lvl1pPr>
            <a:lvl2pPr marL="455613" indent="1588" algn="ctr" rtl="0" fontAlgn="base">
              <a:spcBef>
                <a:spcPct val="0"/>
              </a:spcBef>
              <a:spcAft>
                <a:spcPct val="0"/>
              </a:spcAft>
              <a:defRPr sz="5700" kern="1200">
                <a:solidFill>
                  <a:schemeClr val="lt1"/>
                </a:solidFill>
                <a:latin typeface="+mn-lt"/>
                <a:ea typeface="+mn-ea"/>
                <a:cs typeface="+mn-cs"/>
                <a:sym typeface="Gill Sans" charset="0"/>
              </a:defRPr>
            </a:lvl2pPr>
            <a:lvl3pPr marL="912813" indent="1588" algn="ctr" rtl="0" fontAlgn="base">
              <a:spcBef>
                <a:spcPct val="0"/>
              </a:spcBef>
              <a:spcAft>
                <a:spcPct val="0"/>
              </a:spcAft>
              <a:defRPr sz="5700" kern="1200">
                <a:solidFill>
                  <a:schemeClr val="lt1"/>
                </a:solidFill>
                <a:latin typeface="+mn-lt"/>
                <a:ea typeface="+mn-ea"/>
                <a:cs typeface="+mn-cs"/>
                <a:sym typeface="Gill Sans" charset="0"/>
              </a:defRPr>
            </a:lvl3pPr>
            <a:lvl4pPr marL="1370013" indent="1588" algn="ctr" rtl="0" fontAlgn="base">
              <a:spcBef>
                <a:spcPct val="0"/>
              </a:spcBef>
              <a:spcAft>
                <a:spcPct val="0"/>
              </a:spcAft>
              <a:defRPr sz="5700" kern="1200">
                <a:solidFill>
                  <a:schemeClr val="lt1"/>
                </a:solidFill>
                <a:latin typeface="+mn-lt"/>
                <a:ea typeface="+mn-ea"/>
                <a:cs typeface="+mn-cs"/>
                <a:sym typeface="Gill Sans" charset="0"/>
              </a:defRPr>
            </a:lvl4pPr>
            <a:lvl5pPr marL="1827213" indent="1588" algn="ctr" rtl="0" fontAlgn="base">
              <a:spcBef>
                <a:spcPct val="0"/>
              </a:spcBef>
              <a:spcAft>
                <a:spcPct val="0"/>
              </a:spcAft>
              <a:defRPr sz="5700" kern="1200">
                <a:solidFill>
                  <a:schemeClr val="lt1"/>
                </a:solidFill>
                <a:latin typeface="+mn-lt"/>
                <a:ea typeface="+mn-ea"/>
                <a:cs typeface="+mn-cs"/>
                <a:sym typeface="Gill Sans" charset="0"/>
              </a:defRPr>
            </a:lvl5pPr>
            <a:lvl6pPr marL="2286000" algn="l" defTabSz="457200" rtl="0" eaLnBrk="1" latinLnBrk="0" hangingPunct="1">
              <a:defRPr sz="5700" kern="1200">
                <a:solidFill>
                  <a:schemeClr val="lt1"/>
                </a:solidFill>
                <a:latin typeface="+mn-lt"/>
                <a:ea typeface="+mn-ea"/>
                <a:cs typeface="+mn-cs"/>
                <a:sym typeface="Gill Sans" charset="0"/>
              </a:defRPr>
            </a:lvl6pPr>
            <a:lvl7pPr marL="2743200" algn="l" defTabSz="457200" rtl="0" eaLnBrk="1" latinLnBrk="0" hangingPunct="1">
              <a:defRPr sz="5700" kern="1200">
                <a:solidFill>
                  <a:schemeClr val="lt1"/>
                </a:solidFill>
                <a:latin typeface="+mn-lt"/>
                <a:ea typeface="+mn-ea"/>
                <a:cs typeface="+mn-cs"/>
                <a:sym typeface="Gill Sans" charset="0"/>
              </a:defRPr>
            </a:lvl7pPr>
            <a:lvl8pPr marL="3200400" algn="l" defTabSz="457200" rtl="0" eaLnBrk="1" latinLnBrk="0" hangingPunct="1">
              <a:defRPr sz="5700" kern="1200">
                <a:solidFill>
                  <a:schemeClr val="lt1"/>
                </a:solidFill>
                <a:latin typeface="+mn-lt"/>
                <a:ea typeface="+mn-ea"/>
                <a:cs typeface="+mn-cs"/>
                <a:sym typeface="Gill Sans" charset="0"/>
              </a:defRPr>
            </a:lvl8pPr>
            <a:lvl9pPr marL="3657600" algn="l" defTabSz="457200" rtl="0" eaLnBrk="1" latinLnBrk="0" hangingPunct="1">
              <a:defRPr sz="5700" kern="1200">
                <a:solidFill>
                  <a:schemeClr val="lt1"/>
                </a:solidFill>
                <a:latin typeface="+mn-lt"/>
                <a:ea typeface="+mn-ea"/>
                <a:cs typeface="+mn-cs"/>
                <a:sym typeface="Gill Sans" charset="0"/>
              </a:defRPr>
            </a:lvl9pPr>
          </a:lstStyle>
          <a:p>
            <a:pPr algn="ctr"/>
            <a:endParaRPr lang="en-ZA"/>
          </a:p>
        </p:txBody>
      </p:sp>
      <p:sp>
        <p:nvSpPr>
          <p:cNvPr id="70" name="Rectangle 69">
            <a:extLst>
              <a:ext uri="{FF2B5EF4-FFF2-40B4-BE49-F238E27FC236}">
                <a16:creationId xmlns:a16="http://schemas.microsoft.com/office/drawing/2014/main" id="{506A5AA4-316F-467D-49F2-0F50D5192405}"/>
              </a:ext>
            </a:extLst>
          </p:cNvPr>
          <p:cNvSpPr>
            <a:spLocks/>
          </p:cNvSpPr>
          <p:nvPr/>
        </p:nvSpPr>
        <p:spPr bwMode="auto">
          <a:xfrm>
            <a:off x="3653675" y="4223299"/>
            <a:ext cx="2185220" cy="94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000" dirty="0">
                <a:ln>
                  <a:solidFill>
                    <a:srgbClr val="92D050"/>
                  </a:solidFill>
                </a:ln>
                <a:solidFill>
                  <a:srgbClr val="92D050"/>
                </a:solidFill>
                <a:sym typeface="Titillium Regular" charset="0"/>
              </a:rPr>
              <a:t>Known</a:t>
            </a:r>
          </a:p>
        </p:txBody>
      </p:sp>
    </p:spTree>
    <p:extLst>
      <p:ext uri="{BB962C8B-B14F-4D97-AF65-F5344CB8AC3E}">
        <p14:creationId xmlns:p14="http://schemas.microsoft.com/office/powerpoint/2010/main" val="1130275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4F0D58-D778-7C98-6665-D1903887C3D0}"/>
              </a:ext>
            </a:extLst>
          </p:cNvPr>
          <p:cNvSpPr>
            <a:spLocks noGrp="1"/>
          </p:cNvSpPr>
          <p:nvPr>
            <p:ph type="sldNum" sz="quarter" idx="12"/>
          </p:nvPr>
        </p:nvSpPr>
        <p:spPr>
          <a:xfrm>
            <a:off x="10780342" y="6054205"/>
            <a:ext cx="830468" cy="267057"/>
          </a:xfrm>
        </p:spPr>
        <p:txBody>
          <a:bodyPr/>
          <a:lstStyle/>
          <a:p>
            <a:fld id="{C263D6C4-4840-40CC-AC84-17E24B3B7BDE}" type="slidenum">
              <a:rPr lang="en-US" noProof="0" smtClean="0"/>
              <a:pPr/>
              <a:t>5</a:t>
            </a:fld>
            <a:endParaRPr lang="en-US" noProof="0" dirty="0"/>
          </a:p>
        </p:txBody>
      </p:sp>
      <p:sp>
        <p:nvSpPr>
          <p:cNvPr id="2" name="Title 1">
            <a:extLst>
              <a:ext uri="{FF2B5EF4-FFF2-40B4-BE49-F238E27FC236}">
                <a16:creationId xmlns:a16="http://schemas.microsoft.com/office/drawing/2014/main" id="{BC95E45E-5CDE-66B6-09B5-A20EBA4C82B2}"/>
              </a:ext>
            </a:extLst>
          </p:cNvPr>
          <p:cNvSpPr>
            <a:spLocks noGrp="1"/>
          </p:cNvSpPr>
          <p:nvPr>
            <p:ph type="title"/>
          </p:nvPr>
        </p:nvSpPr>
        <p:spPr/>
        <p:txBody>
          <a:bodyPr/>
          <a:lstStyle/>
          <a:p>
            <a:r>
              <a:rPr lang="en-ZA" dirty="0"/>
              <a:t>Risk Evaluation Matrix</a:t>
            </a:r>
          </a:p>
        </p:txBody>
      </p:sp>
      <p:pic>
        <p:nvPicPr>
          <p:cNvPr id="5" name="Picture 4" descr="Risk-Matrix-1024x550">
            <a:extLst>
              <a:ext uri="{FF2B5EF4-FFF2-40B4-BE49-F238E27FC236}">
                <a16:creationId xmlns:a16="http://schemas.microsoft.com/office/drawing/2014/main" id="{E2115493-186F-1ABA-DCC6-9D6D856463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3600" y="2111650"/>
            <a:ext cx="7024442" cy="377866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9F5959C-F273-4F9C-9832-E67E7DB8054E}"/>
              </a:ext>
            </a:extLst>
          </p:cNvPr>
          <p:cNvSpPr>
            <a:spLocks/>
          </p:cNvSpPr>
          <p:nvPr/>
        </p:nvSpPr>
        <p:spPr bwMode="auto">
          <a:xfrm>
            <a:off x="5267942" y="6004155"/>
            <a:ext cx="608392" cy="374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800" b="1" dirty="0">
                <a:solidFill>
                  <a:srgbClr val="00B0F0"/>
                </a:solidFill>
                <a:latin typeface="Century Gothic" panose="020B0502020202020204" pitchFamily="34" charset="0"/>
                <a:ea typeface="ＭＳ Ｐゴシック" charset="0"/>
                <a:cs typeface="ＭＳ Ｐゴシック" charset="0"/>
                <a:sym typeface="Titillium Regular" charset="0"/>
              </a:rPr>
              <a:t>1</a:t>
            </a:r>
          </a:p>
        </p:txBody>
      </p:sp>
      <p:sp>
        <p:nvSpPr>
          <p:cNvPr id="7" name="Rectangle 6">
            <a:extLst>
              <a:ext uri="{FF2B5EF4-FFF2-40B4-BE49-F238E27FC236}">
                <a16:creationId xmlns:a16="http://schemas.microsoft.com/office/drawing/2014/main" id="{89F5959C-F273-4F9C-9832-E67E7DB8054E}"/>
              </a:ext>
            </a:extLst>
          </p:cNvPr>
          <p:cNvSpPr>
            <a:spLocks/>
          </p:cNvSpPr>
          <p:nvPr/>
        </p:nvSpPr>
        <p:spPr bwMode="auto">
          <a:xfrm>
            <a:off x="6422761" y="6009881"/>
            <a:ext cx="608392" cy="374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800" b="1" dirty="0">
                <a:solidFill>
                  <a:srgbClr val="00B0F0"/>
                </a:solidFill>
                <a:latin typeface="Century Gothic" panose="020B0502020202020204" pitchFamily="34" charset="0"/>
                <a:ea typeface="ＭＳ Ｐゴシック" charset="0"/>
                <a:cs typeface="ＭＳ Ｐゴシック" charset="0"/>
                <a:sym typeface="Titillium Regular" charset="0"/>
              </a:rPr>
              <a:t>2</a:t>
            </a:r>
          </a:p>
        </p:txBody>
      </p:sp>
      <p:sp>
        <p:nvSpPr>
          <p:cNvPr id="8" name="Rectangle 7">
            <a:extLst>
              <a:ext uri="{FF2B5EF4-FFF2-40B4-BE49-F238E27FC236}">
                <a16:creationId xmlns:a16="http://schemas.microsoft.com/office/drawing/2014/main" id="{89F5959C-F273-4F9C-9832-E67E7DB8054E}"/>
              </a:ext>
            </a:extLst>
          </p:cNvPr>
          <p:cNvSpPr>
            <a:spLocks/>
          </p:cNvSpPr>
          <p:nvPr/>
        </p:nvSpPr>
        <p:spPr bwMode="auto">
          <a:xfrm>
            <a:off x="7452009" y="6017479"/>
            <a:ext cx="608392" cy="374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800" b="1" dirty="0">
                <a:solidFill>
                  <a:srgbClr val="00B0F0"/>
                </a:solidFill>
                <a:latin typeface="Century Gothic" panose="020B0502020202020204" pitchFamily="34" charset="0"/>
                <a:ea typeface="ＭＳ Ｐゴシック" charset="0"/>
                <a:cs typeface="ＭＳ Ｐゴシック" charset="0"/>
                <a:sym typeface="Titillium Regular" charset="0"/>
              </a:rPr>
              <a:t>3</a:t>
            </a:r>
          </a:p>
        </p:txBody>
      </p:sp>
      <p:sp>
        <p:nvSpPr>
          <p:cNvPr id="9" name="Rectangle 8">
            <a:extLst>
              <a:ext uri="{FF2B5EF4-FFF2-40B4-BE49-F238E27FC236}">
                <a16:creationId xmlns:a16="http://schemas.microsoft.com/office/drawing/2014/main" id="{89F5959C-F273-4F9C-9832-E67E7DB8054E}"/>
              </a:ext>
            </a:extLst>
          </p:cNvPr>
          <p:cNvSpPr>
            <a:spLocks/>
          </p:cNvSpPr>
          <p:nvPr/>
        </p:nvSpPr>
        <p:spPr bwMode="auto">
          <a:xfrm>
            <a:off x="8544864" y="6004155"/>
            <a:ext cx="608392" cy="374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800" b="1" dirty="0">
                <a:solidFill>
                  <a:srgbClr val="00B0F0"/>
                </a:solidFill>
                <a:latin typeface="Century Gothic" panose="020B0502020202020204" pitchFamily="34" charset="0"/>
                <a:ea typeface="ＭＳ Ｐゴシック" charset="0"/>
                <a:cs typeface="ＭＳ Ｐゴシック" charset="0"/>
                <a:sym typeface="Titillium Regular" charset="0"/>
              </a:rPr>
              <a:t>4</a:t>
            </a:r>
          </a:p>
        </p:txBody>
      </p:sp>
      <p:sp>
        <p:nvSpPr>
          <p:cNvPr id="10" name="Rectangle 9">
            <a:extLst>
              <a:ext uri="{FF2B5EF4-FFF2-40B4-BE49-F238E27FC236}">
                <a16:creationId xmlns:a16="http://schemas.microsoft.com/office/drawing/2014/main" id="{89F5959C-F273-4F9C-9832-E67E7DB8054E}"/>
              </a:ext>
            </a:extLst>
          </p:cNvPr>
          <p:cNvSpPr>
            <a:spLocks/>
          </p:cNvSpPr>
          <p:nvPr/>
        </p:nvSpPr>
        <p:spPr bwMode="auto">
          <a:xfrm>
            <a:off x="9510505" y="6017479"/>
            <a:ext cx="608392" cy="374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800" b="1" dirty="0">
                <a:solidFill>
                  <a:srgbClr val="00B0F0"/>
                </a:solidFill>
                <a:latin typeface="Century Gothic" panose="020B0502020202020204" pitchFamily="34" charset="0"/>
                <a:ea typeface="ＭＳ Ｐゴシック" charset="0"/>
                <a:cs typeface="ＭＳ Ｐゴシック" charset="0"/>
                <a:sym typeface="Titillium Regular" charset="0"/>
              </a:rPr>
              <a:t>5</a:t>
            </a:r>
          </a:p>
        </p:txBody>
      </p:sp>
      <p:sp>
        <p:nvSpPr>
          <p:cNvPr id="11" name="Rectangle 10">
            <a:extLst>
              <a:ext uri="{FF2B5EF4-FFF2-40B4-BE49-F238E27FC236}">
                <a16:creationId xmlns:a16="http://schemas.microsoft.com/office/drawing/2014/main" id="{89F5959C-F273-4F9C-9832-E67E7DB8054E}"/>
              </a:ext>
            </a:extLst>
          </p:cNvPr>
          <p:cNvSpPr>
            <a:spLocks/>
          </p:cNvSpPr>
          <p:nvPr/>
        </p:nvSpPr>
        <p:spPr bwMode="auto">
          <a:xfrm>
            <a:off x="10578004" y="5452058"/>
            <a:ext cx="608392" cy="374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800" b="1" dirty="0">
                <a:solidFill>
                  <a:srgbClr val="00B0F0"/>
                </a:solidFill>
                <a:latin typeface="Century Gothic" panose="020B0502020202020204" pitchFamily="34" charset="0"/>
                <a:ea typeface="ＭＳ Ｐゴシック" charset="0"/>
                <a:cs typeface="ＭＳ Ｐゴシック" charset="0"/>
                <a:sym typeface="Titillium Regular" charset="0"/>
              </a:rPr>
              <a:t>1</a:t>
            </a:r>
          </a:p>
        </p:txBody>
      </p:sp>
      <p:sp>
        <p:nvSpPr>
          <p:cNvPr id="12" name="Rectangle 11">
            <a:extLst>
              <a:ext uri="{FF2B5EF4-FFF2-40B4-BE49-F238E27FC236}">
                <a16:creationId xmlns:a16="http://schemas.microsoft.com/office/drawing/2014/main" id="{89F5959C-F273-4F9C-9832-E67E7DB8054E}"/>
              </a:ext>
            </a:extLst>
          </p:cNvPr>
          <p:cNvSpPr>
            <a:spLocks/>
          </p:cNvSpPr>
          <p:nvPr/>
        </p:nvSpPr>
        <p:spPr bwMode="auto">
          <a:xfrm>
            <a:off x="10521895" y="4673514"/>
            <a:ext cx="608392" cy="374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800" b="1" dirty="0">
                <a:solidFill>
                  <a:srgbClr val="00B0F0"/>
                </a:solidFill>
                <a:latin typeface="Century Gothic" panose="020B0502020202020204" pitchFamily="34" charset="0"/>
                <a:ea typeface="ＭＳ Ｐゴシック" charset="0"/>
                <a:cs typeface="ＭＳ Ｐゴシック" charset="0"/>
                <a:sym typeface="Titillium Regular" charset="0"/>
              </a:rPr>
              <a:t>2</a:t>
            </a:r>
          </a:p>
        </p:txBody>
      </p:sp>
      <p:sp>
        <p:nvSpPr>
          <p:cNvPr id="13" name="Rectangle 12">
            <a:extLst>
              <a:ext uri="{FF2B5EF4-FFF2-40B4-BE49-F238E27FC236}">
                <a16:creationId xmlns:a16="http://schemas.microsoft.com/office/drawing/2014/main" id="{89F5959C-F273-4F9C-9832-E67E7DB8054E}"/>
              </a:ext>
            </a:extLst>
          </p:cNvPr>
          <p:cNvSpPr>
            <a:spLocks/>
          </p:cNvSpPr>
          <p:nvPr/>
        </p:nvSpPr>
        <p:spPr bwMode="auto">
          <a:xfrm>
            <a:off x="10521895" y="3894970"/>
            <a:ext cx="608392" cy="374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800" b="1" dirty="0">
                <a:solidFill>
                  <a:srgbClr val="00B0F0"/>
                </a:solidFill>
                <a:latin typeface="Century Gothic" panose="020B0502020202020204" pitchFamily="34" charset="0"/>
                <a:ea typeface="ＭＳ Ｐゴシック" charset="0"/>
                <a:cs typeface="ＭＳ Ｐゴシック" charset="0"/>
                <a:sym typeface="Titillium Regular" charset="0"/>
              </a:rPr>
              <a:t>3</a:t>
            </a:r>
          </a:p>
        </p:txBody>
      </p:sp>
      <p:sp>
        <p:nvSpPr>
          <p:cNvPr id="14" name="Rectangle 13">
            <a:extLst>
              <a:ext uri="{FF2B5EF4-FFF2-40B4-BE49-F238E27FC236}">
                <a16:creationId xmlns:a16="http://schemas.microsoft.com/office/drawing/2014/main" id="{89F5959C-F273-4F9C-9832-E67E7DB8054E}"/>
              </a:ext>
            </a:extLst>
          </p:cNvPr>
          <p:cNvSpPr>
            <a:spLocks/>
          </p:cNvSpPr>
          <p:nvPr/>
        </p:nvSpPr>
        <p:spPr bwMode="auto">
          <a:xfrm>
            <a:off x="10521895" y="3182987"/>
            <a:ext cx="608392" cy="374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800" b="1" dirty="0">
                <a:solidFill>
                  <a:srgbClr val="00B0F0"/>
                </a:solidFill>
                <a:latin typeface="Century Gothic" panose="020B0502020202020204" pitchFamily="34" charset="0"/>
                <a:ea typeface="ＭＳ Ｐゴシック" charset="0"/>
                <a:cs typeface="ＭＳ Ｐゴシック" charset="0"/>
                <a:sym typeface="Titillium Regular" charset="0"/>
              </a:rPr>
              <a:t>4</a:t>
            </a:r>
          </a:p>
        </p:txBody>
      </p:sp>
      <p:sp>
        <p:nvSpPr>
          <p:cNvPr id="15" name="Rectangle 14">
            <a:extLst>
              <a:ext uri="{FF2B5EF4-FFF2-40B4-BE49-F238E27FC236}">
                <a16:creationId xmlns:a16="http://schemas.microsoft.com/office/drawing/2014/main" id="{89F5959C-F273-4F9C-9832-E67E7DB8054E}"/>
              </a:ext>
            </a:extLst>
          </p:cNvPr>
          <p:cNvSpPr>
            <a:spLocks/>
          </p:cNvSpPr>
          <p:nvPr/>
        </p:nvSpPr>
        <p:spPr bwMode="auto">
          <a:xfrm>
            <a:off x="10521895" y="2467988"/>
            <a:ext cx="608392" cy="374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defPPr>
              <a:defRPr lang="en-US"/>
            </a:defPPr>
            <a:lvl1pPr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1pPr>
            <a:lvl2pPr marL="4556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2pPr>
            <a:lvl3pPr marL="9128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3pPr>
            <a:lvl4pPr marL="13700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4pPr>
            <a:lvl5pPr marL="1827213" indent="1588" algn="ctr" rtl="0" fontAlgn="base">
              <a:spcBef>
                <a:spcPct val="0"/>
              </a:spcBef>
              <a:spcAft>
                <a:spcPct val="0"/>
              </a:spcAft>
              <a:defRPr sz="57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700" kern="1200">
                <a:solidFill>
                  <a:srgbClr val="000000"/>
                </a:solidFill>
                <a:latin typeface="Gill Sans" charset="0"/>
                <a:ea typeface="ヒラギノ角ゴ ProN W3" charset="0"/>
                <a:cs typeface="ヒラギノ角ゴ ProN W3" charset="0"/>
                <a:sym typeface="Gill Sans" charset="0"/>
              </a:defRPr>
            </a:lvl9pPr>
          </a:lstStyle>
          <a:p>
            <a:r>
              <a:rPr lang="en-US" sz="2800" b="1" dirty="0">
                <a:solidFill>
                  <a:srgbClr val="00B0F0"/>
                </a:solidFill>
                <a:latin typeface="Century Gothic" panose="020B0502020202020204" pitchFamily="34" charset="0"/>
                <a:ea typeface="ＭＳ Ｐゴシック" charset="0"/>
                <a:cs typeface="ＭＳ Ｐゴシック" charset="0"/>
                <a:sym typeface="Titillium Regular" charset="0"/>
              </a:rPr>
              <a:t>5</a:t>
            </a:r>
          </a:p>
        </p:txBody>
      </p:sp>
    </p:spTree>
    <p:extLst>
      <p:ext uri="{BB962C8B-B14F-4D97-AF65-F5344CB8AC3E}">
        <p14:creationId xmlns:p14="http://schemas.microsoft.com/office/powerpoint/2010/main" val="901663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5CB481D-E6B5-4DA2-9178-6DE77AB5C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382724" y="702156"/>
            <a:ext cx="7225075" cy="1013800"/>
          </a:xfrm>
        </p:spPr>
        <p:txBody>
          <a:bodyPr>
            <a:normAutofit/>
          </a:bodyPr>
          <a:lstStyle/>
          <a:p>
            <a:r>
              <a:rPr lang="en-US">
                <a:solidFill>
                  <a:schemeClr val="accent1"/>
                </a:solidFill>
              </a:rPr>
              <a:t>Risk management (overall)</a:t>
            </a:r>
          </a:p>
        </p:txBody>
      </p:sp>
      <p:grpSp>
        <p:nvGrpSpPr>
          <p:cNvPr id="17" name="Group 16">
            <a:extLst>
              <a:ext uri="{FF2B5EF4-FFF2-40B4-BE49-F238E27FC236}">
                <a16:creationId xmlns:a16="http://schemas.microsoft.com/office/drawing/2014/main" id="{6277250E-AC94-4AE1-B264-401790964E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7EEC8A17-C370-4333-8546-E2AEDB9CE0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Rectangle 18">
              <a:extLst>
                <a:ext uri="{FF2B5EF4-FFF2-40B4-BE49-F238E27FC236}">
                  <a16:creationId xmlns:a16="http://schemas.microsoft.com/office/drawing/2014/main" id="{969D8784-71D8-4FB0-887B-FB5192AFFE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Rectangle 19">
              <a:extLst>
                <a:ext uri="{FF2B5EF4-FFF2-40B4-BE49-F238E27FC236}">
                  <a16:creationId xmlns:a16="http://schemas.microsoft.com/office/drawing/2014/main" id="{08FF2EEA-3DC8-41E5-8A32-96F598118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pic>
        <p:nvPicPr>
          <p:cNvPr id="3" name="Picture 2">
            <a:extLst>
              <a:ext uri="{FF2B5EF4-FFF2-40B4-BE49-F238E27FC236}">
                <a16:creationId xmlns:a16="http://schemas.microsoft.com/office/drawing/2014/main" id="{DF9D51C0-6E88-C692-3BCB-D1DF58D49F72}"/>
              </a:ext>
            </a:extLst>
          </p:cNvPr>
          <p:cNvPicPr>
            <a:picLocks noChangeAspect="1"/>
          </p:cNvPicPr>
          <p:nvPr/>
        </p:nvPicPr>
        <p:blipFill rotWithShape="1">
          <a:blip r:embed="rId3"/>
          <a:srcRect l="18821" r="17407" b="-2"/>
          <a:stretch>
            <a:fillRect/>
          </a:stretch>
        </p:blipFill>
        <p:spPr>
          <a:xfrm>
            <a:off x="448732" y="600075"/>
            <a:ext cx="3683001" cy="5775325"/>
          </a:xfrm>
          <a:prstGeom prst="rect">
            <a:avLst/>
          </a:prstGeom>
          <a:solidFill>
            <a:srgbClr val="FFFFFF">
              <a:shade val="85000"/>
            </a:srgbClr>
          </a:solidFill>
        </p:spPr>
      </p:pic>
      <p:sp>
        <p:nvSpPr>
          <p:cNvPr id="10" name="Text Placeholder 9">
            <a:extLst>
              <a:ext uri="{FF2B5EF4-FFF2-40B4-BE49-F238E27FC236}">
                <a16:creationId xmlns:a16="http://schemas.microsoft.com/office/drawing/2014/main" id="{EF2BC084-E6DB-4DE7-B309-042A85EBA700}"/>
              </a:ext>
            </a:extLst>
          </p:cNvPr>
          <p:cNvSpPr>
            <a:spLocks noGrp="1"/>
          </p:cNvSpPr>
          <p:nvPr>
            <p:ph idx="1"/>
          </p:nvPr>
        </p:nvSpPr>
        <p:spPr>
          <a:xfrm>
            <a:off x="4382726" y="1896533"/>
            <a:ext cx="7225074" cy="3962266"/>
          </a:xfrm>
        </p:spPr>
        <p:txBody>
          <a:bodyPr>
            <a:normAutofit/>
          </a:bodyPr>
          <a:lstStyle/>
          <a:p>
            <a:r>
              <a:rPr lang="en-US" dirty="0"/>
              <a:t>A tool used in planning work (primarily)</a:t>
            </a:r>
          </a:p>
          <a:p>
            <a:r>
              <a:rPr lang="en-US" dirty="0"/>
              <a:t>Can be a specialist skill (only introductory for now)</a:t>
            </a:r>
          </a:p>
          <a:p>
            <a:r>
              <a:rPr lang="en-US" dirty="0"/>
              <a:t>True risk is never completely absolved</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065932" y="5956137"/>
            <a:ext cx="544874" cy="365125"/>
          </a:xfrm>
        </p:spPr>
        <p:txBody>
          <a:bodyPr>
            <a:normAutofit/>
          </a:bodyPr>
          <a:lstStyle/>
          <a:p>
            <a:pPr>
              <a:spcAft>
                <a:spcPts val="600"/>
              </a:spcAft>
            </a:pPr>
            <a:fld id="{C263D6C4-4840-40CC-AC84-17E24B3B7BDE}" type="slidenum">
              <a:rPr lang="en-US" smtClean="0"/>
              <a:pPr>
                <a:spcAft>
                  <a:spcPts val="600"/>
                </a:spcAft>
              </a:pPr>
              <a:t>6</a:t>
            </a:fld>
            <a:endParaRPr lang="en-US"/>
          </a:p>
        </p:txBody>
      </p:sp>
    </p:spTree>
    <p:extLst>
      <p:ext uri="{BB962C8B-B14F-4D97-AF65-F5344CB8AC3E}">
        <p14:creationId xmlns:p14="http://schemas.microsoft.com/office/powerpoint/2010/main" val="595800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641C-AB60-6642-A22A-5C1FE01BA67D}"/>
              </a:ext>
            </a:extLst>
          </p:cNvPr>
          <p:cNvSpPr>
            <a:spLocks noGrp="1"/>
          </p:cNvSpPr>
          <p:nvPr>
            <p:ph type="title"/>
          </p:nvPr>
        </p:nvSpPr>
        <p:spPr/>
        <p:txBody>
          <a:bodyPr/>
          <a:lstStyle/>
          <a:p>
            <a:r>
              <a:rPr lang="en-GB" dirty="0"/>
              <a:t>Risk categories (MUST USE)</a:t>
            </a:r>
          </a:p>
        </p:txBody>
      </p:sp>
      <p:sp>
        <p:nvSpPr>
          <p:cNvPr id="3" name="Content Placeholder 2">
            <a:extLst>
              <a:ext uri="{FF2B5EF4-FFF2-40B4-BE49-F238E27FC236}">
                <a16:creationId xmlns:a16="http://schemas.microsoft.com/office/drawing/2014/main" id="{74836183-7145-6CBF-5272-694C0C2895DD}"/>
              </a:ext>
            </a:extLst>
          </p:cNvPr>
          <p:cNvSpPr>
            <a:spLocks noGrp="1"/>
          </p:cNvSpPr>
          <p:nvPr>
            <p:ph idx="1"/>
          </p:nvPr>
        </p:nvSpPr>
        <p:spPr>
          <a:xfrm>
            <a:off x="581192" y="1715956"/>
            <a:ext cx="11029615" cy="5045452"/>
          </a:xfrm>
        </p:spPr>
        <p:txBody>
          <a:bodyPr>
            <a:normAutofit fontScale="40000" lnSpcReduction="20000"/>
          </a:bodyPr>
          <a:lstStyle/>
          <a:p>
            <a:pPr marL="0" indent="0">
              <a:buNone/>
            </a:pPr>
            <a:r>
              <a:rPr lang="en-US" sz="4000" b="1" dirty="0">
                <a:solidFill>
                  <a:srgbClr val="FF0000"/>
                </a:solidFill>
                <a:latin typeface="Century Gothic" panose="020B0502020202020204" pitchFamily="34" charset="0"/>
                <a:ea typeface="ＭＳ Ｐゴシック" charset="0"/>
                <a:cs typeface="ＭＳ Ｐゴシック" charset="0"/>
                <a:sym typeface="Titillium Regular" charset="0"/>
              </a:rPr>
              <a:t>S – Schedule </a:t>
            </a:r>
            <a:r>
              <a:rPr lang="en-US" sz="40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Risk (all events that may result in a time delay)</a:t>
            </a:r>
          </a:p>
          <a:p>
            <a:pPr marL="1141413" lvl="1" indent="-685800">
              <a:buFont typeface="Arial" panose="020B0604020202020204" pitchFamily="34" charset="0"/>
              <a:buChar char="•"/>
            </a:pPr>
            <a:r>
              <a:rPr lang="en-US" sz="3600" b="1" u="sng" dirty="0">
                <a:solidFill>
                  <a:srgbClr val="7030A0"/>
                </a:solidFill>
                <a:latin typeface="Century Gothic" panose="020B0502020202020204" pitchFamily="34" charset="0"/>
                <a:ea typeface="ＭＳ Ｐゴシック" charset="0"/>
                <a:cs typeface="ＭＳ Ｐゴシック" charset="0"/>
                <a:sym typeface="Titillium Regular" charset="0"/>
              </a:rPr>
              <a:t>Risk: Access to data (for example) may delay communication, or similar</a:t>
            </a:r>
          </a:p>
          <a:p>
            <a:pPr marL="1141413" lvl="1" indent="-685800">
              <a:buFont typeface="Arial" panose="020B0604020202020204" pitchFamily="34" charset="0"/>
              <a:buChar char="•"/>
            </a:pPr>
            <a:r>
              <a:rPr lang="en-US" sz="3600" b="1" dirty="0">
                <a:solidFill>
                  <a:srgbClr val="00B0F0"/>
                </a:solidFill>
                <a:latin typeface="Century Gothic" panose="020B0502020202020204" pitchFamily="34" charset="0"/>
                <a:ea typeface="ＭＳ Ｐゴシック" charset="0"/>
                <a:cs typeface="ＭＳ Ｐゴシック" charset="0"/>
                <a:sym typeface="Titillium Regular" charset="0"/>
              </a:rPr>
              <a:t>Impact:</a:t>
            </a:r>
            <a:r>
              <a:rPr lang="en-US" sz="36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 Medium</a:t>
            </a:r>
          </a:p>
          <a:p>
            <a:pPr marL="1141413" lvl="1" indent="-685800">
              <a:buFont typeface="Arial" panose="020B0604020202020204" pitchFamily="34" charset="0"/>
              <a:buChar char="•"/>
            </a:pPr>
            <a:r>
              <a:rPr lang="en-US" sz="3600" b="1" dirty="0">
                <a:solidFill>
                  <a:srgbClr val="00B0F0"/>
                </a:solidFill>
                <a:latin typeface="Century Gothic" panose="020B0502020202020204" pitchFamily="34" charset="0"/>
                <a:ea typeface="ＭＳ Ｐゴシック" charset="0"/>
                <a:cs typeface="ＭＳ Ｐゴシック" charset="0"/>
                <a:sym typeface="Titillium Regular" charset="0"/>
              </a:rPr>
              <a:t>Likelihood:</a:t>
            </a:r>
            <a:r>
              <a:rPr lang="en-US" sz="36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 High (load shedding, data costs, remote areas of work)</a:t>
            </a:r>
          </a:p>
          <a:p>
            <a:pPr marL="1141413" lvl="1" indent="-685800">
              <a:buFont typeface="Arial" panose="020B0604020202020204" pitchFamily="34" charset="0"/>
              <a:buChar char="•"/>
            </a:pPr>
            <a:r>
              <a:rPr lang="en-US" sz="36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Mitigation: Ensure members stay in contact / inform lecturer</a:t>
            </a:r>
          </a:p>
          <a:p>
            <a:pPr marL="0" indent="0">
              <a:buNone/>
            </a:pPr>
            <a:r>
              <a:rPr lang="en-US" sz="4000" b="1" dirty="0">
                <a:solidFill>
                  <a:srgbClr val="FF0000"/>
                </a:solidFill>
                <a:latin typeface="Century Gothic" panose="020B0502020202020204" pitchFamily="34" charset="0"/>
                <a:ea typeface="ＭＳ Ｐゴシック" charset="0"/>
                <a:cs typeface="ＭＳ Ｐゴシック" charset="0"/>
                <a:sym typeface="Titillium Regular" charset="0"/>
              </a:rPr>
              <a:t>G – Group </a:t>
            </a:r>
            <a:r>
              <a:rPr lang="en-US" sz="40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Risk (events that may result in the group failing to work together)</a:t>
            </a:r>
          </a:p>
          <a:p>
            <a:pPr marL="1141413" lvl="1" indent="-685800">
              <a:buFont typeface="Arial" panose="020B0604020202020204" pitchFamily="34" charset="0"/>
              <a:buChar char="•"/>
            </a:pPr>
            <a:r>
              <a:rPr lang="en-US" sz="3600" b="1" u="sng" dirty="0">
                <a:solidFill>
                  <a:srgbClr val="7030A0"/>
                </a:solidFill>
                <a:latin typeface="Century Gothic" panose="020B0502020202020204" pitchFamily="34" charset="0"/>
                <a:ea typeface="ＭＳ Ｐゴシック" charset="0"/>
                <a:sym typeface="Titillium Regular" charset="0"/>
              </a:rPr>
              <a:t>Risk: Team member not performing duties, leading to lack of deliverables</a:t>
            </a:r>
          </a:p>
          <a:p>
            <a:pPr marL="1141413" lvl="1" indent="-685800">
              <a:buFont typeface="Arial" panose="020B0604020202020204" pitchFamily="34" charset="0"/>
              <a:buChar char="•"/>
            </a:pPr>
            <a:r>
              <a:rPr lang="en-US" sz="3600" b="1" dirty="0">
                <a:solidFill>
                  <a:srgbClr val="00B0F0"/>
                </a:solidFill>
                <a:latin typeface="Century Gothic" panose="020B0502020202020204" pitchFamily="34" charset="0"/>
                <a:ea typeface="ＭＳ Ｐゴシック" charset="0"/>
                <a:cs typeface="ＭＳ Ｐゴシック" charset="0"/>
                <a:sym typeface="Titillium Regular" charset="0"/>
              </a:rPr>
              <a:t>Impact:</a:t>
            </a:r>
            <a:r>
              <a:rPr lang="en-US" sz="36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 High</a:t>
            </a:r>
          </a:p>
          <a:p>
            <a:pPr marL="1141413" lvl="1" indent="-685800">
              <a:buFont typeface="Arial" panose="020B0604020202020204" pitchFamily="34" charset="0"/>
              <a:buChar char="•"/>
            </a:pPr>
            <a:r>
              <a:rPr lang="en-US" sz="3600" b="1" dirty="0">
                <a:solidFill>
                  <a:srgbClr val="00B0F0"/>
                </a:solidFill>
                <a:latin typeface="Century Gothic" panose="020B0502020202020204" pitchFamily="34" charset="0"/>
                <a:ea typeface="ＭＳ Ｐゴシック" charset="0"/>
                <a:cs typeface="ＭＳ Ｐゴシック" charset="0"/>
                <a:sym typeface="Titillium Regular" charset="0"/>
              </a:rPr>
              <a:t>Likelihood:</a:t>
            </a:r>
            <a:r>
              <a:rPr lang="en-US" sz="36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 High (why – because this always happens in group work)</a:t>
            </a:r>
          </a:p>
          <a:p>
            <a:pPr marL="1141413" lvl="1" indent="-685800">
              <a:buFont typeface="Arial" panose="020B0604020202020204" pitchFamily="34" charset="0"/>
              <a:buChar char="•"/>
            </a:pPr>
            <a:r>
              <a:rPr lang="en-US" sz="36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Mitigation: Perform work management, measure performance</a:t>
            </a:r>
          </a:p>
          <a:p>
            <a:pPr marL="0" indent="0">
              <a:buNone/>
            </a:pPr>
            <a:r>
              <a:rPr lang="en-US" sz="4000" b="1" dirty="0">
                <a:solidFill>
                  <a:srgbClr val="FF0000"/>
                </a:solidFill>
                <a:latin typeface="Century Gothic" panose="020B0502020202020204" pitchFamily="34" charset="0"/>
                <a:ea typeface="ＭＳ Ｐゴシック" charset="0"/>
                <a:cs typeface="ＭＳ Ｐゴシック" charset="0"/>
                <a:sym typeface="Titillium Regular" charset="0"/>
              </a:rPr>
              <a:t>K – Knowledge </a:t>
            </a:r>
            <a:r>
              <a:rPr lang="en-US" sz="40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Risk (events relating to my own knowledge)</a:t>
            </a:r>
          </a:p>
          <a:p>
            <a:pPr marL="1141413" lvl="1" indent="-685800">
              <a:buFont typeface="Arial" panose="020B0604020202020204" pitchFamily="34" charset="0"/>
              <a:buChar char="•"/>
            </a:pPr>
            <a:r>
              <a:rPr lang="en-US" sz="3600" b="1" u="sng" dirty="0">
                <a:solidFill>
                  <a:srgbClr val="7030A0"/>
                </a:solidFill>
                <a:latin typeface="Century Gothic" panose="020B0502020202020204" pitchFamily="34" charset="0"/>
                <a:ea typeface="ＭＳ Ｐゴシック" charset="0"/>
                <a:sym typeface="Titillium Regular" charset="0"/>
              </a:rPr>
              <a:t>Risk: Not knowing how </a:t>
            </a:r>
            <a:r>
              <a:rPr lang="en-US" sz="3600" b="1" u="sng" dirty="0" err="1">
                <a:solidFill>
                  <a:srgbClr val="7030A0"/>
                </a:solidFill>
                <a:latin typeface="Century Gothic" panose="020B0502020202020204" pitchFamily="34" charset="0"/>
                <a:ea typeface="ＭＳ Ｐゴシック" charset="0"/>
                <a:sym typeface="Titillium Regular" charset="0"/>
              </a:rPr>
              <a:t>KiCAD</a:t>
            </a:r>
            <a:r>
              <a:rPr lang="en-US" sz="3600" b="1" u="sng" dirty="0">
                <a:solidFill>
                  <a:srgbClr val="7030A0"/>
                </a:solidFill>
                <a:latin typeface="Century Gothic" panose="020B0502020202020204" pitchFamily="34" charset="0"/>
                <a:ea typeface="ＭＳ Ｐゴシック" charset="0"/>
                <a:sym typeface="Titillium Regular" charset="0"/>
              </a:rPr>
              <a:t> works leads to unmanufacturable boards being produced</a:t>
            </a:r>
          </a:p>
          <a:p>
            <a:pPr marL="1141413" lvl="1" indent="-685800">
              <a:buFont typeface="Arial" panose="020B0604020202020204" pitchFamily="34" charset="0"/>
              <a:buChar char="•"/>
            </a:pPr>
            <a:r>
              <a:rPr lang="en-US" sz="3600" b="1" dirty="0">
                <a:solidFill>
                  <a:srgbClr val="00B0F0"/>
                </a:solidFill>
                <a:latin typeface="Century Gothic" panose="020B0502020202020204" pitchFamily="34" charset="0"/>
                <a:ea typeface="ＭＳ Ｐゴシック" charset="0"/>
                <a:cs typeface="ＭＳ Ｐゴシック" charset="0"/>
                <a:sym typeface="Titillium Regular" charset="0"/>
              </a:rPr>
              <a:t>Impact:</a:t>
            </a:r>
            <a:r>
              <a:rPr lang="en-US" sz="36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 High (obviously depending on what your SoW is)</a:t>
            </a:r>
          </a:p>
          <a:p>
            <a:pPr marL="1141413" lvl="1" indent="-685800">
              <a:buFont typeface="Arial" panose="020B0604020202020204" pitchFamily="34" charset="0"/>
              <a:buChar char="•"/>
            </a:pPr>
            <a:r>
              <a:rPr lang="en-US" sz="3600" b="1" dirty="0">
                <a:solidFill>
                  <a:srgbClr val="00B0F0"/>
                </a:solidFill>
                <a:latin typeface="Century Gothic" panose="020B0502020202020204" pitchFamily="34" charset="0"/>
                <a:ea typeface="ＭＳ Ｐゴシック" charset="0"/>
                <a:cs typeface="ＭＳ Ｐゴシック" charset="0"/>
                <a:sym typeface="Titillium Regular" charset="0"/>
              </a:rPr>
              <a:t>Likelihood:</a:t>
            </a:r>
            <a:r>
              <a:rPr lang="en-US" sz="36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 High (You’ve never used this tool)</a:t>
            </a:r>
          </a:p>
          <a:p>
            <a:pPr marL="1141413" lvl="1" indent="-685800">
              <a:buFont typeface="Arial" panose="020B0604020202020204" pitchFamily="34" charset="0"/>
              <a:buChar char="•"/>
            </a:pPr>
            <a:r>
              <a:rPr lang="en-US" sz="36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Mitigation: Identify and complete a suitable tutorial on </a:t>
            </a:r>
            <a:r>
              <a:rPr lang="en-US" sz="3600" b="1" dirty="0" err="1">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KiCAD</a:t>
            </a:r>
            <a:r>
              <a:rPr lang="en-US" sz="36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 usage.</a:t>
            </a:r>
          </a:p>
          <a:p>
            <a:endParaRPr lang="en-GB" dirty="0"/>
          </a:p>
        </p:txBody>
      </p:sp>
    </p:spTree>
    <p:extLst>
      <p:ext uri="{BB962C8B-B14F-4D97-AF65-F5344CB8AC3E}">
        <p14:creationId xmlns:p14="http://schemas.microsoft.com/office/powerpoint/2010/main" val="514879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36409-D8B1-C120-9278-3AF71CAB9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AA2F4-1225-15B7-EB6A-01FDF49901E1}"/>
              </a:ext>
            </a:extLst>
          </p:cNvPr>
          <p:cNvSpPr>
            <a:spLocks noGrp="1"/>
          </p:cNvSpPr>
          <p:nvPr>
            <p:ph type="title"/>
          </p:nvPr>
        </p:nvSpPr>
        <p:spPr/>
        <p:txBody>
          <a:bodyPr/>
          <a:lstStyle/>
          <a:p>
            <a:r>
              <a:rPr lang="en-GB" dirty="0"/>
              <a:t>Risk categories (MUST USE)</a:t>
            </a:r>
          </a:p>
        </p:txBody>
      </p:sp>
      <p:sp>
        <p:nvSpPr>
          <p:cNvPr id="3" name="Content Placeholder 2">
            <a:extLst>
              <a:ext uri="{FF2B5EF4-FFF2-40B4-BE49-F238E27FC236}">
                <a16:creationId xmlns:a16="http://schemas.microsoft.com/office/drawing/2014/main" id="{BCE4D2D4-E6CB-DF9F-04D2-19D6ED482DB8}"/>
              </a:ext>
            </a:extLst>
          </p:cNvPr>
          <p:cNvSpPr>
            <a:spLocks noGrp="1"/>
          </p:cNvSpPr>
          <p:nvPr>
            <p:ph idx="1"/>
          </p:nvPr>
        </p:nvSpPr>
        <p:spPr>
          <a:xfrm>
            <a:off x="581192" y="1715956"/>
            <a:ext cx="11029615" cy="5045452"/>
          </a:xfrm>
        </p:spPr>
        <p:txBody>
          <a:bodyPr>
            <a:normAutofit/>
          </a:bodyPr>
          <a:lstStyle/>
          <a:p>
            <a:pPr marL="0" indent="0">
              <a:buNone/>
            </a:pPr>
            <a:r>
              <a:rPr lang="en-US" sz="1600" b="1" dirty="0">
                <a:solidFill>
                  <a:srgbClr val="FF0000"/>
                </a:solidFill>
                <a:latin typeface="Century Gothic" panose="020B0502020202020204" pitchFamily="34" charset="0"/>
                <a:ea typeface="ＭＳ Ｐゴシック" charset="0"/>
                <a:cs typeface="ＭＳ Ｐゴシック" charset="0"/>
                <a:sym typeface="Titillium Regular" charset="0"/>
              </a:rPr>
              <a:t>P – Project </a:t>
            </a:r>
            <a:r>
              <a:rPr lang="en-US" sz="16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Risk (all events that may result in the project failing)</a:t>
            </a:r>
          </a:p>
          <a:p>
            <a:pPr marL="1141413" lvl="1" indent="-685800">
              <a:buFont typeface="Arial" panose="020B0604020202020204" pitchFamily="34" charset="0"/>
              <a:buChar char="•"/>
            </a:pPr>
            <a:r>
              <a:rPr lang="en-US" b="1" u="sng" dirty="0">
                <a:solidFill>
                  <a:srgbClr val="7030A0"/>
                </a:solidFill>
                <a:latin typeface="Century Gothic" panose="020B0502020202020204" pitchFamily="34" charset="0"/>
                <a:ea typeface="ＭＳ Ｐゴシック" charset="0"/>
                <a:cs typeface="ＭＳ Ｐゴシック" charset="0"/>
                <a:sym typeface="Titillium Regular" charset="0"/>
              </a:rPr>
              <a:t>Risk: Counterfeit components that do not function as expected</a:t>
            </a:r>
          </a:p>
          <a:p>
            <a:pPr marL="1141413" lvl="1" indent="-685800">
              <a:buFont typeface="Arial" panose="020B0604020202020204" pitchFamily="34" charset="0"/>
              <a:buChar char="•"/>
            </a:pPr>
            <a:r>
              <a:rPr lang="en-US" b="1" dirty="0">
                <a:solidFill>
                  <a:srgbClr val="00B0F0"/>
                </a:solidFill>
                <a:latin typeface="Century Gothic" panose="020B0502020202020204" pitchFamily="34" charset="0"/>
                <a:ea typeface="ＭＳ Ｐゴシック" charset="0"/>
                <a:cs typeface="ＭＳ Ｐゴシック" charset="0"/>
                <a:sym typeface="Titillium Regular" charset="0"/>
              </a:rPr>
              <a:t>Impact:</a:t>
            </a:r>
            <a:r>
              <a:rPr lang="en-US"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 Severe</a:t>
            </a:r>
          </a:p>
          <a:p>
            <a:pPr marL="1141413" lvl="1" indent="-685800">
              <a:buFont typeface="Arial" panose="020B0604020202020204" pitchFamily="34" charset="0"/>
              <a:buChar char="•"/>
            </a:pPr>
            <a:r>
              <a:rPr lang="en-US" b="1" dirty="0">
                <a:solidFill>
                  <a:srgbClr val="00B0F0"/>
                </a:solidFill>
                <a:latin typeface="Century Gothic" panose="020B0502020202020204" pitchFamily="34" charset="0"/>
                <a:ea typeface="ＭＳ Ｐゴシック" charset="0"/>
                <a:cs typeface="ＭＳ Ｐゴシック" charset="0"/>
                <a:sym typeface="Titillium Regular" charset="0"/>
              </a:rPr>
              <a:t>Likelihood:</a:t>
            </a:r>
            <a:r>
              <a:rPr lang="en-US"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 High (I used cheap AliExpress suppliers)</a:t>
            </a:r>
          </a:p>
          <a:p>
            <a:pPr marL="1141413" lvl="1" indent="-685800">
              <a:buFont typeface="Arial" panose="020B0604020202020204" pitchFamily="34" charset="0"/>
              <a:buChar char="•"/>
            </a:pPr>
            <a:r>
              <a:rPr lang="en-US"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Mitigation: Only use known-good suppliers with supply chain integrity</a:t>
            </a:r>
          </a:p>
          <a:p>
            <a:pPr marL="0" indent="0">
              <a:buNone/>
            </a:pPr>
            <a:r>
              <a:rPr lang="en-US" sz="1600" b="1" dirty="0">
                <a:solidFill>
                  <a:srgbClr val="FF0000"/>
                </a:solidFill>
                <a:latin typeface="Century Gothic" panose="020B0502020202020204" pitchFamily="34" charset="0"/>
                <a:ea typeface="ＭＳ Ｐゴシック" charset="0"/>
                <a:cs typeface="ＭＳ Ｐゴシック" charset="0"/>
                <a:sym typeface="Titillium Regular" charset="0"/>
              </a:rPr>
              <a:t>L – Logistics </a:t>
            </a:r>
            <a:r>
              <a:rPr lang="en-US" sz="16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Risk (events that affect technical execution)</a:t>
            </a:r>
          </a:p>
          <a:p>
            <a:pPr marL="1141413" lvl="1" indent="-685800">
              <a:buFont typeface="Arial" panose="020B0604020202020204" pitchFamily="34" charset="0"/>
              <a:buChar char="•"/>
            </a:pPr>
            <a:r>
              <a:rPr lang="en-US" b="1" u="sng" dirty="0">
                <a:solidFill>
                  <a:srgbClr val="FFC000"/>
                </a:solidFill>
                <a:latin typeface="Century Gothic" panose="020B0502020202020204" pitchFamily="34" charset="0"/>
                <a:ea typeface="ＭＳ Ｐゴシック" charset="0"/>
                <a:sym typeface="Titillium Regular" charset="0"/>
              </a:rPr>
              <a:t>Risk: Components ordered are stuck at customs</a:t>
            </a:r>
          </a:p>
          <a:p>
            <a:pPr marL="1141413" lvl="1" indent="-685800">
              <a:buFont typeface="Arial" panose="020B0604020202020204" pitchFamily="34" charset="0"/>
              <a:buChar char="•"/>
            </a:pPr>
            <a:r>
              <a:rPr lang="en-US" b="1" dirty="0">
                <a:solidFill>
                  <a:srgbClr val="00B0F0"/>
                </a:solidFill>
                <a:latin typeface="Century Gothic" panose="020B0502020202020204" pitchFamily="34" charset="0"/>
                <a:ea typeface="ＭＳ Ｐゴシック" charset="0"/>
                <a:cs typeface="ＭＳ Ｐゴシック" charset="0"/>
                <a:sym typeface="Titillium Regular" charset="0"/>
              </a:rPr>
              <a:t>Impact:</a:t>
            </a:r>
            <a:r>
              <a:rPr lang="en-US"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 Severe (cannot execute without components)</a:t>
            </a:r>
          </a:p>
          <a:p>
            <a:pPr marL="1141413" lvl="1" indent="-685800">
              <a:buFont typeface="Arial" panose="020B0604020202020204" pitchFamily="34" charset="0"/>
              <a:buChar char="•"/>
            </a:pPr>
            <a:r>
              <a:rPr lang="en-US" b="1" dirty="0">
                <a:solidFill>
                  <a:srgbClr val="00B0F0"/>
                </a:solidFill>
                <a:latin typeface="Century Gothic" panose="020B0502020202020204" pitchFamily="34" charset="0"/>
                <a:ea typeface="ＭＳ Ｐゴシック" charset="0"/>
                <a:cs typeface="ＭＳ Ｐゴシック" charset="0"/>
                <a:sym typeface="Titillium Regular" charset="0"/>
              </a:rPr>
              <a:t>Likelihood:</a:t>
            </a:r>
            <a:r>
              <a:rPr lang="en-US"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 Possible (process outside of your control)</a:t>
            </a:r>
          </a:p>
          <a:p>
            <a:pPr marL="1141413" lvl="1" indent="-685800">
              <a:buFont typeface="Arial" panose="020B0604020202020204" pitchFamily="34" charset="0"/>
              <a:buChar char="•"/>
            </a:pPr>
            <a:r>
              <a:rPr lang="en-US"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Mitigation: Place component orders early to mitigate impact</a:t>
            </a:r>
          </a:p>
        </p:txBody>
      </p:sp>
    </p:spTree>
    <p:extLst>
      <p:ext uri="{BB962C8B-B14F-4D97-AF65-F5344CB8AC3E}">
        <p14:creationId xmlns:p14="http://schemas.microsoft.com/office/powerpoint/2010/main" val="1523052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CDB3D-FA3C-9057-881B-3F40853C852B}"/>
              </a:ext>
            </a:extLst>
          </p:cNvPr>
          <p:cNvSpPr>
            <a:spLocks noGrp="1"/>
          </p:cNvSpPr>
          <p:nvPr>
            <p:ph type="title"/>
          </p:nvPr>
        </p:nvSpPr>
        <p:spPr/>
        <p:txBody>
          <a:bodyPr/>
          <a:lstStyle/>
          <a:p>
            <a:r>
              <a:rPr lang="en-GB" dirty="0"/>
              <a:t>Risk numbers (traceability)</a:t>
            </a:r>
          </a:p>
        </p:txBody>
      </p:sp>
      <p:sp>
        <p:nvSpPr>
          <p:cNvPr id="3" name="Content Placeholder 2">
            <a:extLst>
              <a:ext uri="{FF2B5EF4-FFF2-40B4-BE49-F238E27FC236}">
                <a16:creationId xmlns:a16="http://schemas.microsoft.com/office/drawing/2014/main" id="{EC55483F-8E2E-6FA4-BBDD-92E9BA3E8664}"/>
              </a:ext>
            </a:extLst>
          </p:cNvPr>
          <p:cNvSpPr>
            <a:spLocks noGrp="1"/>
          </p:cNvSpPr>
          <p:nvPr>
            <p:ph idx="1"/>
          </p:nvPr>
        </p:nvSpPr>
        <p:spPr/>
        <p:txBody>
          <a:bodyPr>
            <a:normAutofit fontScale="62500" lnSpcReduction="20000"/>
          </a:bodyPr>
          <a:lstStyle/>
          <a:p>
            <a:pPr marL="0" indent="0">
              <a:buNone/>
            </a:pPr>
            <a:r>
              <a:rPr lang="en-US" sz="44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Risks are numbered for ease of traceability</a:t>
            </a:r>
          </a:p>
          <a:p>
            <a:pPr marL="0" indent="0">
              <a:buNone/>
            </a:pPr>
            <a:r>
              <a:rPr lang="en-US" sz="44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For example:</a:t>
            </a:r>
          </a:p>
          <a:p>
            <a:pPr marL="1141413" lvl="1" indent="-685800">
              <a:buFont typeface="Arial" panose="020B0604020202020204" pitchFamily="34" charset="0"/>
              <a:buChar char="•"/>
            </a:pPr>
            <a:r>
              <a:rPr lang="en-US" sz="44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Group risks</a:t>
            </a:r>
          </a:p>
          <a:p>
            <a:pPr marL="1598613" lvl="2" indent="-685800">
              <a:buFont typeface="Arial" panose="020B0604020202020204" pitchFamily="34" charset="0"/>
              <a:buChar char="•"/>
            </a:pPr>
            <a:r>
              <a:rPr lang="en-US" sz="44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1 – Risk event A, leading to Risk G1</a:t>
            </a:r>
          </a:p>
          <a:p>
            <a:pPr marL="1598613" lvl="2" indent="-685800">
              <a:buFont typeface="Arial" panose="020B0604020202020204" pitchFamily="34" charset="0"/>
              <a:buChar char="•"/>
            </a:pPr>
            <a:r>
              <a:rPr lang="en-US" sz="44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2 – Risk event B, leading to Risk G2</a:t>
            </a:r>
          </a:p>
          <a:p>
            <a:pPr marL="1598613" lvl="2" indent="-685800">
              <a:buFont typeface="Arial" panose="020B0604020202020204" pitchFamily="34" charset="0"/>
              <a:buChar char="•"/>
            </a:pPr>
            <a:r>
              <a:rPr lang="en-US" sz="44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3 – Risk event C, leading to Risk G3</a:t>
            </a:r>
          </a:p>
          <a:p>
            <a:pPr marL="1598613" lvl="2" indent="-685800">
              <a:buFont typeface="Arial" panose="020B0604020202020204" pitchFamily="34" charset="0"/>
              <a:buChar char="•"/>
            </a:pPr>
            <a:r>
              <a:rPr lang="en-US" sz="4400" b="1" dirty="0">
                <a:solidFill>
                  <a:schemeClr val="bg2">
                    <a:lumMod val="50000"/>
                  </a:schemeClr>
                </a:solidFill>
                <a:latin typeface="Century Gothic" panose="020B0502020202020204" pitchFamily="34" charset="0"/>
                <a:ea typeface="ＭＳ Ｐゴシック" charset="0"/>
                <a:cs typeface="ＭＳ Ｐゴシック" charset="0"/>
                <a:sym typeface="Titillium Regular" charset="0"/>
              </a:rPr>
              <a:t>Etc.</a:t>
            </a:r>
          </a:p>
        </p:txBody>
      </p:sp>
    </p:spTree>
    <p:extLst>
      <p:ext uri="{BB962C8B-B14F-4D97-AF65-F5344CB8AC3E}">
        <p14:creationId xmlns:p14="http://schemas.microsoft.com/office/powerpoint/2010/main" val="33151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B4344-540E-C4FF-8AE3-F499AC504BCD}"/>
              </a:ext>
            </a:extLst>
          </p:cNvPr>
          <p:cNvSpPr>
            <a:spLocks noGrp="1"/>
          </p:cNvSpPr>
          <p:nvPr>
            <p:ph type="title"/>
          </p:nvPr>
        </p:nvSpPr>
        <p:spPr/>
        <p:txBody>
          <a:bodyPr/>
          <a:lstStyle/>
          <a:p>
            <a:r>
              <a:rPr lang="en-GB" dirty="0"/>
              <a:t>EXAMPLE APPLICATION</a:t>
            </a:r>
          </a:p>
        </p:txBody>
      </p:sp>
      <p:pic>
        <p:nvPicPr>
          <p:cNvPr id="19" name="Picture 18">
            <a:extLst>
              <a:ext uri="{FF2B5EF4-FFF2-40B4-BE49-F238E27FC236}">
                <a16:creationId xmlns:a16="http://schemas.microsoft.com/office/drawing/2014/main" id="{489A4247-DE4F-AF0B-DFB5-D7E8279FAEA3}"/>
              </a:ext>
            </a:extLst>
          </p:cNvPr>
          <p:cNvPicPr>
            <a:picLocks noChangeAspect="1"/>
          </p:cNvPicPr>
          <p:nvPr/>
        </p:nvPicPr>
        <p:blipFill>
          <a:blip r:embed="rId2"/>
          <a:stretch>
            <a:fillRect/>
          </a:stretch>
        </p:blipFill>
        <p:spPr>
          <a:xfrm>
            <a:off x="431442" y="1792063"/>
            <a:ext cx="11329115" cy="5065937"/>
          </a:xfrm>
          <a:prstGeom prst="rect">
            <a:avLst/>
          </a:prstGeom>
        </p:spPr>
      </p:pic>
    </p:spTree>
    <p:extLst>
      <p:ext uri="{BB962C8B-B14F-4D97-AF65-F5344CB8AC3E}">
        <p14:creationId xmlns:p14="http://schemas.microsoft.com/office/powerpoint/2010/main" val="1352224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p:txBody>
          <a:bodyPr/>
          <a:lstStyle/>
          <a:p>
            <a:r>
              <a:rPr lang="en-US" dirty="0"/>
              <a:t>Usage</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p:txBody>
          <a:bodyPr/>
          <a:lstStyle/>
          <a:p>
            <a:r>
              <a:rPr lang="en-US" dirty="0"/>
              <a:t>PUTTING THIS TO WORK</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Tree>
    <p:extLst>
      <p:ext uri="{BB962C8B-B14F-4D97-AF65-F5344CB8AC3E}">
        <p14:creationId xmlns:p14="http://schemas.microsoft.com/office/powerpoint/2010/main" val="3439572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B2C32B-3AB6-F900-7068-8D4E81669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57E97-CACC-4E38-3629-A678856E62FC}"/>
              </a:ext>
            </a:extLst>
          </p:cNvPr>
          <p:cNvSpPr>
            <a:spLocks noGrp="1"/>
          </p:cNvSpPr>
          <p:nvPr>
            <p:ph type="title"/>
          </p:nvPr>
        </p:nvSpPr>
        <p:spPr>
          <a:xfrm>
            <a:off x="581192" y="702156"/>
            <a:ext cx="11029616" cy="1013800"/>
          </a:xfrm>
        </p:spPr>
        <p:txBody>
          <a:bodyPr>
            <a:normAutofit/>
          </a:bodyPr>
          <a:lstStyle/>
          <a:p>
            <a:r>
              <a:rPr lang="en-GB">
                <a:solidFill>
                  <a:srgbClr val="FFFEFF"/>
                </a:solidFill>
              </a:rPr>
              <a:t>Risk as a management tool</a:t>
            </a:r>
          </a:p>
        </p:txBody>
      </p:sp>
      <p:graphicFrame>
        <p:nvGraphicFramePr>
          <p:cNvPr id="5" name="Content Placeholder 2">
            <a:extLst>
              <a:ext uri="{FF2B5EF4-FFF2-40B4-BE49-F238E27FC236}">
                <a16:creationId xmlns:a16="http://schemas.microsoft.com/office/drawing/2014/main" id="{FFA34BDA-37D2-110B-E540-F2226362E996}"/>
              </a:ext>
            </a:extLst>
          </p:cNvPr>
          <p:cNvGraphicFramePr>
            <a:graphicFrameLocks noGrp="1"/>
          </p:cNvGraphicFramePr>
          <p:nvPr>
            <p:ph idx="1"/>
            <p:extLst>
              <p:ext uri="{D42A27DB-BD31-4B8C-83A1-F6EECF244321}">
                <p14:modId xmlns:p14="http://schemas.microsoft.com/office/powerpoint/2010/main" val="1332139479"/>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8065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C2127-2398-CDFD-5355-B3938692C74D}"/>
              </a:ext>
            </a:extLst>
          </p:cNvPr>
          <p:cNvSpPr>
            <a:spLocks noGrp="1"/>
          </p:cNvSpPr>
          <p:nvPr>
            <p:ph type="title"/>
          </p:nvPr>
        </p:nvSpPr>
        <p:spPr>
          <a:xfrm>
            <a:off x="581192" y="702156"/>
            <a:ext cx="11029616" cy="1013800"/>
          </a:xfrm>
        </p:spPr>
        <p:txBody>
          <a:bodyPr>
            <a:normAutofit/>
          </a:bodyPr>
          <a:lstStyle/>
          <a:p>
            <a:r>
              <a:rPr lang="en-GB">
                <a:solidFill>
                  <a:srgbClr val="FFFEFF"/>
                </a:solidFill>
              </a:rPr>
              <a:t>Commonly occurring events in engineering design</a:t>
            </a:r>
          </a:p>
        </p:txBody>
      </p:sp>
      <p:graphicFrame>
        <p:nvGraphicFramePr>
          <p:cNvPr id="4" name="Content Placeholder 3">
            <a:extLst>
              <a:ext uri="{FF2B5EF4-FFF2-40B4-BE49-F238E27FC236}">
                <a16:creationId xmlns:a16="http://schemas.microsoft.com/office/drawing/2014/main" id="{7EB8483F-3444-B053-8BEC-8613FDB88218}"/>
              </a:ext>
            </a:extLst>
          </p:cNvPr>
          <p:cNvGraphicFramePr>
            <a:graphicFrameLocks noGrp="1"/>
          </p:cNvGraphicFramePr>
          <p:nvPr>
            <p:ph idx="1"/>
            <p:extLst>
              <p:ext uri="{D42A27DB-BD31-4B8C-83A1-F6EECF244321}">
                <p14:modId xmlns:p14="http://schemas.microsoft.com/office/powerpoint/2010/main" val="453633911"/>
              </p:ext>
            </p:extLst>
          </p:nvPr>
        </p:nvGraphicFramePr>
        <p:xfrm>
          <a:off x="581025" y="2300851"/>
          <a:ext cx="11029952" cy="3438987"/>
        </p:xfrm>
        <a:graphic>
          <a:graphicData uri="http://schemas.openxmlformats.org/drawingml/2006/table">
            <a:tbl>
              <a:tblPr firstRow="1" firstCol="1" bandRow="1">
                <a:tableStyleId>{3B4B98B0-60AC-42C2-AFA5-B58CD77FA1E5}</a:tableStyleId>
              </a:tblPr>
              <a:tblGrid>
                <a:gridCol w="2803171">
                  <a:extLst>
                    <a:ext uri="{9D8B030D-6E8A-4147-A177-3AD203B41FA5}">
                      <a16:colId xmlns:a16="http://schemas.microsoft.com/office/drawing/2014/main" val="2139430222"/>
                    </a:ext>
                  </a:extLst>
                </a:gridCol>
                <a:gridCol w="2755708">
                  <a:extLst>
                    <a:ext uri="{9D8B030D-6E8A-4147-A177-3AD203B41FA5}">
                      <a16:colId xmlns:a16="http://schemas.microsoft.com/office/drawing/2014/main" val="1168073390"/>
                    </a:ext>
                  </a:extLst>
                </a:gridCol>
                <a:gridCol w="2613319">
                  <a:extLst>
                    <a:ext uri="{9D8B030D-6E8A-4147-A177-3AD203B41FA5}">
                      <a16:colId xmlns:a16="http://schemas.microsoft.com/office/drawing/2014/main" val="4196863768"/>
                    </a:ext>
                  </a:extLst>
                </a:gridCol>
                <a:gridCol w="2857754">
                  <a:extLst>
                    <a:ext uri="{9D8B030D-6E8A-4147-A177-3AD203B41FA5}">
                      <a16:colId xmlns:a16="http://schemas.microsoft.com/office/drawing/2014/main" val="2951017902"/>
                    </a:ext>
                  </a:extLst>
                </a:gridCol>
              </a:tblGrid>
              <a:tr h="1222270">
                <a:tc>
                  <a:txBody>
                    <a:bodyPr/>
                    <a:lstStyle/>
                    <a:p>
                      <a:pPr>
                        <a:buNone/>
                      </a:pPr>
                      <a:r>
                        <a:rPr lang="en-ZA" sz="1500" b="1" kern="100">
                          <a:effectLst/>
                        </a:rPr>
                        <a:t>Procurement &amp; Supply Chain Delays (L)</a:t>
                      </a:r>
                      <a:endParaRPr lang="en-ZA" sz="1500" b="1" kern="100">
                        <a:effectLst/>
                        <a:latin typeface="Calibri" panose="020F0502020204030204" pitchFamily="34" charset="0"/>
                        <a:ea typeface="Aptos" panose="020B0004020202020204" pitchFamily="34" charset="0"/>
                        <a:cs typeface="Times New Roman" panose="02020603050405020304" pitchFamily="18" charset="0"/>
                      </a:endParaRPr>
                    </a:p>
                  </a:txBody>
                  <a:tcPr marL="14239" marR="14239" marT="14239" marB="14239" anchor="ctr"/>
                </a:tc>
                <a:tc>
                  <a:txBody>
                    <a:bodyPr/>
                    <a:lstStyle/>
                    <a:p>
                      <a:pPr>
                        <a:buNone/>
                      </a:pPr>
                      <a:r>
                        <a:rPr lang="en-ZA" sz="1500" b="0" kern="100">
                          <a:effectLst/>
                        </a:rPr>
                        <a:t>Long lead times for components, suppliers out of stock, import/customs issues (common in SA), or minimum order quantities.</a:t>
                      </a:r>
                      <a:endParaRPr lang="en-ZA" sz="1500" b="0" kern="100">
                        <a:effectLst/>
                        <a:latin typeface="Calibri" panose="020F0502020204030204" pitchFamily="34" charset="0"/>
                        <a:ea typeface="Aptos" panose="020B0004020202020204" pitchFamily="34" charset="0"/>
                        <a:cs typeface="Times New Roman" panose="02020603050405020304" pitchFamily="18" charset="0"/>
                      </a:endParaRPr>
                    </a:p>
                  </a:txBody>
                  <a:tcPr marL="14239" marR="14239" marT="14239" marB="14239" anchor="ctr"/>
                </a:tc>
                <a:tc>
                  <a:txBody>
                    <a:bodyPr/>
                    <a:lstStyle/>
                    <a:p>
                      <a:pPr>
                        <a:buNone/>
                      </a:pPr>
                      <a:r>
                        <a:rPr lang="en-ZA" sz="1500" b="0" kern="100">
                          <a:effectLst/>
                        </a:rPr>
                        <a:t>High (delays entire build)</a:t>
                      </a:r>
                      <a:endParaRPr lang="en-ZA" sz="1500" b="0" kern="100">
                        <a:effectLst/>
                        <a:latin typeface="Calibri" panose="020F0502020204030204" pitchFamily="34" charset="0"/>
                        <a:ea typeface="Aptos" panose="020B0004020202020204" pitchFamily="34" charset="0"/>
                        <a:cs typeface="Times New Roman" panose="02020603050405020304" pitchFamily="18" charset="0"/>
                      </a:endParaRPr>
                    </a:p>
                  </a:txBody>
                  <a:tcPr marL="14239" marR="14239" marT="14239" marB="14239" anchor="ctr"/>
                </a:tc>
                <a:tc>
                  <a:txBody>
                    <a:bodyPr/>
                    <a:lstStyle/>
                    <a:p>
                      <a:pPr>
                        <a:buNone/>
                      </a:pPr>
                      <a:r>
                        <a:rPr lang="en-ZA" sz="1500" b="0" kern="100">
                          <a:effectLst/>
                        </a:rPr>
                        <a:t>Early supplier research + multiple quotes; order critical/long-lead items in Week 1–2; maintain buffer stock or alternatives.</a:t>
                      </a:r>
                      <a:endParaRPr lang="en-ZA" sz="1500" b="0" kern="100">
                        <a:effectLst/>
                        <a:latin typeface="Calibri" panose="020F0502020204030204" pitchFamily="34" charset="0"/>
                        <a:ea typeface="Aptos" panose="020B0004020202020204" pitchFamily="34" charset="0"/>
                        <a:cs typeface="Times New Roman" panose="02020603050405020304" pitchFamily="18" charset="0"/>
                      </a:endParaRPr>
                    </a:p>
                  </a:txBody>
                  <a:tcPr marL="14239" marR="14239" marT="14239" marB="14239" anchor="ctr"/>
                </a:tc>
                <a:extLst>
                  <a:ext uri="{0D108BD9-81ED-4DB2-BD59-A6C34878D82A}">
                    <a16:rowId xmlns:a16="http://schemas.microsoft.com/office/drawing/2014/main" val="1584618385"/>
                  </a:ext>
                </a:extLst>
              </a:tr>
              <a:tr h="1222270">
                <a:tc>
                  <a:txBody>
                    <a:bodyPr/>
                    <a:lstStyle/>
                    <a:p>
                      <a:pPr>
                        <a:buNone/>
                      </a:pPr>
                      <a:r>
                        <a:rPr lang="en-ZA" sz="1500" b="1" kern="100">
                          <a:effectLst/>
                        </a:rPr>
                        <a:t>Integration Failures (P)</a:t>
                      </a:r>
                      <a:endParaRPr lang="en-ZA" sz="1500" b="1" kern="100">
                        <a:effectLst/>
                        <a:latin typeface="Calibri" panose="020F0502020204030204" pitchFamily="34" charset="0"/>
                        <a:ea typeface="Aptos" panose="020B0004020202020204" pitchFamily="34" charset="0"/>
                        <a:cs typeface="Times New Roman" panose="02020603050405020304" pitchFamily="18" charset="0"/>
                      </a:endParaRPr>
                    </a:p>
                  </a:txBody>
                  <a:tcPr marL="14239" marR="14239" marT="14239" marB="14239" anchor="ctr"/>
                </a:tc>
                <a:tc>
                  <a:txBody>
                    <a:bodyPr/>
                    <a:lstStyle/>
                    <a:p>
                      <a:pPr>
                        <a:buNone/>
                      </a:pPr>
                      <a:r>
                        <a:rPr lang="en-ZA" sz="1500" kern="100">
                          <a:effectLst/>
                        </a:rPr>
                        <a:t>Subsystems (mechanical, electrical, software, control) don't work together; interface mismatches.</a:t>
                      </a:r>
                      <a:endParaRPr lang="en-ZA" sz="1500" kern="100">
                        <a:effectLst/>
                        <a:latin typeface="Calibri" panose="020F0502020204030204" pitchFamily="34" charset="0"/>
                        <a:ea typeface="Aptos" panose="020B0004020202020204" pitchFamily="34" charset="0"/>
                        <a:cs typeface="Times New Roman" panose="02020603050405020304" pitchFamily="18" charset="0"/>
                      </a:endParaRPr>
                    </a:p>
                  </a:txBody>
                  <a:tcPr marL="14239" marR="14239" marT="14239" marB="14239" anchor="ctr"/>
                </a:tc>
                <a:tc>
                  <a:txBody>
                    <a:bodyPr/>
                    <a:lstStyle/>
                    <a:p>
                      <a:pPr>
                        <a:buNone/>
                      </a:pPr>
                      <a:r>
                        <a:rPr lang="en-ZA" sz="1500" kern="100">
                          <a:effectLst/>
                        </a:rPr>
                        <a:t>High (late-stage rework)</a:t>
                      </a:r>
                      <a:endParaRPr lang="en-ZA" sz="1500" kern="100">
                        <a:effectLst/>
                        <a:latin typeface="Calibri" panose="020F0502020204030204" pitchFamily="34" charset="0"/>
                        <a:ea typeface="Aptos" panose="020B0004020202020204" pitchFamily="34" charset="0"/>
                        <a:cs typeface="Times New Roman" panose="02020603050405020304" pitchFamily="18" charset="0"/>
                      </a:endParaRPr>
                    </a:p>
                  </a:txBody>
                  <a:tcPr marL="14239" marR="14239" marT="14239" marB="14239" anchor="ctr"/>
                </a:tc>
                <a:tc>
                  <a:txBody>
                    <a:bodyPr/>
                    <a:lstStyle/>
                    <a:p>
                      <a:pPr>
                        <a:buNone/>
                      </a:pPr>
                      <a:r>
                        <a:rPr lang="en-ZA" sz="1500" kern="100">
                          <a:effectLst/>
                        </a:rPr>
                        <a:t>Early interface definitions &amp; modular design; frequent subsystem integration tests (not just at the end); use mock-ups or simulations.</a:t>
                      </a:r>
                      <a:endParaRPr lang="en-ZA" sz="1500" kern="100">
                        <a:effectLst/>
                        <a:latin typeface="Calibri" panose="020F0502020204030204" pitchFamily="34" charset="0"/>
                        <a:ea typeface="Aptos" panose="020B0004020202020204" pitchFamily="34" charset="0"/>
                        <a:cs typeface="Times New Roman" panose="02020603050405020304" pitchFamily="18" charset="0"/>
                      </a:endParaRPr>
                    </a:p>
                  </a:txBody>
                  <a:tcPr marL="14239" marR="14239" marT="14239" marB="14239" anchor="ctr"/>
                </a:tc>
                <a:extLst>
                  <a:ext uri="{0D108BD9-81ED-4DB2-BD59-A6C34878D82A}">
                    <a16:rowId xmlns:a16="http://schemas.microsoft.com/office/drawing/2014/main" val="1288469984"/>
                  </a:ext>
                </a:extLst>
              </a:tr>
              <a:tr h="994447">
                <a:tc>
                  <a:txBody>
                    <a:bodyPr/>
                    <a:lstStyle/>
                    <a:p>
                      <a:pPr>
                        <a:buNone/>
                      </a:pPr>
                      <a:r>
                        <a:rPr lang="en-ZA" sz="1500" b="1" kern="100">
                          <a:effectLst/>
                        </a:rPr>
                        <a:t>Material / Component Availability &amp; Quality (L)</a:t>
                      </a:r>
                      <a:endParaRPr lang="en-ZA" sz="1500" b="1" kern="100">
                        <a:effectLst/>
                        <a:latin typeface="Calibri" panose="020F0502020204030204" pitchFamily="34" charset="0"/>
                        <a:ea typeface="Aptos" panose="020B0004020202020204" pitchFamily="34" charset="0"/>
                        <a:cs typeface="Times New Roman" panose="02020603050405020304" pitchFamily="18" charset="0"/>
                      </a:endParaRPr>
                    </a:p>
                  </a:txBody>
                  <a:tcPr marL="14239" marR="14239" marT="14239" marB="14239" anchor="ctr"/>
                </a:tc>
                <a:tc>
                  <a:txBody>
                    <a:bodyPr/>
                    <a:lstStyle/>
                    <a:p>
                      <a:pPr>
                        <a:buNone/>
                      </a:pPr>
                      <a:r>
                        <a:rPr lang="en-ZA" sz="1500" kern="100">
                          <a:effectLst/>
                        </a:rPr>
                        <a:t>Wrong specs delivered, counterfeit/low-quality parts, or sudden unavailability.</a:t>
                      </a:r>
                      <a:endParaRPr lang="en-ZA" sz="1500" kern="100">
                        <a:effectLst/>
                        <a:latin typeface="Calibri" panose="020F0502020204030204" pitchFamily="34" charset="0"/>
                        <a:ea typeface="Aptos" panose="020B0004020202020204" pitchFamily="34" charset="0"/>
                        <a:cs typeface="Times New Roman" panose="02020603050405020304" pitchFamily="18" charset="0"/>
                      </a:endParaRPr>
                    </a:p>
                  </a:txBody>
                  <a:tcPr marL="14239" marR="14239" marT="14239" marB="14239" anchor="ctr"/>
                </a:tc>
                <a:tc>
                  <a:txBody>
                    <a:bodyPr/>
                    <a:lstStyle/>
                    <a:p>
                      <a:pPr>
                        <a:buNone/>
                      </a:pPr>
                      <a:r>
                        <a:rPr lang="en-ZA" sz="1500" kern="100">
                          <a:effectLst/>
                        </a:rPr>
                        <a:t>Medium-High (cost + rework)</a:t>
                      </a:r>
                      <a:endParaRPr lang="en-ZA" sz="1500" kern="100">
                        <a:effectLst/>
                        <a:latin typeface="Calibri" panose="020F0502020204030204" pitchFamily="34" charset="0"/>
                        <a:ea typeface="Aptos" panose="020B0004020202020204" pitchFamily="34" charset="0"/>
                        <a:cs typeface="Times New Roman" panose="02020603050405020304" pitchFamily="18" charset="0"/>
                      </a:endParaRPr>
                    </a:p>
                  </a:txBody>
                  <a:tcPr marL="14239" marR="14239" marT="14239" marB="14239" anchor="ctr"/>
                </a:tc>
                <a:tc>
                  <a:txBody>
                    <a:bodyPr/>
                    <a:lstStyle/>
                    <a:p>
                      <a:pPr>
                        <a:buNone/>
                      </a:pPr>
                      <a:r>
                        <a:rPr lang="en-ZA" sz="1500" kern="100">
                          <a:effectLst/>
                        </a:rPr>
                        <a:t>Specify exact standards; source from reputable local suppliers where possible; include quality inspection step on receipt.</a:t>
                      </a:r>
                      <a:endParaRPr lang="en-ZA" sz="1500" kern="100">
                        <a:effectLst/>
                        <a:latin typeface="Calibri" panose="020F0502020204030204" pitchFamily="34" charset="0"/>
                        <a:ea typeface="Aptos" panose="020B0004020202020204" pitchFamily="34" charset="0"/>
                        <a:cs typeface="Times New Roman" panose="02020603050405020304" pitchFamily="18" charset="0"/>
                      </a:endParaRPr>
                    </a:p>
                  </a:txBody>
                  <a:tcPr marL="14239" marR="14239" marT="14239" marB="14239" anchor="ctr"/>
                </a:tc>
                <a:extLst>
                  <a:ext uri="{0D108BD9-81ED-4DB2-BD59-A6C34878D82A}">
                    <a16:rowId xmlns:a16="http://schemas.microsoft.com/office/drawing/2014/main" val="2485622273"/>
                  </a:ext>
                </a:extLst>
              </a:tr>
            </a:tbl>
          </a:graphicData>
        </a:graphic>
      </p:graphicFrame>
    </p:spTree>
    <p:extLst>
      <p:ext uri="{BB962C8B-B14F-4D97-AF65-F5344CB8AC3E}">
        <p14:creationId xmlns:p14="http://schemas.microsoft.com/office/powerpoint/2010/main" val="3328067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F0C4D0-DF56-D0BA-50D2-2103BFA68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FA81E-2AD1-1822-9DD3-514F585A7959}"/>
              </a:ext>
            </a:extLst>
          </p:cNvPr>
          <p:cNvSpPr>
            <a:spLocks noGrp="1"/>
          </p:cNvSpPr>
          <p:nvPr>
            <p:ph type="title"/>
          </p:nvPr>
        </p:nvSpPr>
        <p:spPr>
          <a:xfrm>
            <a:off x="581192" y="702156"/>
            <a:ext cx="11029616" cy="1013800"/>
          </a:xfrm>
        </p:spPr>
        <p:txBody>
          <a:bodyPr>
            <a:normAutofit/>
          </a:bodyPr>
          <a:lstStyle/>
          <a:p>
            <a:r>
              <a:rPr lang="en-GB">
                <a:solidFill>
                  <a:srgbClr val="FFFEFF"/>
                </a:solidFill>
              </a:rPr>
              <a:t>Commonly occurring events in engineering design</a:t>
            </a:r>
          </a:p>
        </p:txBody>
      </p:sp>
      <p:graphicFrame>
        <p:nvGraphicFramePr>
          <p:cNvPr id="4" name="Content Placeholder 3">
            <a:extLst>
              <a:ext uri="{FF2B5EF4-FFF2-40B4-BE49-F238E27FC236}">
                <a16:creationId xmlns:a16="http://schemas.microsoft.com/office/drawing/2014/main" id="{AC2C816E-61AF-B310-A0C9-2A642D3A7D9F}"/>
              </a:ext>
            </a:extLst>
          </p:cNvPr>
          <p:cNvGraphicFramePr>
            <a:graphicFrameLocks noGrp="1"/>
          </p:cNvGraphicFramePr>
          <p:nvPr>
            <p:ph idx="1"/>
            <p:extLst>
              <p:ext uri="{D42A27DB-BD31-4B8C-83A1-F6EECF244321}">
                <p14:modId xmlns:p14="http://schemas.microsoft.com/office/powerpoint/2010/main" val="634845010"/>
              </p:ext>
            </p:extLst>
          </p:nvPr>
        </p:nvGraphicFramePr>
        <p:xfrm>
          <a:off x="581025" y="2403495"/>
          <a:ext cx="11029952" cy="3233700"/>
        </p:xfrm>
        <a:graphic>
          <a:graphicData uri="http://schemas.openxmlformats.org/drawingml/2006/table">
            <a:tbl>
              <a:tblPr firstRow="1" firstCol="1" bandRow="1">
                <a:tableStyleId>{3B4B98B0-60AC-42C2-AFA5-B58CD77FA1E5}</a:tableStyleId>
              </a:tblPr>
              <a:tblGrid>
                <a:gridCol w="2807005">
                  <a:extLst>
                    <a:ext uri="{9D8B030D-6E8A-4147-A177-3AD203B41FA5}">
                      <a16:colId xmlns:a16="http://schemas.microsoft.com/office/drawing/2014/main" val="2139430222"/>
                    </a:ext>
                  </a:extLst>
                </a:gridCol>
                <a:gridCol w="2987992">
                  <a:extLst>
                    <a:ext uri="{9D8B030D-6E8A-4147-A177-3AD203B41FA5}">
                      <a16:colId xmlns:a16="http://schemas.microsoft.com/office/drawing/2014/main" val="1168073390"/>
                    </a:ext>
                  </a:extLst>
                </a:gridCol>
                <a:gridCol w="2366729">
                  <a:extLst>
                    <a:ext uri="{9D8B030D-6E8A-4147-A177-3AD203B41FA5}">
                      <a16:colId xmlns:a16="http://schemas.microsoft.com/office/drawing/2014/main" val="4196863768"/>
                    </a:ext>
                  </a:extLst>
                </a:gridCol>
                <a:gridCol w="2868226">
                  <a:extLst>
                    <a:ext uri="{9D8B030D-6E8A-4147-A177-3AD203B41FA5}">
                      <a16:colId xmlns:a16="http://schemas.microsoft.com/office/drawing/2014/main" val="2951017902"/>
                    </a:ext>
                  </a:extLst>
                </a:gridCol>
              </a:tblGrid>
              <a:tr h="1077900">
                <a:tc>
                  <a:txBody>
                    <a:bodyPr/>
                    <a:lstStyle/>
                    <a:p>
                      <a:pPr>
                        <a:buNone/>
                      </a:pPr>
                      <a:r>
                        <a:rPr lang="en-ZA" sz="1600" b="1" kern="100">
                          <a:effectLst/>
                          <a:latin typeface="Calibri" panose="020F0502020204030204" pitchFamily="34" charset="0"/>
                          <a:ea typeface="Aptos" panose="020B0004020202020204" pitchFamily="34" charset="0"/>
                          <a:cs typeface="Times New Roman" panose="02020603050405020304" pitchFamily="18" charset="0"/>
                        </a:rPr>
                        <a:t>Testing &amp; Validation Issues (P / K)</a:t>
                      </a:r>
                    </a:p>
                  </a:txBody>
                  <a:tcPr marL="15434" marR="15434" marT="15434" marB="15434" anchor="ctr"/>
                </a:tc>
                <a:tc>
                  <a:txBody>
                    <a:bodyPr/>
                    <a:lstStyle/>
                    <a:p>
                      <a:pPr>
                        <a:buNone/>
                      </a:pPr>
                      <a:r>
                        <a:rPr lang="en-ZA" sz="1600" b="0" kern="100">
                          <a:effectLst/>
                          <a:latin typeface="Calibri" panose="020F0502020204030204" pitchFamily="34" charset="0"/>
                          <a:ea typeface="Aptos" panose="020B0004020202020204" pitchFamily="34" charset="0"/>
                          <a:cs typeface="Times New Roman" panose="02020603050405020304" pitchFamily="18" charset="0"/>
                        </a:rPr>
                        <a:t>Inadequate test equipment/facilities, safety risks during testing, or results not meeting requirements.</a:t>
                      </a:r>
                    </a:p>
                  </a:txBody>
                  <a:tcPr marL="15434" marR="15434" marT="15434" marB="15434" anchor="ctr"/>
                </a:tc>
                <a:tc>
                  <a:txBody>
                    <a:bodyPr/>
                    <a:lstStyle/>
                    <a:p>
                      <a:pPr>
                        <a:buNone/>
                      </a:pPr>
                      <a:r>
                        <a:rPr lang="en-ZA" sz="1600" b="0" kern="100">
                          <a:effectLst/>
                          <a:latin typeface="Calibri" panose="020F0502020204030204" pitchFamily="34" charset="0"/>
                          <a:ea typeface="Aptos" panose="020B0004020202020204" pitchFamily="34" charset="0"/>
                          <a:cs typeface="Times New Roman" panose="02020603050405020304" pitchFamily="18" charset="0"/>
                        </a:rPr>
                        <a:t>High (cannot prove design works)</a:t>
                      </a:r>
                    </a:p>
                  </a:txBody>
                  <a:tcPr marL="15434" marR="15434" marT="15434" marB="15434" anchor="ctr"/>
                </a:tc>
                <a:tc>
                  <a:txBody>
                    <a:bodyPr/>
                    <a:lstStyle/>
                    <a:p>
                      <a:pPr>
                        <a:buNone/>
                      </a:pPr>
                      <a:r>
                        <a:rPr lang="en-ZA" sz="1600" b="0" kern="100">
                          <a:effectLst/>
                          <a:latin typeface="Calibri" panose="020F0502020204030204" pitchFamily="34" charset="0"/>
                          <a:ea typeface="Aptos" panose="020B0004020202020204" pitchFamily="34" charset="0"/>
                          <a:cs typeface="Times New Roman" panose="02020603050405020304" pitchFamily="18" charset="0"/>
                        </a:rPr>
                        <a:t>Plan test protocols early; book lab time/slots in advance; include safety risk assessment + contingency for re-testing.</a:t>
                      </a:r>
                    </a:p>
                  </a:txBody>
                  <a:tcPr marL="15434" marR="15434" marT="15434" marB="15434" anchor="ctr"/>
                </a:tc>
                <a:extLst>
                  <a:ext uri="{0D108BD9-81ED-4DB2-BD59-A6C34878D82A}">
                    <a16:rowId xmlns:a16="http://schemas.microsoft.com/office/drawing/2014/main" val="1584618385"/>
                  </a:ext>
                </a:extLst>
              </a:tr>
              <a:tr h="1077900">
                <a:tc>
                  <a:txBody>
                    <a:bodyPr/>
                    <a:lstStyle/>
                    <a:p>
                      <a:pPr>
                        <a:buNone/>
                      </a:pPr>
                      <a:r>
                        <a:rPr lang="en-ZA" sz="1600" b="1" kern="100">
                          <a:effectLst/>
                          <a:latin typeface="Calibri" panose="020F0502020204030204" pitchFamily="34" charset="0"/>
                          <a:ea typeface="Aptos" panose="020B0004020202020204" pitchFamily="34" charset="0"/>
                          <a:cs typeface="Times New Roman" panose="02020603050405020304" pitchFamily="18" charset="0"/>
                        </a:rPr>
                        <a:t>Budget Overruns (P)</a:t>
                      </a:r>
                    </a:p>
                  </a:txBody>
                  <a:tcPr marL="15434" marR="15434" marT="15434" marB="15434" anchor="ctr"/>
                </a:tc>
                <a:tc>
                  <a:txBody>
                    <a:bodyPr/>
                    <a:lstStyle/>
                    <a:p>
                      <a:pPr>
                        <a:buNone/>
                      </a:pPr>
                      <a:r>
                        <a:rPr lang="en-ZA" sz="1600" kern="100">
                          <a:effectLst/>
                          <a:latin typeface="Calibri" panose="020F0502020204030204" pitchFamily="34" charset="0"/>
                          <a:ea typeface="Aptos" panose="020B0004020202020204" pitchFamily="34" charset="0"/>
                          <a:cs typeface="Times New Roman" panose="02020603050405020304" pitchFamily="18" charset="0"/>
                        </a:rPr>
                        <a:t>Unexpected costs for materials, machining, shipping, or iterations.</a:t>
                      </a:r>
                    </a:p>
                  </a:txBody>
                  <a:tcPr marL="15434" marR="15434" marT="15434" marB="15434" anchor="ctr"/>
                </a:tc>
                <a:tc>
                  <a:txBody>
                    <a:bodyPr/>
                    <a:lstStyle/>
                    <a:p>
                      <a:pPr>
                        <a:buNone/>
                      </a:pPr>
                      <a:r>
                        <a:rPr lang="en-ZA" sz="1600" kern="100">
                          <a:effectLst/>
                          <a:latin typeface="Calibri" panose="020F0502020204030204" pitchFamily="34" charset="0"/>
                          <a:ea typeface="Aptos" panose="020B0004020202020204" pitchFamily="34" charset="0"/>
                          <a:cs typeface="Times New Roman" panose="02020603050405020304" pitchFamily="18" charset="0"/>
                        </a:rPr>
                        <a:t>Medium-High</a:t>
                      </a:r>
                    </a:p>
                  </a:txBody>
                  <a:tcPr marL="15434" marR="15434" marT="15434" marB="15434" anchor="ctr"/>
                </a:tc>
                <a:tc>
                  <a:txBody>
                    <a:bodyPr/>
                    <a:lstStyle/>
                    <a:p>
                      <a:pPr>
                        <a:buNone/>
                      </a:pPr>
                      <a:r>
                        <a:rPr lang="en-ZA" sz="1600" kern="100">
                          <a:effectLst/>
                          <a:latin typeface="Calibri" panose="020F0502020204030204" pitchFamily="34" charset="0"/>
                          <a:ea typeface="Aptos" panose="020B0004020202020204" pitchFamily="34" charset="0"/>
                          <a:cs typeface="Times New Roman" panose="02020603050405020304" pitchFamily="18" charset="0"/>
                        </a:rPr>
                        <a:t>Detailed BOM (Bill of Materials) with cost estimates + 20–30% contingency; track spending weekly.</a:t>
                      </a:r>
                    </a:p>
                  </a:txBody>
                  <a:tcPr marL="15434" marR="15434" marT="15434" marB="15434" anchor="ctr"/>
                </a:tc>
                <a:extLst>
                  <a:ext uri="{0D108BD9-81ED-4DB2-BD59-A6C34878D82A}">
                    <a16:rowId xmlns:a16="http://schemas.microsoft.com/office/drawing/2014/main" val="1288469984"/>
                  </a:ext>
                </a:extLst>
              </a:tr>
              <a:tr h="1077900">
                <a:tc>
                  <a:txBody>
                    <a:bodyPr/>
                    <a:lstStyle/>
                    <a:p>
                      <a:pPr>
                        <a:buNone/>
                      </a:pPr>
                      <a:r>
                        <a:rPr lang="en-ZA" sz="1600" b="1" kern="100">
                          <a:effectLst/>
                          <a:latin typeface="Calibri" panose="020F0502020204030204" pitchFamily="34" charset="0"/>
                          <a:ea typeface="Aptos" panose="020B0004020202020204" pitchFamily="34" charset="0"/>
                          <a:cs typeface="Times New Roman" panose="02020603050405020304" pitchFamily="18" charset="0"/>
                        </a:rPr>
                        <a:t>Design Iteration Loops / Scope Creep (K)</a:t>
                      </a:r>
                    </a:p>
                  </a:txBody>
                  <a:tcPr marL="15434" marR="15434" marT="15434" marB="15434" anchor="ctr"/>
                </a:tc>
                <a:tc>
                  <a:txBody>
                    <a:bodyPr/>
                    <a:lstStyle/>
                    <a:p>
                      <a:pPr>
                        <a:buNone/>
                      </a:pPr>
                      <a:r>
                        <a:rPr lang="en-ZA" sz="1600" kern="100">
                          <a:effectLst/>
                          <a:latin typeface="Calibri" panose="020F0502020204030204" pitchFamily="34" charset="0"/>
                          <a:ea typeface="Aptos" panose="020B0004020202020204" pitchFamily="34" charset="0"/>
                          <a:cs typeface="Times New Roman" panose="02020603050405020304" pitchFamily="18" charset="0"/>
                        </a:rPr>
                        <a:t>Late changes due to testing failures or evolving requirements.</a:t>
                      </a:r>
                    </a:p>
                  </a:txBody>
                  <a:tcPr marL="15434" marR="15434" marT="15434" marB="15434" anchor="ctr"/>
                </a:tc>
                <a:tc>
                  <a:txBody>
                    <a:bodyPr/>
                    <a:lstStyle/>
                    <a:p>
                      <a:pPr>
                        <a:buNone/>
                      </a:pPr>
                      <a:r>
                        <a:rPr lang="en-ZA" sz="1600" kern="100">
                          <a:effectLst/>
                          <a:latin typeface="Calibri" panose="020F0502020204030204" pitchFamily="34" charset="0"/>
                          <a:ea typeface="Aptos" panose="020B0004020202020204" pitchFamily="34" charset="0"/>
                          <a:cs typeface="Times New Roman" panose="02020603050405020304" pitchFamily="18" charset="0"/>
                        </a:rPr>
                        <a:t>Medium-High (time sink)</a:t>
                      </a:r>
                    </a:p>
                  </a:txBody>
                  <a:tcPr marL="15434" marR="15434" marT="15434" marB="15434" anchor="ctr"/>
                </a:tc>
                <a:tc>
                  <a:txBody>
                    <a:bodyPr/>
                    <a:lstStyle/>
                    <a:p>
                      <a:pPr>
                        <a:buNone/>
                      </a:pPr>
                      <a:r>
                        <a:rPr lang="en-ZA" sz="1600" kern="100">
                          <a:effectLst/>
                          <a:latin typeface="Calibri" panose="020F0502020204030204" pitchFamily="34" charset="0"/>
                          <a:ea typeface="Aptos" panose="020B0004020202020204" pitchFamily="34" charset="0"/>
                          <a:cs typeface="Times New Roman" panose="02020603050405020304" pitchFamily="18" charset="0"/>
                        </a:rPr>
                        <a:t>Freeze design at key milestones; use change control process; rapid prototyping (3D printing, etc.) for early validation.</a:t>
                      </a:r>
                    </a:p>
                  </a:txBody>
                  <a:tcPr marL="15434" marR="15434" marT="15434" marB="15434" anchor="ctr"/>
                </a:tc>
                <a:extLst>
                  <a:ext uri="{0D108BD9-81ED-4DB2-BD59-A6C34878D82A}">
                    <a16:rowId xmlns:a16="http://schemas.microsoft.com/office/drawing/2014/main" val="2485622273"/>
                  </a:ext>
                </a:extLst>
              </a:tr>
            </a:tbl>
          </a:graphicData>
        </a:graphic>
      </p:graphicFrame>
    </p:spTree>
    <p:extLst>
      <p:ext uri="{BB962C8B-B14F-4D97-AF65-F5344CB8AC3E}">
        <p14:creationId xmlns:p14="http://schemas.microsoft.com/office/powerpoint/2010/main" val="1254481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1A9C6-2560-75DD-6940-1F3CBE1C38EA}"/>
              </a:ext>
            </a:extLst>
          </p:cNvPr>
          <p:cNvSpPr>
            <a:spLocks noGrp="1"/>
          </p:cNvSpPr>
          <p:nvPr>
            <p:ph type="title"/>
          </p:nvPr>
        </p:nvSpPr>
        <p:spPr/>
        <p:txBody>
          <a:bodyPr/>
          <a:lstStyle/>
          <a:p>
            <a:r>
              <a:rPr lang="en-GB" dirty="0"/>
              <a:t>Some additional considerations</a:t>
            </a:r>
          </a:p>
        </p:txBody>
      </p:sp>
      <p:sp>
        <p:nvSpPr>
          <p:cNvPr id="3" name="Content Placeholder 2">
            <a:extLst>
              <a:ext uri="{FF2B5EF4-FFF2-40B4-BE49-F238E27FC236}">
                <a16:creationId xmlns:a16="http://schemas.microsoft.com/office/drawing/2014/main" id="{41BEF645-E5A1-0394-32EA-F3EC13FC9944}"/>
              </a:ext>
            </a:extLst>
          </p:cNvPr>
          <p:cNvSpPr>
            <a:spLocks noGrp="1"/>
          </p:cNvSpPr>
          <p:nvPr>
            <p:ph idx="1"/>
          </p:nvPr>
        </p:nvSpPr>
        <p:spPr/>
        <p:txBody>
          <a:bodyPr>
            <a:normAutofit fontScale="92500" lnSpcReduction="20000"/>
          </a:bodyPr>
          <a:lstStyle/>
          <a:p>
            <a:pPr marL="0" indent="0">
              <a:buNone/>
            </a:pPr>
            <a:r>
              <a:rPr lang="en-ZA" b="1" dirty="0"/>
              <a:t>Logistical &amp; Operational Risks</a:t>
            </a:r>
            <a:endParaRPr lang="en-ZA" dirty="0"/>
          </a:p>
          <a:p>
            <a:pPr marL="0" indent="0">
              <a:buNone/>
            </a:pPr>
            <a:r>
              <a:rPr lang="en-ZA" dirty="0"/>
              <a:t>These arise from the physical, hands-on nature of design projects.</a:t>
            </a:r>
          </a:p>
          <a:p>
            <a:pPr lvl="0"/>
            <a:r>
              <a:rPr lang="en-ZA" b="1" dirty="0"/>
              <a:t>Workshop / Lab Access &amp; Equipment Conflicts</a:t>
            </a:r>
            <a:r>
              <a:rPr lang="en-ZA" dirty="0"/>
              <a:t> (L-1): Shared facilities booked by other groups, machine downtime, or limited hours. </a:t>
            </a:r>
            <a:r>
              <a:rPr lang="en-ZA" i="1" dirty="0"/>
              <a:t>Mitigation</a:t>
            </a:r>
            <a:r>
              <a:rPr lang="en-ZA" dirty="0"/>
              <a:t>: Book slots early; have backup locations or manual methods.</a:t>
            </a:r>
          </a:p>
          <a:p>
            <a:pPr lvl="0"/>
            <a:r>
              <a:rPr lang="en-ZA" b="1" dirty="0"/>
              <a:t>Transportation &amp; Handling</a:t>
            </a:r>
            <a:r>
              <a:rPr lang="en-ZA" dirty="0"/>
              <a:t> (L-2): Moving heavy/bulky prototypes, fragile components, or site-specific logistics (e.g., rural/farm testing). </a:t>
            </a:r>
            <a:r>
              <a:rPr lang="en-ZA" i="1" dirty="0"/>
              <a:t>Mitigation</a:t>
            </a:r>
            <a:r>
              <a:rPr lang="en-ZA" dirty="0"/>
              <a:t>: Plan transport early; use proper packaging/protection.</a:t>
            </a:r>
          </a:p>
          <a:p>
            <a:pPr lvl="0"/>
            <a:r>
              <a:rPr lang="en-ZA" b="1" dirty="0"/>
              <a:t>Manufacturing / Fabrication Risks</a:t>
            </a:r>
            <a:r>
              <a:rPr lang="en-ZA" dirty="0"/>
              <a:t> (L-3): CNC/laser cutting delays, welding issues, tolerances not met by external fabricators. </a:t>
            </a:r>
            <a:r>
              <a:rPr lang="en-ZA" i="1" dirty="0"/>
              <a:t>Mitigation</a:t>
            </a:r>
            <a:r>
              <a:rPr lang="en-ZA" dirty="0"/>
              <a:t>: In-house capability checks; provide detailed drawings with tolerances.</a:t>
            </a:r>
          </a:p>
          <a:p>
            <a:pPr lvl="0"/>
            <a:r>
              <a:rPr lang="en-ZA" b="1" dirty="0"/>
              <a:t>Power / Infrastructure Dependencies</a:t>
            </a:r>
            <a:r>
              <a:rPr lang="en-ZA" dirty="0"/>
              <a:t> (L-4): Load shedding, unstable power for testing, or site-specific issues. </a:t>
            </a:r>
            <a:r>
              <a:rPr lang="en-ZA" i="1" dirty="0"/>
              <a:t>Mitigation</a:t>
            </a:r>
            <a:r>
              <a:rPr lang="en-ZA" dirty="0"/>
              <a:t>: Solar/battery backups; schedule around known disruptions.</a:t>
            </a:r>
          </a:p>
          <a:p>
            <a:pPr lvl="0"/>
            <a:r>
              <a:rPr lang="en-ZA" b="1" dirty="0"/>
              <a:t>Documentation &amp; Traceability</a:t>
            </a:r>
            <a:r>
              <a:rPr lang="en-ZA" dirty="0"/>
              <a:t> (L-5): Poor version control of drawings, BOMs, or test data leading to integration errors. </a:t>
            </a:r>
            <a:r>
              <a:rPr lang="en-ZA" i="1" dirty="0"/>
              <a:t>Mitigation</a:t>
            </a:r>
            <a:r>
              <a:rPr lang="en-ZA" dirty="0"/>
              <a:t>: Use shared cloud drives with naming conventions + version history.</a:t>
            </a:r>
          </a:p>
          <a:p>
            <a:endParaRPr lang="en-GB" dirty="0"/>
          </a:p>
        </p:txBody>
      </p:sp>
    </p:spTree>
    <p:extLst>
      <p:ext uri="{BB962C8B-B14F-4D97-AF65-F5344CB8AC3E}">
        <p14:creationId xmlns:p14="http://schemas.microsoft.com/office/powerpoint/2010/main" val="3484057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0B544-36BA-1D6A-54B2-9158324B99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4347B-4F40-B872-291F-D05D84EE148B}"/>
              </a:ext>
            </a:extLst>
          </p:cNvPr>
          <p:cNvSpPr>
            <a:spLocks noGrp="1"/>
          </p:cNvSpPr>
          <p:nvPr>
            <p:ph type="title"/>
          </p:nvPr>
        </p:nvSpPr>
        <p:spPr/>
        <p:txBody>
          <a:bodyPr/>
          <a:lstStyle/>
          <a:p>
            <a:r>
              <a:rPr lang="en-GB" dirty="0"/>
              <a:t>Some additional considerations</a:t>
            </a:r>
          </a:p>
        </p:txBody>
      </p:sp>
      <p:sp>
        <p:nvSpPr>
          <p:cNvPr id="3" name="Content Placeholder 2">
            <a:extLst>
              <a:ext uri="{FF2B5EF4-FFF2-40B4-BE49-F238E27FC236}">
                <a16:creationId xmlns:a16="http://schemas.microsoft.com/office/drawing/2014/main" id="{8C94905B-1469-00F5-D789-A942054228BB}"/>
              </a:ext>
            </a:extLst>
          </p:cNvPr>
          <p:cNvSpPr>
            <a:spLocks noGrp="1"/>
          </p:cNvSpPr>
          <p:nvPr>
            <p:ph idx="1"/>
          </p:nvPr>
        </p:nvSpPr>
        <p:spPr/>
        <p:txBody>
          <a:bodyPr>
            <a:normAutofit/>
          </a:bodyPr>
          <a:lstStyle/>
          <a:p>
            <a:pPr marL="0" indent="0">
              <a:buNone/>
            </a:pPr>
            <a:r>
              <a:rPr lang="en-ZA" b="1" dirty="0"/>
              <a:t>Team &amp; Work Management Risks</a:t>
            </a:r>
            <a:endParaRPr lang="en-ZA" dirty="0"/>
          </a:p>
          <a:p>
            <a:pPr lvl="0"/>
            <a:r>
              <a:rPr lang="en-ZA" b="1" dirty="0"/>
              <a:t>Knowledge/Skill Gaps Across Disciplines</a:t>
            </a:r>
            <a:r>
              <a:rPr lang="en-ZA" dirty="0"/>
              <a:t> (K-1): Mechanical vs. electrical vs. software team members misunderstanding each other’s constraints. </a:t>
            </a:r>
            <a:r>
              <a:rPr lang="en-ZA" i="1" dirty="0"/>
              <a:t>Mitigation</a:t>
            </a:r>
            <a:r>
              <a:rPr lang="en-ZA" dirty="0"/>
              <a:t>: Cross-training sessions + joint design reviews.</a:t>
            </a:r>
          </a:p>
          <a:p>
            <a:pPr lvl="0"/>
            <a:r>
              <a:rPr lang="en-ZA" b="1" dirty="0"/>
              <a:t>Unequal Hands-On Contribution</a:t>
            </a:r>
            <a:r>
              <a:rPr lang="en-ZA" dirty="0"/>
              <a:t> (G-3): Some members dominate CAD/fabrication while others lag on testing/integration. </a:t>
            </a:r>
            <a:r>
              <a:rPr lang="en-ZA" i="1" dirty="0"/>
              <a:t>Mitigation</a:t>
            </a:r>
            <a:r>
              <a:rPr lang="en-ZA" dirty="0"/>
              <a:t>: Structured work management including detailed work planning, clear task allocation, formal acceptance of deliverables, and ongoing tracking (e.g., weekly progress updates against assigned tasks).</a:t>
            </a:r>
          </a:p>
          <a:p>
            <a:pPr lvl="0"/>
            <a:r>
              <a:rPr lang="en-ZA" b="1" dirty="0"/>
              <a:t>Personal/Logistical Constraints Impacting Practical Work</a:t>
            </a:r>
            <a:r>
              <a:rPr lang="en-ZA" dirty="0"/>
              <a:t> </a:t>
            </a:r>
            <a:r>
              <a:rPr lang="en-ZA" b="1" dirty="0">
                <a:highlight>
                  <a:srgbClr val="FFFF00"/>
                </a:highlight>
              </a:rPr>
              <a:t>(S | G | P): </a:t>
            </a:r>
            <a:r>
              <a:rPr lang="en-ZA" dirty="0"/>
              <a:t>Commuting to workshops, residence commitments, or health issues affecting lab time. </a:t>
            </a:r>
            <a:r>
              <a:rPr lang="en-ZA" i="1" dirty="0"/>
              <a:t>Mitigation</a:t>
            </a:r>
            <a:r>
              <a:rPr lang="en-ZA" dirty="0"/>
              <a:t>: Proactive availability sharing + flexible sub-tasking.</a:t>
            </a:r>
          </a:p>
          <a:p>
            <a:endParaRPr lang="en-GB" dirty="0"/>
          </a:p>
        </p:txBody>
      </p:sp>
    </p:spTree>
    <p:extLst>
      <p:ext uri="{BB962C8B-B14F-4D97-AF65-F5344CB8AC3E}">
        <p14:creationId xmlns:p14="http://schemas.microsoft.com/office/powerpoint/2010/main" val="3211050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B4C527F-AA88-4BD2-819A-06921EEB4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1363"/>
            <a:ext cx="12191999" cy="62566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1BEFAC-BF22-4CF8-9B60-C1CACA905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EFB073A1-654A-DB9A-FA40-517CF01EC62C}"/>
              </a:ext>
            </a:extLst>
          </p:cNvPr>
          <p:cNvSpPr>
            <a:spLocks noGrp="1"/>
          </p:cNvSpPr>
          <p:nvPr>
            <p:ph type="title"/>
          </p:nvPr>
        </p:nvSpPr>
        <p:spPr>
          <a:xfrm>
            <a:off x="8369643" y="1037967"/>
            <a:ext cx="3054091" cy="4709131"/>
          </a:xfrm>
        </p:spPr>
        <p:txBody>
          <a:bodyPr anchor="ctr">
            <a:normAutofit/>
          </a:bodyPr>
          <a:lstStyle/>
          <a:p>
            <a:r>
              <a:rPr lang="en-GB">
                <a:solidFill>
                  <a:srgbClr val="FFFEFF"/>
                </a:solidFill>
              </a:rPr>
              <a:t>Summary</a:t>
            </a:r>
          </a:p>
        </p:txBody>
      </p:sp>
      <p:graphicFrame>
        <p:nvGraphicFramePr>
          <p:cNvPr id="5" name="Content Placeholder 2">
            <a:extLst>
              <a:ext uri="{FF2B5EF4-FFF2-40B4-BE49-F238E27FC236}">
                <a16:creationId xmlns:a16="http://schemas.microsoft.com/office/drawing/2014/main" id="{07F289E0-8367-8569-9311-0C6A3243C614}"/>
              </a:ext>
            </a:extLst>
          </p:cNvPr>
          <p:cNvGraphicFramePr>
            <a:graphicFrameLocks noGrp="1"/>
          </p:cNvGraphicFramePr>
          <p:nvPr>
            <p:ph idx="1"/>
            <p:extLst>
              <p:ext uri="{D42A27DB-BD31-4B8C-83A1-F6EECF244321}">
                <p14:modId xmlns:p14="http://schemas.microsoft.com/office/powerpoint/2010/main" val="3728958009"/>
              </p:ext>
            </p:extLst>
          </p:nvPr>
        </p:nvGraphicFramePr>
        <p:xfrm>
          <a:off x="486033" y="1037967"/>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2422634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558</TotalTime>
  <Words>1884</Words>
  <Application>Microsoft Office PowerPoint</Application>
  <PresentationFormat>Widescreen</PresentationFormat>
  <Paragraphs>199</Paragraphs>
  <Slides>17</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Aptos</vt:lpstr>
      <vt:lpstr>Arial</vt:lpstr>
      <vt:lpstr>Calibri</vt:lpstr>
      <vt:lpstr>Century Gothic</vt:lpstr>
      <vt:lpstr>Gill Sans MT</vt:lpstr>
      <vt:lpstr>Titillium Regular</vt:lpstr>
      <vt:lpstr>Trade Gothic LT Pro</vt:lpstr>
      <vt:lpstr>Wingdings 2</vt:lpstr>
      <vt:lpstr>Dividend</vt:lpstr>
      <vt:lpstr>Engineering design 2026</vt:lpstr>
      <vt:lpstr>Risk management process</vt:lpstr>
      <vt:lpstr>Risk management process</vt:lpstr>
      <vt:lpstr>Risk management process</vt:lpstr>
      <vt:lpstr>Risk Evaluation Matrix</vt:lpstr>
      <vt:lpstr>Risk management (overall)</vt:lpstr>
      <vt:lpstr>Risk categories (MUST USE)</vt:lpstr>
      <vt:lpstr>Risk categories (MUST USE)</vt:lpstr>
      <vt:lpstr>Risk numbers (traceability)</vt:lpstr>
      <vt:lpstr>EXAMPLE APPLICATION</vt:lpstr>
      <vt:lpstr>Usage</vt:lpstr>
      <vt:lpstr>Risk as a management tool</vt:lpstr>
      <vt:lpstr>Commonly occurring events in engineering design</vt:lpstr>
      <vt:lpstr>Commonly occurring events in engineering design</vt:lpstr>
      <vt:lpstr>Some additional considerations</vt:lpstr>
      <vt:lpstr>Some additional considerations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design 2020</dc:title>
  <dc:creator>Henri Marais</dc:creator>
  <cp:lastModifiedBy>Henri Marais</cp:lastModifiedBy>
  <cp:revision>19</cp:revision>
  <dcterms:created xsi:type="dcterms:W3CDTF">2021-08-02T04:36:19Z</dcterms:created>
  <dcterms:modified xsi:type="dcterms:W3CDTF">2026-07-22T11:37:22Z</dcterms:modified>
</cp:coreProperties>
</file>