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4572000" cy="4572000"/>
          </a:xfrm>
          <a:prstGeom prst="ellipse">
            <a:avLst/>
          </a:prstGeom>
          <a:solidFill>
            <a:srgbClr val="141B4D"/>
          </a:solidFill>
          <a:ln/>
        </p:spPr>
      </p:sp>
      <p:sp>
        <p:nvSpPr>
          <p:cNvPr id="3" name="Shape 1"/>
          <p:cNvSpPr/>
          <p:nvPr/>
        </p:nvSpPr>
        <p:spPr>
          <a:xfrm>
            <a:off x="-1280160" y="4937760"/>
            <a:ext cx="3657600" cy="3657600"/>
          </a:xfrm>
          <a:prstGeom prst="ellipse">
            <a:avLst/>
          </a:prstGeom>
          <a:solidFill>
            <a:srgbClr val="141B4D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8288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DESIGN 2026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228600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 Checkpoint</a:t>
            </a:r>
            <a:endParaRPr lang="en-US" sz="46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246120"/>
            <a:ext cx="9875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package briefing — what's due, from whom, and what “good” looks like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822960" y="4114800"/>
            <a:ext cx="3749040" cy="420624"/>
          </a:xfrm>
          <a:prstGeom prst="roundRect">
            <a:avLst>
              <a:gd name="adj" fmla="val 50000"/>
            </a:avLst>
          </a:prstGeom>
          <a:solidFill>
            <a:srgbClr val="E8A33D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4114800"/>
            <a:ext cx="3749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DUE  FRIDAY  11 SEPTEMBER 2026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61264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North-West University   |   School of Electrical, Electronic and Computer Engineering   |   Second Semester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868680" cy="86868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" name="Image 0" descr="/tmp/engdes_deck/icon_bol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2882" y="607162"/>
            <a:ext cx="660197" cy="660197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60020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50" kern="0" dirty="0">
                <a:solidFill>
                  <a:srgbClr val="C77F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EEII – I</a:t>
            </a:r>
            <a:endParaRPr lang="en-US" sz="1400" dirty="0"/>
          </a:p>
        </p:txBody>
      </p:sp>
      <p:sp>
        <p:nvSpPr>
          <p:cNvPr id="5" name="Text 2"/>
          <p:cNvSpPr txBox="1"/>
          <p:nvPr/>
        </p:nvSpPr>
        <p:spPr>
          <a:xfrm>
            <a:off x="1600200" y="749808"/>
            <a:ext cx="7498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 Electronics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9052560" y="566928"/>
            <a:ext cx="2606040" cy="384048"/>
          </a:xfrm>
          <a:prstGeom prst="roundRect">
            <a:avLst>
              <a:gd name="adj" fmla="val 50000"/>
            </a:avLst>
          </a:prstGeom>
          <a:solidFill>
            <a:srgbClr val="E8A33D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9052560" y="566928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PROTECTION IS MANDATORY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548640" y="1783080"/>
            <a:ext cx="6720840" cy="4160520"/>
          </a:xfrm>
          <a:prstGeom prst="roundRect">
            <a:avLst>
              <a:gd name="adj" fmla="val 1758"/>
            </a:avLst>
          </a:prstGeom>
          <a:solidFill>
            <a:srgbClr val="EEF3FD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868680" y="2039112"/>
            <a:ext cx="6126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Checkpoint task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868680" y="2496312"/>
            <a:ext cx="612648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Level-1 simulation of the 3-phase bridge inverter using ideal voltage-controlled switches — SPWM switching logic, correct 120°-spaced 3-phase output.</a:t>
            </a:r>
            <a:endParaRPr lang="en-US" sz="1450" dirty="0"/>
          </a:p>
          <a:p>
            <a:pPr marL="228600" indent="-2286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the same ideal-switch model, simulate three fault conditions: shoot-through, an output phase-to-phase short, and an overload.</a:t>
            </a:r>
            <a:endParaRPr lang="en-US" sz="1450" dirty="0"/>
          </a:p>
          <a:p>
            <a:pPr marL="228600" indent="-2286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at least one candidate protection mechanism (input fuse/current limit, overcurrent trip, relay bus disconnect) and show its effect on each fault.</a:t>
            </a:r>
            <a:endParaRPr lang="en-US" sz="1450" dirty="0"/>
          </a:p>
          <a:p>
            <a:pPr marL="228600" indent="-2286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hardware yet at this checkpoint — the milled half-bridge protection board is a separate, later build.</a:t>
            </a:r>
            <a:endParaRPr lang="en-US" sz="1450" dirty="0"/>
          </a:p>
        </p:txBody>
      </p:sp>
      <p:sp>
        <p:nvSpPr>
          <p:cNvPr id="11" name="Shape 8"/>
          <p:cNvSpPr/>
          <p:nvPr/>
        </p:nvSpPr>
        <p:spPr>
          <a:xfrm>
            <a:off x="7452360" y="1783080"/>
            <a:ext cx="4206240" cy="4160520"/>
          </a:xfrm>
          <a:prstGeom prst="roundRect">
            <a:avLst>
              <a:gd name="adj" fmla="val 1758"/>
            </a:avLst>
          </a:prstGeom>
          <a:solidFill>
            <a:srgbClr val="1E2761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7726680" y="203911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BRING THIS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7726680" y="2441448"/>
            <a:ext cx="36576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10000"/>
              </a:lnSpc>
              <a:spcAft>
                <a:spcPts val="900"/>
              </a:spcAft>
              <a:buSzPct val="100000"/>
              <a:buChar char="✓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Simulation schematic (ideal switches)</a:t>
            </a:r>
            <a:endParaRPr lang="en-US" sz="1250" dirty="0"/>
          </a:p>
          <a:p>
            <a:pPr marL="203200" indent="-203200">
              <a:lnSpc>
                <a:spcPct val="110000"/>
              </a:lnSpc>
              <a:spcAft>
                <a:spcPts val="900"/>
              </a:spcAft>
              <a:buSzPct val="100000"/>
              <a:buChar char="✓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3-phase line voltage plots, 120° spacing confirmed</a:t>
            </a:r>
            <a:endParaRPr lang="en-US" sz="1250" dirty="0"/>
          </a:p>
          <a:p>
            <a:pPr marL="203200" indent="-203200">
              <a:lnSpc>
                <a:spcPct val="110000"/>
              </a:lnSpc>
              <a:spcAft>
                <a:spcPts val="900"/>
              </a:spcAft>
              <a:buSzPct val="100000"/>
              <a:buChar char="✓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Fault current waveforms — with and without protection, for all three faults</a:t>
            </a:r>
            <a:endParaRPr lang="en-US" sz="1250" dirty="0"/>
          </a:p>
          <a:p>
            <a:pPr marL="203200" indent="-203200">
              <a:lnSpc>
                <a:spcPct val="110000"/>
              </a:lnSpc>
              <a:spcAft>
                <a:spcPts val="900"/>
              </a:spcAft>
              <a:buSzPct val="100000"/>
              <a:buChar char="✓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 memo: recommended protection strategy — trip thresholds and disconnect timing</a:t>
            </a:r>
            <a:endParaRPr lang="en-US" sz="1250" dirty="0"/>
          </a:p>
        </p:txBody>
      </p:sp>
      <p:sp>
        <p:nvSpPr>
          <p:cNvPr id="14" name="Text 11"/>
          <p:cNvSpPr txBox="1"/>
          <p:nvPr/>
        </p:nvSpPr>
        <p:spPr>
          <a:xfrm>
            <a:off x="457200" y="651967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 Checkpoint  ·  due 11 September 2026  ·  rolled I1 + I2 individual grade (20%)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868680" cy="86868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" name="Image 0" descr="/tmp/engdes_deck/icon_magne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2882" y="607162"/>
            <a:ext cx="660197" cy="660197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60020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50" kern="0" dirty="0">
                <a:solidFill>
                  <a:srgbClr val="C77F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EEII – II</a:t>
            </a:r>
            <a:endParaRPr lang="en-US" sz="1400" dirty="0"/>
          </a:p>
        </p:txBody>
      </p:sp>
      <p:sp>
        <p:nvSpPr>
          <p:cNvPr id="5" name="Text 2"/>
          <p:cNvSpPr txBox="1"/>
          <p:nvPr/>
        </p:nvSpPr>
        <p:spPr>
          <a:xfrm>
            <a:off x="1600200" y="749808"/>
            <a:ext cx="7498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Magnetic Load Attachment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9052560" y="566928"/>
            <a:ext cx="2606040" cy="384048"/>
          </a:xfrm>
          <a:prstGeom prst="roundRect">
            <a:avLst>
              <a:gd name="adj" fmla="val 50000"/>
            </a:avLst>
          </a:prstGeom>
          <a:solidFill>
            <a:srgbClr val="E8A33D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9052560" y="566928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COTS ELECTROMAGNET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548640" y="1783080"/>
            <a:ext cx="6720840" cy="4160520"/>
          </a:xfrm>
          <a:prstGeom prst="roundRect">
            <a:avLst>
              <a:gd name="adj" fmla="val 1758"/>
            </a:avLst>
          </a:prstGeom>
          <a:solidFill>
            <a:srgbClr val="EEF3FD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868680" y="2039112"/>
            <a:ext cx="6126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Checkpoint task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868680" y="2496312"/>
            <a:ext cx="612648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2D axisymmetric finite-element model of the 3-point solenoid electromagnet in FEMM.</a:t>
            </a:r>
            <a:endParaRPr lang="en-US" sz="1450" dirty="0"/>
          </a:p>
          <a:p>
            <a:pPr marL="228600" indent="-2286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pull force on a steel plate as a function of coil current, at the expected operating air gap.</a:t>
            </a:r>
            <a:endParaRPr lang="en-US" sz="1450" dirty="0"/>
          </a:p>
          <a:p>
            <a:pPr marL="228600" indent="-2286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Derive a preliminary coil specification from the force curve — the starting point for winding later.</a:t>
            </a:r>
            <a:endParaRPr lang="en-US" sz="1450" dirty="0"/>
          </a:p>
          <a:p>
            <a:pPr marL="228600" indent="-2286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COTS core material is permitted; a complete pre-made electromagnet or solenoid is not.</a:t>
            </a:r>
            <a:endParaRPr lang="en-US" sz="1450" dirty="0"/>
          </a:p>
        </p:txBody>
      </p:sp>
      <p:sp>
        <p:nvSpPr>
          <p:cNvPr id="11" name="Shape 8"/>
          <p:cNvSpPr/>
          <p:nvPr/>
        </p:nvSpPr>
        <p:spPr>
          <a:xfrm>
            <a:off x="7452360" y="1783080"/>
            <a:ext cx="4206240" cy="4160520"/>
          </a:xfrm>
          <a:prstGeom prst="roundRect">
            <a:avLst>
              <a:gd name="adj" fmla="val 1758"/>
            </a:avLst>
          </a:prstGeom>
          <a:solidFill>
            <a:srgbClr val="1E2761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7726680" y="203911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BRING THIS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7726680" y="2441448"/>
            <a:ext cx="36576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10000"/>
              </a:lnSpc>
              <a:spcAft>
                <a:spcPts val="900"/>
              </a:spcAft>
              <a:buSzPct val="100000"/>
              <a:buChar char="✓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FEMM model file, geometry and materials documented</a:t>
            </a:r>
            <a:endParaRPr lang="en-US" sz="1250" dirty="0"/>
          </a:p>
          <a:p>
            <a:pPr marL="203200" indent="-203200">
              <a:lnSpc>
                <a:spcPct val="110000"/>
              </a:lnSpc>
              <a:spcAft>
                <a:spcPts val="900"/>
              </a:spcAft>
              <a:buSzPct val="100000"/>
              <a:buChar char="✓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Force-vs-current curve at operating air gap</a:t>
            </a:r>
            <a:endParaRPr lang="en-US" sz="1250" dirty="0"/>
          </a:p>
          <a:p>
            <a:pPr marL="203200" indent="-203200">
              <a:lnSpc>
                <a:spcPct val="110000"/>
              </a:lnSpc>
              <a:spcAft>
                <a:spcPts val="900"/>
              </a:spcAft>
              <a:buSzPct val="100000"/>
              <a:buChar char="✓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Preliminary coil spec: turns, wire gauge, expected resistance and current at target force</a:t>
            </a:r>
            <a:endParaRPr lang="en-US" sz="1250" dirty="0"/>
          </a:p>
        </p:txBody>
      </p:sp>
      <p:sp>
        <p:nvSpPr>
          <p:cNvPr id="14" name="Text 11"/>
          <p:cNvSpPr txBox="1"/>
          <p:nvPr/>
        </p:nvSpPr>
        <p:spPr>
          <a:xfrm>
            <a:off x="457200" y="651967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 Checkpoint  ·  due 11 September 2026  ·  rolled I1 + I2 individual grade (20%)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868680" cy="86868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" name="Image 0" descr="/tmp/engdes_deck/icon_wif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2882" y="607162"/>
            <a:ext cx="660197" cy="660197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60020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50" kern="0" dirty="0">
                <a:solidFill>
                  <a:srgbClr val="C77F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REII</a:t>
            </a:r>
            <a:endParaRPr lang="en-US" sz="1400" dirty="0"/>
          </a:p>
        </p:txBody>
      </p:sp>
      <p:sp>
        <p:nvSpPr>
          <p:cNvPr id="5" name="Text 2"/>
          <p:cNvSpPr txBox="1"/>
          <p:nvPr/>
        </p:nvSpPr>
        <p:spPr>
          <a:xfrm>
            <a:off x="1600200" y="749808"/>
            <a:ext cx="7498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Remote Control Dashboard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9052560" y="566928"/>
            <a:ext cx="2606040" cy="384048"/>
          </a:xfrm>
          <a:prstGeom prst="roundRect">
            <a:avLst>
              <a:gd name="adj" fmla="val 50000"/>
            </a:avLst>
          </a:prstGeom>
          <a:solidFill>
            <a:srgbClr val="E8A33D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9052560" y="566928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 USE NRF24L01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548640" y="1783080"/>
            <a:ext cx="6720840" cy="4160520"/>
          </a:xfrm>
          <a:prstGeom prst="roundRect">
            <a:avLst>
              <a:gd name="adj" fmla="val 1758"/>
            </a:avLst>
          </a:prstGeom>
          <a:solidFill>
            <a:srgbClr val="EEF3FD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868680" y="2039112"/>
            <a:ext cx="6126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Checkpoint task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868680" y="2496312"/>
            <a:ext cx="612648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Bring up a live nRF24L01 link on an existing dev board / breadboard — not the from-scratch STM32F411 ground-station dongle yet.</a:t>
            </a:r>
            <a:endParaRPr lang="en-US" sz="1450" dirty="0"/>
          </a:p>
          <a:p>
            <a:pPr marL="228600" indent="-2286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Characterise the link systematically: packet loss vs. distance, at a minimum of two data rates.</a:t>
            </a:r>
            <a:endParaRPr lang="en-US" sz="1450" dirty="0"/>
          </a:p>
          <a:p>
            <a:pPr marL="228600" indent="-2286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the best channel for the lab environment — account for WiFi and other groups' simultaneous links.</a:t>
            </a:r>
            <a:endParaRPr lang="en-US" sz="1450" dirty="0"/>
          </a:p>
          <a:p>
            <a:pPr marL="228600" indent="-2286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proves the radio itself is reliable before the full dongle build and protocol design are committed to.</a:t>
            </a:r>
            <a:endParaRPr lang="en-US" sz="1450" dirty="0"/>
          </a:p>
        </p:txBody>
      </p:sp>
      <p:sp>
        <p:nvSpPr>
          <p:cNvPr id="11" name="Shape 8"/>
          <p:cNvSpPr/>
          <p:nvPr/>
        </p:nvSpPr>
        <p:spPr>
          <a:xfrm>
            <a:off x="7452360" y="1783080"/>
            <a:ext cx="4206240" cy="4160520"/>
          </a:xfrm>
          <a:prstGeom prst="roundRect">
            <a:avLst>
              <a:gd name="adj" fmla="val 1758"/>
            </a:avLst>
          </a:prstGeom>
          <a:solidFill>
            <a:srgbClr val="1E2761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7726680" y="203911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BRING THIS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7726680" y="2441448"/>
            <a:ext cx="36576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10000"/>
              </a:lnSpc>
              <a:spcAft>
                <a:spcPts val="900"/>
              </a:spcAft>
              <a:buSzPct val="100000"/>
              <a:buChar char="✓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Packet-loss vs. distance curves, ≥ 2 data rates</a:t>
            </a:r>
            <a:endParaRPr lang="en-US" sz="1250" dirty="0"/>
          </a:p>
          <a:p>
            <a:pPr marL="203200" indent="-203200">
              <a:lnSpc>
                <a:spcPct val="110000"/>
              </a:lnSpc>
              <a:spcAft>
                <a:spcPts val="900"/>
              </a:spcAft>
              <a:buSzPct val="100000"/>
              <a:buChar char="✓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 selection with interference analysis</a:t>
            </a:r>
            <a:endParaRPr lang="en-US" sz="1250" dirty="0"/>
          </a:p>
          <a:p>
            <a:pPr marL="203200" indent="-203200">
              <a:lnSpc>
                <a:spcPct val="110000"/>
              </a:lnSpc>
              <a:spcAft>
                <a:spcPts val="900"/>
              </a:spcAft>
              <a:buSzPct val="100000"/>
              <a:buChar char="✓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 nRF24 configuration — channel, data rate, power, retry settings</a:t>
            </a:r>
            <a:endParaRPr lang="en-US" sz="1250" dirty="0"/>
          </a:p>
        </p:txBody>
      </p:sp>
      <p:sp>
        <p:nvSpPr>
          <p:cNvPr id="14" name="Text 11"/>
          <p:cNvSpPr txBox="1"/>
          <p:nvPr/>
        </p:nvSpPr>
        <p:spPr>
          <a:xfrm>
            <a:off x="457200" y="651967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 Checkpoint  ·  due 11 September 2026  ·  rolled I1 + I2 individual grade (20%)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868680" cy="86868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" name="Image 0" descr="/tmp/engdes_deck/icon_c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2882" y="607162"/>
            <a:ext cx="660197" cy="660197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60020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50" kern="0" dirty="0">
                <a:solidFill>
                  <a:srgbClr val="C77F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MCTR – I</a:t>
            </a:r>
            <a:endParaRPr lang="en-US" sz="1400" dirty="0"/>
          </a:p>
        </p:txBody>
      </p:sp>
      <p:sp>
        <p:nvSpPr>
          <p:cNvPr id="5" name="Text 2"/>
          <p:cNvSpPr txBox="1"/>
          <p:nvPr/>
        </p:nvSpPr>
        <p:spPr>
          <a:xfrm>
            <a:off x="1600200" y="749808"/>
            <a:ext cx="7498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Lateral Movement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9052560" y="566928"/>
            <a:ext cx="2606040" cy="384048"/>
          </a:xfrm>
          <a:prstGeom prst="roundRect">
            <a:avLst>
              <a:gd name="adj" fmla="val 50000"/>
            </a:avLst>
          </a:prstGeom>
          <a:solidFill>
            <a:srgbClr val="E8A33D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9052560" y="566928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 COST &lt; R250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548640" y="1783080"/>
            <a:ext cx="6720840" cy="4160520"/>
          </a:xfrm>
          <a:prstGeom prst="roundRect">
            <a:avLst>
              <a:gd name="adj" fmla="val 1758"/>
            </a:avLst>
          </a:prstGeom>
          <a:solidFill>
            <a:srgbClr val="EEF3FD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868680" y="2039112"/>
            <a:ext cx="6126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Checkpoint task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868680" y="2496312"/>
            <a:ext cx="612648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Manufacture an initial wheel arrangement from the curated pre-printed wheel sets (varied, internally logged print parameters).</a:t>
            </a:r>
            <a:endParaRPr lang="en-US" sz="1450" dirty="0"/>
          </a:p>
          <a:p>
            <a:pPr marL="228600" indent="-2286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static and kinetic friction / traction force at the operating load.</a:t>
            </a:r>
            <a:endParaRPr lang="en-US" sz="1450" dirty="0"/>
          </a:p>
          <a:p>
            <a:pPr marL="228600" indent="-2286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a minimum of two wheel configurations and compare.</a:t>
            </a:r>
            <a:endParaRPr lang="en-US" sz="1450" dirty="0"/>
          </a:p>
          <a:p>
            <a:pPr marL="228600" indent="-2286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Derive the motor torque requirement at the wheel from the measured results.</a:t>
            </a:r>
            <a:endParaRPr lang="en-US" sz="1450" dirty="0"/>
          </a:p>
        </p:txBody>
      </p:sp>
      <p:sp>
        <p:nvSpPr>
          <p:cNvPr id="11" name="Shape 8"/>
          <p:cNvSpPr/>
          <p:nvPr/>
        </p:nvSpPr>
        <p:spPr>
          <a:xfrm>
            <a:off x="7452360" y="1783080"/>
            <a:ext cx="4206240" cy="4160520"/>
          </a:xfrm>
          <a:prstGeom prst="roundRect">
            <a:avLst>
              <a:gd name="adj" fmla="val 1758"/>
            </a:avLst>
          </a:prstGeom>
          <a:solidFill>
            <a:srgbClr val="1E2761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7726680" y="203911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BRING THIS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7726680" y="2441448"/>
            <a:ext cx="36576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10000"/>
              </a:lnSpc>
              <a:spcAft>
                <a:spcPts val="900"/>
              </a:spcAft>
              <a:buSzPct val="100000"/>
              <a:buChar char="✓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Measured static &amp; kinetic traction forces at operating load</a:t>
            </a:r>
            <a:endParaRPr lang="en-US" sz="1250" dirty="0"/>
          </a:p>
          <a:p>
            <a:pPr marL="203200" indent="-203200">
              <a:lnSpc>
                <a:spcPct val="110000"/>
              </a:lnSpc>
              <a:spcAft>
                <a:spcPts val="900"/>
              </a:spcAft>
              <a:buSzPct val="100000"/>
              <a:buChar char="✓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 of ≥ 2 wheel configurations, with material justification</a:t>
            </a:r>
            <a:endParaRPr lang="en-US" sz="1250" dirty="0"/>
          </a:p>
          <a:p>
            <a:pPr marL="203200" indent="-203200">
              <a:lnSpc>
                <a:spcPct val="110000"/>
              </a:lnSpc>
              <a:spcAft>
                <a:spcPts val="900"/>
              </a:spcAft>
              <a:buSzPct val="100000"/>
              <a:buChar char="✓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Calculated motor torque requirement feeding gearbox/motor selection</a:t>
            </a:r>
            <a:endParaRPr lang="en-US" sz="1250" dirty="0"/>
          </a:p>
        </p:txBody>
      </p:sp>
      <p:sp>
        <p:nvSpPr>
          <p:cNvPr id="14" name="Text 11"/>
          <p:cNvSpPr txBox="1"/>
          <p:nvPr/>
        </p:nvSpPr>
        <p:spPr>
          <a:xfrm>
            <a:off x="457200" y="651967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 Checkpoint  ·  due 11 September 2026  ·  rolled I1 + I2 individual grade (20%)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868680" cy="86868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" name="Image 0" descr="/tmp/engdes_deck/icon_ge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2882" y="607162"/>
            <a:ext cx="660197" cy="660197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60020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50" kern="0" dirty="0">
                <a:solidFill>
                  <a:srgbClr val="C77F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MCTR – II</a:t>
            </a:r>
            <a:endParaRPr lang="en-US" sz="1400" dirty="0"/>
          </a:p>
        </p:txBody>
      </p:sp>
      <p:sp>
        <p:nvSpPr>
          <p:cNvPr id="5" name="Text 2"/>
          <p:cNvSpPr txBox="1"/>
          <p:nvPr/>
        </p:nvSpPr>
        <p:spPr>
          <a:xfrm>
            <a:off x="1600200" y="749808"/>
            <a:ext cx="7498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Spooling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9052560" y="566928"/>
            <a:ext cx="2606040" cy="384048"/>
          </a:xfrm>
          <a:prstGeom prst="roundRect">
            <a:avLst>
              <a:gd name="adj" fmla="val 50000"/>
            </a:avLst>
          </a:prstGeom>
          <a:solidFill>
            <a:srgbClr val="E8A33D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9052560" y="566928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WORM GEARBOX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548640" y="1783080"/>
            <a:ext cx="6720840" cy="4160520"/>
          </a:xfrm>
          <a:prstGeom prst="roundRect">
            <a:avLst>
              <a:gd name="adj" fmla="val 1758"/>
            </a:avLst>
          </a:prstGeom>
          <a:solidFill>
            <a:srgbClr val="EEF3FD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868680" y="2039112"/>
            <a:ext cx="6126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Checkpoint task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868680" y="2496312"/>
            <a:ext cx="612648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a gear stage on the converged gear test rig (quasi-static stall test, module-5, printed-on-printed).</a:t>
            </a:r>
            <a:endParaRPr lang="en-US" sz="1450" dirty="0"/>
          </a:p>
          <a:p>
            <a:pPr marL="228600" indent="-2286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Characterise mesh quality, backlash, and load capacity against the rig's known failure modes.</a:t>
            </a:r>
            <a:endParaRPr lang="en-US" sz="1450" dirty="0"/>
          </a:p>
          <a:p>
            <a:pPr marL="228600" indent="-2286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cell integration and calibration are deferred to Increment 3 — not part of this checkpoint.</a:t>
            </a:r>
            <a:endParaRPr lang="en-US" sz="1450" dirty="0"/>
          </a:p>
          <a:p>
            <a:pPr marL="228600" indent="-2286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Findings carry directly into the multi-stage (≥ 2 stage) gearbox built in I3.</a:t>
            </a:r>
            <a:endParaRPr lang="en-US" sz="1450" dirty="0"/>
          </a:p>
        </p:txBody>
      </p:sp>
      <p:sp>
        <p:nvSpPr>
          <p:cNvPr id="11" name="Shape 8"/>
          <p:cNvSpPr/>
          <p:nvPr/>
        </p:nvSpPr>
        <p:spPr>
          <a:xfrm>
            <a:off x="7452360" y="1783080"/>
            <a:ext cx="4206240" cy="4160520"/>
          </a:xfrm>
          <a:prstGeom prst="roundRect">
            <a:avLst>
              <a:gd name="adj" fmla="val 1758"/>
            </a:avLst>
          </a:prstGeom>
          <a:solidFill>
            <a:srgbClr val="1E2761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7726680" y="203911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BRING THIS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7726680" y="2441448"/>
            <a:ext cx="36576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10000"/>
              </a:lnSpc>
              <a:spcAft>
                <a:spcPts val="900"/>
              </a:spcAft>
              <a:buSzPct val="100000"/>
              <a:buChar char="✓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Printed gear pair, tooth geometry &amp; print parameters documented</a:t>
            </a:r>
            <a:endParaRPr lang="en-US" sz="1250" dirty="0"/>
          </a:p>
          <a:p>
            <a:pPr marL="203200" indent="-203200">
              <a:lnSpc>
                <a:spcPct val="110000"/>
              </a:lnSpc>
              <a:spcAft>
                <a:spcPts val="900"/>
              </a:spcAft>
              <a:buSzPct val="100000"/>
              <a:buChar char="✓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Measured backlash and load-test result</a:t>
            </a:r>
            <a:endParaRPr lang="en-US" sz="1250" dirty="0"/>
          </a:p>
          <a:p>
            <a:pPr marL="203200" indent="-203200">
              <a:lnSpc>
                <a:spcPct val="110000"/>
              </a:lnSpc>
              <a:spcAft>
                <a:spcPts val="900"/>
              </a:spcAft>
              <a:buSzPct val="100000"/>
              <a:buChar char="✓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load cell explicitly deferred — flag as provisional in the ICD, not omitted</a:t>
            </a:r>
            <a:endParaRPr lang="en-US" sz="1250" dirty="0"/>
          </a:p>
        </p:txBody>
      </p:sp>
      <p:sp>
        <p:nvSpPr>
          <p:cNvPr id="14" name="Text 11"/>
          <p:cNvSpPr txBox="1"/>
          <p:nvPr/>
        </p:nvSpPr>
        <p:spPr>
          <a:xfrm>
            <a:off x="457200" y="651967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 Checkpoint  ·  due 11 September 2026  ·  rolled I1 + I2 individual grade (20%)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EF3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731520" cy="7315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" name="Image 0" descr="/tmp/engdes_deck/icon_chi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6422" y="499262"/>
            <a:ext cx="555955" cy="555955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463040" y="36576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77F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CONTROLLER</a:t>
            </a:r>
            <a:endParaRPr lang="en-US" sz="1300" dirty="0"/>
          </a:p>
        </p:txBody>
      </p:sp>
      <p:sp>
        <p:nvSpPr>
          <p:cNvPr id="5" name="Text 2"/>
          <p:cNvSpPr txBox="1"/>
          <p:nvPr/>
        </p:nvSpPr>
        <p:spPr>
          <a:xfrm>
            <a:off x="1463040" y="621792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Bulk Reference — What's Fixed, What You Own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9646920" y="457200"/>
            <a:ext cx="2011680" cy="365760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9646920" y="45720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SUPPLIED TO EVERY GROUP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548640" y="1325880"/>
            <a:ext cx="3593592" cy="1554480"/>
          </a:xfrm>
          <a:prstGeom prst="roundRect">
            <a:avLst>
              <a:gd name="adj" fmla="val 4118"/>
            </a:avLst>
          </a:prstGeom>
          <a:solidFill>
            <a:srgbClr val="1E2761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713232" y="1417320"/>
            <a:ext cx="32644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BOARD</a:t>
            </a:r>
            <a:endParaRPr lang="en-US" sz="1250" dirty="0"/>
          </a:p>
        </p:txBody>
      </p:sp>
      <p:sp>
        <p:nvSpPr>
          <p:cNvPr id="10" name="Text 7"/>
          <p:cNvSpPr txBox="1"/>
          <p:nvPr/>
        </p:nvSpPr>
        <p:spPr>
          <a:xfrm>
            <a:off x="713232" y="1673352"/>
            <a:ext cx="3264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lecturer-supplied · every group</a:t>
            </a:r>
            <a:endParaRPr lang="en-US" sz="900" dirty="0"/>
          </a:p>
        </p:txBody>
      </p:sp>
      <p:sp>
        <p:nvSpPr>
          <p:cNvPr id="11" name="Text 8"/>
          <p:cNvSpPr txBox="1"/>
          <p:nvPr/>
        </p:nvSpPr>
        <p:spPr>
          <a:xfrm>
            <a:off x="713232" y="1947672"/>
            <a:ext cx="326440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ESP32-S3-WROOM-1 N8R2 · 3.3V LDO · native USB · ADS1220 24-bit SPI ADC · microSD (SPI) telemetry log · WS2812 status LED · EN/GND reset</a:t>
            </a:r>
            <a:endParaRPr lang="en-US" sz="900" dirty="0"/>
          </a:p>
        </p:txBody>
      </p:sp>
      <p:sp>
        <p:nvSpPr>
          <p:cNvPr id="12" name="Text 9"/>
          <p:cNvSpPr txBox="1"/>
          <p:nvPr/>
        </p:nvSpPr>
        <p:spPr>
          <a:xfrm>
            <a:off x="4142232" y="1901952"/>
            <a:ext cx="1645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77F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↔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4306824" y="1325880"/>
            <a:ext cx="3593592" cy="1554480"/>
          </a:xfrm>
          <a:prstGeom prst="roundRect">
            <a:avLst>
              <a:gd name="adj" fmla="val 4118"/>
            </a:avLst>
          </a:prstGeom>
          <a:solidFill>
            <a:srgbClr val="1E2761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4471416" y="1417320"/>
            <a:ext cx="32644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 BOARD</a:t>
            </a:r>
            <a:endParaRPr lang="en-US" sz="1250" dirty="0"/>
          </a:p>
        </p:txBody>
      </p:sp>
      <p:sp>
        <p:nvSpPr>
          <p:cNvPr id="15" name="Text 12"/>
          <p:cNvSpPr txBox="1"/>
          <p:nvPr/>
        </p:nvSpPr>
        <p:spPr>
          <a:xfrm>
            <a:off x="4471416" y="1673352"/>
            <a:ext cx="3264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student-built, perfboard · owner: EE2 or MC2 (TBD)</a:t>
            </a:r>
            <a:endParaRPr lang="en-US" sz="900" dirty="0"/>
          </a:p>
        </p:txBody>
      </p:sp>
      <p:sp>
        <p:nvSpPr>
          <p:cNvPr id="16" name="Text 13"/>
          <p:cNvSpPr txBox="1"/>
          <p:nvPr/>
        </p:nvSpPr>
        <p:spPr>
          <a:xfrm>
            <a:off x="4471416" y="1947672"/>
            <a:ext cx="326440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nRF24L01 radio · opto-isolation on EE1×6, EE2 magnet PWM, MC2 dir/PWM · MC2 quadrature encoder in · 5-pin expansion header · bench-verify isolation before live EE1 gate drivers</a:t>
            </a:r>
            <a:endParaRPr lang="en-US" sz="900" dirty="0"/>
          </a:p>
        </p:txBody>
      </p:sp>
      <p:sp>
        <p:nvSpPr>
          <p:cNvPr id="17" name="Text 14"/>
          <p:cNvSpPr txBox="1"/>
          <p:nvPr/>
        </p:nvSpPr>
        <p:spPr>
          <a:xfrm>
            <a:off x="7900416" y="1901952"/>
            <a:ext cx="1645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77F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↔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8065008" y="1325880"/>
            <a:ext cx="3593592" cy="1554480"/>
          </a:xfrm>
          <a:prstGeom prst="roundRect">
            <a:avLst>
              <a:gd name="adj" fmla="val 4118"/>
            </a:avLst>
          </a:prstGeom>
          <a:solidFill>
            <a:srgbClr val="1E2761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8229600" y="1417320"/>
            <a:ext cx="32644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 STATION</a:t>
            </a:r>
            <a:endParaRPr lang="en-US" sz="1250" dirty="0"/>
          </a:p>
        </p:txBody>
      </p:sp>
      <p:sp>
        <p:nvSpPr>
          <p:cNvPr id="20" name="Text 17"/>
          <p:cNvSpPr txBox="1"/>
          <p:nvPr/>
        </p:nvSpPr>
        <p:spPr>
          <a:xfrm>
            <a:off x="8229600" y="1673352"/>
            <a:ext cx="3264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deliverable, end to end</a:t>
            </a:r>
            <a:endParaRPr lang="en-US" sz="900" dirty="0"/>
          </a:p>
        </p:txBody>
      </p:sp>
      <p:sp>
        <p:nvSpPr>
          <p:cNvPr id="21" name="Text 18"/>
          <p:cNvSpPr txBox="1"/>
          <p:nvPr/>
        </p:nvSpPr>
        <p:spPr>
          <a:xfrm>
            <a:off x="8229600" y="1947672"/>
            <a:ext cx="326440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STM32F411 USB dongle · native USB + nRF24 driver, no scaffolding · bridges radio ↔ PC dashboard</a:t>
            </a:r>
            <a:endParaRPr lang="en-US" sz="900" dirty="0"/>
          </a:p>
        </p:txBody>
      </p:sp>
      <p:sp>
        <p:nvSpPr>
          <p:cNvPr id="22" name="Shape 19"/>
          <p:cNvSpPr/>
          <p:nvPr/>
        </p:nvSpPr>
        <p:spPr>
          <a:xfrm>
            <a:off x="548640" y="3063240"/>
            <a:ext cx="3593592" cy="1965960"/>
          </a:xfrm>
          <a:prstGeom prst="roundRect">
            <a:avLst>
              <a:gd name="adj" fmla="val 3256"/>
            </a:avLst>
          </a:prstGeom>
          <a:solidFill>
            <a:srgbClr val="FFFFFF"/>
          </a:solidFill>
          <a:ln w="12700">
            <a:solidFill>
              <a:srgbClr val="D7E0F0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713232" y="3172968"/>
            <a:ext cx="3264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Firmware model</a:t>
            </a:r>
            <a:endParaRPr lang="en-US" sz="1200" dirty="0"/>
          </a:p>
        </p:txBody>
      </p:sp>
      <p:sp>
        <p:nvSpPr>
          <p:cNvPr id="24" name="Text 21"/>
          <p:cNvSpPr txBox="1"/>
          <p:nvPr/>
        </p:nvSpPr>
        <p:spPr>
          <a:xfrm>
            <a:off x="713232" y="3502152"/>
            <a:ext cx="3264408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5000"/>
              </a:lnSpc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CE student: pre-compiled ESP32 binary, UDP over built-in WiFi — works standalone, zero extra build</a:t>
            </a:r>
            <a:endParaRPr lang="en-US" sz="950" dirty="0"/>
          </a:p>
          <a:p>
            <a:pPr marL="152400" indent="-152400">
              <a:lnSpc>
                <a:spcPct val="105000"/>
              </a:lnSpc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CE student: ESP32 source w/ nRF24 driver stubbed in; STM32 dongle fully open (bring-up + driver + USB)</a:t>
            </a:r>
            <a:endParaRPr lang="en-US" sz="950" dirty="0"/>
          </a:p>
        </p:txBody>
      </p:sp>
      <p:sp>
        <p:nvSpPr>
          <p:cNvPr id="25" name="Shape 22"/>
          <p:cNvSpPr/>
          <p:nvPr/>
        </p:nvSpPr>
        <p:spPr>
          <a:xfrm>
            <a:off x="4306824" y="3063240"/>
            <a:ext cx="3593592" cy="1965960"/>
          </a:xfrm>
          <a:prstGeom prst="roundRect">
            <a:avLst>
              <a:gd name="adj" fmla="val 3256"/>
            </a:avLst>
          </a:prstGeom>
          <a:solidFill>
            <a:srgbClr val="FFFFFF"/>
          </a:solidFill>
          <a:ln w="12700">
            <a:solidFill>
              <a:srgbClr val="D7E0F0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4471416" y="3172968"/>
            <a:ext cx="3264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philosophy</a:t>
            </a:r>
            <a:endParaRPr lang="en-US" sz="1200" dirty="0"/>
          </a:p>
        </p:txBody>
      </p:sp>
      <p:sp>
        <p:nvSpPr>
          <p:cNvPr id="27" name="Text 24"/>
          <p:cNvSpPr txBox="1"/>
          <p:nvPr/>
        </p:nvSpPr>
        <p:spPr>
          <a:xfrm>
            <a:off x="4471416" y="3502152"/>
            <a:ext cx="3264408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5000"/>
              </a:lnSpc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loop — drive signals, sensor reads, interlocks — runs ON the ESP32, never on the PC</a:t>
            </a:r>
            <a:endParaRPr lang="en-US" sz="950" dirty="0"/>
          </a:p>
          <a:p>
            <a:pPr marL="152400" indent="-152400">
              <a:lnSpc>
                <a:spcPct val="105000"/>
              </a:lnSpc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nRF24 not fit for tight feedback; core crane function is independent of dashboard/CE availability</a:t>
            </a:r>
            <a:endParaRPr lang="en-US" sz="950" dirty="0"/>
          </a:p>
          <a:p>
            <a:pPr marL="152400" indent="-152400">
              <a:lnSpc>
                <a:spcPct val="105000"/>
              </a:lnSpc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Anti-sway &amp; obstacle avoidance: open-loop, model-based — no IMU, no obstacle sensor needed</a:t>
            </a:r>
            <a:endParaRPr lang="en-US" sz="950" dirty="0"/>
          </a:p>
        </p:txBody>
      </p:sp>
      <p:sp>
        <p:nvSpPr>
          <p:cNvPr id="28" name="Shape 25"/>
          <p:cNvSpPr/>
          <p:nvPr/>
        </p:nvSpPr>
        <p:spPr>
          <a:xfrm>
            <a:off x="8065008" y="3063240"/>
            <a:ext cx="3593592" cy="1965960"/>
          </a:xfrm>
          <a:prstGeom prst="roundRect">
            <a:avLst>
              <a:gd name="adj" fmla="val 3256"/>
            </a:avLst>
          </a:prstGeom>
          <a:solidFill>
            <a:srgbClr val="FFFFFF"/>
          </a:solidFill>
          <a:ln w="12700">
            <a:solidFill>
              <a:srgbClr val="D7E0F0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8229600" y="3172968"/>
            <a:ext cx="3264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GPIO / pin budget</a:t>
            </a:r>
            <a:endParaRPr lang="en-US" sz="1200" dirty="0"/>
          </a:p>
        </p:txBody>
      </p:sp>
      <p:sp>
        <p:nvSpPr>
          <p:cNvPr id="30" name="Text 27"/>
          <p:cNvSpPr txBox="1"/>
          <p:nvPr/>
        </p:nvSpPr>
        <p:spPr>
          <a:xfrm>
            <a:off x="8229600" y="3502152"/>
            <a:ext cx="3264408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5000"/>
              </a:lnSpc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 committed of 34 usable GPIO (36 total − 2 for native USB)</a:t>
            </a:r>
            <a:endParaRPr lang="en-US" sz="950" dirty="0"/>
          </a:p>
          <a:p>
            <a:pPr marL="152400" indent="-152400">
              <a:lnSpc>
                <a:spcPct val="105000"/>
              </a:lnSpc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6× EE1 gate/PWM · EE2 magnet PWM · MC2 dir/PWM/encoder×2 · nRF24 CS/CE/IRQ · SPI×3 · 5-pin expansion</a:t>
            </a:r>
            <a:endParaRPr lang="en-US" sz="950" dirty="0"/>
          </a:p>
          <a:p>
            <a:pPr marL="152400" indent="-152400">
              <a:lnSpc>
                <a:spcPct val="105000"/>
              </a:lnSpc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pins margin remain — 4 free, 4 strapping-reserved</a:t>
            </a:r>
            <a:endParaRPr lang="en-US" sz="950" dirty="0"/>
          </a:p>
        </p:txBody>
      </p:sp>
      <p:sp>
        <p:nvSpPr>
          <p:cNvPr id="31" name="Shape 28"/>
          <p:cNvSpPr/>
          <p:nvPr/>
        </p:nvSpPr>
        <p:spPr>
          <a:xfrm>
            <a:off x="548640" y="5175504"/>
            <a:ext cx="11109960" cy="777240"/>
          </a:xfrm>
          <a:prstGeom prst="roundRect">
            <a:avLst>
              <a:gd name="adj" fmla="val 8235"/>
            </a:avLst>
          </a:prstGeom>
          <a:solidFill>
            <a:srgbClr val="E8A33D"/>
          </a:solidFill>
          <a:ln/>
        </p:spPr>
      </p:sp>
      <p:sp>
        <p:nvSpPr>
          <p:cNvPr id="32" name="Text 29"/>
          <p:cNvSpPr txBox="1"/>
          <p:nvPr/>
        </p:nvSpPr>
        <p:spPr>
          <a:xfrm>
            <a:off x="777240" y="5248656"/>
            <a:ext cx="402336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— RESOLVE BEFORE THE ICD IS DRAFTED</a:t>
            </a:r>
            <a:endParaRPr lang="en-US" sz="1100" dirty="0"/>
          </a:p>
        </p:txBody>
      </p:sp>
      <p:sp>
        <p:nvSpPr>
          <p:cNvPr id="33" name="Text 30"/>
          <p:cNvSpPr txBox="1"/>
          <p:nvPr/>
        </p:nvSpPr>
        <p:spPr>
          <a:xfrm>
            <a:off x="4846320" y="5248656"/>
            <a:ext cx="667512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 board owner: EE2 or MC2  ·  core/IO board schematics not yet finalised  ·  analog signal conditioning for magnet current-sense is the IO board's job, unspecified</a:t>
            </a:r>
            <a:endParaRPr lang="en-US" sz="1050" dirty="0"/>
          </a:p>
        </p:txBody>
      </p:sp>
      <p:sp>
        <p:nvSpPr>
          <p:cNvPr id="34" name="Text 31"/>
          <p:cNvSpPr txBox="1"/>
          <p:nvPr/>
        </p:nvSpPr>
        <p:spPr>
          <a:xfrm>
            <a:off x="457200" y="651967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 Specification 2026  ·  reference for all five work packages and the group ICD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-1645920"/>
            <a:ext cx="4572000" cy="4572000"/>
          </a:xfrm>
          <a:prstGeom prst="ellipse">
            <a:avLst/>
          </a:prstGeom>
          <a:solidFill>
            <a:srgbClr val="141B4D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5943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DATES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777240" y="91440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happens next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822960" y="1920240"/>
            <a:ext cx="1554480" cy="566928"/>
          </a:xfrm>
          <a:prstGeom prst="roundRect">
            <a:avLst>
              <a:gd name="adj" fmla="val 50000"/>
            </a:avLst>
          </a:prstGeom>
          <a:solidFill>
            <a:srgbClr val="E8A33D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1920240"/>
            <a:ext cx="1554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Sep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2606040" y="1920240"/>
            <a:ext cx="8503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 checkpoint due — all five work packages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822960" y="2761488"/>
            <a:ext cx="1554480" cy="566928"/>
          </a:xfrm>
          <a:prstGeom prst="roundRect">
            <a:avLst>
              <a:gd name="adj" fmla="val 50000"/>
            </a:avLst>
          </a:prstGeom>
          <a:solidFill>
            <a:srgbClr val="E8A33D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22960" y="2761488"/>
            <a:ext cx="1554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Sep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2606040" y="2761488"/>
            <a:ext cx="8503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Increment 3 begins — group ICD drafted &amp; signed off in week 1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822960" y="3602736"/>
            <a:ext cx="1554480" cy="566928"/>
          </a:xfrm>
          <a:prstGeom prst="roundRect">
            <a:avLst>
              <a:gd name="adj" fmla="val 50000"/>
            </a:avLst>
          </a:prstGeom>
          <a:solidFill>
            <a:srgbClr val="E8A33D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22960" y="3602736"/>
            <a:ext cx="1554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 Oct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2606040" y="3602736"/>
            <a:ext cx="8503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Participation marks captured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822960" y="4443984"/>
            <a:ext cx="1554480" cy="566928"/>
          </a:xfrm>
          <a:prstGeom prst="roundRect">
            <a:avLst>
              <a:gd name="adj" fmla="val 50000"/>
            </a:avLst>
          </a:prstGeom>
          <a:solidFill>
            <a:srgbClr val="E8A33D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22960" y="4443984"/>
            <a:ext cx="1554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Nov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2606040" y="4443984"/>
            <a:ext cx="8503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Demonstration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822960" y="5285232"/>
            <a:ext cx="1554480" cy="566928"/>
          </a:xfrm>
          <a:prstGeom prst="roundRect">
            <a:avLst>
              <a:gd name="adj" fmla="val 50000"/>
            </a:avLst>
          </a:prstGeom>
          <a:solidFill>
            <a:srgbClr val="E8A33D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822960" y="5285232"/>
            <a:ext cx="1554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Nov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2606040" y="5285232"/>
            <a:ext cx="8503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Group Presentation &amp; Individual Portfolio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457200" y="651967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North-West University  ·  Engineering Design 2026  ·  full schedule: EngDesign2026_Revised_Timeline.docx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2026-08-26T10:48:04Z</dcterms:created>
  <dcterms:modified xsi:type="dcterms:W3CDTF">2026-08-26T10:48:04Z</dcterms:modified>
</cp:coreProperties>
</file>