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26"/>
  </p:notesMasterIdLst>
  <p:sldIdLst>
    <p:sldId id="256" r:id="rId2"/>
    <p:sldId id="276" r:id="rId3"/>
    <p:sldId id="294" r:id="rId4"/>
    <p:sldId id="295" r:id="rId5"/>
    <p:sldId id="296" r:id="rId6"/>
    <p:sldId id="298" r:id="rId7"/>
    <p:sldId id="299" r:id="rId8"/>
    <p:sldId id="277" r:id="rId9"/>
    <p:sldId id="278" r:id="rId10"/>
    <p:sldId id="279" r:id="rId11"/>
    <p:sldId id="280" r:id="rId12"/>
    <p:sldId id="282" r:id="rId13"/>
    <p:sldId id="283" r:id="rId14"/>
    <p:sldId id="281" r:id="rId15"/>
    <p:sldId id="284" r:id="rId16"/>
    <p:sldId id="285" r:id="rId17"/>
    <p:sldId id="286" r:id="rId18"/>
    <p:sldId id="287" r:id="rId19"/>
    <p:sldId id="288" r:id="rId20"/>
    <p:sldId id="289" r:id="rId21"/>
    <p:sldId id="290" r:id="rId22"/>
    <p:sldId id="291" r:id="rId23"/>
    <p:sldId id="292" r:id="rId24"/>
    <p:sldId id="29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53" autoAdjust="0"/>
    <p:restoredTop sz="96433" autoAdjust="0"/>
  </p:normalViewPr>
  <p:slideViewPr>
    <p:cSldViewPr snapToGrid="0">
      <p:cViewPr>
        <p:scale>
          <a:sx n="75" d="100"/>
          <a:sy n="75" d="100"/>
        </p:scale>
        <p:origin x="2106"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214CD7-5223-4EFD-A455-866C4C74A817}" type="datetimeFigureOut">
              <a:rPr lang="en-GB" smtClean="0"/>
              <a:t>03/08/2026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8B9C4-BC1C-48D0-AE2F-1D9956065748}" type="slidenum">
              <a:rPr lang="en-GB" smtClean="0"/>
              <a:t>‹#›</a:t>
            </a:fld>
            <a:endParaRPr lang="en-GB"/>
          </a:p>
        </p:txBody>
      </p:sp>
    </p:spTree>
    <p:extLst>
      <p:ext uri="{BB962C8B-B14F-4D97-AF65-F5344CB8AC3E}">
        <p14:creationId xmlns:p14="http://schemas.microsoft.com/office/powerpoint/2010/main" val="1131023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the</a:t>
            </a:r>
            <a:r>
              <a:rPr lang="en-GB" baseline="0" dirty="0"/>
              <a:t> SE deems the RA phase to be sufficiently detailed, the analysis phase progresses to the Functional Analysis phase. As indicated in the figure, the SE is welcome to return to RA should the need arise.</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3</a:t>
            </a:fld>
            <a:endParaRPr lang="en-GB"/>
          </a:p>
        </p:txBody>
      </p:sp>
    </p:spTree>
    <p:extLst>
      <p:ext uri="{BB962C8B-B14F-4D97-AF65-F5344CB8AC3E}">
        <p14:creationId xmlns:p14="http://schemas.microsoft.com/office/powerpoint/2010/main" val="1700883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functions must have a name.</a:t>
            </a:r>
            <a:r>
              <a:rPr lang="en-GB" baseline="0" dirty="0"/>
              <a:t> Since we are describing what the system is supposed to DO you must make use of </a:t>
            </a:r>
            <a:r>
              <a:rPr lang="en-GB" b="1" baseline="0" dirty="0"/>
              <a:t>VERBS</a:t>
            </a:r>
            <a:endParaRPr lang="en-GB" b="1" dirty="0"/>
          </a:p>
        </p:txBody>
      </p:sp>
      <p:sp>
        <p:nvSpPr>
          <p:cNvPr id="4" name="Slide Number Placeholder 3"/>
          <p:cNvSpPr>
            <a:spLocks noGrp="1"/>
          </p:cNvSpPr>
          <p:nvPr>
            <p:ph type="sldNum" sz="quarter" idx="10"/>
          </p:nvPr>
        </p:nvSpPr>
        <p:spPr/>
        <p:txBody>
          <a:bodyPr/>
          <a:lstStyle/>
          <a:p>
            <a:fld id="{CA68B9C4-BC1C-48D0-AE2F-1D9956065748}" type="slidenum">
              <a:rPr lang="en-GB" smtClean="0"/>
              <a:t>8</a:t>
            </a:fld>
            <a:endParaRPr lang="en-GB"/>
          </a:p>
        </p:txBody>
      </p:sp>
    </p:spTree>
    <p:extLst>
      <p:ext uri="{BB962C8B-B14F-4D97-AF65-F5344CB8AC3E}">
        <p14:creationId xmlns:p14="http://schemas.microsoft.com/office/powerpoint/2010/main" val="2864688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2BEEDC0-5444-4659-AB2C-6D25856E6AF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833386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02997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0927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46877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0FEAA-223B-4D36-92FC-916400F612EA}" type="datetimeFigureOut">
              <a:rPr lang="en-GB" smtClean="0"/>
              <a:t>03/08/2026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1693364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E0FEAA-223B-4D36-92FC-916400F612EA}" type="datetimeFigureOut">
              <a:rPr lang="en-GB" smtClean="0"/>
              <a:t>03/08/2026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2007057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E0FEAA-223B-4D36-92FC-916400F612EA}" type="datetimeFigureOut">
              <a:rPr lang="en-GB" smtClean="0"/>
              <a:t>03/08/2026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46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833511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53223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800682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469616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4DE0FEAA-223B-4D36-92FC-916400F612EA}" type="datetimeFigureOut">
              <a:rPr lang="en-GB" smtClean="0"/>
              <a:t>03/08/2026</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2BEEDC0-5444-4659-AB2C-6D25856E6AF5}" type="slidenum">
              <a:rPr lang="en-GB" smtClean="0"/>
              <a:t>‹#›</a:t>
            </a:fld>
            <a:endParaRPr lang="en-GB"/>
          </a:p>
        </p:txBody>
      </p:sp>
    </p:spTree>
    <p:extLst>
      <p:ext uri="{BB962C8B-B14F-4D97-AF65-F5344CB8AC3E}">
        <p14:creationId xmlns:p14="http://schemas.microsoft.com/office/powerpoint/2010/main" val="412288295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The start of the details</a:t>
            </a:r>
          </a:p>
        </p:txBody>
      </p:sp>
      <p:sp>
        <p:nvSpPr>
          <p:cNvPr id="5" name="Subtitle 4"/>
          <p:cNvSpPr>
            <a:spLocks noGrp="1"/>
          </p:cNvSpPr>
          <p:nvPr>
            <p:ph type="subTitle" idx="1"/>
          </p:nvPr>
        </p:nvSpPr>
        <p:spPr/>
        <p:txBody>
          <a:bodyPr/>
          <a:lstStyle/>
          <a:p>
            <a:r>
              <a:rPr lang="en-GB" dirty="0"/>
              <a:t>Functional Behavioural Analysis</a:t>
            </a:r>
          </a:p>
        </p:txBody>
      </p:sp>
      <p:sp>
        <p:nvSpPr>
          <p:cNvPr id="4" name="TextBox 3">
            <a:extLst>
              <a:ext uri="{FF2B5EF4-FFF2-40B4-BE49-F238E27FC236}">
                <a16:creationId xmlns:a16="http://schemas.microsoft.com/office/drawing/2014/main" id="{5C89E268-948D-EBD8-B17D-839D38085D47}"/>
              </a:ext>
            </a:extLst>
          </p:cNvPr>
          <p:cNvSpPr txBox="1"/>
          <p:nvPr/>
        </p:nvSpPr>
        <p:spPr>
          <a:xfrm>
            <a:off x="10080843" y="6099048"/>
            <a:ext cx="2050561" cy="646331"/>
          </a:xfrm>
          <a:prstGeom prst="rect">
            <a:avLst/>
          </a:prstGeom>
          <a:noFill/>
        </p:spPr>
        <p:txBody>
          <a:bodyPr wrap="none" rtlCol="0">
            <a:spAutoFit/>
          </a:bodyPr>
          <a:lstStyle/>
          <a:p>
            <a:r>
              <a:rPr lang="en-GB" dirty="0"/>
              <a:t>Mr DJ Kritzinger</a:t>
            </a:r>
          </a:p>
          <a:p>
            <a:r>
              <a:rPr lang="en-GB" dirty="0"/>
              <a:t>August 2026</a:t>
            </a:r>
          </a:p>
        </p:txBody>
      </p:sp>
      <p:sp>
        <p:nvSpPr>
          <p:cNvPr id="7" name="TextBox 6">
            <a:extLst>
              <a:ext uri="{FF2B5EF4-FFF2-40B4-BE49-F238E27FC236}">
                <a16:creationId xmlns:a16="http://schemas.microsoft.com/office/drawing/2014/main" id="{BB884698-FEBE-4CF5-018A-012CFB217033}"/>
              </a:ext>
            </a:extLst>
          </p:cNvPr>
          <p:cNvSpPr txBox="1"/>
          <p:nvPr/>
        </p:nvSpPr>
        <p:spPr>
          <a:xfrm>
            <a:off x="1261872" y="5323254"/>
            <a:ext cx="1854995" cy="646331"/>
          </a:xfrm>
          <a:prstGeom prst="rect">
            <a:avLst/>
          </a:prstGeom>
          <a:noFill/>
        </p:spPr>
        <p:txBody>
          <a:bodyPr wrap="none" rtlCol="0">
            <a:spAutoFit/>
          </a:bodyPr>
          <a:lstStyle/>
          <a:p>
            <a:r>
              <a:rPr lang="en-GB" dirty="0"/>
              <a:t>Lecture Week 4</a:t>
            </a:r>
          </a:p>
          <a:p>
            <a:r>
              <a:rPr lang="en-GB" dirty="0"/>
              <a:t>Deck 1</a:t>
            </a:r>
          </a:p>
        </p:txBody>
      </p:sp>
    </p:spTree>
    <p:extLst>
      <p:ext uri="{BB962C8B-B14F-4D97-AF65-F5344CB8AC3E}">
        <p14:creationId xmlns:p14="http://schemas.microsoft.com/office/powerpoint/2010/main" val="144677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Today….</a:t>
            </a:r>
          </a:p>
        </p:txBody>
      </p:sp>
      <p:sp>
        <p:nvSpPr>
          <p:cNvPr id="3" name="Content Placeholder 2"/>
          <p:cNvSpPr>
            <a:spLocks noGrp="1"/>
          </p:cNvSpPr>
          <p:nvPr>
            <p:ph idx="1"/>
          </p:nvPr>
        </p:nvSpPr>
        <p:spPr/>
        <p:txBody>
          <a:bodyPr/>
          <a:lstStyle/>
          <a:p>
            <a:r>
              <a:rPr lang="en-GB" dirty="0"/>
              <a:t>FFBDs a quick introduction and graphical rules</a:t>
            </a:r>
          </a:p>
          <a:p>
            <a:r>
              <a:rPr lang="en-GB" dirty="0"/>
              <a:t>Details of the functional flow constructs</a:t>
            </a:r>
          </a:p>
          <a:p>
            <a:r>
              <a:rPr lang="en-GB" dirty="0"/>
              <a:t>When to halt decomposition</a:t>
            </a:r>
          </a:p>
          <a:p>
            <a:endParaRPr lang="en-GB" dirty="0"/>
          </a:p>
          <a:p>
            <a:endParaRPr lang="en-GB" dirty="0"/>
          </a:p>
        </p:txBody>
      </p:sp>
    </p:spTree>
    <p:extLst>
      <p:ext uri="{BB962C8B-B14F-4D97-AF65-F5344CB8AC3E}">
        <p14:creationId xmlns:p14="http://schemas.microsoft.com/office/powerpoint/2010/main" val="1745388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Getting into the functional side</a:t>
            </a:r>
          </a:p>
        </p:txBody>
      </p:sp>
      <p:pic>
        <p:nvPicPr>
          <p:cNvPr id="4" name="Content Placeholder 3"/>
          <p:cNvPicPr>
            <a:picLocks noChangeAspect="1"/>
          </p:cNvPicPr>
          <p:nvPr/>
        </p:nvPicPr>
        <p:blipFill>
          <a:blip r:embed="rId3"/>
          <a:stretch>
            <a:fillRect/>
          </a:stretch>
        </p:blipFill>
        <p:spPr>
          <a:xfrm>
            <a:off x="2313197" y="2501011"/>
            <a:ext cx="6218390" cy="2790404"/>
          </a:xfrm>
          <a:prstGeom prst="rect">
            <a:avLst/>
          </a:prstGeom>
        </p:spPr>
      </p:pic>
      <p:sp>
        <p:nvSpPr>
          <p:cNvPr id="6" name="Notched Right Arrow 5"/>
          <p:cNvSpPr/>
          <p:nvPr/>
        </p:nvSpPr>
        <p:spPr>
          <a:xfrm>
            <a:off x="2287797" y="3297515"/>
            <a:ext cx="2019300" cy="1007785"/>
          </a:xfrm>
          <a:prstGeom prst="notched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1388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Functional Analysis</a:t>
            </a:r>
          </a:p>
        </p:txBody>
      </p:sp>
      <p:sp>
        <p:nvSpPr>
          <p:cNvPr id="3" name="Content Placeholder 2"/>
          <p:cNvSpPr>
            <a:spLocks noGrp="1"/>
          </p:cNvSpPr>
          <p:nvPr>
            <p:ph idx="1"/>
          </p:nvPr>
        </p:nvSpPr>
        <p:spPr/>
        <p:txBody>
          <a:bodyPr/>
          <a:lstStyle/>
          <a:p>
            <a:r>
              <a:rPr lang="en-GB" dirty="0"/>
              <a:t>Analysis tool</a:t>
            </a:r>
          </a:p>
          <a:p>
            <a:r>
              <a:rPr lang="en-GB" dirty="0"/>
              <a:t>Behaviour of the system on a lower / per function level</a:t>
            </a:r>
          </a:p>
          <a:p>
            <a:r>
              <a:rPr lang="en-GB" dirty="0"/>
              <a:t>No direct physical mapping</a:t>
            </a:r>
          </a:p>
          <a:p>
            <a:r>
              <a:rPr lang="en-GB" dirty="0"/>
              <a:t>Clarifies “WHAT” happens in a specific mode (</a:t>
            </a:r>
            <a:r>
              <a:rPr lang="en-GB"/>
              <a:t>or collection of)</a:t>
            </a:r>
            <a:endParaRPr lang="en-GB" dirty="0"/>
          </a:p>
          <a:p>
            <a:r>
              <a:rPr lang="en-GB" dirty="0"/>
              <a:t>Functional decomposition by means of block diagrams</a:t>
            </a:r>
          </a:p>
          <a:p>
            <a:r>
              <a:rPr lang="en-GB" dirty="0"/>
              <a:t>Functional flow block diagrams (FFBDs)</a:t>
            </a:r>
          </a:p>
        </p:txBody>
      </p:sp>
      <p:pic>
        <p:nvPicPr>
          <p:cNvPr id="6" name="Picture 5"/>
          <p:cNvPicPr>
            <a:picLocks noChangeAspect="1"/>
          </p:cNvPicPr>
          <p:nvPr/>
        </p:nvPicPr>
        <p:blipFill>
          <a:blip r:embed="rId2"/>
          <a:stretch>
            <a:fillRect/>
          </a:stretch>
        </p:blipFill>
        <p:spPr>
          <a:xfrm>
            <a:off x="5847550" y="4445218"/>
            <a:ext cx="1747050" cy="1734919"/>
          </a:xfrm>
          <a:prstGeom prst="rect">
            <a:avLst/>
          </a:prstGeom>
        </p:spPr>
      </p:pic>
      <p:sp>
        <p:nvSpPr>
          <p:cNvPr id="7" name="Right Arrow 6"/>
          <p:cNvSpPr/>
          <p:nvPr/>
        </p:nvSpPr>
        <p:spPr>
          <a:xfrm rot="2607822">
            <a:off x="5306138" y="4887273"/>
            <a:ext cx="1082825" cy="23327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36516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a simple example</a:t>
            </a:r>
          </a:p>
        </p:txBody>
      </p:sp>
      <p:pic>
        <p:nvPicPr>
          <p:cNvPr id="4" name="Content Placeholder 3"/>
          <p:cNvPicPr>
            <a:picLocks noGrp="1" noChangeAspect="1"/>
          </p:cNvPicPr>
          <p:nvPr>
            <p:ph idx="1"/>
          </p:nvPr>
        </p:nvPicPr>
        <p:blipFill>
          <a:blip r:embed="rId2"/>
          <a:stretch>
            <a:fillRect/>
          </a:stretch>
        </p:blipFill>
        <p:spPr>
          <a:xfrm>
            <a:off x="1436494" y="1828800"/>
            <a:ext cx="8245862" cy="4351338"/>
          </a:xfrm>
          <a:prstGeom prst="rect">
            <a:avLst/>
          </a:prstGeom>
        </p:spPr>
      </p:pic>
      <p:sp>
        <p:nvSpPr>
          <p:cNvPr id="5" name="Oval 4"/>
          <p:cNvSpPr/>
          <p:nvPr/>
        </p:nvSpPr>
        <p:spPr>
          <a:xfrm>
            <a:off x="6108192" y="3898900"/>
            <a:ext cx="2374900" cy="17399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600" dirty="0">
                <a:solidFill>
                  <a:srgbClr val="FF0000"/>
                </a:solidFill>
                <a:latin typeface="Impact" panose="020B0806030902050204" pitchFamily="34" charset="0"/>
              </a:rPr>
              <a:t>?</a:t>
            </a:r>
          </a:p>
        </p:txBody>
      </p:sp>
    </p:spTree>
    <p:extLst>
      <p:ext uri="{BB962C8B-B14F-4D97-AF65-F5344CB8AC3E}">
        <p14:creationId xmlns:p14="http://schemas.microsoft.com/office/powerpoint/2010/main" val="1565628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Rules for developing functional decomposition</a:t>
            </a:r>
          </a:p>
        </p:txBody>
      </p:sp>
      <p:sp>
        <p:nvSpPr>
          <p:cNvPr id="3" name="Content Placeholder 2"/>
          <p:cNvSpPr>
            <a:spLocks noGrp="1"/>
          </p:cNvSpPr>
          <p:nvPr>
            <p:ph idx="1"/>
          </p:nvPr>
        </p:nvSpPr>
        <p:spPr>
          <a:xfrm>
            <a:off x="1261872" y="1828800"/>
            <a:ext cx="3988117" cy="4351337"/>
          </a:xfrm>
        </p:spPr>
        <p:txBody>
          <a:bodyPr/>
          <a:lstStyle/>
          <a:p>
            <a:r>
              <a:rPr lang="en-GB" dirty="0"/>
              <a:t>Start with a life-cycle perspective of the system</a:t>
            </a:r>
          </a:p>
          <a:p>
            <a:r>
              <a:rPr lang="en-GB" dirty="0"/>
              <a:t>Include all system functions in a single element</a:t>
            </a:r>
          </a:p>
        </p:txBody>
      </p:sp>
      <p:pic>
        <p:nvPicPr>
          <p:cNvPr id="5" name="Picture 4"/>
          <p:cNvPicPr>
            <a:picLocks noChangeAspect="1"/>
          </p:cNvPicPr>
          <p:nvPr/>
        </p:nvPicPr>
        <p:blipFill>
          <a:blip r:embed="rId2"/>
          <a:stretch>
            <a:fillRect/>
          </a:stretch>
        </p:blipFill>
        <p:spPr>
          <a:xfrm>
            <a:off x="4277330" y="1447280"/>
            <a:ext cx="6857810" cy="4732857"/>
          </a:xfrm>
          <a:prstGeom prst="rect">
            <a:avLst/>
          </a:prstGeom>
        </p:spPr>
      </p:pic>
      <p:sp>
        <p:nvSpPr>
          <p:cNvPr id="4" name="Oval 3">
            <a:extLst>
              <a:ext uri="{FF2B5EF4-FFF2-40B4-BE49-F238E27FC236}">
                <a16:creationId xmlns:a16="http://schemas.microsoft.com/office/drawing/2014/main" id="{D3965F78-08D7-5E92-F47D-13D006BD7814}"/>
              </a:ext>
            </a:extLst>
          </p:cNvPr>
          <p:cNvSpPr/>
          <p:nvPr/>
        </p:nvSpPr>
        <p:spPr>
          <a:xfrm>
            <a:off x="323617" y="4577715"/>
            <a:ext cx="3065625" cy="17399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Impact" panose="020B0806030902050204" pitchFamily="34" charset="0"/>
              </a:rPr>
              <a:t>Expedite process and only consider the operation of the system</a:t>
            </a:r>
          </a:p>
        </p:txBody>
      </p:sp>
    </p:spTree>
    <p:extLst>
      <p:ext uri="{BB962C8B-B14F-4D97-AF65-F5344CB8AC3E}">
        <p14:creationId xmlns:p14="http://schemas.microsoft.com/office/powerpoint/2010/main" val="2914372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Decomposing elements</a:t>
            </a:r>
          </a:p>
        </p:txBody>
      </p:sp>
      <p:pic>
        <p:nvPicPr>
          <p:cNvPr id="4" name="Picture 3"/>
          <p:cNvPicPr>
            <a:picLocks noChangeAspect="1"/>
          </p:cNvPicPr>
          <p:nvPr/>
        </p:nvPicPr>
        <p:blipFill>
          <a:blip r:embed="rId2"/>
          <a:stretch>
            <a:fillRect/>
          </a:stretch>
        </p:blipFill>
        <p:spPr>
          <a:xfrm>
            <a:off x="172162" y="3943663"/>
            <a:ext cx="8313470" cy="2651134"/>
          </a:xfrm>
          <a:prstGeom prst="rect">
            <a:avLst/>
          </a:prstGeom>
        </p:spPr>
      </p:pic>
      <p:pic>
        <p:nvPicPr>
          <p:cNvPr id="5" name="Picture 4"/>
          <p:cNvPicPr>
            <a:picLocks noChangeAspect="1"/>
          </p:cNvPicPr>
          <p:nvPr/>
        </p:nvPicPr>
        <p:blipFill>
          <a:blip r:embed="rId3"/>
          <a:stretch>
            <a:fillRect/>
          </a:stretch>
        </p:blipFill>
        <p:spPr>
          <a:xfrm>
            <a:off x="6353366" y="1132232"/>
            <a:ext cx="4883814" cy="3370521"/>
          </a:xfrm>
          <a:prstGeom prst="rect">
            <a:avLst/>
          </a:prstGeom>
        </p:spPr>
      </p:pic>
      <p:cxnSp>
        <p:nvCxnSpPr>
          <p:cNvPr id="7" name="Straight Arrow Connector 6"/>
          <p:cNvCxnSpPr/>
          <p:nvPr/>
        </p:nvCxnSpPr>
        <p:spPr>
          <a:xfrm flipH="1">
            <a:off x="6543675" y="2486025"/>
            <a:ext cx="1941957" cy="1457638"/>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7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A function</a:t>
            </a:r>
          </a:p>
        </p:txBody>
      </p:sp>
      <p:sp>
        <p:nvSpPr>
          <p:cNvPr id="4" name="Rectangle 3"/>
          <p:cNvSpPr/>
          <p:nvPr/>
        </p:nvSpPr>
        <p:spPr>
          <a:xfrm>
            <a:off x="4287180" y="3279688"/>
            <a:ext cx="2379643" cy="10681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6" name="Rectangle 5"/>
          <p:cNvSpPr/>
          <p:nvPr/>
        </p:nvSpPr>
        <p:spPr>
          <a:xfrm>
            <a:off x="4287180" y="2795108"/>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cxnSp>
        <p:nvCxnSpPr>
          <p:cNvPr id="12" name="Straight Arrow Connector 11"/>
          <p:cNvCxnSpPr>
            <a:endCxn id="4" idx="1"/>
          </p:cNvCxnSpPr>
          <p:nvPr/>
        </p:nvCxnSpPr>
        <p:spPr>
          <a:xfrm>
            <a:off x="3032125" y="3813767"/>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666823" y="3809409"/>
            <a:ext cx="1028836" cy="217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4961493" y="4861174"/>
            <a:ext cx="1028836" cy="217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848475" y="3181350"/>
            <a:ext cx="463588" cy="523220"/>
          </a:xfrm>
          <a:prstGeom prst="rect">
            <a:avLst/>
          </a:prstGeom>
          <a:noFill/>
        </p:spPr>
        <p:txBody>
          <a:bodyPr wrap="none" rtlCol="0">
            <a:spAutoFit/>
          </a:bodyPr>
          <a:lstStyle/>
          <a:p>
            <a:r>
              <a:rPr lang="en-GB" sz="2800" dirty="0"/>
              <a:t>G</a:t>
            </a:r>
          </a:p>
        </p:txBody>
      </p:sp>
      <p:sp>
        <p:nvSpPr>
          <p:cNvPr id="22" name="TextBox 21"/>
          <p:cNvSpPr txBox="1"/>
          <p:nvPr/>
        </p:nvSpPr>
        <p:spPr>
          <a:xfrm>
            <a:off x="5686425" y="4490856"/>
            <a:ext cx="514350" cy="523220"/>
          </a:xfrm>
          <a:prstGeom prst="rect">
            <a:avLst/>
          </a:prstGeom>
          <a:noFill/>
        </p:spPr>
        <p:txBody>
          <a:bodyPr wrap="square" rtlCol="0">
            <a:spAutoFit/>
          </a:bodyPr>
          <a:lstStyle/>
          <a:p>
            <a:r>
              <a:rPr lang="en-GB" sz="2800" dirty="0"/>
              <a:t>G</a:t>
            </a:r>
          </a:p>
        </p:txBody>
      </p:sp>
      <p:cxnSp>
        <p:nvCxnSpPr>
          <p:cNvPr id="24" name="Straight Connector 23"/>
          <p:cNvCxnSpPr/>
          <p:nvPr/>
        </p:nvCxnSpPr>
        <p:spPr>
          <a:xfrm>
            <a:off x="5762247" y="4550569"/>
            <a:ext cx="3627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6267451" y="4095751"/>
            <a:ext cx="1552574" cy="1133474"/>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7820025" y="5229225"/>
            <a:ext cx="1743075" cy="119062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Function description must contain a </a:t>
            </a:r>
            <a:r>
              <a:rPr lang="en-GB" b="1" dirty="0">
                <a:solidFill>
                  <a:srgbClr val="0070C0"/>
                </a:solidFill>
              </a:rPr>
              <a:t>VERB</a:t>
            </a:r>
          </a:p>
        </p:txBody>
      </p:sp>
      <p:cxnSp>
        <p:nvCxnSpPr>
          <p:cNvPr id="31" name="Straight Arrow Connector 30"/>
          <p:cNvCxnSpPr/>
          <p:nvPr/>
        </p:nvCxnSpPr>
        <p:spPr>
          <a:xfrm flipH="1">
            <a:off x="7391400" y="2010410"/>
            <a:ext cx="2001689" cy="1170940"/>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9393089" y="2010410"/>
            <a:ext cx="1743075" cy="148526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Flow continues from here if Function X was successful</a:t>
            </a:r>
            <a:endParaRPr lang="en-GB" b="1" dirty="0">
              <a:solidFill>
                <a:srgbClr val="0070C0"/>
              </a:solidFill>
            </a:endParaRPr>
          </a:p>
        </p:txBody>
      </p:sp>
      <p:cxnSp>
        <p:nvCxnSpPr>
          <p:cNvPr id="34" name="Straight Arrow Connector 33"/>
          <p:cNvCxnSpPr/>
          <p:nvPr/>
        </p:nvCxnSpPr>
        <p:spPr>
          <a:xfrm flipV="1">
            <a:off x="4490319" y="4629150"/>
            <a:ext cx="775078" cy="431896"/>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747244" y="5061046"/>
            <a:ext cx="1743075" cy="148526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Flow continues from here if Function X failed</a:t>
            </a:r>
            <a:endParaRPr lang="en-GB" b="1" dirty="0">
              <a:solidFill>
                <a:srgbClr val="0070C0"/>
              </a:solidFill>
            </a:endParaRPr>
          </a:p>
        </p:txBody>
      </p:sp>
      <p:cxnSp>
        <p:nvCxnSpPr>
          <p:cNvPr id="38" name="Straight Arrow Connector 37"/>
          <p:cNvCxnSpPr/>
          <p:nvPr/>
        </p:nvCxnSpPr>
        <p:spPr>
          <a:xfrm flipV="1">
            <a:off x="1838282" y="3895725"/>
            <a:ext cx="1085110" cy="250266"/>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95207" y="4145991"/>
            <a:ext cx="1743075" cy="148526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Flow from previous functional element</a:t>
            </a:r>
            <a:endParaRPr lang="en-GB" b="1" dirty="0">
              <a:solidFill>
                <a:srgbClr val="0070C0"/>
              </a:solidFill>
            </a:endParaRPr>
          </a:p>
        </p:txBody>
      </p:sp>
      <p:cxnSp>
        <p:nvCxnSpPr>
          <p:cNvPr id="41" name="Straight Arrow Connector 40"/>
          <p:cNvCxnSpPr>
            <a:stCxn id="42" idx="3"/>
          </p:cNvCxnSpPr>
          <p:nvPr/>
        </p:nvCxnSpPr>
        <p:spPr>
          <a:xfrm>
            <a:off x="2923392" y="2546613"/>
            <a:ext cx="1289298" cy="494131"/>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16905" y="2112555"/>
            <a:ext cx="2306487" cy="868116"/>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Reference number for this element</a:t>
            </a:r>
          </a:p>
          <a:p>
            <a:pPr algn="ctr"/>
            <a:r>
              <a:rPr lang="en-GB" dirty="0">
                <a:solidFill>
                  <a:srgbClr val="0070C0"/>
                </a:solidFill>
              </a:rPr>
              <a:t>(</a:t>
            </a:r>
            <a:r>
              <a:rPr lang="en-GB" b="1" dirty="0">
                <a:solidFill>
                  <a:srgbClr val="0070C0"/>
                </a:solidFill>
              </a:rPr>
              <a:t>F</a:t>
            </a:r>
            <a:r>
              <a:rPr lang="en-GB" dirty="0">
                <a:solidFill>
                  <a:srgbClr val="0070C0"/>
                </a:solidFill>
              </a:rPr>
              <a:t>unctional / </a:t>
            </a:r>
            <a:r>
              <a:rPr lang="en-GB" b="1" dirty="0">
                <a:solidFill>
                  <a:srgbClr val="0070C0"/>
                </a:solidFill>
              </a:rPr>
              <a:t>U</a:t>
            </a:r>
            <a:r>
              <a:rPr lang="en-GB" dirty="0">
                <a:solidFill>
                  <a:srgbClr val="0070C0"/>
                </a:solidFill>
              </a:rPr>
              <a:t>nit)</a:t>
            </a:r>
            <a:endParaRPr lang="en-GB" b="1" dirty="0">
              <a:solidFill>
                <a:srgbClr val="0070C0"/>
              </a:solidFill>
            </a:endParaRPr>
          </a:p>
        </p:txBody>
      </p:sp>
    </p:spTree>
    <p:extLst>
      <p:ext uri="{BB962C8B-B14F-4D97-AF65-F5344CB8AC3E}">
        <p14:creationId xmlns:p14="http://schemas.microsoft.com/office/powerpoint/2010/main" val="10069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wipe(left)">
                                      <p:cBhvr>
                                        <p:cTn id="25" dur="500"/>
                                        <p:tgtEl>
                                          <p:spTgt spid="39"/>
                                        </p:tgtEl>
                                      </p:cBhvr>
                                    </p:animEffect>
                                  </p:childTnLst>
                                </p:cTn>
                              </p:par>
                              <p:par>
                                <p:cTn id="26" presetID="22" presetClass="entr" presetSubtype="8"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left)">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wipe(left)">
                                      <p:cBhvr>
                                        <p:cTn id="38" dur="500"/>
                                        <p:tgtEl>
                                          <p:spTgt spid="42"/>
                                        </p:tgtEl>
                                      </p:cBhvr>
                                    </p:animEffect>
                                  </p:childTnLst>
                                </p:cTn>
                              </p:par>
                              <p:par>
                                <p:cTn id="39" presetID="22" presetClass="entr" presetSubtype="8"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left)">
                                      <p:cBhvr>
                                        <p:cTn id="41" dur="500"/>
                                        <p:tgtEl>
                                          <p:spTgt spid="4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right)">
                                      <p:cBhvr>
                                        <p:cTn id="54" dur="500"/>
                                        <p:tgtEl>
                                          <p:spTgt spid="31"/>
                                        </p:tgtEl>
                                      </p:cBhvr>
                                    </p:animEffect>
                                  </p:childTnLst>
                                </p:cTn>
                              </p:par>
                              <p:par>
                                <p:cTn id="55" presetID="2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right)">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wipe(down)">
                                      <p:cBhvr>
                                        <p:cTn id="73" dur="500"/>
                                        <p:tgtEl>
                                          <p:spTgt spid="35"/>
                                        </p:tgtEl>
                                      </p:cBhvr>
                                    </p:animEffect>
                                  </p:childTnLst>
                                </p:cTn>
                              </p:par>
                              <p:par>
                                <p:cTn id="74" presetID="22" presetClass="entr" presetSubtype="4" fill="hold"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wipe(down)">
                                      <p:cBhvr>
                                        <p:cTn id="7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21" grpId="0"/>
      <p:bldP spid="22" grpId="0"/>
      <p:bldP spid="29" grpId="0" animBg="1"/>
      <p:bldP spid="32" grpId="0" animBg="1"/>
      <p:bldP spid="35" grpId="0" animBg="1"/>
      <p:bldP spid="39" grpId="0" animBg="1"/>
      <p:bldP spid="4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A reference function</a:t>
            </a:r>
          </a:p>
        </p:txBody>
      </p:sp>
      <p:sp>
        <p:nvSpPr>
          <p:cNvPr id="4" name="Rectangle 3"/>
          <p:cNvSpPr/>
          <p:nvPr/>
        </p:nvSpPr>
        <p:spPr>
          <a:xfrm>
            <a:off x="4287180" y="3279688"/>
            <a:ext cx="2379643" cy="106815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287180" y="2795110"/>
            <a:ext cx="2379643" cy="48457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REF x.y.z.2</a:t>
            </a:r>
          </a:p>
        </p:txBody>
      </p:sp>
      <p:cxnSp>
        <p:nvCxnSpPr>
          <p:cNvPr id="6" name="Straight Arrow Connector 5"/>
          <p:cNvCxnSpPr>
            <a:stCxn id="7" idx="3"/>
          </p:cNvCxnSpPr>
          <p:nvPr/>
        </p:nvCxnSpPr>
        <p:spPr>
          <a:xfrm>
            <a:off x="2997882" y="2196807"/>
            <a:ext cx="1289298" cy="547552"/>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91395" y="1816170"/>
            <a:ext cx="2306487" cy="761274"/>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Box denoted by dashed lines</a:t>
            </a:r>
          </a:p>
        </p:txBody>
      </p:sp>
      <p:cxnSp>
        <p:nvCxnSpPr>
          <p:cNvPr id="10" name="Straight Arrow Connector 9"/>
          <p:cNvCxnSpPr>
            <a:stCxn id="11" idx="1"/>
          </p:cNvCxnSpPr>
          <p:nvPr/>
        </p:nvCxnSpPr>
        <p:spPr>
          <a:xfrm flipH="1">
            <a:off x="6852062" y="2795110"/>
            <a:ext cx="1151295" cy="149972"/>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003357" y="2361052"/>
            <a:ext cx="2306487" cy="868116"/>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rgbClr val="0070C0"/>
                </a:solidFill>
              </a:rPr>
              <a:t>REF</a:t>
            </a:r>
            <a:r>
              <a:rPr lang="en-GB" dirty="0" err="1">
                <a:solidFill>
                  <a:srgbClr val="0070C0"/>
                </a:solidFill>
              </a:rPr>
              <a:t>erence</a:t>
            </a:r>
            <a:r>
              <a:rPr lang="en-GB" dirty="0">
                <a:solidFill>
                  <a:srgbClr val="0070C0"/>
                </a:solidFill>
              </a:rPr>
              <a:t> number must maintain traceability</a:t>
            </a:r>
            <a:endParaRPr lang="en-GB" b="1" dirty="0">
              <a:solidFill>
                <a:srgbClr val="0070C0"/>
              </a:solidFill>
            </a:endParaRPr>
          </a:p>
        </p:txBody>
      </p:sp>
      <p:cxnSp>
        <p:nvCxnSpPr>
          <p:cNvPr id="13" name="Straight Arrow Connector 12"/>
          <p:cNvCxnSpPr/>
          <p:nvPr/>
        </p:nvCxnSpPr>
        <p:spPr>
          <a:xfrm>
            <a:off x="3032125" y="3813767"/>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666823" y="3809409"/>
            <a:ext cx="1028836" cy="217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3764478" y="4005820"/>
            <a:ext cx="781098" cy="1411433"/>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545575" y="5397776"/>
            <a:ext cx="2306487" cy="868116"/>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Typically only input or output are present</a:t>
            </a:r>
            <a:endParaRPr lang="en-GB" b="1" dirty="0">
              <a:solidFill>
                <a:srgbClr val="0070C0"/>
              </a:solidFill>
            </a:endParaRPr>
          </a:p>
        </p:txBody>
      </p:sp>
      <p:cxnSp>
        <p:nvCxnSpPr>
          <p:cNvPr id="19" name="Straight Arrow Connector 18"/>
          <p:cNvCxnSpPr/>
          <p:nvPr/>
        </p:nvCxnSpPr>
        <p:spPr>
          <a:xfrm flipV="1">
            <a:off x="6852062" y="4068410"/>
            <a:ext cx="453048" cy="1329366"/>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9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par>
                                <p:cTn id="24" presetID="22" presetClass="entr" presetSubtype="8"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par>
                                <p:cTn id="40" presetID="22" presetClass="entr" presetSubtype="8"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par>
                                <p:cTn id="43" presetID="22" presetClass="entr" presetSubtype="8"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11"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OR construct</a:t>
            </a:r>
          </a:p>
        </p:txBody>
      </p:sp>
      <p:sp>
        <p:nvSpPr>
          <p:cNvPr id="4" name="Rectangle 3"/>
          <p:cNvSpPr/>
          <p:nvPr/>
        </p:nvSpPr>
        <p:spPr>
          <a:xfrm>
            <a:off x="4452280" y="2403389"/>
            <a:ext cx="2379643" cy="769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452280" y="1918808"/>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sp>
        <p:nvSpPr>
          <p:cNvPr id="6" name="Rectangle 5"/>
          <p:cNvSpPr/>
          <p:nvPr/>
        </p:nvSpPr>
        <p:spPr>
          <a:xfrm>
            <a:off x="4452280" y="4358412"/>
            <a:ext cx="2379643" cy="71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7" name="Rectangle 6"/>
          <p:cNvSpPr/>
          <p:nvPr/>
        </p:nvSpPr>
        <p:spPr>
          <a:xfrm>
            <a:off x="4452280" y="3873831"/>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2.0</a:t>
            </a:r>
          </a:p>
        </p:txBody>
      </p:sp>
      <p:sp>
        <p:nvSpPr>
          <p:cNvPr id="8" name="Oval 7"/>
          <p:cNvSpPr/>
          <p:nvPr/>
        </p:nvSpPr>
        <p:spPr>
          <a:xfrm>
            <a:off x="2845431" y="3173187"/>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OR</a:t>
            </a:r>
            <a:endParaRPr lang="en-GB" dirty="0">
              <a:solidFill>
                <a:schemeClr val="tx1"/>
              </a:solidFill>
            </a:endParaRPr>
          </a:p>
        </p:txBody>
      </p:sp>
      <p:sp>
        <p:nvSpPr>
          <p:cNvPr id="9" name="Oval 8"/>
          <p:cNvSpPr/>
          <p:nvPr/>
        </p:nvSpPr>
        <p:spPr>
          <a:xfrm>
            <a:off x="7699104" y="3173187"/>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OR</a:t>
            </a:r>
            <a:endParaRPr lang="en-GB" dirty="0">
              <a:solidFill>
                <a:schemeClr val="tx1"/>
              </a:solidFill>
            </a:endParaRPr>
          </a:p>
        </p:txBody>
      </p:sp>
      <p:cxnSp>
        <p:nvCxnSpPr>
          <p:cNvPr id="10" name="Straight Arrow Connector 9"/>
          <p:cNvCxnSpPr/>
          <p:nvPr/>
        </p:nvCxnSpPr>
        <p:spPr>
          <a:xfrm>
            <a:off x="3197225" y="2778200"/>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831923" y="2778200"/>
            <a:ext cx="1217503"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197224" y="4714612"/>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831923" y="4714612"/>
            <a:ext cx="1217503"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273300" y="3518005"/>
            <a:ext cx="572131"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184375" y="3873831"/>
            <a:ext cx="11378" cy="84078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8049427" y="3873831"/>
            <a:ext cx="1" cy="840781"/>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9" idx="0"/>
          </p:cNvCxnSpPr>
          <p:nvPr/>
        </p:nvCxnSpPr>
        <p:spPr>
          <a:xfrm>
            <a:off x="8049426" y="2788288"/>
            <a:ext cx="0" cy="38489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0"/>
          </p:cNvCxnSpPr>
          <p:nvPr/>
        </p:nvCxnSpPr>
        <p:spPr>
          <a:xfrm flipV="1">
            <a:off x="3195753" y="2751434"/>
            <a:ext cx="1" cy="42175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8399748" y="3518005"/>
            <a:ext cx="69345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31" idx="2"/>
          </p:cNvCxnSpPr>
          <p:nvPr/>
        </p:nvCxnSpPr>
        <p:spPr>
          <a:xfrm flipH="1">
            <a:off x="3546075" y="1964366"/>
            <a:ext cx="6513300" cy="1279802"/>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8906131" y="1096250"/>
            <a:ext cx="2306487" cy="868116"/>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Both must be included</a:t>
            </a:r>
            <a:endParaRPr lang="en-GB" b="1" dirty="0">
              <a:solidFill>
                <a:srgbClr val="0070C0"/>
              </a:solidFill>
            </a:endParaRPr>
          </a:p>
        </p:txBody>
      </p:sp>
      <p:cxnSp>
        <p:nvCxnSpPr>
          <p:cNvPr id="32" name="Straight Arrow Connector 31"/>
          <p:cNvCxnSpPr>
            <a:stCxn id="31" idx="2"/>
          </p:cNvCxnSpPr>
          <p:nvPr/>
        </p:nvCxnSpPr>
        <p:spPr>
          <a:xfrm flipH="1">
            <a:off x="8399748" y="1964366"/>
            <a:ext cx="1659627" cy="1208821"/>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4452279" y="6039975"/>
            <a:ext cx="2379643" cy="71240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65000"/>
                  </a:schemeClr>
                </a:solidFill>
              </a:rPr>
              <a:t>System performs function X</a:t>
            </a:r>
          </a:p>
        </p:txBody>
      </p:sp>
      <p:sp>
        <p:nvSpPr>
          <p:cNvPr id="40" name="Rectangle 39"/>
          <p:cNvSpPr/>
          <p:nvPr/>
        </p:nvSpPr>
        <p:spPr>
          <a:xfrm>
            <a:off x="4452279" y="5555394"/>
            <a:ext cx="2379643" cy="484579"/>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bg1">
                    <a:lumMod val="65000"/>
                  </a:schemeClr>
                </a:solidFill>
              </a:rPr>
              <a:t>F/U 3.0</a:t>
            </a:r>
          </a:p>
        </p:txBody>
      </p:sp>
      <p:sp>
        <p:nvSpPr>
          <p:cNvPr id="41" name="Rectangle 40"/>
          <p:cNvSpPr/>
          <p:nvPr/>
        </p:nvSpPr>
        <p:spPr>
          <a:xfrm>
            <a:off x="8961979" y="4620864"/>
            <a:ext cx="2306487" cy="868116"/>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Constructs can carry many functions…</a:t>
            </a:r>
            <a:endParaRPr lang="en-GB" b="1" dirty="0">
              <a:solidFill>
                <a:srgbClr val="0070C0"/>
              </a:solidFill>
            </a:endParaRPr>
          </a:p>
        </p:txBody>
      </p:sp>
      <p:cxnSp>
        <p:nvCxnSpPr>
          <p:cNvPr id="42" name="Straight Arrow Connector 41"/>
          <p:cNvCxnSpPr>
            <a:stCxn id="41" idx="2"/>
          </p:cNvCxnSpPr>
          <p:nvPr/>
        </p:nvCxnSpPr>
        <p:spPr>
          <a:xfrm flipH="1">
            <a:off x="6953293" y="5488980"/>
            <a:ext cx="3161930" cy="550993"/>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3184375" y="6400800"/>
            <a:ext cx="1306197" cy="0"/>
          </a:xfrm>
          <a:prstGeom prst="straightConnector1">
            <a:avLst/>
          </a:prstGeom>
          <a:ln w="28575">
            <a:solidFill>
              <a:schemeClr val="bg1">
                <a:lumMod val="6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3184374" y="4714611"/>
            <a:ext cx="11379" cy="1686189"/>
          </a:xfrm>
          <a:prstGeom prst="straightConnector1">
            <a:avLst/>
          </a:prstGeom>
          <a:ln w="28575">
            <a:solidFill>
              <a:schemeClr val="bg1">
                <a:lumMod val="6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6831923" y="6400800"/>
            <a:ext cx="1217503" cy="0"/>
          </a:xfrm>
          <a:prstGeom prst="straightConnector1">
            <a:avLst/>
          </a:prstGeom>
          <a:ln w="28575">
            <a:solidFill>
              <a:schemeClr val="bg1">
                <a:lumMod val="6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flipV="1">
            <a:off x="8049426" y="4681405"/>
            <a:ext cx="3" cy="1719396"/>
          </a:xfrm>
          <a:prstGeom prst="straightConnector1">
            <a:avLst/>
          </a:prstGeom>
          <a:ln w="28575">
            <a:solidFill>
              <a:schemeClr val="bg1">
                <a:lumMod val="6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924410" y="3329777"/>
            <a:ext cx="5396360" cy="369332"/>
          </a:xfrm>
          <a:prstGeom prst="rect">
            <a:avLst/>
          </a:prstGeom>
          <a:noFill/>
        </p:spPr>
        <p:txBody>
          <a:bodyPr wrap="square" rtlCol="0">
            <a:spAutoFit/>
          </a:bodyPr>
          <a:lstStyle/>
          <a:p>
            <a:pPr algn="ctr"/>
            <a:r>
              <a:rPr lang="en-GB" b="1" dirty="0">
                <a:solidFill>
                  <a:srgbClr val="FF0000"/>
                </a:solidFill>
              </a:rPr>
              <a:t>MUTUAL EXCLUSION</a:t>
            </a:r>
          </a:p>
        </p:txBody>
      </p:sp>
    </p:spTree>
    <p:extLst>
      <p:ext uri="{BB962C8B-B14F-4D97-AF65-F5344CB8AC3E}">
        <p14:creationId xmlns:p14="http://schemas.microsoft.com/office/powerpoint/2010/main" val="75056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par>
                                <p:cTn id="30" presetID="22" presetClass="entr" presetSubtype="8"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par>
                                <p:cTn id="33" presetID="2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par>
                                <p:cTn id="36" presetID="22" presetClass="entr" presetSubtype="8"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par>
                                <p:cTn id="39" presetID="22" presetClass="entr" presetSubtype="8"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par>
                                <p:cTn id="42" presetID="22" presetClass="entr" presetSubtype="8"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par>
                                <p:cTn id="45" presetID="22" presetClass="entr" presetSubtype="8"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2" presetClass="entr" presetSubtype="8" fill="hold"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left)">
                                      <p:cBhvr>
                                        <p:cTn id="50" dur="500"/>
                                        <p:tgtEl>
                                          <p:spTgt spid="11"/>
                                        </p:tgtEl>
                                      </p:cBhvr>
                                    </p:animEffect>
                                  </p:childTnLst>
                                </p:cTn>
                              </p:par>
                              <p:par>
                                <p:cTn id="51" presetID="22" presetClass="entr" presetSubtype="8"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par>
                                <p:cTn id="54" presetID="22" presetClass="entr" presetSubtype="8" fill="hold"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right)">
                                      <p:cBhvr>
                                        <p:cTn id="61" dur="500"/>
                                        <p:tgtEl>
                                          <p:spTgt spid="31"/>
                                        </p:tgtEl>
                                      </p:cBhvr>
                                    </p:animEffect>
                                  </p:childTnLst>
                                </p:cTn>
                              </p:par>
                              <p:par>
                                <p:cTn id="62" presetID="22" presetClass="entr" presetSubtype="2"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wipe(right)">
                                      <p:cBhvr>
                                        <p:cTn id="64" dur="500"/>
                                        <p:tgtEl>
                                          <p:spTgt spid="30"/>
                                        </p:tgtEl>
                                      </p:cBhvr>
                                    </p:animEffect>
                                  </p:childTnLst>
                                </p:cTn>
                              </p:par>
                              <p:par>
                                <p:cTn id="65" presetID="22" presetClass="entr" presetSubtype="2"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right)">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1000"/>
                                        <p:tgtEl>
                                          <p:spTgt spid="41"/>
                                        </p:tgtEl>
                                      </p:cBhvr>
                                    </p:animEffect>
                                    <p:anim calcmode="lin" valueType="num">
                                      <p:cBhvr>
                                        <p:cTn id="73" dur="1000" fill="hold"/>
                                        <p:tgtEl>
                                          <p:spTgt spid="41"/>
                                        </p:tgtEl>
                                        <p:attrNameLst>
                                          <p:attrName>ppt_x</p:attrName>
                                        </p:attrNameLst>
                                      </p:cBhvr>
                                      <p:tavLst>
                                        <p:tav tm="0">
                                          <p:val>
                                            <p:strVal val="#ppt_x"/>
                                          </p:val>
                                        </p:tav>
                                        <p:tav tm="100000">
                                          <p:val>
                                            <p:strVal val="#ppt_x"/>
                                          </p:val>
                                        </p:tav>
                                      </p:tavLst>
                                    </p:anim>
                                    <p:anim calcmode="lin" valueType="num">
                                      <p:cBhvr>
                                        <p:cTn id="74" dur="100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1000"/>
                                        <p:tgtEl>
                                          <p:spTgt spid="42"/>
                                        </p:tgtEl>
                                      </p:cBhvr>
                                    </p:animEffect>
                                    <p:anim calcmode="lin" valueType="num">
                                      <p:cBhvr>
                                        <p:cTn id="78" dur="1000" fill="hold"/>
                                        <p:tgtEl>
                                          <p:spTgt spid="42"/>
                                        </p:tgtEl>
                                        <p:attrNameLst>
                                          <p:attrName>ppt_x</p:attrName>
                                        </p:attrNameLst>
                                      </p:cBhvr>
                                      <p:tavLst>
                                        <p:tav tm="0">
                                          <p:val>
                                            <p:strVal val="#ppt_x"/>
                                          </p:val>
                                        </p:tav>
                                        <p:tav tm="100000">
                                          <p:val>
                                            <p:strVal val="#ppt_x"/>
                                          </p:val>
                                        </p:tav>
                                      </p:tavLst>
                                    </p:anim>
                                    <p:anim calcmode="lin" valueType="num">
                                      <p:cBhvr>
                                        <p:cTn id="79" dur="1000" fill="hold"/>
                                        <p:tgtEl>
                                          <p:spTgt spid="42"/>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1000"/>
                                        <p:tgtEl>
                                          <p:spTgt spid="51"/>
                                        </p:tgtEl>
                                      </p:cBhvr>
                                    </p:animEffect>
                                    <p:anim calcmode="lin" valueType="num">
                                      <p:cBhvr>
                                        <p:cTn id="83" dur="1000" fill="hold"/>
                                        <p:tgtEl>
                                          <p:spTgt spid="51"/>
                                        </p:tgtEl>
                                        <p:attrNameLst>
                                          <p:attrName>ppt_x</p:attrName>
                                        </p:attrNameLst>
                                      </p:cBhvr>
                                      <p:tavLst>
                                        <p:tav tm="0">
                                          <p:val>
                                            <p:strVal val="#ppt_x"/>
                                          </p:val>
                                        </p:tav>
                                        <p:tav tm="100000">
                                          <p:val>
                                            <p:strVal val="#ppt_x"/>
                                          </p:val>
                                        </p:tav>
                                      </p:tavLst>
                                    </p:anim>
                                    <p:anim calcmode="lin" valueType="num">
                                      <p:cBhvr>
                                        <p:cTn id="84" dur="1000" fill="hold"/>
                                        <p:tgtEl>
                                          <p:spTgt spid="5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1000"/>
                                        <p:tgtEl>
                                          <p:spTgt spid="50"/>
                                        </p:tgtEl>
                                      </p:cBhvr>
                                    </p:animEffect>
                                    <p:anim calcmode="lin" valueType="num">
                                      <p:cBhvr>
                                        <p:cTn id="88" dur="1000" fill="hold"/>
                                        <p:tgtEl>
                                          <p:spTgt spid="50"/>
                                        </p:tgtEl>
                                        <p:attrNameLst>
                                          <p:attrName>ppt_x</p:attrName>
                                        </p:attrNameLst>
                                      </p:cBhvr>
                                      <p:tavLst>
                                        <p:tav tm="0">
                                          <p:val>
                                            <p:strVal val="#ppt_x"/>
                                          </p:val>
                                        </p:tav>
                                        <p:tav tm="100000">
                                          <p:val>
                                            <p:strVal val="#ppt_x"/>
                                          </p:val>
                                        </p:tav>
                                      </p:tavLst>
                                    </p:anim>
                                    <p:anim calcmode="lin" valueType="num">
                                      <p:cBhvr>
                                        <p:cTn id="89" dur="1000" fill="hold"/>
                                        <p:tgtEl>
                                          <p:spTgt spid="5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1000"/>
                                        <p:tgtEl>
                                          <p:spTgt spid="39"/>
                                        </p:tgtEl>
                                      </p:cBhvr>
                                    </p:animEffect>
                                    <p:anim calcmode="lin" valueType="num">
                                      <p:cBhvr>
                                        <p:cTn id="93" dur="1000" fill="hold"/>
                                        <p:tgtEl>
                                          <p:spTgt spid="39"/>
                                        </p:tgtEl>
                                        <p:attrNameLst>
                                          <p:attrName>ppt_x</p:attrName>
                                        </p:attrNameLst>
                                      </p:cBhvr>
                                      <p:tavLst>
                                        <p:tav tm="0">
                                          <p:val>
                                            <p:strVal val="#ppt_x"/>
                                          </p:val>
                                        </p:tav>
                                        <p:tav tm="100000">
                                          <p:val>
                                            <p:strVal val="#ppt_x"/>
                                          </p:val>
                                        </p:tav>
                                      </p:tavLst>
                                    </p:anim>
                                    <p:anim calcmode="lin" valueType="num">
                                      <p:cBhvr>
                                        <p:cTn id="94" dur="1000" fill="hold"/>
                                        <p:tgtEl>
                                          <p:spTgt spid="3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1000"/>
                                        <p:tgtEl>
                                          <p:spTgt spid="40"/>
                                        </p:tgtEl>
                                      </p:cBhvr>
                                    </p:animEffect>
                                    <p:anim calcmode="lin" valueType="num">
                                      <p:cBhvr>
                                        <p:cTn id="98" dur="1000" fill="hold"/>
                                        <p:tgtEl>
                                          <p:spTgt spid="40"/>
                                        </p:tgtEl>
                                        <p:attrNameLst>
                                          <p:attrName>ppt_x</p:attrName>
                                        </p:attrNameLst>
                                      </p:cBhvr>
                                      <p:tavLst>
                                        <p:tav tm="0">
                                          <p:val>
                                            <p:strVal val="#ppt_x"/>
                                          </p:val>
                                        </p:tav>
                                        <p:tav tm="100000">
                                          <p:val>
                                            <p:strVal val="#ppt_x"/>
                                          </p:val>
                                        </p:tav>
                                      </p:tavLst>
                                    </p:anim>
                                    <p:anim calcmode="lin" valueType="num">
                                      <p:cBhvr>
                                        <p:cTn id="99" dur="1000" fill="hold"/>
                                        <p:tgtEl>
                                          <p:spTgt spid="4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1000"/>
                                        <p:tgtEl>
                                          <p:spTgt spid="45"/>
                                        </p:tgtEl>
                                      </p:cBhvr>
                                    </p:animEffect>
                                    <p:anim calcmode="lin" valueType="num">
                                      <p:cBhvr>
                                        <p:cTn id="103" dur="1000" fill="hold"/>
                                        <p:tgtEl>
                                          <p:spTgt spid="45"/>
                                        </p:tgtEl>
                                        <p:attrNameLst>
                                          <p:attrName>ppt_x</p:attrName>
                                        </p:attrNameLst>
                                      </p:cBhvr>
                                      <p:tavLst>
                                        <p:tav tm="0">
                                          <p:val>
                                            <p:strVal val="#ppt_x"/>
                                          </p:val>
                                        </p:tav>
                                        <p:tav tm="100000">
                                          <p:val>
                                            <p:strVal val="#ppt_x"/>
                                          </p:val>
                                        </p:tav>
                                      </p:tavLst>
                                    </p:anim>
                                    <p:anim calcmode="lin" valueType="num">
                                      <p:cBhvr>
                                        <p:cTn id="104" dur="1000" fill="hold"/>
                                        <p:tgtEl>
                                          <p:spTgt spid="4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1000"/>
                                        <p:tgtEl>
                                          <p:spTgt spid="46"/>
                                        </p:tgtEl>
                                      </p:cBhvr>
                                    </p:animEffect>
                                    <p:anim calcmode="lin" valueType="num">
                                      <p:cBhvr>
                                        <p:cTn id="108" dur="1000" fill="hold"/>
                                        <p:tgtEl>
                                          <p:spTgt spid="46"/>
                                        </p:tgtEl>
                                        <p:attrNameLst>
                                          <p:attrName>ppt_x</p:attrName>
                                        </p:attrNameLst>
                                      </p:cBhvr>
                                      <p:tavLst>
                                        <p:tav tm="0">
                                          <p:val>
                                            <p:strVal val="#ppt_x"/>
                                          </p:val>
                                        </p:tav>
                                        <p:tav tm="100000">
                                          <p:val>
                                            <p:strVal val="#ppt_x"/>
                                          </p:val>
                                        </p:tav>
                                      </p:tavLst>
                                    </p:anim>
                                    <p:anim calcmode="lin" valueType="num">
                                      <p:cBhvr>
                                        <p:cTn id="10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fade">
                                      <p:cBhvr>
                                        <p:cTn id="11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31" grpId="0" animBg="1"/>
      <p:bldP spid="39" grpId="0" animBg="1"/>
      <p:bldP spid="40" grpId="0" animBg="1"/>
      <p:bldP spid="41" grpId="0" animBg="1"/>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AND construct</a:t>
            </a:r>
          </a:p>
        </p:txBody>
      </p:sp>
      <p:sp>
        <p:nvSpPr>
          <p:cNvPr id="4" name="Rectangle 3"/>
          <p:cNvSpPr/>
          <p:nvPr/>
        </p:nvSpPr>
        <p:spPr>
          <a:xfrm>
            <a:off x="4287180" y="3279689"/>
            <a:ext cx="2379643" cy="769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287180" y="2795108"/>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sp>
        <p:nvSpPr>
          <p:cNvPr id="6" name="Rectangle 5"/>
          <p:cNvSpPr/>
          <p:nvPr/>
        </p:nvSpPr>
        <p:spPr>
          <a:xfrm>
            <a:off x="4287180" y="5234712"/>
            <a:ext cx="2379643" cy="71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7" name="Rectangle 6"/>
          <p:cNvSpPr/>
          <p:nvPr/>
        </p:nvSpPr>
        <p:spPr>
          <a:xfrm>
            <a:off x="4287180" y="4750131"/>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2.0</a:t>
            </a:r>
          </a:p>
        </p:txBody>
      </p:sp>
      <p:sp>
        <p:nvSpPr>
          <p:cNvPr id="8" name="Oval 7"/>
          <p:cNvSpPr/>
          <p:nvPr/>
        </p:nvSpPr>
        <p:spPr>
          <a:xfrm>
            <a:off x="2680331" y="4049487"/>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&amp;</a:t>
            </a:r>
            <a:endParaRPr lang="en-GB" dirty="0">
              <a:solidFill>
                <a:schemeClr val="tx1"/>
              </a:solidFill>
            </a:endParaRPr>
          </a:p>
        </p:txBody>
      </p:sp>
      <p:sp>
        <p:nvSpPr>
          <p:cNvPr id="9" name="Oval 8"/>
          <p:cNvSpPr/>
          <p:nvPr/>
        </p:nvSpPr>
        <p:spPr>
          <a:xfrm>
            <a:off x="7534004" y="4049487"/>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&amp;</a:t>
            </a:r>
            <a:endParaRPr lang="en-GB" dirty="0">
              <a:solidFill>
                <a:schemeClr val="tx1"/>
              </a:solidFill>
            </a:endParaRPr>
          </a:p>
        </p:txBody>
      </p:sp>
      <p:cxnSp>
        <p:nvCxnSpPr>
          <p:cNvPr id="10" name="Straight Arrow Connector 9"/>
          <p:cNvCxnSpPr/>
          <p:nvPr/>
        </p:nvCxnSpPr>
        <p:spPr>
          <a:xfrm>
            <a:off x="3032125" y="3654500"/>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666823" y="3654500"/>
            <a:ext cx="1217503"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032124" y="5590912"/>
            <a:ext cx="1255055"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666823" y="5590912"/>
            <a:ext cx="1217503"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108200" y="4394305"/>
            <a:ext cx="572131"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019275" y="4750131"/>
            <a:ext cx="11378" cy="84078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7884327" y="4750131"/>
            <a:ext cx="1" cy="840781"/>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9" idx="0"/>
          </p:cNvCxnSpPr>
          <p:nvPr/>
        </p:nvCxnSpPr>
        <p:spPr>
          <a:xfrm>
            <a:off x="7884326" y="3664588"/>
            <a:ext cx="0" cy="384899"/>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0"/>
          </p:cNvCxnSpPr>
          <p:nvPr/>
        </p:nvCxnSpPr>
        <p:spPr>
          <a:xfrm flipV="1">
            <a:off x="3030653" y="3627734"/>
            <a:ext cx="1" cy="42175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234648" y="4394305"/>
            <a:ext cx="69345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38288" y="4215143"/>
            <a:ext cx="5396360" cy="369332"/>
          </a:xfrm>
          <a:prstGeom prst="rect">
            <a:avLst/>
          </a:prstGeom>
          <a:noFill/>
        </p:spPr>
        <p:txBody>
          <a:bodyPr wrap="square" rtlCol="0">
            <a:spAutoFit/>
          </a:bodyPr>
          <a:lstStyle/>
          <a:p>
            <a:pPr algn="ctr"/>
            <a:r>
              <a:rPr lang="en-GB" b="1" dirty="0">
                <a:solidFill>
                  <a:srgbClr val="FF0000"/>
                </a:solidFill>
              </a:rPr>
              <a:t>POTENTIAL CONCURRENCY</a:t>
            </a:r>
          </a:p>
        </p:txBody>
      </p:sp>
    </p:spTree>
    <p:extLst>
      <p:ext uri="{BB962C8B-B14F-4D97-AF65-F5344CB8AC3E}">
        <p14:creationId xmlns:p14="http://schemas.microsoft.com/office/powerpoint/2010/main" val="135294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Iterator</a:t>
            </a:r>
          </a:p>
        </p:txBody>
      </p:sp>
      <p:sp>
        <p:nvSpPr>
          <p:cNvPr id="4" name="Rectangle 3"/>
          <p:cNvSpPr/>
          <p:nvPr/>
        </p:nvSpPr>
        <p:spPr>
          <a:xfrm>
            <a:off x="4561912" y="4007445"/>
            <a:ext cx="2379643" cy="769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561912" y="3524995"/>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sp>
        <p:nvSpPr>
          <p:cNvPr id="6" name="Oval 5"/>
          <p:cNvSpPr/>
          <p:nvPr/>
        </p:nvSpPr>
        <p:spPr>
          <a:xfrm>
            <a:off x="2974575" y="4048250"/>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IT</a:t>
            </a:r>
            <a:endParaRPr lang="en-GB" dirty="0">
              <a:solidFill>
                <a:schemeClr val="tx1"/>
              </a:solidFill>
            </a:endParaRPr>
          </a:p>
        </p:txBody>
      </p:sp>
      <p:sp>
        <p:nvSpPr>
          <p:cNvPr id="7" name="Oval 6"/>
          <p:cNvSpPr/>
          <p:nvPr/>
        </p:nvSpPr>
        <p:spPr>
          <a:xfrm>
            <a:off x="7828248" y="4048250"/>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IT</a:t>
            </a:r>
            <a:endParaRPr lang="en-GB" dirty="0">
              <a:solidFill>
                <a:schemeClr val="tx1"/>
              </a:solidFill>
            </a:endParaRPr>
          </a:p>
        </p:txBody>
      </p:sp>
      <p:cxnSp>
        <p:nvCxnSpPr>
          <p:cNvPr id="8" name="Straight Arrow Connector 7"/>
          <p:cNvCxnSpPr/>
          <p:nvPr/>
        </p:nvCxnSpPr>
        <p:spPr>
          <a:xfrm>
            <a:off x="2402444" y="4393068"/>
            <a:ext cx="572131"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8528892" y="4393068"/>
            <a:ext cx="69345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53553" y="5283834"/>
            <a:ext cx="5396360" cy="646331"/>
          </a:xfrm>
          <a:prstGeom prst="rect">
            <a:avLst/>
          </a:prstGeom>
          <a:noFill/>
        </p:spPr>
        <p:txBody>
          <a:bodyPr wrap="square" rtlCol="0">
            <a:spAutoFit/>
          </a:bodyPr>
          <a:lstStyle/>
          <a:p>
            <a:pPr algn="ctr"/>
            <a:r>
              <a:rPr lang="en-GB" b="1" dirty="0">
                <a:solidFill>
                  <a:srgbClr val="0070C0"/>
                </a:solidFill>
              </a:rPr>
              <a:t>Function X will be performed &lt;number of iterations&gt; times before continuing</a:t>
            </a:r>
          </a:p>
        </p:txBody>
      </p:sp>
      <p:cxnSp>
        <p:nvCxnSpPr>
          <p:cNvPr id="11" name="Straight Arrow Connector 10"/>
          <p:cNvCxnSpPr>
            <a:endCxn id="4" idx="1"/>
          </p:cNvCxnSpPr>
          <p:nvPr/>
        </p:nvCxnSpPr>
        <p:spPr>
          <a:xfrm>
            <a:off x="3675219" y="4389047"/>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941555" y="4398572"/>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8178569" y="2843568"/>
            <a:ext cx="0" cy="120468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324897" y="2843568"/>
            <a:ext cx="4853672"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324897" y="2843568"/>
            <a:ext cx="1" cy="1204682"/>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684810" y="2478106"/>
            <a:ext cx="2419252" cy="369332"/>
          </a:xfrm>
          <a:prstGeom prst="rect">
            <a:avLst/>
          </a:prstGeom>
          <a:noFill/>
        </p:spPr>
        <p:txBody>
          <a:bodyPr wrap="none" rtlCol="0">
            <a:spAutoFit/>
          </a:bodyPr>
          <a:lstStyle/>
          <a:p>
            <a:r>
              <a:rPr lang="en-GB" dirty="0"/>
              <a:t>Number of iterations</a:t>
            </a:r>
          </a:p>
        </p:txBody>
      </p:sp>
    </p:spTree>
    <p:extLst>
      <p:ext uri="{BB962C8B-B14F-4D97-AF65-F5344CB8AC3E}">
        <p14:creationId xmlns:p14="http://schemas.microsoft.com/office/powerpoint/2010/main" val="27638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00"/>
                                        <p:tgtEl>
                                          <p:spTgt spid="16"/>
                                        </p:tgtEl>
                                      </p:cBhvr>
                                    </p:animEffect>
                                  </p:childTnLst>
                                </p:cTn>
                              </p:par>
                            </p:childTnLst>
                          </p:cTn>
                        </p:par>
                        <p:par>
                          <p:cTn id="36" fill="hold">
                            <p:stCondLst>
                              <p:cond delay="500"/>
                            </p:stCondLst>
                            <p:childTnLst>
                              <p:par>
                                <p:cTn id="37" presetID="22" presetClass="entr" presetSubtype="2"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500"/>
                                        <p:tgtEl>
                                          <p:spTgt spid="17"/>
                                        </p:tgtEl>
                                      </p:cBhvr>
                                    </p:animEffect>
                                  </p:childTnLst>
                                </p:cTn>
                              </p:par>
                            </p:childTnLst>
                          </p:cTn>
                        </p:par>
                        <p:par>
                          <p:cTn id="40" fill="hold">
                            <p:stCondLst>
                              <p:cond delay="1000"/>
                            </p:stCondLst>
                            <p:childTnLst>
                              <p:par>
                                <p:cTn id="41" presetID="22" presetClass="entr" presetSubtype="2"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right)">
                                      <p:cBhvr>
                                        <p:cTn id="43" dur="500"/>
                                        <p:tgtEl>
                                          <p:spTgt spid="22"/>
                                        </p:tgtEl>
                                      </p:cBhvr>
                                    </p:animEffect>
                                  </p:childTnLst>
                                </p:cTn>
                              </p:par>
                            </p:childTnLst>
                          </p:cTn>
                        </p:par>
                        <p:par>
                          <p:cTn id="44" fill="hold">
                            <p:stCondLst>
                              <p:cond delay="1500"/>
                            </p:stCondLst>
                            <p:childTnLst>
                              <p:par>
                                <p:cTn id="45" presetID="22" presetClass="entr" presetSubtype="1"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par>
                                <p:cTn id="53" presetID="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Replicator</a:t>
            </a:r>
          </a:p>
        </p:txBody>
      </p:sp>
      <p:sp>
        <p:nvSpPr>
          <p:cNvPr id="4" name="Rectangle 3"/>
          <p:cNvSpPr/>
          <p:nvPr/>
        </p:nvSpPr>
        <p:spPr>
          <a:xfrm>
            <a:off x="4561912" y="4007445"/>
            <a:ext cx="2379643" cy="769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561912" y="3524995"/>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sp>
        <p:nvSpPr>
          <p:cNvPr id="6" name="Oval 5"/>
          <p:cNvSpPr/>
          <p:nvPr/>
        </p:nvSpPr>
        <p:spPr>
          <a:xfrm>
            <a:off x="2974575" y="4048250"/>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RP</a:t>
            </a:r>
            <a:endParaRPr lang="en-GB" dirty="0">
              <a:solidFill>
                <a:schemeClr val="tx1"/>
              </a:solidFill>
            </a:endParaRPr>
          </a:p>
        </p:txBody>
      </p:sp>
      <p:sp>
        <p:nvSpPr>
          <p:cNvPr id="7" name="Oval 6"/>
          <p:cNvSpPr/>
          <p:nvPr/>
        </p:nvSpPr>
        <p:spPr>
          <a:xfrm>
            <a:off x="7828248" y="4048250"/>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RP</a:t>
            </a:r>
            <a:endParaRPr lang="en-GB" dirty="0">
              <a:solidFill>
                <a:schemeClr val="tx1"/>
              </a:solidFill>
            </a:endParaRPr>
          </a:p>
        </p:txBody>
      </p:sp>
      <p:cxnSp>
        <p:nvCxnSpPr>
          <p:cNvPr id="8" name="Straight Arrow Connector 7"/>
          <p:cNvCxnSpPr/>
          <p:nvPr/>
        </p:nvCxnSpPr>
        <p:spPr>
          <a:xfrm>
            <a:off x="2402444" y="4393068"/>
            <a:ext cx="572131"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8528892" y="4393068"/>
            <a:ext cx="69345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53553" y="5283834"/>
            <a:ext cx="5396360" cy="646331"/>
          </a:xfrm>
          <a:prstGeom prst="rect">
            <a:avLst/>
          </a:prstGeom>
          <a:noFill/>
        </p:spPr>
        <p:txBody>
          <a:bodyPr wrap="square" rtlCol="0">
            <a:spAutoFit/>
          </a:bodyPr>
          <a:lstStyle/>
          <a:p>
            <a:pPr algn="ctr"/>
            <a:r>
              <a:rPr lang="en-GB" b="1" dirty="0">
                <a:solidFill>
                  <a:srgbClr val="0070C0"/>
                </a:solidFill>
              </a:rPr>
              <a:t>Function X will be performed in a defined number of instanced. Possibly concurrently</a:t>
            </a:r>
          </a:p>
        </p:txBody>
      </p:sp>
      <p:cxnSp>
        <p:nvCxnSpPr>
          <p:cNvPr id="11" name="Straight Arrow Connector 10"/>
          <p:cNvCxnSpPr>
            <a:endCxn id="4" idx="1"/>
          </p:cNvCxnSpPr>
          <p:nvPr/>
        </p:nvCxnSpPr>
        <p:spPr>
          <a:xfrm>
            <a:off x="3675219" y="4389047"/>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941555" y="4398572"/>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8178569" y="2843568"/>
            <a:ext cx="0" cy="120468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24897" y="2843568"/>
            <a:ext cx="4853672"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324897" y="2843568"/>
            <a:ext cx="1" cy="1204682"/>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684810" y="2478106"/>
            <a:ext cx="2637260" cy="369332"/>
          </a:xfrm>
          <a:prstGeom prst="rect">
            <a:avLst/>
          </a:prstGeom>
          <a:noFill/>
        </p:spPr>
        <p:txBody>
          <a:bodyPr wrap="none" rtlCol="0">
            <a:spAutoFit/>
          </a:bodyPr>
          <a:lstStyle/>
          <a:p>
            <a:r>
              <a:rPr lang="en-GB" dirty="0"/>
              <a:t>Number of replications</a:t>
            </a:r>
          </a:p>
        </p:txBody>
      </p:sp>
    </p:spTree>
    <p:extLst>
      <p:ext uri="{BB962C8B-B14F-4D97-AF65-F5344CB8AC3E}">
        <p14:creationId xmlns:p14="http://schemas.microsoft.com/office/powerpoint/2010/main" val="282863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childTnLst>
                          </p:cTn>
                        </p:par>
                        <p:par>
                          <p:cTn id="36" fill="hold">
                            <p:stCondLst>
                              <p:cond delay="5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1000"/>
                            </p:stCondLst>
                            <p:childTnLst>
                              <p:par>
                                <p:cTn id="41" presetID="22" presetClass="entr" presetSubtype="2"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right)">
                                      <p:cBhvr>
                                        <p:cTn id="43" dur="500"/>
                                        <p:tgtEl>
                                          <p:spTgt spid="16"/>
                                        </p:tgtEl>
                                      </p:cBhvr>
                                    </p:animEffect>
                                  </p:childTnLst>
                                </p:cTn>
                              </p:par>
                            </p:childTnLst>
                          </p:cTn>
                        </p:par>
                        <p:par>
                          <p:cTn id="44" fill="hold">
                            <p:stCondLst>
                              <p:cond delay="1500"/>
                            </p:stCondLst>
                            <p:childTnLst>
                              <p:par>
                                <p:cTn id="45" presetID="22" presetClass="entr" presetSubtype="1"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up)">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par>
                                <p:cTn id="53" presetID="2" presetClass="entr" presetSubtype="4"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Loops</a:t>
            </a:r>
          </a:p>
        </p:txBody>
      </p:sp>
      <p:sp>
        <p:nvSpPr>
          <p:cNvPr id="4" name="Rectangle 3"/>
          <p:cNvSpPr/>
          <p:nvPr/>
        </p:nvSpPr>
        <p:spPr>
          <a:xfrm>
            <a:off x="4640890" y="3603684"/>
            <a:ext cx="2379643" cy="7697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System performs function X</a:t>
            </a:r>
          </a:p>
        </p:txBody>
      </p:sp>
      <p:sp>
        <p:nvSpPr>
          <p:cNvPr id="5" name="Rectangle 4"/>
          <p:cNvSpPr/>
          <p:nvPr/>
        </p:nvSpPr>
        <p:spPr>
          <a:xfrm>
            <a:off x="4640890" y="3121234"/>
            <a:ext cx="2379643" cy="484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F/U 1.0</a:t>
            </a:r>
          </a:p>
        </p:txBody>
      </p:sp>
      <p:sp>
        <p:nvSpPr>
          <p:cNvPr id="6" name="Oval 5"/>
          <p:cNvSpPr/>
          <p:nvPr/>
        </p:nvSpPr>
        <p:spPr>
          <a:xfrm>
            <a:off x="3053553" y="3644489"/>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LP</a:t>
            </a:r>
            <a:endParaRPr lang="en-GB" dirty="0">
              <a:solidFill>
                <a:schemeClr val="tx1"/>
              </a:solidFill>
            </a:endParaRPr>
          </a:p>
        </p:txBody>
      </p:sp>
      <p:sp>
        <p:nvSpPr>
          <p:cNvPr id="7" name="Oval 6"/>
          <p:cNvSpPr/>
          <p:nvPr/>
        </p:nvSpPr>
        <p:spPr>
          <a:xfrm>
            <a:off x="7907226" y="3644489"/>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LP</a:t>
            </a:r>
            <a:endParaRPr lang="en-GB" dirty="0">
              <a:solidFill>
                <a:schemeClr val="tx1"/>
              </a:solidFill>
            </a:endParaRPr>
          </a:p>
        </p:txBody>
      </p:sp>
      <p:cxnSp>
        <p:nvCxnSpPr>
          <p:cNvPr id="8" name="Straight Arrow Connector 7"/>
          <p:cNvCxnSpPr/>
          <p:nvPr/>
        </p:nvCxnSpPr>
        <p:spPr>
          <a:xfrm>
            <a:off x="2481422" y="3989307"/>
            <a:ext cx="572131"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8607870" y="3989307"/>
            <a:ext cx="693452"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26598" y="4966625"/>
            <a:ext cx="5396360" cy="369332"/>
          </a:xfrm>
          <a:prstGeom prst="rect">
            <a:avLst/>
          </a:prstGeom>
          <a:noFill/>
        </p:spPr>
        <p:txBody>
          <a:bodyPr wrap="square" rtlCol="0">
            <a:spAutoFit/>
          </a:bodyPr>
          <a:lstStyle/>
          <a:p>
            <a:pPr algn="ctr"/>
            <a:r>
              <a:rPr lang="en-GB" b="1" dirty="0">
                <a:solidFill>
                  <a:srgbClr val="0070C0"/>
                </a:solidFill>
              </a:rPr>
              <a:t>Function X is performed in a loop.</a:t>
            </a:r>
          </a:p>
        </p:txBody>
      </p:sp>
      <p:cxnSp>
        <p:nvCxnSpPr>
          <p:cNvPr id="11" name="Straight Arrow Connector 10"/>
          <p:cNvCxnSpPr>
            <a:endCxn id="4" idx="1"/>
          </p:cNvCxnSpPr>
          <p:nvPr/>
        </p:nvCxnSpPr>
        <p:spPr>
          <a:xfrm>
            <a:off x="3754197" y="3985286"/>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020533" y="3994811"/>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8257547" y="2439807"/>
            <a:ext cx="0" cy="1204683"/>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403875" y="2439807"/>
            <a:ext cx="4853672" cy="0"/>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3403875" y="2439807"/>
            <a:ext cx="1" cy="1204682"/>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6657099" y="4910998"/>
            <a:ext cx="700644" cy="7006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LE</a:t>
            </a:r>
            <a:endParaRPr lang="en-GB" dirty="0">
              <a:solidFill>
                <a:schemeClr val="tx1"/>
              </a:solidFill>
            </a:endParaRPr>
          </a:p>
        </p:txBody>
      </p:sp>
      <p:cxnSp>
        <p:nvCxnSpPr>
          <p:cNvPr id="18" name="Straight Arrow Connector 17"/>
          <p:cNvCxnSpPr/>
          <p:nvPr/>
        </p:nvCxnSpPr>
        <p:spPr>
          <a:xfrm>
            <a:off x="5770406" y="5254160"/>
            <a:ext cx="886693" cy="3297"/>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5328708" y="4816325"/>
            <a:ext cx="886693" cy="3297"/>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5882768" y="4638365"/>
            <a:ext cx="514350" cy="523220"/>
            <a:chOff x="5956578" y="4552211"/>
            <a:chExt cx="514350" cy="523220"/>
          </a:xfrm>
        </p:grpSpPr>
        <p:sp>
          <p:nvSpPr>
            <p:cNvPr id="21" name="TextBox 20"/>
            <p:cNvSpPr txBox="1"/>
            <p:nvPr/>
          </p:nvSpPr>
          <p:spPr>
            <a:xfrm>
              <a:off x="5956578" y="4552211"/>
              <a:ext cx="514350" cy="523220"/>
            </a:xfrm>
            <a:prstGeom prst="rect">
              <a:avLst/>
            </a:prstGeom>
            <a:noFill/>
          </p:spPr>
          <p:txBody>
            <a:bodyPr wrap="square" rtlCol="0">
              <a:spAutoFit/>
            </a:bodyPr>
            <a:lstStyle/>
            <a:p>
              <a:r>
                <a:rPr lang="en-GB" sz="2800" dirty="0"/>
                <a:t>G</a:t>
              </a:r>
            </a:p>
          </p:txBody>
        </p:sp>
        <p:cxnSp>
          <p:nvCxnSpPr>
            <p:cNvPr id="22" name="Straight Connector 21"/>
            <p:cNvCxnSpPr/>
            <p:nvPr/>
          </p:nvCxnSpPr>
          <p:spPr>
            <a:xfrm>
              <a:off x="6032400" y="4611924"/>
              <a:ext cx="3627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Box 23"/>
          <p:cNvSpPr txBox="1"/>
          <p:nvPr/>
        </p:nvSpPr>
        <p:spPr>
          <a:xfrm>
            <a:off x="5830711" y="5763092"/>
            <a:ext cx="5396360" cy="923330"/>
          </a:xfrm>
          <a:prstGeom prst="rect">
            <a:avLst/>
          </a:prstGeom>
          <a:noFill/>
        </p:spPr>
        <p:txBody>
          <a:bodyPr wrap="square" rtlCol="0">
            <a:spAutoFit/>
          </a:bodyPr>
          <a:lstStyle/>
          <a:p>
            <a:pPr algn="ctr"/>
            <a:r>
              <a:rPr lang="en-GB" b="1" dirty="0">
                <a:solidFill>
                  <a:srgbClr val="0070C0"/>
                </a:solidFill>
              </a:rPr>
              <a:t>Upon encountering the loop exit (LE)</a:t>
            </a:r>
          </a:p>
          <a:p>
            <a:pPr algn="ctr"/>
            <a:r>
              <a:rPr lang="en-GB" b="1" dirty="0">
                <a:solidFill>
                  <a:srgbClr val="0070C0"/>
                </a:solidFill>
              </a:rPr>
              <a:t>execution transitions to the trailing LP</a:t>
            </a:r>
          </a:p>
          <a:p>
            <a:pPr algn="ctr"/>
            <a:r>
              <a:rPr lang="en-GB" b="1" dirty="0">
                <a:solidFill>
                  <a:srgbClr val="0070C0"/>
                </a:solidFill>
              </a:rPr>
              <a:t>and continues from there</a:t>
            </a:r>
          </a:p>
        </p:txBody>
      </p:sp>
      <p:sp>
        <p:nvSpPr>
          <p:cNvPr id="25" name="Rectangle 24"/>
          <p:cNvSpPr/>
          <p:nvPr/>
        </p:nvSpPr>
        <p:spPr>
          <a:xfrm>
            <a:off x="1682088" y="5763092"/>
            <a:ext cx="2306487" cy="8681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C00000"/>
                </a:solidFill>
              </a:rPr>
              <a:t>LE could also be as result of completion of another function</a:t>
            </a:r>
            <a:endParaRPr lang="en-GB" b="1" dirty="0">
              <a:solidFill>
                <a:srgbClr val="C00000"/>
              </a:solidFill>
            </a:endParaRPr>
          </a:p>
        </p:txBody>
      </p:sp>
      <p:cxnSp>
        <p:nvCxnSpPr>
          <p:cNvPr id="26" name="Straight Arrow Connector 25"/>
          <p:cNvCxnSpPr/>
          <p:nvPr/>
        </p:nvCxnSpPr>
        <p:spPr>
          <a:xfrm flipV="1">
            <a:off x="3988575" y="5189967"/>
            <a:ext cx="1509700" cy="590458"/>
          </a:xfrm>
          <a:prstGeom prst="straightConnector1">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43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20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par>
                          <p:cTn id="34" fill="hold">
                            <p:stCondLst>
                              <p:cond delay="3000"/>
                            </p:stCondLst>
                            <p:childTnLst>
                              <p:par>
                                <p:cTn id="35" presetID="22" presetClass="entr" presetSubtype="4"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par>
                          <p:cTn id="38" fill="hold">
                            <p:stCondLst>
                              <p:cond delay="3500"/>
                            </p:stCondLst>
                            <p:childTnLst>
                              <p:par>
                                <p:cTn id="39" presetID="22" presetClass="entr" presetSubtype="2"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right)">
                                      <p:cBhvr>
                                        <p:cTn id="41" dur="500"/>
                                        <p:tgtEl>
                                          <p:spTgt spid="14"/>
                                        </p:tgtEl>
                                      </p:cBhvr>
                                    </p:animEffect>
                                  </p:childTnLst>
                                </p:cTn>
                              </p:par>
                            </p:childTnLst>
                          </p:cTn>
                        </p:par>
                        <p:par>
                          <p:cTn id="42" fill="hold">
                            <p:stCondLst>
                              <p:cond delay="4000"/>
                            </p:stCondLst>
                            <p:childTnLst>
                              <p:par>
                                <p:cTn id="43" presetID="22" presetClass="entr" presetSubtype="1"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up)">
                                      <p:cBhvr>
                                        <p:cTn id="50" dur="500"/>
                                        <p:tgtEl>
                                          <p:spTgt spid="19"/>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par>
                          <p:cTn id="62" fill="hold">
                            <p:stCondLst>
                              <p:cond delay="1500"/>
                            </p:stCondLst>
                            <p:childTnLst>
                              <p:par>
                                <p:cTn id="63" presetID="22" presetClass="entr" presetSubtype="8"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500"/>
                                        <p:tgtEl>
                                          <p:spTgt spid="17"/>
                                        </p:tgtEl>
                                      </p:cBhvr>
                                    </p:animEffect>
                                  </p:childTnLst>
                                </p:cTn>
                              </p:par>
                            </p:childTnLst>
                          </p:cTn>
                        </p:par>
                        <p:par>
                          <p:cTn id="66" fill="hold">
                            <p:stCondLst>
                              <p:cond delay="2000"/>
                            </p:stCondLst>
                            <p:childTnLst>
                              <p:par>
                                <p:cTn id="67" presetID="22" presetClass="entr" presetSubtype="8"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000"/>
                                        <p:tgtEl>
                                          <p:spTgt spid="25"/>
                                        </p:tgtEl>
                                      </p:cBhvr>
                                    </p:animEffect>
                                    <p:anim calcmode="lin" valueType="num">
                                      <p:cBhvr>
                                        <p:cTn id="75" dur="1000" fill="hold"/>
                                        <p:tgtEl>
                                          <p:spTgt spid="25"/>
                                        </p:tgtEl>
                                        <p:attrNameLst>
                                          <p:attrName>ppt_x</p:attrName>
                                        </p:attrNameLst>
                                      </p:cBhvr>
                                      <p:tavLst>
                                        <p:tav tm="0">
                                          <p:val>
                                            <p:strVal val="#ppt_x"/>
                                          </p:val>
                                        </p:tav>
                                        <p:tav tm="100000">
                                          <p:val>
                                            <p:strVal val="#ppt_x"/>
                                          </p:val>
                                        </p:tav>
                                      </p:tavLst>
                                    </p:anim>
                                    <p:anim calcmode="lin" valueType="num">
                                      <p:cBhvr>
                                        <p:cTn id="76" dur="1000" fill="hold"/>
                                        <p:tgtEl>
                                          <p:spTgt spid="25"/>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1000"/>
                                        <p:tgtEl>
                                          <p:spTgt spid="26"/>
                                        </p:tgtEl>
                                      </p:cBhvr>
                                    </p:animEffect>
                                    <p:anim calcmode="lin" valueType="num">
                                      <p:cBhvr>
                                        <p:cTn id="80" dur="1000" fill="hold"/>
                                        <p:tgtEl>
                                          <p:spTgt spid="26"/>
                                        </p:tgtEl>
                                        <p:attrNameLst>
                                          <p:attrName>ppt_x</p:attrName>
                                        </p:attrNameLst>
                                      </p:cBhvr>
                                      <p:tavLst>
                                        <p:tav tm="0">
                                          <p:val>
                                            <p:strVal val="#ppt_x"/>
                                          </p:val>
                                        </p:tav>
                                        <p:tav tm="100000">
                                          <p:val>
                                            <p:strVal val="#ppt_x"/>
                                          </p:val>
                                        </p:tav>
                                      </p:tavLst>
                                    </p:anim>
                                    <p:anim calcmode="lin" valueType="num">
                                      <p:cBhvr>
                                        <p:cTn id="8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7" grpId="0" animBg="1"/>
      <p:bldP spid="24" grpId="0"/>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FFBD Rules – Modelling boundary</a:t>
            </a:r>
          </a:p>
        </p:txBody>
      </p:sp>
      <p:grpSp>
        <p:nvGrpSpPr>
          <p:cNvPr id="66" name="Group 65"/>
          <p:cNvGrpSpPr/>
          <p:nvPr/>
        </p:nvGrpSpPr>
        <p:grpSpPr>
          <a:xfrm>
            <a:off x="1626919" y="2395827"/>
            <a:ext cx="7945706" cy="3860549"/>
            <a:chOff x="1626919" y="2395827"/>
            <a:chExt cx="7945706" cy="3860549"/>
          </a:xfrm>
        </p:grpSpPr>
        <p:cxnSp>
          <p:nvCxnSpPr>
            <p:cNvPr id="32" name="Straight Arrow Connector 31"/>
            <p:cNvCxnSpPr>
              <a:stCxn id="16" idx="3"/>
            </p:cNvCxnSpPr>
            <p:nvPr/>
          </p:nvCxnSpPr>
          <p:spPr>
            <a:xfrm flipV="1">
              <a:off x="5923073" y="4666984"/>
              <a:ext cx="799386" cy="2988"/>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5" name="Group 64"/>
            <p:cNvGrpSpPr/>
            <p:nvPr/>
          </p:nvGrpSpPr>
          <p:grpSpPr>
            <a:xfrm>
              <a:off x="1626919" y="2395827"/>
              <a:ext cx="7945706" cy="3860549"/>
              <a:chOff x="1626919" y="2395827"/>
              <a:chExt cx="7945706" cy="3860549"/>
            </a:xfrm>
          </p:grpSpPr>
          <p:sp>
            <p:nvSpPr>
              <p:cNvPr id="4" name="Rectangle 3"/>
              <p:cNvSpPr/>
              <p:nvPr/>
            </p:nvSpPr>
            <p:spPr>
              <a:xfrm>
                <a:off x="4334681" y="2733424"/>
                <a:ext cx="1591106" cy="722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System performs function X</a:t>
                </a:r>
              </a:p>
            </p:txBody>
          </p:sp>
          <p:sp>
            <p:nvSpPr>
              <p:cNvPr id="5" name="Rectangle 4"/>
              <p:cNvSpPr/>
              <p:nvPr/>
            </p:nvSpPr>
            <p:spPr>
              <a:xfrm>
                <a:off x="4334680" y="2398815"/>
                <a:ext cx="1591107" cy="334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F/U 1.2.1</a:t>
                </a:r>
              </a:p>
            </p:txBody>
          </p:sp>
          <p:cxnSp>
            <p:nvCxnSpPr>
              <p:cNvPr id="6" name="Straight Arrow Connector 5"/>
              <p:cNvCxnSpPr>
                <a:endCxn id="4" idx="1"/>
              </p:cNvCxnSpPr>
              <p:nvPr/>
            </p:nvCxnSpPr>
            <p:spPr>
              <a:xfrm flipV="1">
                <a:off x="1626919" y="3094572"/>
                <a:ext cx="2707762" cy="15535"/>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724055" y="2730436"/>
                <a:ext cx="1591106" cy="722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System performs function X</a:t>
                </a:r>
              </a:p>
            </p:txBody>
          </p:sp>
          <p:sp>
            <p:nvSpPr>
              <p:cNvPr id="14" name="Rectangle 13"/>
              <p:cNvSpPr/>
              <p:nvPr/>
            </p:nvSpPr>
            <p:spPr>
              <a:xfrm>
                <a:off x="6724054" y="2395827"/>
                <a:ext cx="1591107" cy="334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F/U 1.2.2</a:t>
                </a:r>
              </a:p>
            </p:txBody>
          </p:sp>
          <p:cxnSp>
            <p:nvCxnSpPr>
              <p:cNvPr id="15" name="Straight Arrow Connector 14"/>
              <p:cNvCxnSpPr>
                <a:endCxn id="13" idx="1"/>
              </p:cNvCxnSpPr>
              <p:nvPr/>
            </p:nvCxnSpPr>
            <p:spPr>
              <a:xfrm>
                <a:off x="5925787" y="3088596"/>
                <a:ext cx="798268" cy="2988"/>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4331967" y="4308824"/>
                <a:ext cx="1591106" cy="722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System performs function X</a:t>
                </a:r>
              </a:p>
            </p:txBody>
          </p:sp>
          <p:sp>
            <p:nvSpPr>
              <p:cNvPr id="17" name="Rectangle 16"/>
              <p:cNvSpPr/>
              <p:nvPr/>
            </p:nvSpPr>
            <p:spPr>
              <a:xfrm>
                <a:off x="4331966" y="3974215"/>
                <a:ext cx="1591107" cy="334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F/U 1.2.3</a:t>
                </a:r>
              </a:p>
            </p:txBody>
          </p:sp>
          <p:cxnSp>
            <p:nvCxnSpPr>
              <p:cNvPr id="18" name="Straight Arrow Connector 17"/>
              <p:cNvCxnSpPr>
                <a:endCxn id="16" idx="1"/>
              </p:cNvCxnSpPr>
              <p:nvPr/>
            </p:nvCxnSpPr>
            <p:spPr>
              <a:xfrm>
                <a:off x="3376220" y="4666984"/>
                <a:ext cx="955747" cy="2988"/>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4334681" y="5534080"/>
                <a:ext cx="1591106" cy="722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System performs function X</a:t>
                </a:r>
              </a:p>
            </p:txBody>
          </p:sp>
          <p:sp>
            <p:nvSpPr>
              <p:cNvPr id="20" name="Rectangle 19"/>
              <p:cNvSpPr/>
              <p:nvPr/>
            </p:nvSpPr>
            <p:spPr>
              <a:xfrm>
                <a:off x="4334680" y="5199471"/>
                <a:ext cx="1591107" cy="3346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F/U 1.2.4</a:t>
                </a:r>
              </a:p>
            </p:txBody>
          </p:sp>
          <p:cxnSp>
            <p:nvCxnSpPr>
              <p:cNvPr id="21" name="Straight Arrow Connector 20"/>
              <p:cNvCxnSpPr>
                <a:endCxn id="19" idx="1"/>
              </p:cNvCxnSpPr>
              <p:nvPr/>
            </p:nvCxnSpPr>
            <p:spPr>
              <a:xfrm>
                <a:off x="3366695" y="5892240"/>
                <a:ext cx="967986" cy="2988"/>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3" idx="3"/>
              </p:cNvCxnSpPr>
              <p:nvPr/>
            </p:nvCxnSpPr>
            <p:spPr>
              <a:xfrm flipV="1">
                <a:off x="8315161" y="3088596"/>
                <a:ext cx="686334" cy="29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3093129" y="5028132"/>
                <a:ext cx="559803" cy="55980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OR</a:t>
                </a:r>
                <a:endParaRPr lang="en-GB" sz="1200" dirty="0">
                  <a:solidFill>
                    <a:schemeClr val="tx1"/>
                  </a:solidFill>
                </a:endParaRPr>
              </a:p>
            </p:txBody>
          </p:sp>
          <p:sp>
            <p:nvSpPr>
              <p:cNvPr id="25" name="Oval 24"/>
              <p:cNvSpPr/>
              <p:nvPr/>
            </p:nvSpPr>
            <p:spPr>
              <a:xfrm>
                <a:off x="6444152" y="5086872"/>
                <a:ext cx="559803" cy="55980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OR</a:t>
                </a:r>
                <a:endParaRPr lang="en-GB" sz="1200" dirty="0">
                  <a:solidFill>
                    <a:schemeClr val="tx1"/>
                  </a:solidFill>
                </a:endParaRPr>
              </a:p>
            </p:txBody>
          </p:sp>
          <p:cxnSp>
            <p:nvCxnSpPr>
              <p:cNvPr id="27" name="Straight Connector 26"/>
              <p:cNvCxnSpPr>
                <a:stCxn id="24" idx="0"/>
              </p:cNvCxnSpPr>
              <p:nvPr/>
            </p:nvCxnSpPr>
            <p:spPr>
              <a:xfrm flipV="1">
                <a:off x="3373031" y="4666984"/>
                <a:ext cx="3189" cy="3611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4" idx="4"/>
              </p:cNvCxnSpPr>
              <p:nvPr/>
            </p:nvCxnSpPr>
            <p:spPr>
              <a:xfrm flipH="1">
                <a:off x="3366695" y="5587935"/>
                <a:ext cx="6336" cy="30430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9" idx="3"/>
              </p:cNvCxnSpPr>
              <p:nvPr/>
            </p:nvCxnSpPr>
            <p:spPr>
              <a:xfrm flipV="1">
                <a:off x="5925787" y="5892240"/>
                <a:ext cx="788742" cy="2988"/>
              </a:xfrm>
              <a:prstGeom prst="straightConnector1">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6720865" y="4663996"/>
                <a:ext cx="1594" cy="414936"/>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6714529" y="5638735"/>
                <a:ext cx="6336" cy="253505"/>
              </a:xfrm>
              <a:prstGeom prst="line">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667370" y="3699692"/>
                <a:ext cx="6334125" cy="51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9001495" y="3088596"/>
                <a:ext cx="0" cy="6086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2667370" y="3697217"/>
                <a:ext cx="0" cy="16108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2667370" y="5308033"/>
                <a:ext cx="399134" cy="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7003955" y="5366773"/>
                <a:ext cx="2568670" cy="14852"/>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59" name="Rectangle 58"/>
          <p:cNvSpPr/>
          <p:nvPr/>
        </p:nvSpPr>
        <p:spPr>
          <a:xfrm>
            <a:off x="223595" y="2730434"/>
            <a:ext cx="1403323" cy="71466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Launch missile</a:t>
            </a:r>
          </a:p>
        </p:txBody>
      </p:sp>
      <p:sp>
        <p:nvSpPr>
          <p:cNvPr id="60" name="Rectangle 59"/>
          <p:cNvSpPr/>
          <p:nvPr/>
        </p:nvSpPr>
        <p:spPr>
          <a:xfrm>
            <a:off x="223595" y="2391180"/>
            <a:ext cx="1403323" cy="33925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REF 1.2.0</a:t>
            </a:r>
          </a:p>
        </p:txBody>
      </p:sp>
      <p:sp>
        <p:nvSpPr>
          <p:cNvPr id="61" name="Rectangle 60"/>
          <p:cNvSpPr/>
          <p:nvPr/>
        </p:nvSpPr>
        <p:spPr>
          <a:xfrm>
            <a:off x="9592547" y="5028132"/>
            <a:ext cx="1403323" cy="71466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Launch missile</a:t>
            </a:r>
          </a:p>
        </p:txBody>
      </p:sp>
      <p:sp>
        <p:nvSpPr>
          <p:cNvPr id="62" name="Rectangle 61"/>
          <p:cNvSpPr/>
          <p:nvPr/>
        </p:nvSpPr>
        <p:spPr>
          <a:xfrm>
            <a:off x="9592547" y="4688878"/>
            <a:ext cx="1403323" cy="33925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REF 1.2.0</a:t>
            </a:r>
          </a:p>
        </p:txBody>
      </p:sp>
      <p:sp>
        <p:nvSpPr>
          <p:cNvPr id="63" name="Rectangle 62"/>
          <p:cNvSpPr/>
          <p:nvPr/>
        </p:nvSpPr>
        <p:spPr>
          <a:xfrm>
            <a:off x="2042556" y="2125683"/>
            <a:ext cx="7243948" cy="435824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p:cNvSpPr txBox="1"/>
          <p:nvPr/>
        </p:nvSpPr>
        <p:spPr>
          <a:xfrm>
            <a:off x="1920541" y="1817335"/>
            <a:ext cx="2908168" cy="307777"/>
          </a:xfrm>
          <a:prstGeom prst="rect">
            <a:avLst/>
          </a:prstGeom>
          <a:noFill/>
        </p:spPr>
        <p:txBody>
          <a:bodyPr wrap="none" rtlCol="0">
            <a:spAutoFit/>
          </a:bodyPr>
          <a:lstStyle/>
          <a:p>
            <a:r>
              <a:rPr lang="en-GB" sz="1400" dirty="0">
                <a:latin typeface="Arial" panose="020B0604020202020204" pitchFamily="34" charset="0"/>
                <a:cs typeface="Arial" panose="020B0604020202020204" pitchFamily="34" charset="0"/>
              </a:rPr>
              <a:t>MISSILE LAUNCHING CONTEXT</a:t>
            </a:r>
          </a:p>
        </p:txBody>
      </p:sp>
      <p:sp>
        <p:nvSpPr>
          <p:cNvPr id="67" name="Rectangle 66"/>
          <p:cNvSpPr/>
          <p:nvPr/>
        </p:nvSpPr>
        <p:spPr>
          <a:xfrm>
            <a:off x="8548897" y="1810438"/>
            <a:ext cx="2306487" cy="86811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C00000"/>
                </a:solidFill>
              </a:rPr>
              <a:t>The context’s content is </a:t>
            </a:r>
            <a:r>
              <a:rPr lang="en-GB" dirty="0" err="1">
                <a:solidFill>
                  <a:srgbClr val="C00000"/>
                </a:solidFill>
              </a:rPr>
              <a:t>illustratory</a:t>
            </a:r>
            <a:endParaRPr lang="en-GB" b="1" dirty="0">
              <a:solidFill>
                <a:srgbClr val="C00000"/>
              </a:solidFill>
            </a:endParaRPr>
          </a:p>
        </p:txBody>
      </p:sp>
      <p:cxnSp>
        <p:nvCxnSpPr>
          <p:cNvPr id="68" name="Straight Arrow Connector 67"/>
          <p:cNvCxnSpPr/>
          <p:nvPr/>
        </p:nvCxnSpPr>
        <p:spPr>
          <a:xfrm flipH="1">
            <a:off x="8431481" y="2694044"/>
            <a:ext cx="105531" cy="228482"/>
          </a:xfrm>
          <a:prstGeom prst="straightConnector1">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9886797" y="5989884"/>
            <a:ext cx="2306487" cy="868116"/>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Reference blocks enter and exit context</a:t>
            </a:r>
            <a:endParaRPr lang="en-GB" b="1" dirty="0">
              <a:solidFill>
                <a:srgbClr val="0070C0"/>
              </a:solidFill>
            </a:endParaRPr>
          </a:p>
        </p:txBody>
      </p:sp>
      <p:cxnSp>
        <p:nvCxnSpPr>
          <p:cNvPr id="71" name="Straight Arrow Connector 70"/>
          <p:cNvCxnSpPr>
            <a:stCxn id="70" idx="1"/>
          </p:cNvCxnSpPr>
          <p:nvPr/>
        </p:nvCxnSpPr>
        <p:spPr>
          <a:xfrm flipH="1" flipV="1">
            <a:off x="1648947" y="3629189"/>
            <a:ext cx="8237850" cy="2794753"/>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70" idx="1"/>
          </p:cNvCxnSpPr>
          <p:nvPr/>
        </p:nvCxnSpPr>
        <p:spPr>
          <a:xfrm flipH="1" flipV="1">
            <a:off x="9592547" y="5826715"/>
            <a:ext cx="294250" cy="597227"/>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52501" y="4308822"/>
            <a:ext cx="1599738" cy="1458580"/>
          </a:xfrm>
          <a:prstGeom prst="rect">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Context must have a name and dashed enclosing box</a:t>
            </a:r>
            <a:endParaRPr lang="en-GB" b="1" dirty="0">
              <a:solidFill>
                <a:srgbClr val="0070C0"/>
              </a:solidFill>
            </a:endParaRPr>
          </a:p>
        </p:txBody>
      </p:sp>
      <p:cxnSp>
        <p:nvCxnSpPr>
          <p:cNvPr id="78" name="Straight Arrow Connector 77"/>
          <p:cNvCxnSpPr>
            <a:stCxn id="77" idx="0"/>
            <a:endCxn id="64" idx="1"/>
          </p:cNvCxnSpPr>
          <p:nvPr/>
        </p:nvCxnSpPr>
        <p:spPr>
          <a:xfrm flipV="1">
            <a:off x="852370" y="1971224"/>
            <a:ext cx="1068171" cy="2337598"/>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7" idx="0"/>
          </p:cNvCxnSpPr>
          <p:nvPr/>
        </p:nvCxnSpPr>
        <p:spPr>
          <a:xfrm flipV="1">
            <a:off x="852370" y="2678554"/>
            <a:ext cx="1143917" cy="1630268"/>
          </a:xfrm>
          <a:prstGeom prst="straightConnector1">
            <a:avLst/>
          </a:prstGeom>
          <a:ln>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76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7"/>
                                        </p:tgtEl>
                                        <p:attrNameLst>
                                          <p:attrName>style.visibility</p:attrName>
                                        </p:attrNameLst>
                                      </p:cBhvr>
                                      <p:to>
                                        <p:strVal val="visible"/>
                                      </p:to>
                                    </p:set>
                                    <p:animEffect transition="in" filter="fade">
                                      <p:cBhvr>
                                        <p:cTn id="14" dur="500"/>
                                        <p:tgtEl>
                                          <p:spTgt spid="77"/>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fade">
                                      <p:cBhvr>
                                        <p:cTn id="18" dur="500"/>
                                        <p:tgtEl>
                                          <p:spTgt spid="78"/>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fade">
                                      <p:cBhvr>
                                        <p:cTn id="22" dur="500"/>
                                        <p:tgtEl>
                                          <p:spTgt spid="8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fade">
                                      <p:cBhvr>
                                        <p:cTn id="33" dur="500"/>
                                        <p:tgtEl>
                                          <p:spTgt spid="6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childTnLst>
                                </p:cTn>
                              </p:par>
                            </p:childTnLst>
                          </p:cTn>
                        </p:par>
                        <p:par>
                          <p:cTn id="37" fill="hold">
                            <p:stCondLst>
                              <p:cond delay="500"/>
                            </p:stCondLst>
                            <p:childTnLst>
                              <p:par>
                                <p:cTn id="38" presetID="22" presetClass="entr" presetSubtype="4" fill="hold" grpId="0" nodeType="after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par>
                          <p:cTn id="41" fill="hold">
                            <p:stCondLst>
                              <p:cond delay="1000"/>
                            </p:stCondLst>
                            <p:childTnLst>
                              <p:par>
                                <p:cTn id="42" presetID="22" presetClass="entr" presetSubtype="4" fill="hold" nodeType="after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wipe(down)">
                                      <p:cBhvr>
                                        <p:cTn id="44" dur="500"/>
                                        <p:tgtEl>
                                          <p:spTgt spid="71"/>
                                        </p:tgtEl>
                                      </p:cBhvr>
                                    </p:animEffect>
                                  </p:childTnLst>
                                </p:cTn>
                              </p:par>
                            </p:childTnLst>
                          </p:cTn>
                        </p:par>
                        <p:par>
                          <p:cTn id="45" fill="hold">
                            <p:stCondLst>
                              <p:cond delay="1500"/>
                            </p:stCondLst>
                            <p:childTnLst>
                              <p:par>
                                <p:cTn id="46" presetID="22" presetClass="entr" presetSubtype="4" fill="hold" nodeType="afterEffect">
                                  <p:stCondLst>
                                    <p:cond delay="0"/>
                                  </p:stCondLst>
                                  <p:childTnLst>
                                    <p:set>
                                      <p:cBhvr>
                                        <p:cTn id="47" dur="1" fill="hold">
                                          <p:stCondLst>
                                            <p:cond delay="0"/>
                                          </p:stCondLst>
                                        </p:cTn>
                                        <p:tgtEl>
                                          <p:spTgt spid="74"/>
                                        </p:tgtEl>
                                        <p:attrNameLst>
                                          <p:attrName>style.visibility</p:attrName>
                                        </p:attrNameLst>
                                      </p:cBhvr>
                                      <p:to>
                                        <p:strVal val="visible"/>
                                      </p:to>
                                    </p:set>
                                    <p:animEffect transition="in" filter="wipe(down)">
                                      <p:cBhvr>
                                        <p:cTn id="48" dur="500"/>
                                        <p:tgtEl>
                                          <p:spTgt spid="7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66"/>
                                        </p:tgtEl>
                                        <p:attrNameLst>
                                          <p:attrName>style.visibility</p:attrName>
                                        </p:attrNameLst>
                                      </p:cBhvr>
                                      <p:to>
                                        <p:strVal val="visible"/>
                                      </p:to>
                                    </p:set>
                                    <p:anim calcmode="lin" valueType="num">
                                      <p:cBhvr>
                                        <p:cTn id="53" dur="500" fill="hold"/>
                                        <p:tgtEl>
                                          <p:spTgt spid="66"/>
                                        </p:tgtEl>
                                        <p:attrNameLst>
                                          <p:attrName>ppt_w</p:attrName>
                                        </p:attrNameLst>
                                      </p:cBhvr>
                                      <p:tavLst>
                                        <p:tav tm="0">
                                          <p:val>
                                            <p:fltVal val="0"/>
                                          </p:val>
                                        </p:tav>
                                        <p:tav tm="100000">
                                          <p:val>
                                            <p:strVal val="#ppt_w"/>
                                          </p:val>
                                        </p:tav>
                                      </p:tavLst>
                                    </p:anim>
                                    <p:anim calcmode="lin" valueType="num">
                                      <p:cBhvr>
                                        <p:cTn id="54" dur="500" fill="hold"/>
                                        <p:tgtEl>
                                          <p:spTgt spid="66"/>
                                        </p:tgtEl>
                                        <p:attrNameLst>
                                          <p:attrName>ppt_h</p:attrName>
                                        </p:attrNameLst>
                                      </p:cBhvr>
                                      <p:tavLst>
                                        <p:tav tm="0">
                                          <p:val>
                                            <p:fltVal val="0"/>
                                          </p:val>
                                        </p:tav>
                                        <p:tav tm="100000">
                                          <p:val>
                                            <p:strVal val="#ppt_h"/>
                                          </p:val>
                                        </p:tav>
                                      </p:tavLst>
                                    </p:anim>
                                    <p:animEffect transition="in" filter="fade">
                                      <p:cBhvr>
                                        <p:cTn id="55" dur="500"/>
                                        <p:tgtEl>
                                          <p:spTgt spid="66"/>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67"/>
                                        </p:tgtEl>
                                        <p:attrNameLst>
                                          <p:attrName>style.visibility</p:attrName>
                                        </p:attrNameLst>
                                      </p:cBhvr>
                                      <p:to>
                                        <p:strVal val="visible"/>
                                      </p:to>
                                    </p:set>
                                    <p:animEffect transition="in" filter="fade">
                                      <p:cBhvr>
                                        <p:cTn id="60" dur="1000"/>
                                        <p:tgtEl>
                                          <p:spTgt spid="67"/>
                                        </p:tgtEl>
                                      </p:cBhvr>
                                    </p:animEffect>
                                    <p:anim calcmode="lin" valueType="num">
                                      <p:cBhvr>
                                        <p:cTn id="61" dur="1000" fill="hold"/>
                                        <p:tgtEl>
                                          <p:spTgt spid="67"/>
                                        </p:tgtEl>
                                        <p:attrNameLst>
                                          <p:attrName>ppt_x</p:attrName>
                                        </p:attrNameLst>
                                      </p:cBhvr>
                                      <p:tavLst>
                                        <p:tav tm="0">
                                          <p:val>
                                            <p:strVal val="#ppt_x"/>
                                          </p:val>
                                        </p:tav>
                                        <p:tav tm="100000">
                                          <p:val>
                                            <p:strVal val="#ppt_x"/>
                                          </p:val>
                                        </p:tav>
                                      </p:tavLst>
                                    </p:anim>
                                    <p:anim calcmode="lin" valueType="num">
                                      <p:cBhvr>
                                        <p:cTn id="62" dur="1000" fill="hold"/>
                                        <p:tgtEl>
                                          <p:spTgt spid="67"/>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fade">
                                      <p:cBhvr>
                                        <p:cTn id="65" dur="1000"/>
                                        <p:tgtEl>
                                          <p:spTgt spid="68"/>
                                        </p:tgtEl>
                                      </p:cBhvr>
                                    </p:animEffect>
                                    <p:anim calcmode="lin" valueType="num">
                                      <p:cBhvr>
                                        <p:cTn id="66" dur="1000" fill="hold"/>
                                        <p:tgtEl>
                                          <p:spTgt spid="68"/>
                                        </p:tgtEl>
                                        <p:attrNameLst>
                                          <p:attrName>ppt_x</p:attrName>
                                        </p:attrNameLst>
                                      </p:cBhvr>
                                      <p:tavLst>
                                        <p:tav tm="0">
                                          <p:val>
                                            <p:strVal val="#ppt_x"/>
                                          </p:val>
                                        </p:tav>
                                        <p:tav tm="100000">
                                          <p:val>
                                            <p:strVal val="#ppt_x"/>
                                          </p:val>
                                        </p:tav>
                                      </p:tavLst>
                                    </p:anim>
                                    <p:anim calcmode="lin" valueType="num">
                                      <p:cBhvr>
                                        <p:cTn id="67"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63" grpId="0" animBg="1"/>
      <p:bldP spid="64" grpId="0"/>
      <p:bldP spid="67" grpId="0" animBg="1"/>
      <p:bldP spid="70" grpId="0" animBg="1"/>
      <p:bldP spid="7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Functions</a:t>
            </a:r>
          </a:p>
        </p:txBody>
      </p:sp>
      <p:sp>
        <p:nvSpPr>
          <p:cNvPr id="4" name="TextBox 3"/>
          <p:cNvSpPr txBox="1"/>
          <p:nvPr/>
        </p:nvSpPr>
        <p:spPr>
          <a:xfrm>
            <a:off x="335597" y="1825858"/>
            <a:ext cx="4975761" cy="923330"/>
          </a:xfrm>
          <a:prstGeom prst="rect">
            <a:avLst/>
          </a:prstGeom>
          <a:noFill/>
        </p:spPr>
        <p:txBody>
          <a:bodyPr wrap="square" rtlCol="0">
            <a:spAutoFit/>
          </a:bodyPr>
          <a:lstStyle/>
          <a:p>
            <a:r>
              <a:rPr lang="en-GB" b="1" dirty="0">
                <a:solidFill>
                  <a:schemeClr val="accent2">
                    <a:lumMod val="50000"/>
                  </a:schemeClr>
                </a:solidFill>
              </a:rPr>
              <a:t>Type A</a:t>
            </a:r>
          </a:p>
          <a:p>
            <a:r>
              <a:rPr lang="en-GB" dirty="0">
                <a:solidFill>
                  <a:schemeClr val="accent2">
                    <a:lumMod val="50000"/>
                  </a:schemeClr>
                </a:solidFill>
              </a:rPr>
              <a:t>Solely performed by the system</a:t>
            </a:r>
          </a:p>
          <a:p>
            <a:endParaRPr lang="en-GB" dirty="0">
              <a:solidFill>
                <a:schemeClr val="accent2">
                  <a:lumMod val="50000"/>
                </a:schemeClr>
              </a:solidFill>
            </a:endParaRPr>
          </a:p>
        </p:txBody>
      </p:sp>
      <p:sp>
        <p:nvSpPr>
          <p:cNvPr id="5" name="TextBox 4"/>
          <p:cNvSpPr txBox="1"/>
          <p:nvPr/>
        </p:nvSpPr>
        <p:spPr>
          <a:xfrm>
            <a:off x="335596" y="2558170"/>
            <a:ext cx="4975761" cy="923330"/>
          </a:xfrm>
          <a:prstGeom prst="rect">
            <a:avLst/>
          </a:prstGeom>
          <a:noFill/>
        </p:spPr>
        <p:txBody>
          <a:bodyPr wrap="square" rtlCol="0">
            <a:spAutoFit/>
          </a:bodyPr>
          <a:lstStyle/>
          <a:p>
            <a:r>
              <a:rPr lang="en-GB" b="1" dirty="0">
                <a:solidFill>
                  <a:schemeClr val="accent2">
                    <a:lumMod val="50000"/>
                  </a:schemeClr>
                </a:solidFill>
              </a:rPr>
              <a:t>Type B</a:t>
            </a:r>
          </a:p>
          <a:p>
            <a:r>
              <a:rPr lang="en-GB" dirty="0">
                <a:solidFill>
                  <a:schemeClr val="accent2">
                    <a:lumMod val="50000"/>
                  </a:schemeClr>
                </a:solidFill>
              </a:rPr>
              <a:t>Partly performed by the system</a:t>
            </a:r>
          </a:p>
          <a:p>
            <a:endParaRPr lang="en-GB" dirty="0">
              <a:solidFill>
                <a:schemeClr val="accent2">
                  <a:lumMod val="50000"/>
                </a:schemeClr>
              </a:solidFill>
            </a:endParaRPr>
          </a:p>
        </p:txBody>
      </p:sp>
      <p:sp>
        <p:nvSpPr>
          <p:cNvPr id="6" name="TextBox 5"/>
          <p:cNvSpPr txBox="1"/>
          <p:nvPr/>
        </p:nvSpPr>
        <p:spPr>
          <a:xfrm>
            <a:off x="335596" y="3481500"/>
            <a:ext cx="4975761" cy="1477328"/>
          </a:xfrm>
          <a:prstGeom prst="rect">
            <a:avLst/>
          </a:prstGeom>
          <a:noFill/>
        </p:spPr>
        <p:txBody>
          <a:bodyPr wrap="square" rtlCol="0">
            <a:spAutoFit/>
          </a:bodyPr>
          <a:lstStyle/>
          <a:p>
            <a:r>
              <a:rPr lang="en-GB" b="1" dirty="0">
                <a:solidFill>
                  <a:schemeClr val="accent2">
                    <a:lumMod val="50000"/>
                  </a:schemeClr>
                </a:solidFill>
              </a:rPr>
              <a:t>Type C</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a:t>
            </a:r>
          </a:p>
          <a:p>
            <a:r>
              <a:rPr lang="en-GB" dirty="0">
                <a:solidFill>
                  <a:schemeClr val="accent2">
                    <a:lumMod val="50000"/>
                  </a:schemeClr>
                </a:solidFill>
              </a:rPr>
              <a:t>Done by ONE (1) item in the system context</a:t>
            </a:r>
          </a:p>
          <a:p>
            <a:endParaRPr lang="en-GB" dirty="0">
              <a:solidFill>
                <a:schemeClr val="accent2">
                  <a:lumMod val="50000"/>
                </a:schemeClr>
              </a:solidFill>
            </a:endParaRPr>
          </a:p>
        </p:txBody>
      </p:sp>
      <p:sp>
        <p:nvSpPr>
          <p:cNvPr id="7" name="TextBox 6"/>
          <p:cNvSpPr txBox="1"/>
          <p:nvPr/>
        </p:nvSpPr>
        <p:spPr>
          <a:xfrm>
            <a:off x="335596" y="4952476"/>
            <a:ext cx="5803947" cy="1477328"/>
          </a:xfrm>
          <a:prstGeom prst="rect">
            <a:avLst/>
          </a:prstGeom>
          <a:noFill/>
        </p:spPr>
        <p:txBody>
          <a:bodyPr wrap="square" rtlCol="0">
            <a:spAutoFit/>
          </a:bodyPr>
          <a:lstStyle/>
          <a:p>
            <a:r>
              <a:rPr lang="en-GB" b="1" dirty="0">
                <a:solidFill>
                  <a:schemeClr val="accent2">
                    <a:lumMod val="50000"/>
                  </a:schemeClr>
                </a:solidFill>
              </a:rPr>
              <a:t>Type CI</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 via enveloping environment</a:t>
            </a:r>
          </a:p>
          <a:p>
            <a:r>
              <a:rPr lang="en-GB" dirty="0">
                <a:solidFill>
                  <a:schemeClr val="accent2">
                    <a:lumMod val="50000"/>
                  </a:schemeClr>
                </a:solidFill>
              </a:rPr>
              <a:t>Done by ONE (1) item in the system context</a:t>
            </a:r>
          </a:p>
          <a:p>
            <a:endParaRPr lang="en-GB" dirty="0">
              <a:solidFill>
                <a:schemeClr val="accent2">
                  <a:lumMod val="50000"/>
                </a:schemeClr>
              </a:solidFill>
            </a:endParaRPr>
          </a:p>
        </p:txBody>
      </p:sp>
      <p:sp>
        <p:nvSpPr>
          <p:cNvPr id="9" name="TextBox 8"/>
          <p:cNvSpPr txBox="1"/>
          <p:nvPr/>
        </p:nvSpPr>
        <p:spPr>
          <a:xfrm>
            <a:off x="6296137" y="3483530"/>
            <a:ext cx="5068549" cy="1477328"/>
          </a:xfrm>
          <a:prstGeom prst="rect">
            <a:avLst/>
          </a:prstGeom>
          <a:noFill/>
        </p:spPr>
        <p:txBody>
          <a:bodyPr wrap="square" rtlCol="0">
            <a:spAutoFit/>
          </a:bodyPr>
          <a:lstStyle/>
          <a:p>
            <a:r>
              <a:rPr lang="en-GB" b="1" dirty="0">
                <a:solidFill>
                  <a:schemeClr val="accent2">
                    <a:lumMod val="50000"/>
                  </a:schemeClr>
                </a:solidFill>
              </a:rPr>
              <a:t>Type D</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a:t>
            </a:r>
          </a:p>
          <a:p>
            <a:r>
              <a:rPr lang="en-GB" dirty="0">
                <a:solidFill>
                  <a:schemeClr val="accent2">
                    <a:lumMod val="50000"/>
                  </a:schemeClr>
                </a:solidFill>
              </a:rPr>
              <a:t>Done by TWO (2) or more elements in context</a:t>
            </a:r>
          </a:p>
          <a:p>
            <a:endParaRPr lang="en-GB" dirty="0">
              <a:solidFill>
                <a:schemeClr val="accent2">
                  <a:lumMod val="50000"/>
                </a:schemeClr>
              </a:solidFill>
            </a:endParaRPr>
          </a:p>
        </p:txBody>
      </p:sp>
      <p:sp>
        <p:nvSpPr>
          <p:cNvPr id="10" name="TextBox 9"/>
          <p:cNvSpPr txBox="1"/>
          <p:nvPr/>
        </p:nvSpPr>
        <p:spPr>
          <a:xfrm>
            <a:off x="6296137" y="4952476"/>
            <a:ext cx="5068549" cy="1477328"/>
          </a:xfrm>
          <a:prstGeom prst="rect">
            <a:avLst/>
          </a:prstGeom>
          <a:noFill/>
        </p:spPr>
        <p:txBody>
          <a:bodyPr wrap="square" rtlCol="0">
            <a:spAutoFit/>
          </a:bodyPr>
          <a:lstStyle/>
          <a:p>
            <a:r>
              <a:rPr lang="en-GB" b="1" dirty="0">
                <a:solidFill>
                  <a:schemeClr val="accent2">
                    <a:lumMod val="50000"/>
                  </a:schemeClr>
                </a:solidFill>
              </a:rPr>
              <a:t>Type E</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a:t>
            </a:r>
          </a:p>
          <a:p>
            <a:r>
              <a:rPr lang="en-GB" dirty="0">
                <a:solidFill>
                  <a:srgbClr val="FF0000"/>
                </a:solidFill>
              </a:rPr>
              <a:t>No element in context to perform action</a:t>
            </a:r>
          </a:p>
          <a:p>
            <a:endParaRPr lang="en-GB" dirty="0">
              <a:solidFill>
                <a:srgbClr val="FF0000"/>
              </a:solidFill>
            </a:endParaRPr>
          </a:p>
        </p:txBody>
      </p:sp>
      <p:sp>
        <p:nvSpPr>
          <p:cNvPr id="11" name="TextBox 10"/>
          <p:cNvSpPr txBox="1"/>
          <p:nvPr/>
        </p:nvSpPr>
        <p:spPr>
          <a:xfrm>
            <a:off x="6296137" y="1691322"/>
            <a:ext cx="4192173" cy="584775"/>
          </a:xfrm>
          <a:prstGeom prst="rect">
            <a:avLst/>
          </a:prstGeom>
          <a:noFill/>
        </p:spPr>
        <p:txBody>
          <a:bodyPr wrap="none" rtlCol="0">
            <a:spAutoFit/>
          </a:bodyPr>
          <a:lstStyle/>
          <a:p>
            <a:r>
              <a:rPr lang="en-GB" sz="3200" dirty="0">
                <a:solidFill>
                  <a:srgbClr val="00B050"/>
                </a:solidFill>
              </a:rPr>
              <a:t>Decompose Type B,D</a:t>
            </a:r>
          </a:p>
        </p:txBody>
      </p:sp>
      <p:sp>
        <p:nvSpPr>
          <p:cNvPr id="12" name="TextBox 11"/>
          <p:cNvSpPr txBox="1"/>
          <p:nvPr/>
        </p:nvSpPr>
        <p:spPr>
          <a:xfrm>
            <a:off x="6296137" y="6160596"/>
            <a:ext cx="4762842" cy="461665"/>
          </a:xfrm>
          <a:prstGeom prst="rect">
            <a:avLst/>
          </a:prstGeom>
          <a:noFill/>
        </p:spPr>
        <p:txBody>
          <a:bodyPr wrap="none" rtlCol="0">
            <a:spAutoFit/>
          </a:bodyPr>
          <a:lstStyle/>
          <a:p>
            <a:r>
              <a:rPr lang="en-GB" sz="2400" dirty="0">
                <a:solidFill>
                  <a:srgbClr val="7030A0"/>
                </a:solidFill>
              </a:rPr>
              <a:t>Refine context to change Type E</a:t>
            </a:r>
          </a:p>
        </p:txBody>
      </p:sp>
      <p:cxnSp>
        <p:nvCxnSpPr>
          <p:cNvPr id="14" name="Straight Arrow Connector 13"/>
          <p:cNvCxnSpPr>
            <a:stCxn id="11" idx="2"/>
          </p:cNvCxnSpPr>
          <p:nvPr/>
        </p:nvCxnSpPr>
        <p:spPr>
          <a:xfrm flipH="1">
            <a:off x="3906983" y="2276097"/>
            <a:ext cx="4485241" cy="473091"/>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2"/>
          </p:cNvCxnSpPr>
          <p:nvPr/>
        </p:nvCxnSpPr>
        <p:spPr>
          <a:xfrm flipH="1">
            <a:off x="6911439" y="2276097"/>
            <a:ext cx="1480785" cy="1191996"/>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59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par>
                                <p:cTn id="45" presetID="53" presetClass="entr" presetSubtype="16"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When to stop?</a:t>
            </a:r>
          </a:p>
        </p:txBody>
      </p:sp>
      <p:sp>
        <p:nvSpPr>
          <p:cNvPr id="3" name="Content Placeholder 2"/>
          <p:cNvSpPr>
            <a:spLocks noGrp="1"/>
          </p:cNvSpPr>
          <p:nvPr>
            <p:ph idx="1"/>
          </p:nvPr>
        </p:nvSpPr>
        <p:spPr/>
        <p:txBody>
          <a:bodyPr/>
          <a:lstStyle/>
          <a:p>
            <a:r>
              <a:rPr lang="en-GB" dirty="0"/>
              <a:t>Once only type A,C, CI functions are left</a:t>
            </a:r>
          </a:p>
        </p:txBody>
      </p:sp>
      <p:sp>
        <p:nvSpPr>
          <p:cNvPr id="4" name="TextBox 3"/>
          <p:cNvSpPr txBox="1"/>
          <p:nvPr/>
        </p:nvSpPr>
        <p:spPr>
          <a:xfrm>
            <a:off x="335596" y="3542803"/>
            <a:ext cx="4975761" cy="923330"/>
          </a:xfrm>
          <a:prstGeom prst="rect">
            <a:avLst/>
          </a:prstGeom>
          <a:noFill/>
        </p:spPr>
        <p:txBody>
          <a:bodyPr wrap="square" rtlCol="0">
            <a:spAutoFit/>
          </a:bodyPr>
          <a:lstStyle/>
          <a:p>
            <a:r>
              <a:rPr lang="en-GB" b="1" dirty="0">
                <a:solidFill>
                  <a:schemeClr val="accent2">
                    <a:lumMod val="50000"/>
                  </a:schemeClr>
                </a:solidFill>
              </a:rPr>
              <a:t>Type A</a:t>
            </a:r>
          </a:p>
          <a:p>
            <a:r>
              <a:rPr lang="en-GB" dirty="0">
                <a:solidFill>
                  <a:schemeClr val="accent2">
                    <a:lumMod val="50000"/>
                  </a:schemeClr>
                </a:solidFill>
              </a:rPr>
              <a:t>Solely performed by the system</a:t>
            </a:r>
          </a:p>
          <a:p>
            <a:endParaRPr lang="en-GB" dirty="0">
              <a:solidFill>
                <a:schemeClr val="accent2">
                  <a:lumMod val="50000"/>
                </a:schemeClr>
              </a:solidFill>
            </a:endParaRPr>
          </a:p>
        </p:txBody>
      </p:sp>
      <p:sp>
        <p:nvSpPr>
          <p:cNvPr id="5" name="TextBox 4"/>
          <p:cNvSpPr txBox="1"/>
          <p:nvPr/>
        </p:nvSpPr>
        <p:spPr>
          <a:xfrm>
            <a:off x="5807746" y="3475148"/>
            <a:ext cx="4975761" cy="1477328"/>
          </a:xfrm>
          <a:prstGeom prst="rect">
            <a:avLst/>
          </a:prstGeom>
          <a:noFill/>
        </p:spPr>
        <p:txBody>
          <a:bodyPr wrap="square" rtlCol="0">
            <a:spAutoFit/>
          </a:bodyPr>
          <a:lstStyle/>
          <a:p>
            <a:r>
              <a:rPr lang="en-GB" b="1" dirty="0">
                <a:solidFill>
                  <a:schemeClr val="accent2">
                    <a:lumMod val="50000"/>
                  </a:schemeClr>
                </a:solidFill>
              </a:rPr>
              <a:t>Type C</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a:t>
            </a:r>
          </a:p>
          <a:p>
            <a:r>
              <a:rPr lang="en-GB" dirty="0">
                <a:solidFill>
                  <a:schemeClr val="accent2">
                    <a:lumMod val="50000"/>
                  </a:schemeClr>
                </a:solidFill>
              </a:rPr>
              <a:t>Done by ONE (1) item in the system context</a:t>
            </a:r>
          </a:p>
          <a:p>
            <a:endParaRPr lang="en-GB" dirty="0">
              <a:solidFill>
                <a:schemeClr val="accent2">
                  <a:lumMod val="50000"/>
                </a:schemeClr>
              </a:solidFill>
            </a:endParaRPr>
          </a:p>
        </p:txBody>
      </p:sp>
      <p:sp>
        <p:nvSpPr>
          <p:cNvPr id="6" name="TextBox 5"/>
          <p:cNvSpPr txBox="1"/>
          <p:nvPr/>
        </p:nvSpPr>
        <p:spPr>
          <a:xfrm>
            <a:off x="335596" y="4952476"/>
            <a:ext cx="5803947" cy="1477328"/>
          </a:xfrm>
          <a:prstGeom prst="rect">
            <a:avLst/>
          </a:prstGeom>
          <a:noFill/>
        </p:spPr>
        <p:txBody>
          <a:bodyPr wrap="square" rtlCol="0">
            <a:spAutoFit/>
          </a:bodyPr>
          <a:lstStyle/>
          <a:p>
            <a:r>
              <a:rPr lang="en-GB" b="1" dirty="0">
                <a:solidFill>
                  <a:schemeClr val="accent2">
                    <a:lumMod val="50000"/>
                  </a:schemeClr>
                </a:solidFill>
              </a:rPr>
              <a:t>Type CI</a:t>
            </a:r>
          </a:p>
          <a:p>
            <a:r>
              <a:rPr lang="en-GB" dirty="0">
                <a:solidFill>
                  <a:schemeClr val="accent2">
                    <a:lumMod val="50000"/>
                  </a:schemeClr>
                </a:solidFill>
              </a:rPr>
              <a:t>Not performed by the system</a:t>
            </a:r>
          </a:p>
          <a:p>
            <a:r>
              <a:rPr lang="en-GB" dirty="0">
                <a:solidFill>
                  <a:schemeClr val="accent2">
                    <a:lumMod val="50000"/>
                  </a:schemeClr>
                </a:solidFill>
              </a:rPr>
              <a:t>Interfaces to the system via enveloping environment</a:t>
            </a:r>
          </a:p>
          <a:p>
            <a:r>
              <a:rPr lang="en-GB" dirty="0">
                <a:solidFill>
                  <a:schemeClr val="accent2">
                    <a:lumMod val="50000"/>
                  </a:schemeClr>
                </a:solidFill>
              </a:rPr>
              <a:t>Done by ONE (1) item in the system context</a:t>
            </a:r>
          </a:p>
          <a:p>
            <a:endParaRPr lang="en-GB" dirty="0">
              <a:solidFill>
                <a:schemeClr val="accent2">
                  <a:lumMod val="50000"/>
                </a:schemeClr>
              </a:solidFill>
            </a:endParaRPr>
          </a:p>
        </p:txBody>
      </p:sp>
    </p:spTree>
    <p:extLst>
      <p:ext uri="{BB962C8B-B14F-4D97-AF65-F5344CB8AC3E}">
        <p14:creationId xmlns:p14="http://schemas.microsoft.com/office/powerpoint/2010/main" val="9378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Cheat sheet</a:t>
            </a:r>
          </a:p>
        </p:txBody>
      </p:sp>
      <p:pic>
        <p:nvPicPr>
          <p:cNvPr id="4" name="Picture 3"/>
          <p:cNvPicPr>
            <a:picLocks noChangeAspect="1"/>
          </p:cNvPicPr>
          <p:nvPr/>
        </p:nvPicPr>
        <p:blipFill>
          <a:blip r:embed="rId2"/>
          <a:stretch>
            <a:fillRect/>
          </a:stretch>
        </p:blipFill>
        <p:spPr>
          <a:xfrm>
            <a:off x="676894" y="1691322"/>
            <a:ext cx="10002395" cy="5100772"/>
          </a:xfrm>
          <a:prstGeom prst="rect">
            <a:avLst/>
          </a:prstGeom>
        </p:spPr>
      </p:pic>
      <p:sp>
        <p:nvSpPr>
          <p:cNvPr id="5" name="Rounded Rectangle 4"/>
          <p:cNvSpPr/>
          <p:nvPr/>
        </p:nvSpPr>
        <p:spPr>
          <a:xfrm>
            <a:off x="4548249" y="1436914"/>
            <a:ext cx="3491346" cy="118753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9471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quick example</a:t>
            </a:r>
          </a:p>
        </p:txBody>
      </p:sp>
      <p:sp>
        <p:nvSpPr>
          <p:cNvPr id="3" name="Content Placeholder 2"/>
          <p:cNvSpPr>
            <a:spLocks noGrp="1"/>
          </p:cNvSpPr>
          <p:nvPr>
            <p:ph idx="1"/>
          </p:nvPr>
        </p:nvSpPr>
        <p:spPr/>
        <p:txBody>
          <a:bodyPr/>
          <a:lstStyle/>
          <a:p>
            <a:r>
              <a:rPr lang="en-GB" dirty="0"/>
              <a:t>You are developing an aircraft system to replace existing infrastructure</a:t>
            </a:r>
          </a:p>
        </p:txBody>
      </p:sp>
      <p:pic>
        <p:nvPicPr>
          <p:cNvPr id="4" name="Picture 3"/>
          <p:cNvPicPr>
            <a:picLocks noChangeAspect="1"/>
          </p:cNvPicPr>
          <p:nvPr/>
        </p:nvPicPr>
        <p:blipFill>
          <a:blip r:embed="rId2"/>
          <a:stretch>
            <a:fillRect/>
          </a:stretch>
        </p:blipFill>
        <p:spPr>
          <a:xfrm>
            <a:off x="5938149" y="2790702"/>
            <a:ext cx="5016363" cy="3389435"/>
          </a:xfrm>
          <a:prstGeom prst="rect">
            <a:avLst/>
          </a:prstGeom>
        </p:spPr>
      </p:pic>
    </p:spTree>
    <p:extLst>
      <p:ext uri="{BB962C8B-B14F-4D97-AF65-F5344CB8AC3E}">
        <p14:creationId xmlns:p14="http://schemas.microsoft.com/office/powerpoint/2010/main" val="2744115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quick example</a:t>
            </a:r>
          </a:p>
        </p:txBody>
      </p:sp>
      <p:pic>
        <p:nvPicPr>
          <p:cNvPr id="4" name="Picture 3"/>
          <p:cNvPicPr>
            <a:picLocks noChangeAspect="1"/>
          </p:cNvPicPr>
          <p:nvPr/>
        </p:nvPicPr>
        <p:blipFill>
          <a:blip r:embed="rId2"/>
          <a:stretch>
            <a:fillRect/>
          </a:stretch>
        </p:blipFill>
        <p:spPr>
          <a:xfrm>
            <a:off x="650900" y="2193446"/>
            <a:ext cx="9916426" cy="1544833"/>
          </a:xfrm>
          <a:prstGeom prst="rect">
            <a:avLst/>
          </a:prstGeom>
        </p:spPr>
      </p:pic>
      <p:pic>
        <p:nvPicPr>
          <p:cNvPr id="5" name="Picture 4"/>
          <p:cNvPicPr>
            <a:picLocks noChangeAspect="1"/>
          </p:cNvPicPr>
          <p:nvPr/>
        </p:nvPicPr>
        <p:blipFill>
          <a:blip r:embed="rId3"/>
          <a:stretch>
            <a:fillRect/>
          </a:stretch>
        </p:blipFill>
        <p:spPr>
          <a:xfrm>
            <a:off x="7274149" y="3738279"/>
            <a:ext cx="4031159" cy="3142938"/>
          </a:xfrm>
          <a:prstGeom prst="rect">
            <a:avLst/>
          </a:prstGeom>
        </p:spPr>
      </p:pic>
      <p:sp>
        <p:nvSpPr>
          <p:cNvPr id="10" name="TextBox 9"/>
          <p:cNvSpPr txBox="1"/>
          <p:nvPr/>
        </p:nvSpPr>
        <p:spPr>
          <a:xfrm>
            <a:off x="2042556" y="3253839"/>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
        <p:nvSpPr>
          <p:cNvPr id="11" name="TextBox 10"/>
          <p:cNvSpPr txBox="1"/>
          <p:nvPr/>
        </p:nvSpPr>
        <p:spPr>
          <a:xfrm>
            <a:off x="3659843" y="3253839"/>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
        <p:nvSpPr>
          <p:cNvPr id="12" name="TextBox 11"/>
          <p:cNvSpPr txBox="1"/>
          <p:nvPr/>
        </p:nvSpPr>
        <p:spPr>
          <a:xfrm>
            <a:off x="5056910" y="3253839"/>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
        <p:nvSpPr>
          <p:cNvPr id="13" name="TextBox 12"/>
          <p:cNvSpPr txBox="1"/>
          <p:nvPr/>
        </p:nvSpPr>
        <p:spPr>
          <a:xfrm>
            <a:off x="6536167" y="3253839"/>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
        <p:nvSpPr>
          <p:cNvPr id="14" name="TextBox 13"/>
          <p:cNvSpPr txBox="1"/>
          <p:nvPr/>
        </p:nvSpPr>
        <p:spPr>
          <a:xfrm>
            <a:off x="8015424" y="3236155"/>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Tree>
    <p:extLst>
      <p:ext uri="{BB962C8B-B14F-4D97-AF65-F5344CB8AC3E}">
        <p14:creationId xmlns:p14="http://schemas.microsoft.com/office/powerpoint/2010/main" val="145423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quick example</a:t>
            </a:r>
          </a:p>
        </p:txBody>
      </p:sp>
      <p:pic>
        <p:nvPicPr>
          <p:cNvPr id="4" name="Picture 3"/>
          <p:cNvPicPr>
            <a:picLocks noChangeAspect="1"/>
          </p:cNvPicPr>
          <p:nvPr/>
        </p:nvPicPr>
        <p:blipFill>
          <a:blip r:embed="rId2"/>
          <a:stretch>
            <a:fillRect/>
          </a:stretch>
        </p:blipFill>
        <p:spPr>
          <a:xfrm>
            <a:off x="185858" y="2887212"/>
            <a:ext cx="7925176" cy="3767400"/>
          </a:xfrm>
          <a:prstGeom prst="rect">
            <a:avLst/>
          </a:prstGeom>
        </p:spPr>
      </p:pic>
      <p:pic>
        <p:nvPicPr>
          <p:cNvPr id="5" name="Picture 4"/>
          <p:cNvPicPr>
            <a:picLocks noChangeAspect="1"/>
          </p:cNvPicPr>
          <p:nvPr/>
        </p:nvPicPr>
        <p:blipFill>
          <a:blip r:embed="rId3"/>
          <a:stretch>
            <a:fillRect/>
          </a:stretch>
        </p:blipFill>
        <p:spPr>
          <a:xfrm>
            <a:off x="7107895" y="365760"/>
            <a:ext cx="4031159" cy="3142938"/>
          </a:xfrm>
          <a:prstGeom prst="rect">
            <a:avLst/>
          </a:prstGeom>
        </p:spPr>
      </p:pic>
      <p:sp>
        <p:nvSpPr>
          <p:cNvPr id="6" name="TextBox 5"/>
          <p:cNvSpPr txBox="1"/>
          <p:nvPr/>
        </p:nvSpPr>
        <p:spPr>
          <a:xfrm>
            <a:off x="1537731" y="4996914"/>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B</a:t>
            </a:r>
          </a:p>
        </p:txBody>
      </p:sp>
      <p:sp>
        <p:nvSpPr>
          <p:cNvPr id="7" name="TextBox 6"/>
          <p:cNvSpPr txBox="1"/>
          <p:nvPr/>
        </p:nvSpPr>
        <p:spPr>
          <a:xfrm>
            <a:off x="4623831" y="3034764"/>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E</a:t>
            </a:r>
          </a:p>
        </p:txBody>
      </p:sp>
      <p:sp>
        <p:nvSpPr>
          <p:cNvPr id="8" name="TextBox 7"/>
          <p:cNvSpPr txBox="1"/>
          <p:nvPr/>
        </p:nvSpPr>
        <p:spPr>
          <a:xfrm>
            <a:off x="4623830" y="3890202"/>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D</a:t>
            </a:r>
          </a:p>
        </p:txBody>
      </p:sp>
      <p:sp>
        <p:nvSpPr>
          <p:cNvPr id="9" name="TextBox 8"/>
          <p:cNvSpPr txBox="1"/>
          <p:nvPr/>
        </p:nvSpPr>
        <p:spPr>
          <a:xfrm>
            <a:off x="4598750" y="4745640"/>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A</a:t>
            </a:r>
          </a:p>
        </p:txBody>
      </p:sp>
      <p:sp>
        <p:nvSpPr>
          <p:cNvPr id="10" name="TextBox 9"/>
          <p:cNvSpPr txBox="1"/>
          <p:nvPr/>
        </p:nvSpPr>
        <p:spPr>
          <a:xfrm>
            <a:off x="4598749" y="5603886"/>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C</a:t>
            </a:r>
          </a:p>
        </p:txBody>
      </p:sp>
      <p:sp>
        <p:nvSpPr>
          <p:cNvPr id="11" name="TextBox 10"/>
          <p:cNvSpPr txBox="1"/>
          <p:nvPr/>
        </p:nvSpPr>
        <p:spPr>
          <a:xfrm>
            <a:off x="5785881" y="3837054"/>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A</a:t>
            </a:r>
          </a:p>
        </p:txBody>
      </p:sp>
    </p:spTree>
    <p:extLst>
      <p:ext uri="{BB962C8B-B14F-4D97-AF65-F5344CB8AC3E}">
        <p14:creationId xmlns:p14="http://schemas.microsoft.com/office/powerpoint/2010/main" val="39746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quick example</a:t>
            </a:r>
          </a:p>
        </p:txBody>
      </p:sp>
      <p:pic>
        <p:nvPicPr>
          <p:cNvPr id="4" name="Picture 3"/>
          <p:cNvPicPr>
            <a:picLocks noChangeAspect="1"/>
          </p:cNvPicPr>
          <p:nvPr/>
        </p:nvPicPr>
        <p:blipFill>
          <a:blip r:embed="rId2"/>
          <a:stretch>
            <a:fillRect/>
          </a:stretch>
        </p:blipFill>
        <p:spPr>
          <a:xfrm>
            <a:off x="623590" y="3705755"/>
            <a:ext cx="5197163" cy="2890334"/>
          </a:xfrm>
          <a:prstGeom prst="rect">
            <a:avLst/>
          </a:prstGeom>
        </p:spPr>
      </p:pic>
      <p:pic>
        <p:nvPicPr>
          <p:cNvPr id="5" name="Picture 4"/>
          <p:cNvPicPr>
            <a:picLocks noChangeAspect="1"/>
          </p:cNvPicPr>
          <p:nvPr/>
        </p:nvPicPr>
        <p:blipFill>
          <a:blip r:embed="rId3"/>
          <a:stretch>
            <a:fillRect/>
          </a:stretch>
        </p:blipFill>
        <p:spPr>
          <a:xfrm>
            <a:off x="6923353" y="745770"/>
            <a:ext cx="4031159" cy="3142938"/>
          </a:xfrm>
          <a:prstGeom prst="rect">
            <a:avLst/>
          </a:prstGeom>
        </p:spPr>
      </p:pic>
      <p:sp>
        <p:nvSpPr>
          <p:cNvPr id="8" name="TextBox 7"/>
          <p:cNvSpPr txBox="1"/>
          <p:nvPr/>
        </p:nvSpPr>
        <p:spPr>
          <a:xfrm>
            <a:off x="3788555" y="3888708"/>
            <a:ext cx="410239"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F</a:t>
            </a:r>
          </a:p>
        </p:txBody>
      </p:sp>
      <p:sp>
        <p:nvSpPr>
          <p:cNvPr id="9" name="TextBox 8"/>
          <p:cNvSpPr txBox="1"/>
          <p:nvPr/>
        </p:nvSpPr>
        <p:spPr>
          <a:xfrm>
            <a:off x="3747531" y="4657824"/>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C</a:t>
            </a:r>
          </a:p>
        </p:txBody>
      </p:sp>
      <p:sp>
        <p:nvSpPr>
          <p:cNvPr id="10" name="TextBox 9"/>
          <p:cNvSpPr txBox="1"/>
          <p:nvPr/>
        </p:nvSpPr>
        <p:spPr>
          <a:xfrm>
            <a:off x="3747531" y="5564875"/>
            <a:ext cx="451263" cy="707886"/>
          </a:xfrm>
          <a:prstGeom prst="rect">
            <a:avLst/>
          </a:prstGeom>
          <a:noFill/>
        </p:spPr>
        <p:txBody>
          <a:bodyPr wrap="square" rtlCol="0">
            <a:spAutoFit/>
          </a:bodyPr>
          <a:lstStyle/>
          <a:p>
            <a:r>
              <a:rPr lang="en-GB" sz="4000" dirty="0">
                <a:solidFill>
                  <a:srgbClr val="FF0000"/>
                </a:solidFill>
                <a:latin typeface="Arial Black" panose="020B0A04020102020204" pitchFamily="34" charset="0"/>
              </a:rPr>
              <a:t>C</a:t>
            </a:r>
          </a:p>
        </p:txBody>
      </p:sp>
    </p:spTree>
    <p:extLst>
      <p:ext uri="{BB962C8B-B14F-4D97-AF65-F5344CB8AC3E}">
        <p14:creationId xmlns:p14="http://schemas.microsoft.com/office/powerpoint/2010/main" val="395424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quick example - FFBDs</a:t>
            </a:r>
          </a:p>
        </p:txBody>
      </p:sp>
      <p:pic>
        <p:nvPicPr>
          <p:cNvPr id="4" name="Picture 3"/>
          <p:cNvPicPr>
            <a:picLocks noChangeAspect="1"/>
          </p:cNvPicPr>
          <p:nvPr/>
        </p:nvPicPr>
        <p:blipFill>
          <a:blip r:embed="rId2"/>
          <a:stretch>
            <a:fillRect/>
          </a:stretch>
        </p:blipFill>
        <p:spPr>
          <a:xfrm>
            <a:off x="790600" y="1589180"/>
            <a:ext cx="9916426" cy="1544833"/>
          </a:xfrm>
          <a:prstGeom prst="rect">
            <a:avLst/>
          </a:prstGeom>
        </p:spPr>
      </p:pic>
      <p:pic>
        <p:nvPicPr>
          <p:cNvPr id="5" name="Picture 4"/>
          <p:cNvPicPr>
            <a:picLocks noChangeAspect="1"/>
          </p:cNvPicPr>
          <p:nvPr/>
        </p:nvPicPr>
        <p:blipFill>
          <a:blip r:embed="rId3"/>
          <a:stretch>
            <a:fillRect/>
          </a:stretch>
        </p:blipFill>
        <p:spPr>
          <a:xfrm>
            <a:off x="0" y="3565920"/>
            <a:ext cx="6176842" cy="2936292"/>
          </a:xfrm>
          <a:prstGeom prst="rect">
            <a:avLst/>
          </a:prstGeom>
        </p:spPr>
      </p:pic>
      <p:pic>
        <p:nvPicPr>
          <p:cNvPr id="6" name="Picture 5"/>
          <p:cNvPicPr>
            <a:picLocks noChangeAspect="1"/>
          </p:cNvPicPr>
          <p:nvPr/>
        </p:nvPicPr>
        <p:blipFill>
          <a:blip r:embed="rId4"/>
          <a:stretch>
            <a:fillRect/>
          </a:stretch>
        </p:blipFill>
        <p:spPr>
          <a:xfrm>
            <a:off x="6815602" y="4489233"/>
            <a:ext cx="4138910" cy="2301800"/>
          </a:xfrm>
          <a:prstGeom prst="rect">
            <a:avLst/>
          </a:prstGeom>
        </p:spPr>
      </p:pic>
      <p:cxnSp>
        <p:nvCxnSpPr>
          <p:cNvPr id="8" name="Straight Arrow Connector 7"/>
          <p:cNvCxnSpPr/>
          <p:nvPr/>
        </p:nvCxnSpPr>
        <p:spPr>
          <a:xfrm flipH="1">
            <a:off x="5549900" y="3314700"/>
            <a:ext cx="558292" cy="5715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426200" y="4864100"/>
            <a:ext cx="1130300" cy="2794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16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a:t>
            </a:r>
          </a:p>
        </p:txBody>
      </p:sp>
      <p:sp>
        <p:nvSpPr>
          <p:cNvPr id="3" name="Content Placeholder 2"/>
          <p:cNvSpPr>
            <a:spLocks noGrp="1"/>
          </p:cNvSpPr>
          <p:nvPr>
            <p:ph idx="1"/>
          </p:nvPr>
        </p:nvSpPr>
        <p:spPr/>
        <p:txBody>
          <a:bodyPr/>
          <a:lstStyle/>
          <a:p>
            <a:r>
              <a:rPr lang="en-GB" dirty="0"/>
              <a:t>Discussed FFBD constructs</a:t>
            </a:r>
          </a:p>
          <a:p>
            <a:r>
              <a:rPr lang="en-GB" dirty="0"/>
              <a:t>Looked at when to stop decomposition</a:t>
            </a:r>
          </a:p>
          <a:p>
            <a:r>
              <a:rPr lang="en-GB" dirty="0"/>
              <a:t>Considered an academic example</a:t>
            </a:r>
          </a:p>
        </p:txBody>
      </p:sp>
    </p:spTree>
    <p:extLst>
      <p:ext uri="{BB962C8B-B14F-4D97-AF65-F5344CB8AC3E}">
        <p14:creationId xmlns:p14="http://schemas.microsoft.com/office/powerpoint/2010/main" val="215463683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865</TotalTime>
  <Words>775</Words>
  <Application>Microsoft Office PowerPoint</Application>
  <PresentationFormat>Widescreen</PresentationFormat>
  <Paragraphs>171</Paragraphs>
  <Slides>24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Black</vt:lpstr>
      <vt:lpstr>Calibri</vt:lpstr>
      <vt:lpstr>Century Schoolbook</vt:lpstr>
      <vt:lpstr>Impact</vt:lpstr>
      <vt:lpstr>Wingdings 2</vt:lpstr>
      <vt:lpstr>View</vt:lpstr>
      <vt:lpstr>The start of the details</vt:lpstr>
      <vt:lpstr>Today….</vt:lpstr>
      <vt:lpstr>Getting into the functional side</vt:lpstr>
      <vt:lpstr>Functional Analysis</vt:lpstr>
      <vt:lpstr>FFBD a simple example</vt:lpstr>
      <vt:lpstr>Rules for developing functional decomposition</vt:lpstr>
      <vt:lpstr>Decomposing elements</vt:lpstr>
      <vt:lpstr>FFBD Rules – A function</vt:lpstr>
      <vt:lpstr>FFBD Rules – A reference function</vt:lpstr>
      <vt:lpstr>FFBD Rules – OR construct</vt:lpstr>
      <vt:lpstr>FFBD Rules – AND construct</vt:lpstr>
      <vt:lpstr>FFBD Rules - Iterator</vt:lpstr>
      <vt:lpstr>FFBD Rules - Replicator</vt:lpstr>
      <vt:lpstr>FFBD Rules - Loops</vt:lpstr>
      <vt:lpstr>FFBD Rules – Modelling boundary</vt:lpstr>
      <vt:lpstr>Types of Functions</vt:lpstr>
      <vt:lpstr>When to stop?</vt:lpstr>
      <vt:lpstr>Cheat sheet</vt:lpstr>
      <vt:lpstr>A quick example</vt:lpstr>
      <vt:lpstr>A quick example</vt:lpstr>
      <vt:lpstr>A quick example</vt:lpstr>
      <vt:lpstr>A quick example</vt:lpstr>
      <vt:lpstr>A quick example - FFBDs</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Systems</dc:title>
  <dc:creator>Henri Marais</dc:creator>
  <cp:lastModifiedBy>Henri Marais</cp:lastModifiedBy>
  <cp:revision>55</cp:revision>
  <dcterms:created xsi:type="dcterms:W3CDTF">2018-07-15T09:57:23Z</dcterms:created>
  <dcterms:modified xsi:type="dcterms:W3CDTF">2026-08-03T17:20:00Z</dcterms:modified>
</cp:coreProperties>
</file>