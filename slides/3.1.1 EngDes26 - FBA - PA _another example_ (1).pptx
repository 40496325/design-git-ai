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7"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1477" autoAdjust="0"/>
  </p:normalViewPr>
  <p:slideViewPr>
    <p:cSldViewPr snapToGrid="0">
      <p:cViewPr varScale="1">
        <p:scale>
          <a:sx n="90" d="100"/>
          <a:sy n="90" d="100"/>
        </p:scale>
        <p:origin x="139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EB01FF-FBA4-4EC3-8DA0-61FEE6806C82}" type="datetimeFigureOut">
              <a:rPr lang="en-ZA" smtClean="0"/>
              <a:t>2025/08/20</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BDE583-AEB1-4613-9911-3674CCE9758C}" type="slidenum">
              <a:rPr lang="en-ZA" smtClean="0"/>
              <a:t>‹#›</a:t>
            </a:fld>
            <a:endParaRPr lang="en-ZA"/>
          </a:p>
        </p:txBody>
      </p:sp>
    </p:spTree>
    <p:extLst>
      <p:ext uri="{BB962C8B-B14F-4D97-AF65-F5344CB8AC3E}">
        <p14:creationId xmlns:p14="http://schemas.microsoft.com/office/powerpoint/2010/main" val="3937335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Here the mapping between the PA and the FBA begins to take shape. However, F3.4.2 which maps to F/U1.1 has a problem. Based on the desired functionality it has to be able to reject fruit, yet there is no way (based on the current PA) to accomplish this. All fruit has to be sent for inspection!!!</a:t>
            </a:r>
          </a:p>
          <a:p>
            <a:endParaRPr lang="en-ZA" dirty="0"/>
          </a:p>
          <a:p>
            <a:r>
              <a:rPr lang="en-ZA" dirty="0"/>
              <a:t>This has the following implications:</a:t>
            </a:r>
          </a:p>
          <a:p>
            <a:pPr marL="171450" indent="-171450">
              <a:buFontTx/>
              <a:buChar char="-"/>
            </a:pPr>
            <a:r>
              <a:rPr lang="en-ZA" dirty="0"/>
              <a:t>The context diagram needs to be modified to include a reject fruit system external to the </a:t>
            </a:r>
            <a:r>
              <a:rPr lang="en-ZA" dirty="0" err="1"/>
              <a:t>SoI</a:t>
            </a:r>
            <a:endParaRPr lang="en-ZA" dirty="0"/>
          </a:p>
          <a:p>
            <a:pPr marL="171450" indent="-171450">
              <a:buFontTx/>
              <a:buChar char="-"/>
            </a:pPr>
            <a:r>
              <a:rPr lang="en-ZA" dirty="0"/>
              <a:t>The PA has to be modified to match (both levels)!</a:t>
            </a:r>
          </a:p>
          <a:p>
            <a:pPr marL="171450" indent="-171450">
              <a:buFontTx/>
              <a:buChar char="-"/>
            </a:pPr>
            <a:endParaRPr lang="en-ZA" dirty="0"/>
          </a:p>
          <a:p>
            <a:pPr marL="0" indent="0">
              <a:buFontTx/>
              <a:buNone/>
            </a:pPr>
            <a:r>
              <a:rPr lang="en-ZA" dirty="0"/>
              <a:t>This </a:t>
            </a:r>
            <a:r>
              <a:rPr lang="en-ZA" i="1" dirty="0"/>
              <a:t>glitch</a:t>
            </a:r>
            <a:r>
              <a:rPr lang="en-ZA" i="0" dirty="0"/>
              <a:t> has been caught early enough so the amount of rework is not too much. However, still quite a bit of work…</a:t>
            </a:r>
            <a:endParaRPr lang="en-ZA" dirty="0"/>
          </a:p>
        </p:txBody>
      </p:sp>
      <p:sp>
        <p:nvSpPr>
          <p:cNvPr id="4" name="Slide Number Placeholder 3"/>
          <p:cNvSpPr>
            <a:spLocks noGrp="1"/>
          </p:cNvSpPr>
          <p:nvPr>
            <p:ph type="sldNum" sz="quarter" idx="5"/>
          </p:nvPr>
        </p:nvSpPr>
        <p:spPr/>
        <p:txBody>
          <a:bodyPr/>
          <a:lstStyle/>
          <a:p>
            <a:fld id="{BBBDE583-AEB1-4613-9911-3674CCE9758C}" type="slidenum">
              <a:rPr lang="en-ZA" smtClean="0"/>
              <a:t>8</a:t>
            </a:fld>
            <a:endParaRPr lang="en-ZA"/>
          </a:p>
        </p:txBody>
      </p:sp>
    </p:spTree>
    <p:extLst>
      <p:ext uri="{BB962C8B-B14F-4D97-AF65-F5344CB8AC3E}">
        <p14:creationId xmlns:p14="http://schemas.microsoft.com/office/powerpoint/2010/main" val="4200514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BBBDE583-AEB1-4613-9911-3674CCE9758C}" type="slidenum">
              <a:rPr lang="en-ZA" smtClean="0"/>
              <a:t>9</a:t>
            </a:fld>
            <a:endParaRPr lang="en-ZA"/>
          </a:p>
        </p:txBody>
      </p:sp>
    </p:spTree>
    <p:extLst>
      <p:ext uri="{BB962C8B-B14F-4D97-AF65-F5344CB8AC3E}">
        <p14:creationId xmlns:p14="http://schemas.microsoft.com/office/powerpoint/2010/main" val="1847083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9FD06-F370-BB9C-0217-D61BCEC8B7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25AE4F9E-989D-BC19-80BF-5AA1168F26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50B34D73-8E21-4FEC-9AAE-447AD285B234}"/>
              </a:ext>
            </a:extLst>
          </p:cNvPr>
          <p:cNvSpPr>
            <a:spLocks noGrp="1"/>
          </p:cNvSpPr>
          <p:nvPr>
            <p:ph type="dt" sz="half" idx="10"/>
          </p:nvPr>
        </p:nvSpPr>
        <p:spPr/>
        <p:txBody>
          <a:bodyPr/>
          <a:lstStyle/>
          <a:p>
            <a:fld id="{530589D6-FD62-44E4-8FA5-08412DAA0A5E}" type="datetimeFigureOut">
              <a:rPr lang="en-ZA" smtClean="0"/>
              <a:t>2025/08/20</a:t>
            </a:fld>
            <a:endParaRPr lang="en-ZA"/>
          </a:p>
        </p:txBody>
      </p:sp>
      <p:sp>
        <p:nvSpPr>
          <p:cNvPr id="5" name="Footer Placeholder 4">
            <a:extLst>
              <a:ext uri="{FF2B5EF4-FFF2-40B4-BE49-F238E27FC236}">
                <a16:creationId xmlns:a16="http://schemas.microsoft.com/office/drawing/2014/main" id="{CCE81461-6D43-B71A-04C3-8D2BA0DB6EC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3C2C2B7-DD6A-E929-829B-4E990FED45AF}"/>
              </a:ext>
            </a:extLst>
          </p:cNvPr>
          <p:cNvSpPr>
            <a:spLocks noGrp="1"/>
          </p:cNvSpPr>
          <p:nvPr>
            <p:ph type="sldNum" sz="quarter" idx="12"/>
          </p:nvPr>
        </p:nvSpPr>
        <p:spPr/>
        <p:txBody>
          <a:bodyPr/>
          <a:lstStyle/>
          <a:p>
            <a:fld id="{91D3D3A7-4F1F-4EF4-BE35-5E5C69A2DB87}" type="slidenum">
              <a:rPr lang="en-ZA" smtClean="0"/>
              <a:t>‹#›</a:t>
            </a:fld>
            <a:endParaRPr lang="en-ZA"/>
          </a:p>
        </p:txBody>
      </p:sp>
    </p:spTree>
    <p:extLst>
      <p:ext uri="{BB962C8B-B14F-4D97-AF65-F5344CB8AC3E}">
        <p14:creationId xmlns:p14="http://schemas.microsoft.com/office/powerpoint/2010/main" val="2576927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A4021-7EE1-03C3-9033-374F5B9DA846}"/>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E15B8608-F6DF-E3B0-9452-BDF39B4EDA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AD303D47-9500-2322-0306-69E295A21794}"/>
              </a:ext>
            </a:extLst>
          </p:cNvPr>
          <p:cNvSpPr>
            <a:spLocks noGrp="1"/>
          </p:cNvSpPr>
          <p:nvPr>
            <p:ph type="dt" sz="half" idx="10"/>
          </p:nvPr>
        </p:nvSpPr>
        <p:spPr/>
        <p:txBody>
          <a:bodyPr/>
          <a:lstStyle/>
          <a:p>
            <a:fld id="{530589D6-FD62-44E4-8FA5-08412DAA0A5E}" type="datetimeFigureOut">
              <a:rPr lang="en-ZA" smtClean="0"/>
              <a:t>2025/08/20</a:t>
            </a:fld>
            <a:endParaRPr lang="en-ZA"/>
          </a:p>
        </p:txBody>
      </p:sp>
      <p:sp>
        <p:nvSpPr>
          <p:cNvPr id="5" name="Footer Placeholder 4">
            <a:extLst>
              <a:ext uri="{FF2B5EF4-FFF2-40B4-BE49-F238E27FC236}">
                <a16:creationId xmlns:a16="http://schemas.microsoft.com/office/drawing/2014/main" id="{FD7EE3FA-904B-46AB-ACEA-9A577D1C0192}"/>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EC64AF3-CC97-D2E0-AD0A-60F7D8064759}"/>
              </a:ext>
            </a:extLst>
          </p:cNvPr>
          <p:cNvSpPr>
            <a:spLocks noGrp="1"/>
          </p:cNvSpPr>
          <p:nvPr>
            <p:ph type="sldNum" sz="quarter" idx="12"/>
          </p:nvPr>
        </p:nvSpPr>
        <p:spPr/>
        <p:txBody>
          <a:bodyPr/>
          <a:lstStyle/>
          <a:p>
            <a:fld id="{91D3D3A7-4F1F-4EF4-BE35-5E5C69A2DB87}" type="slidenum">
              <a:rPr lang="en-ZA" smtClean="0"/>
              <a:t>‹#›</a:t>
            </a:fld>
            <a:endParaRPr lang="en-ZA"/>
          </a:p>
        </p:txBody>
      </p:sp>
    </p:spTree>
    <p:extLst>
      <p:ext uri="{BB962C8B-B14F-4D97-AF65-F5344CB8AC3E}">
        <p14:creationId xmlns:p14="http://schemas.microsoft.com/office/powerpoint/2010/main" val="1537469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C2944-4ED7-B235-2309-5521A65497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A139B92E-A60A-7220-FBBF-858DD7D004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E029F1-3C24-E735-A6E2-CF4E82D2F79E}"/>
              </a:ext>
            </a:extLst>
          </p:cNvPr>
          <p:cNvSpPr>
            <a:spLocks noGrp="1"/>
          </p:cNvSpPr>
          <p:nvPr>
            <p:ph type="dt" sz="half" idx="10"/>
          </p:nvPr>
        </p:nvSpPr>
        <p:spPr/>
        <p:txBody>
          <a:bodyPr/>
          <a:lstStyle/>
          <a:p>
            <a:fld id="{530589D6-FD62-44E4-8FA5-08412DAA0A5E}" type="datetimeFigureOut">
              <a:rPr lang="en-ZA" smtClean="0"/>
              <a:t>2025/08/20</a:t>
            </a:fld>
            <a:endParaRPr lang="en-ZA"/>
          </a:p>
        </p:txBody>
      </p:sp>
      <p:sp>
        <p:nvSpPr>
          <p:cNvPr id="5" name="Footer Placeholder 4">
            <a:extLst>
              <a:ext uri="{FF2B5EF4-FFF2-40B4-BE49-F238E27FC236}">
                <a16:creationId xmlns:a16="http://schemas.microsoft.com/office/drawing/2014/main" id="{15406A40-5459-71C6-FF07-5943D3E39DAD}"/>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4440B9F-7E5E-7A27-F9B5-2EAEE56096C5}"/>
              </a:ext>
            </a:extLst>
          </p:cNvPr>
          <p:cNvSpPr>
            <a:spLocks noGrp="1"/>
          </p:cNvSpPr>
          <p:nvPr>
            <p:ph type="sldNum" sz="quarter" idx="12"/>
          </p:nvPr>
        </p:nvSpPr>
        <p:spPr/>
        <p:txBody>
          <a:bodyPr/>
          <a:lstStyle/>
          <a:p>
            <a:fld id="{91D3D3A7-4F1F-4EF4-BE35-5E5C69A2DB87}" type="slidenum">
              <a:rPr lang="en-ZA" smtClean="0"/>
              <a:t>‹#›</a:t>
            </a:fld>
            <a:endParaRPr lang="en-ZA"/>
          </a:p>
        </p:txBody>
      </p:sp>
    </p:spTree>
    <p:extLst>
      <p:ext uri="{BB962C8B-B14F-4D97-AF65-F5344CB8AC3E}">
        <p14:creationId xmlns:p14="http://schemas.microsoft.com/office/powerpoint/2010/main" val="368313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92438-A9A2-FDFB-C82A-E732158394A1}"/>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DCBE2EF1-DCE4-8809-0135-3CA1957A88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0F1D36FC-49F7-5AE1-618E-493BA7B524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2EAB856F-7633-8DC4-2C36-C49CD095FAC6}"/>
              </a:ext>
            </a:extLst>
          </p:cNvPr>
          <p:cNvSpPr>
            <a:spLocks noGrp="1"/>
          </p:cNvSpPr>
          <p:nvPr>
            <p:ph type="dt" sz="half" idx="10"/>
          </p:nvPr>
        </p:nvSpPr>
        <p:spPr/>
        <p:txBody>
          <a:bodyPr/>
          <a:lstStyle/>
          <a:p>
            <a:fld id="{530589D6-FD62-44E4-8FA5-08412DAA0A5E}" type="datetimeFigureOut">
              <a:rPr lang="en-ZA" smtClean="0"/>
              <a:t>2025/08/20</a:t>
            </a:fld>
            <a:endParaRPr lang="en-ZA"/>
          </a:p>
        </p:txBody>
      </p:sp>
      <p:sp>
        <p:nvSpPr>
          <p:cNvPr id="6" name="Footer Placeholder 5">
            <a:extLst>
              <a:ext uri="{FF2B5EF4-FFF2-40B4-BE49-F238E27FC236}">
                <a16:creationId xmlns:a16="http://schemas.microsoft.com/office/drawing/2014/main" id="{01E66A74-DA8F-4DA4-ADA1-05C458A6DF44}"/>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F0242F6C-8D3B-F565-6145-8AFFB8A62E07}"/>
              </a:ext>
            </a:extLst>
          </p:cNvPr>
          <p:cNvSpPr>
            <a:spLocks noGrp="1"/>
          </p:cNvSpPr>
          <p:nvPr>
            <p:ph type="sldNum" sz="quarter" idx="12"/>
          </p:nvPr>
        </p:nvSpPr>
        <p:spPr/>
        <p:txBody>
          <a:bodyPr/>
          <a:lstStyle/>
          <a:p>
            <a:fld id="{91D3D3A7-4F1F-4EF4-BE35-5E5C69A2DB87}" type="slidenum">
              <a:rPr lang="en-ZA" smtClean="0"/>
              <a:t>‹#›</a:t>
            </a:fld>
            <a:endParaRPr lang="en-ZA"/>
          </a:p>
        </p:txBody>
      </p:sp>
    </p:spTree>
    <p:extLst>
      <p:ext uri="{BB962C8B-B14F-4D97-AF65-F5344CB8AC3E}">
        <p14:creationId xmlns:p14="http://schemas.microsoft.com/office/powerpoint/2010/main" val="409874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4767E-EE9F-EBA1-C4AD-555BEE78CDE0}"/>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D44B26D1-5F05-1005-88E2-AEB6EB680B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800F70-6214-7B72-23AF-298E24C446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980041FF-4C8A-E322-B075-4175FFC4F1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2B5DC6-8214-CE5C-27F2-6C7FDF491E1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5835703A-5C81-E59E-12B7-F481857141BB}"/>
              </a:ext>
            </a:extLst>
          </p:cNvPr>
          <p:cNvSpPr>
            <a:spLocks noGrp="1"/>
          </p:cNvSpPr>
          <p:nvPr>
            <p:ph type="dt" sz="half" idx="10"/>
          </p:nvPr>
        </p:nvSpPr>
        <p:spPr/>
        <p:txBody>
          <a:bodyPr/>
          <a:lstStyle/>
          <a:p>
            <a:fld id="{530589D6-FD62-44E4-8FA5-08412DAA0A5E}" type="datetimeFigureOut">
              <a:rPr lang="en-ZA" smtClean="0"/>
              <a:t>2025/08/20</a:t>
            </a:fld>
            <a:endParaRPr lang="en-ZA"/>
          </a:p>
        </p:txBody>
      </p:sp>
      <p:sp>
        <p:nvSpPr>
          <p:cNvPr id="8" name="Footer Placeholder 7">
            <a:extLst>
              <a:ext uri="{FF2B5EF4-FFF2-40B4-BE49-F238E27FC236}">
                <a16:creationId xmlns:a16="http://schemas.microsoft.com/office/drawing/2014/main" id="{15ED76CB-F0B6-D6E5-D248-4F3F7AAD788C}"/>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4899490C-7CFD-9ADB-6AD5-2FF2A81FCD0C}"/>
              </a:ext>
            </a:extLst>
          </p:cNvPr>
          <p:cNvSpPr>
            <a:spLocks noGrp="1"/>
          </p:cNvSpPr>
          <p:nvPr>
            <p:ph type="sldNum" sz="quarter" idx="12"/>
          </p:nvPr>
        </p:nvSpPr>
        <p:spPr/>
        <p:txBody>
          <a:bodyPr/>
          <a:lstStyle/>
          <a:p>
            <a:fld id="{91D3D3A7-4F1F-4EF4-BE35-5E5C69A2DB87}" type="slidenum">
              <a:rPr lang="en-ZA" smtClean="0"/>
              <a:t>‹#›</a:t>
            </a:fld>
            <a:endParaRPr lang="en-ZA"/>
          </a:p>
        </p:txBody>
      </p:sp>
    </p:spTree>
    <p:extLst>
      <p:ext uri="{BB962C8B-B14F-4D97-AF65-F5344CB8AC3E}">
        <p14:creationId xmlns:p14="http://schemas.microsoft.com/office/powerpoint/2010/main" val="3945538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8D0A2-1671-C159-2009-96BBA8DBA733}"/>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9A140F15-FDC4-4C1C-72CD-BCA9C4E9051F}"/>
              </a:ext>
            </a:extLst>
          </p:cNvPr>
          <p:cNvSpPr>
            <a:spLocks noGrp="1"/>
          </p:cNvSpPr>
          <p:nvPr>
            <p:ph type="dt" sz="half" idx="10"/>
          </p:nvPr>
        </p:nvSpPr>
        <p:spPr/>
        <p:txBody>
          <a:bodyPr/>
          <a:lstStyle/>
          <a:p>
            <a:fld id="{530589D6-FD62-44E4-8FA5-08412DAA0A5E}" type="datetimeFigureOut">
              <a:rPr lang="en-ZA" smtClean="0"/>
              <a:t>2025/08/20</a:t>
            </a:fld>
            <a:endParaRPr lang="en-ZA"/>
          </a:p>
        </p:txBody>
      </p:sp>
      <p:sp>
        <p:nvSpPr>
          <p:cNvPr id="4" name="Footer Placeholder 3">
            <a:extLst>
              <a:ext uri="{FF2B5EF4-FFF2-40B4-BE49-F238E27FC236}">
                <a16:creationId xmlns:a16="http://schemas.microsoft.com/office/drawing/2014/main" id="{5D6DD4EA-8522-40B3-CBB0-F506EAB6B6D2}"/>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C0C7B126-084C-54E7-12CF-A18C68CA357F}"/>
              </a:ext>
            </a:extLst>
          </p:cNvPr>
          <p:cNvSpPr>
            <a:spLocks noGrp="1"/>
          </p:cNvSpPr>
          <p:nvPr>
            <p:ph type="sldNum" sz="quarter" idx="12"/>
          </p:nvPr>
        </p:nvSpPr>
        <p:spPr/>
        <p:txBody>
          <a:bodyPr/>
          <a:lstStyle/>
          <a:p>
            <a:fld id="{91D3D3A7-4F1F-4EF4-BE35-5E5C69A2DB87}" type="slidenum">
              <a:rPr lang="en-ZA" smtClean="0"/>
              <a:t>‹#›</a:t>
            </a:fld>
            <a:endParaRPr lang="en-ZA"/>
          </a:p>
        </p:txBody>
      </p:sp>
    </p:spTree>
    <p:extLst>
      <p:ext uri="{BB962C8B-B14F-4D97-AF65-F5344CB8AC3E}">
        <p14:creationId xmlns:p14="http://schemas.microsoft.com/office/powerpoint/2010/main" val="3600156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1C717F-E852-0CEB-B610-09D913BB9960}"/>
              </a:ext>
            </a:extLst>
          </p:cNvPr>
          <p:cNvSpPr>
            <a:spLocks noGrp="1"/>
          </p:cNvSpPr>
          <p:nvPr>
            <p:ph type="dt" sz="half" idx="10"/>
          </p:nvPr>
        </p:nvSpPr>
        <p:spPr/>
        <p:txBody>
          <a:bodyPr/>
          <a:lstStyle/>
          <a:p>
            <a:fld id="{530589D6-FD62-44E4-8FA5-08412DAA0A5E}" type="datetimeFigureOut">
              <a:rPr lang="en-ZA" smtClean="0"/>
              <a:t>2025/08/20</a:t>
            </a:fld>
            <a:endParaRPr lang="en-ZA"/>
          </a:p>
        </p:txBody>
      </p:sp>
      <p:sp>
        <p:nvSpPr>
          <p:cNvPr id="3" name="Footer Placeholder 2">
            <a:extLst>
              <a:ext uri="{FF2B5EF4-FFF2-40B4-BE49-F238E27FC236}">
                <a16:creationId xmlns:a16="http://schemas.microsoft.com/office/drawing/2014/main" id="{94CCC815-5B53-84A6-F46D-B288BA68540C}"/>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D7A7E6C9-CF61-2C19-C3F7-AC3D953D4C4B}"/>
              </a:ext>
            </a:extLst>
          </p:cNvPr>
          <p:cNvSpPr>
            <a:spLocks noGrp="1"/>
          </p:cNvSpPr>
          <p:nvPr>
            <p:ph type="sldNum" sz="quarter" idx="12"/>
          </p:nvPr>
        </p:nvSpPr>
        <p:spPr/>
        <p:txBody>
          <a:bodyPr/>
          <a:lstStyle/>
          <a:p>
            <a:fld id="{91D3D3A7-4F1F-4EF4-BE35-5E5C69A2DB87}" type="slidenum">
              <a:rPr lang="en-ZA" smtClean="0"/>
              <a:t>‹#›</a:t>
            </a:fld>
            <a:endParaRPr lang="en-ZA"/>
          </a:p>
        </p:txBody>
      </p:sp>
    </p:spTree>
    <p:extLst>
      <p:ext uri="{BB962C8B-B14F-4D97-AF65-F5344CB8AC3E}">
        <p14:creationId xmlns:p14="http://schemas.microsoft.com/office/powerpoint/2010/main" val="2749462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15585-2EE5-E6B3-5CCD-B0BBACC24C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CB4E56A3-F5E0-239B-EE1A-2245511A85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F2D16278-07EB-B0E9-E499-3944BBDC88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85E2E6-7039-0C53-1C25-7E0AC1746E09}"/>
              </a:ext>
            </a:extLst>
          </p:cNvPr>
          <p:cNvSpPr>
            <a:spLocks noGrp="1"/>
          </p:cNvSpPr>
          <p:nvPr>
            <p:ph type="dt" sz="half" idx="10"/>
          </p:nvPr>
        </p:nvSpPr>
        <p:spPr/>
        <p:txBody>
          <a:bodyPr/>
          <a:lstStyle/>
          <a:p>
            <a:fld id="{530589D6-FD62-44E4-8FA5-08412DAA0A5E}" type="datetimeFigureOut">
              <a:rPr lang="en-ZA" smtClean="0"/>
              <a:t>2025/08/20</a:t>
            </a:fld>
            <a:endParaRPr lang="en-ZA"/>
          </a:p>
        </p:txBody>
      </p:sp>
      <p:sp>
        <p:nvSpPr>
          <p:cNvPr id="6" name="Footer Placeholder 5">
            <a:extLst>
              <a:ext uri="{FF2B5EF4-FFF2-40B4-BE49-F238E27FC236}">
                <a16:creationId xmlns:a16="http://schemas.microsoft.com/office/drawing/2014/main" id="{C9008FED-37BE-C84E-287A-278CD5B82181}"/>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D41D969-92D6-FF1D-3AA7-E3277B5A2F83}"/>
              </a:ext>
            </a:extLst>
          </p:cNvPr>
          <p:cNvSpPr>
            <a:spLocks noGrp="1"/>
          </p:cNvSpPr>
          <p:nvPr>
            <p:ph type="sldNum" sz="quarter" idx="12"/>
          </p:nvPr>
        </p:nvSpPr>
        <p:spPr/>
        <p:txBody>
          <a:bodyPr/>
          <a:lstStyle/>
          <a:p>
            <a:fld id="{91D3D3A7-4F1F-4EF4-BE35-5E5C69A2DB87}" type="slidenum">
              <a:rPr lang="en-ZA" smtClean="0"/>
              <a:t>‹#›</a:t>
            </a:fld>
            <a:endParaRPr lang="en-ZA"/>
          </a:p>
        </p:txBody>
      </p:sp>
    </p:spTree>
    <p:extLst>
      <p:ext uri="{BB962C8B-B14F-4D97-AF65-F5344CB8AC3E}">
        <p14:creationId xmlns:p14="http://schemas.microsoft.com/office/powerpoint/2010/main" val="797436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ED6D3-7327-E62C-EE2D-4FA8A39609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9907A034-31DB-3E77-5832-0B9B8CA364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C4BA1AF3-462F-8035-CFDD-FAD9B05748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D9AD0B-D384-E095-B9E7-371D7AE66BDC}"/>
              </a:ext>
            </a:extLst>
          </p:cNvPr>
          <p:cNvSpPr>
            <a:spLocks noGrp="1"/>
          </p:cNvSpPr>
          <p:nvPr>
            <p:ph type="dt" sz="half" idx="10"/>
          </p:nvPr>
        </p:nvSpPr>
        <p:spPr/>
        <p:txBody>
          <a:bodyPr/>
          <a:lstStyle/>
          <a:p>
            <a:fld id="{530589D6-FD62-44E4-8FA5-08412DAA0A5E}" type="datetimeFigureOut">
              <a:rPr lang="en-ZA" smtClean="0"/>
              <a:t>2025/08/20</a:t>
            </a:fld>
            <a:endParaRPr lang="en-ZA"/>
          </a:p>
        </p:txBody>
      </p:sp>
      <p:sp>
        <p:nvSpPr>
          <p:cNvPr id="6" name="Footer Placeholder 5">
            <a:extLst>
              <a:ext uri="{FF2B5EF4-FFF2-40B4-BE49-F238E27FC236}">
                <a16:creationId xmlns:a16="http://schemas.microsoft.com/office/drawing/2014/main" id="{D27D24DC-AC1D-1E4D-3D19-67F504E567ED}"/>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4F6EF91F-EFE8-596B-583F-F70FF6C5FEE2}"/>
              </a:ext>
            </a:extLst>
          </p:cNvPr>
          <p:cNvSpPr>
            <a:spLocks noGrp="1"/>
          </p:cNvSpPr>
          <p:nvPr>
            <p:ph type="sldNum" sz="quarter" idx="12"/>
          </p:nvPr>
        </p:nvSpPr>
        <p:spPr/>
        <p:txBody>
          <a:bodyPr/>
          <a:lstStyle/>
          <a:p>
            <a:fld id="{91D3D3A7-4F1F-4EF4-BE35-5E5C69A2DB87}" type="slidenum">
              <a:rPr lang="en-ZA" smtClean="0"/>
              <a:t>‹#›</a:t>
            </a:fld>
            <a:endParaRPr lang="en-ZA"/>
          </a:p>
        </p:txBody>
      </p:sp>
    </p:spTree>
    <p:extLst>
      <p:ext uri="{BB962C8B-B14F-4D97-AF65-F5344CB8AC3E}">
        <p14:creationId xmlns:p14="http://schemas.microsoft.com/office/powerpoint/2010/main" val="2054582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757C6-50CA-4C73-61B2-049379AE28B1}"/>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5706C481-95CD-5152-FADE-D6CEF62FB6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83134252-E6D6-7589-E883-9012F9EB62CC}"/>
              </a:ext>
            </a:extLst>
          </p:cNvPr>
          <p:cNvSpPr>
            <a:spLocks noGrp="1"/>
          </p:cNvSpPr>
          <p:nvPr>
            <p:ph type="dt" sz="half" idx="10"/>
          </p:nvPr>
        </p:nvSpPr>
        <p:spPr/>
        <p:txBody>
          <a:bodyPr/>
          <a:lstStyle/>
          <a:p>
            <a:fld id="{530589D6-FD62-44E4-8FA5-08412DAA0A5E}" type="datetimeFigureOut">
              <a:rPr lang="en-ZA" smtClean="0"/>
              <a:t>2025/08/20</a:t>
            </a:fld>
            <a:endParaRPr lang="en-ZA"/>
          </a:p>
        </p:txBody>
      </p:sp>
      <p:sp>
        <p:nvSpPr>
          <p:cNvPr id="5" name="Footer Placeholder 4">
            <a:extLst>
              <a:ext uri="{FF2B5EF4-FFF2-40B4-BE49-F238E27FC236}">
                <a16:creationId xmlns:a16="http://schemas.microsoft.com/office/drawing/2014/main" id="{75CFC658-F3A9-F6D6-6C72-3BDEC5FBFB8A}"/>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31946D0B-4B55-EB22-8600-D4602FCE5942}"/>
              </a:ext>
            </a:extLst>
          </p:cNvPr>
          <p:cNvSpPr>
            <a:spLocks noGrp="1"/>
          </p:cNvSpPr>
          <p:nvPr>
            <p:ph type="sldNum" sz="quarter" idx="12"/>
          </p:nvPr>
        </p:nvSpPr>
        <p:spPr/>
        <p:txBody>
          <a:bodyPr/>
          <a:lstStyle/>
          <a:p>
            <a:fld id="{91D3D3A7-4F1F-4EF4-BE35-5E5C69A2DB87}" type="slidenum">
              <a:rPr lang="en-ZA" smtClean="0"/>
              <a:t>‹#›</a:t>
            </a:fld>
            <a:endParaRPr lang="en-ZA"/>
          </a:p>
        </p:txBody>
      </p:sp>
    </p:spTree>
    <p:extLst>
      <p:ext uri="{BB962C8B-B14F-4D97-AF65-F5344CB8AC3E}">
        <p14:creationId xmlns:p14="http://schemas.microsoft.com/office/powerpoint/2010/main" val="2483744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929735-2BDD-AD97-2A72-B613B98D86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B8EF0831-700E-FA51-2B65-9F7CB54DDD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1159A8AB-4562-58FD-A373-727B75638C1B}"/>
              </a:ext>
            </a:extLst>
          </p:cNvPr>
          <p:cNvSpPr>
            <a:spLocks noGrp="1"/>
          </p:cNvSpPr>
          <p:nvPr>
            <p:ph type="dt" sz="half" idx="10"/>
          </p:nvPr>
        </p:nvSpPr>
        <p:spPr/>
        <p:txBody>
          <a:bodyPr/>
          <a:lstStyle/>
          <a:p>
            <a:fld id="{530589D6-FD62-44E4-8FA5-08412DAA0A5E}" type="datetimeFigureOut">
              <a:rPr lang="en-ZA" smtClean="0"/>
              <a:t>2025/08/20</a:t>
            </a:fld>
            <a:endParaRPr lang="en-ZA"/>
          </a:p>
        </p:txBody>
      </p:sp>
      <p:sp>
        <p:nvSpPr>
          <p:cNvPr id="5" name="Footer Placeholder 4">
            <a:extLst>
              <a:ext uri="{FF2B5EF4-FFF2-40B4-BE49-F238E27FC236}">
                <a16:creationId xmlns:a16="http://schemas.microsoft.com/office/drawing/2014/main" id="{2F36B2BF-3298-BA3B-FFE5-BDA56B7DB2EB}"/>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16B0ECB-0BFB-74A1-7DD4-7E8E8DF8A844}"/>
              </a:ext>
            </a:extLst>
          </p:cNvPr>
          <p:cNvSpPr>
            <a:spLocks noGrp="1"/>
          </p:cNvSpPr>
          <p:nvPr>
            <p:ph type="sldNum" sz="quarter" idx="12"/>
          </p:nvPr>
        </p:nvSpPr>
        <p:spPr/>
        <p:txBody>
          <a:bodyPr/>
          <a:lstStyle/>
          <a:p>
            <a:fld id="{91D3D3A7-4F1F-4EF4-BE35-5E5C69A2DB87}" type="slidenum">
              <a:rPr lang="en-ZA" smtClean="0"/>
              <a:t>‹#›</a:t>
            </a:fld>
            <a:endParaRPr lang="en-ZA"/>
          </a:p>
        </p:txBody>
      </p:sp>
    </p:spTree>
    <p:extLst>
      <p:ext uri="{BB962C8B-B14F-4D97-AF65-F5344CB8AC3E}">
        <p14:creationId xmlns:p14="http://schemas.microsoft.com/office/powerpoint/2010/main" val="2492945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F22FC4-90EE-3367-CC84-390DE327E9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CAF64D34-CAC4-E8BE-90BD-9A824CB9E9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8F2E6D44-DACF-E1C2-8CE9-BD8249DAA3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589D6-FD62-44E4-8FA5-08412DAA0A5E}" type="datetimeFigureOut">
              <a:rPr lang="en-ZA" smtClean="0"/>
              <a:t>2025/08/20</a:t>
            </a:fld>
            <a:endParaRPr lang="en-ZA"/>
          </a:p>
        </p:txBody>
      </p:sp>
      <p:sp>
        <p:nvSpPr>
          <p:cNvPr id="5" name="Footer Placeholder 4">
            <a:extLst>
              <a:ext uri="{FF2B5EF4-FFF2-40B4-BE49-F238E27FC236}">
                <a16:creationId xmlns:a16="http://schemas.microsoft.com/office/drawing/2014/main" id="{02176930-A3F7-000B-8EE7-94020209A2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a:extLst>
              <a:ext uri="{FF2B5EF4-FFF2-40B4-BE49-F238E27FC236}">
                <a16:creationId xmlns:a16="http://schemas.microsoft.com/office/drawing/2014/main" id="{9AAEB1C2-0753-EE8E-E29C-7B3533B949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D3D3A7-4F1F-4EF4-BE35-5E5C69A2DB87}" type="slidenum">
              <a:rPr lang="en-ZA" smtClean="0"/>
              <a:t>‹#›</a:t>
            </a:fld>
            <a:endParaRPr lang="en-ZA"/>
          </a:p>
        </p:txBody>
      </p:sp>
    </p:spTree>
    <p:extLst>
      <p:ext uri="{BB962C8B-B14F-4D97-AF65-F5344CB8AC3E}">
        <p14:creationId xmlns:p14="http://schemas.microsoft.com/office/powerpoint/2010/main" val="7593406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A3E3C5-6C78-D61E-1221-469AC3CE1A4E}"/>
              </a:ext>
            </a:extLst>
          </p:cNvPr>
          <p:cNvSpPr>
            <a:spLocks noGrp="1"/>
          </p:cNvSpPr>
          <p:nvPr>
            <p:ph type="title"/>
          </p:nvPr>
        </p:nvSpPr>
        <p:spPr/>
        <p:txBody>
          <a:bodyPr/>
          <a:lstStyle/>
          <a:p>
            <a:r>
              <a:rPr lang="en-ZA" dirty="0"/>
              <a:t>AFPS – Basic FBA</a:t>
            </a:r>
          </a:p>
        </p:txBody>
      </p:sp>
      <p:pic>
        <p:nvPicPr>
          <p:cNvPr id="11" name="Content Placeholder 10" descr="Diagram, schematic&#10;&#10;Description automatically generated">
            <a:extLst>
              <a:ext uri="{FF2B5EF4-FFF2-40B4-BE49-F238E27FC236}">
                <a16:creationId xmlns:a16="http://schemas.microsoft.com/office/drawing/2014/main" id="{ED0648EC-E670-FA64-BEB8-26815B98FD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4487" y="2139156"/>
            <a:ext cx="8963025" cy="3724275"/>
          </a:xfrm>
        </p:spPr>
      </p:pic>
    </p:spTree>
    <p:extLst>
      <p:ext uri="{BB962C8B-B14F-4D97-AF65-F5344CB8AC3E}">
        <p14:creationId xmlns:p14="http://schemas.microsoft.com/office/powerpoint/2010/main" val="3050597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65B4A-418C-B97B-E01A-B62FA31DC214}"/>
              </a:ext>
            </a:extLst>
          </p:cNvPr>
          <p:cNvSpPr>
            <a:spLocks noGrp="1"/>
          </p:cNvSpPr>
          <p:nvPr>
            <p:ph type="title"/>
          </p:nvPr>
        </p:nvSpPr>
        <p:spPr/>
        <p:txBody>
          <a:bodyPr/>
          <a:lstStyle/>
          <a:p>
            <a:r>
              <a:rPr lang="en-ZA" dirty="0"/>
              <a:t>AFPS – Initial architecture</a:t>
            </a:r>
          </a:p>
        </p:txBody>
      </p:sp>
      <p:pic>
        <p:nvPicPr>
          <p:cNvPr id="5" name="Content Placeholder 4" descr="Diagram, schematic&#10;&#10;Description automatically generated">
            <a:extLst>
              <a:ext uri="{FF2B5EF4-FFF2-40B4-BE49-F238E27FC236}">
                <a16:creationId xmlns:a16="http://schemas.microsoft.com/office/drawing/2014/main" id="{364E68F1-FFD5-3EF4-CF70-1711181A24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24237" y="2110581"/>
            <a:ext cx="5343525" cy="3781425"/>
          </a:xfrm>
        </p:spPr>
      </p:pic>
    </p:spTree>
    <p:extLst>
      <p:ext uri="{BB962C8B-B14F-4D97-AF65-F5344CB8AC3E}">
        <p14:creationId xmlns:p14="http://schemas.microsoft.com/office/powerpoint/2010/main" val="3809883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8E3E7-E34F-F668-3B22-21AE1242877F}"/>
              </a:ext>
            </a:extLst>
          </p:cNvPr>
          <p:cNvSpPr>
            <a:spLocks noGrp="1"/>
          </p:cNvSpPr>
          <p:nvPr>
            <p:ph type="title"/>
          </p:nvPr>
        </p:nvSpPr>
        <p:spPr/>
        <p:txBody>
          <a:bodyPr/>
          <a:lstStyle/>
          <a:p>
            <a:r>
              <a:rPr lang="en-ZA" dirty="0"/>
              <a:t>Sanity Check</a:t>
            </a:r>
          </a:p>
        </p:txBody>
      </p:sp>
      <p:pic>
        <p:nvPicPr>
          <p:cNvPr id="5" name="Content Placeholder 4" descr="Diagram, schematic&#10;&#10;Description automatically generated">
            <a:extLst>
              <a:ext uri="{FF2B5EF4-FFF2-40B4-BE49-F238E27FC236}">
                <a16:creationId xmlns:a16="http://schemas.microsoft.com/office/drawing/2014/main" id="{C6925F6C-BD59-35F5-2760-759C4079A6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3683" y="1865833"/>
            <a:ext cx="6195293" cy="2574240"/>
          </a:xfrm>
        </p:spPr>
      </p:pic>
      <p:pic>
        <p:nvPicPr>
          <p:cNvPr id="7" name="Picture 6" descr="Diagram, schematic&#10;&#10;Description automatically generated">
            <a:extLst>
              <a:ext uri="{FF2B5EF4-FFF2-40B4-BE49-F238E27FC236}">
                <a16:creationId xmlns:a16="http://schemas.microsoft.com/office/drawing/2014/main" id="{3FAB25D3-EFBA-2CF8-334A-52DC002344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37895" y="3898476"/>
            <a:ext cx="3471143" cy="2456406"/>
          </a:xfrm>
          <a:prstGeom prst="rect">
            <a:avLst/>
          </a:prstGeom>
        </p:spPr>
      </p:pic>
      <p:cxnSp>
        <p:nvCxnSpPr>
          <p:cNvPr id="9" name="Straight Arrow Connector 8">
            <a:extLst>
              <a:ext uri="{FF2B5EF4-FFF2-40B4-BE49-F238E27FC236}">
                <a16:creationId xmlns:a16="http://schemas.microsoft.com/office/drawing/2014/main" id="{67F457CC-8AAB-6FBD-14E8-C91394CD81FF}"/>
              </a:ext>
            </a:extLst>
          </p:cNvPr>
          <p:cNvCxnSpPr>
            <a:cxnSpLocks/>
          </p:cNvCxnSpPr>
          <p:nvPr/>
        </p:nvCxnSpPr>
        <p:spPr>
          <a:xfrm>
            <a:off x="3528291" y="2687782"/>
            <a:ext cx="4464847" cy="2528668"/>
          </a:xfrm>
          <a:prstGeom prst="straightConnector1">
            <a:avLst/>
          </a:prstGeom>
          <a:ln>
            <a:tailEnd type="oval"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7DD2960-9836-C911-BAAB-681BFF07B51C}"/>
              </a:ext>
            </a:extLst>
          </p:cNvPr>
          <p:cNvCxnSpPr>
            <a:cxnSpLocks/>
          </p:cNvCxnSpPr>
          <p:nvPr/>
        </p:nvCxnSpPr>
        <p:spPr>
          <a:xfrm>
            <a:off x="3528291" y="2687782"/>
            <a:ext cx="5688329" cy="2549884"/>
          </a:xfrm>
          <a:prstGeom prst="straightConnector1">
            <a:avLst/>
          </a:prstGeom>
          <a:ln>
            <a:tailEnd type="oval"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94C2201-3DDF-FB26-3F0F-38FE88CEEECF}"/>
              </a:ext>
            </a:extLst>
          </p:cNvPr>
          <p:cNvCxnSpPr>
            <a:cxnSpLocks/>
          </p:cNvCxnSpPr>
          <p:nvPr/>
        </p:nvCxnSpPr>
        <p:spPr>
          <a:xfrm>
            <a:off x="2084129" y="2512637"/>
            <a:ext cx="7131753" cy="2725029"/>
          </a:xfrm>
          <a:prstGeom prst="straightConnector1">
            <a:avLst/>
          </a:prstGeom>
          <a:ln>
            <a:tailEnd type="oval" w="lg" len="lg"/>
          </a:ln>
        </p:spPr>
        <p:style>
          <a:lnRef idx="1">
            <a:schemeClr val="accent6"/>
          </a:lnRef>
          <a:fillRef idx="0">
            <a:schemeClr val="accent6"/>
          </a:fillRef>
          <a:effectRef idx="0">
            <a:schemeClr val="accent6"/>
          </a:effectRef>
          <a:fontRef idx="minor">
            <a:schemeClr val="tx1"/>
          </a:fontRef>
        </p:style>
      </p:cxnSp>
      <p:cxnSp>
        <p:nvCxnSpPr>
          <p:cNvPr id="15" name="Straight Arrow Connector 14">
            <a:extLst>
              <a:ext uri="{FF2B5EF4-FFF2-40B4-BE49-F238E27FC236}">
                <a16:creationId xmlns:a16="http://schemas.microsoft.com/office/drawing/2014/main" id="{48D24E28-22B1-537F-A32E-9CECBBD3C77C}"/>
              </a:ext>
            </a:extLst>
          </p:cNvPr>
          <p:cNvCxnSpPr>
            <a:cxnSpLocks/>
          </p:cNvCxnSpPr>
          <p:nvPr/>
        </p:nvCxnSpPr>
        <p:spPr>
          <a:xfrm>
            <a:off x="2084129" y="2512637"/>
            <a:ext cx="5785253" cy="1927436"/>
          </a:xfrm>
          <a:prstGeom prst="straightConnector1">
            <a:avLst/>
          </a:prstGeom>
          <a:ln>
            <a:tailEnd type="oval" w="lg" len="lg"/>
          </a:ln>
        </p:spPr>
        <p:style>
          <a:lnRef idx="1">
            <a:schemeClr val="accent6"/>
          </a:lnRef>
          <a:fillRef idx="0">
            <a:schemeClr val="accent6"/>
          </a:fillRef>
          <a:effectRef idx="0">
            <a:schemeClr val="accent6"/>
          </a:effectRef>
          <a:fontRef idx="minor">
            <a:schemeClr val="tx1"/>
          </a:fontRef>
        </p:style>
      </p:cxnSp>
      <p:cxnSp>
        <p:nvCxnSpPr>
          <p:cNvPr id="18" name="Straight Arrow Connector 17">
            <a:extLst>
              <a:ext uri="{FF2B5EF4-FFF2-40B4-BE49-F238E27FC236}">
                <a16:creationId xmlns:a16="http://schemas.microsoft.com/office/drawing/2014/main" id="{B43879E7-7B0C-1C16-D45B-672D14E3233B}"/>
              </a:ext>
            </a:extLst>
          </p:cNvPr>
          <p:cNvCxnSpPr>
            <a:cxnSpLocks/>
          </p:cNvCxnSpPr>
          <p:nvPr/>
        </p:nvCxnSpPr>
        <p:spPr>
          <a:xfrm>
            <a:off x="4700940" y="2687782"/>
            <a:ext cx="3291829" cy="2528668"/>
          </a:xfrm>
          <a:prstGeom prst="straightConnector1">
            <a:avLst/>
          </a:prstGeom>
          <a:ln>
            <a:tailEnd type="oval" w="lg" len="lg"/>
          </a:ln>
        </p:spPr>
        <p:style>
          <a:lnRef idx="1">
            <a:schemeClr val="accent2"/>
          </a:lnRef>
          <a:fillRef idx="0">
            <a:schemeClr val="accent2"/>
          </a:fillRef>
          <a:effectRef idx="0">
            <a:schemeClr val="accent2"/>
          </a:effectRef>
          <a:fontRef idx="minor">
            <a:schemeClr val="tx1"/>
          </a:fontRef>
        </p:style>
      </p:cxnSp>
      <p:cxnSp>
        <p:nvCxnSpPr>
          <p:cNvPr id="21" name="Straight Arrow Connector 20">
            <a:extLst>
              <a:ext uri="{FF2B5EF4-FFF2-40B4-BE49-F238E27FC236}">
                <a16:creationId xmlns:a16="http://schemas.microsoft.com/office/drawing/2014/main" id="{4416C92C-32B2-E552-4048-DEC9BC6232AE}"/>
              </a:ext>
            </a:extLst>
          </p:cNvPr>
          <p:cNvCxnSpPr>
            <a:cxnSpLocks/>
          </p:cNvCxnSpPr>
          <p:nvPr/>
        </p:nvCxnSpPr>
        <p:spPr>
          <a:xfrm>
            <a:off x="4700940" y="2687782"/>
            <a:ext cx="4515311" cy="2549884"/>
          </a:xfrm>
          <a:prstGeom prst="straightConnector1">
            <a:avLst/>
          </a:prstGeom>
          <a:ln>
            <a:tailEnd type="oval" w="lg" len="lg"/>
          </a:ln>
        </p:spPr>
        <p:style>
          <a:lnRef idx="1">
            <a:schemeClr val="accent2"/>
          </a:lnRef>
          <a:fillRef idx="0">
            <a:schemeClr val="accent2"/>
          </a:fillRef>
          <a:effectRef idx="0">
            <a:schemeClr val="accent2"/>
          </a:effectRef>
          <a:fontRef idx="minor">
            <a:schemeClr val="tx1"/>
          </a:fontRef>
        </p:style>
      </p:cxnSp>
      <p:cxnSp>
        <p:nvCxnSpPr>
          <p:cNvPr id="24" name="Straight Arrow Connector 23">
            <a:extLst>
              <a:ext uri="{FF2B5EF4-FFF2-40B4-BE49-F238E27FC236}">
                <a16:creationId xmlns:a16="http://schemas.microsoft.com/office/drawing/2014/main" id="{88F3578F-43BF-853A-69D7-D2F5A738AA82}"/>
              </a:ext>
            </a:extLst>
          </p:cNvPr>
          <p:cNvCxnSpPr>
            <a:cxnSpLocks/>
          </p:cNvCxnSpPr>
          <p:nvPr/>
        </p:nvCxnSpPr>
        <p:spPr>
          <a:xfrm>
            <a:off x="3131127" y="3723739"/>
            <a:ext cx="6085493" cy="1513927"/>
          </a:xfrm>
          <a:prstGeom prst="straightConnector1">
            <a:avLst/>
          </a:prstGeom>
          <a:ln>
            <a:solidFill>
              <a:srgbClr val="7030A0"/>
            </a:solidFill>
            <a:tailEnd type="oval" w="lg" len="lg"/>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id="{DE069C8F-40DA-F98A-492E-6D41F166EA93}"/>
              </a:ext>
            </a:extLst>
          </p:cNvPr>
          <p:cNvCxnSpPr>
            <a:cxnSpLocks/>
          </p:cNvCxnSpPr>
          <p:nvPr/>
        </p:nvCxnSpPr>
        <p:spPr>
          <a:xfrm>
            <a:off x="4888514" y="3693718"/>
            <a:ext cx="4327368" cy="1543948"/>
          </a:xfrm>
          <a:prstGeom prst="straightConnector1">
            <a:avLst/>
          </a:prstGeom>
          <a:ln>
            <a:solidFill>
              <a:srgbClr val="FF0000"/>
            </a:solidFill>
            <a:tailEnd type="oval" w="lg" len="lg"/>
          </a:ln>
        </p:spPr>
        <p:style>
          <a:lnRef idx="1">
            <a:schemeClr val="accent2"/>
          </a:lnRef>
          <a:fillRef idx="0">
            <a:schemeClr val="accent2"/>
          </a:fillRef>
          <a:effectRef idx="0">
            <a:schemeClr val="accent2"/>
          </a:effectRef>
          <a:fontRef idx="minor">
            <a:schemeClr val="tx1"/>
          </a:fontRef>
        </p:style>
      </p:cxnSp>
      <p:cxnSp>
        <p:nvCxnSpPr>
          <p:cNvPr id="28" name="Straight Arrow Connector 27">
            <a:extLst>
              <a:ext uri="{FF2B5EF4-FFF2-40B4-BE49-F238E27FC236}">
                <a16:creationId xmlns:a16="http://schemas.microsoft.com/office/drawing/2014/main" id="{261CF4D9-A0BC-D926-F97A-AD5F4E4E71E8}"/>
              </a:ext>
            </a:extLst>
          </p:cNvPr>
          <p:cNvCxnSpPr>
            <a:cxnSpLocks/>
          </p:cNvCxnSpPr>
          <p:nvPr/>
        </p:nvCxnSpPr>
        <p:spPr>
          <a:xfrm>
            <a:off x="4887776" y="3693718"/>
            <a:ext cx="3105362" cy="1522732"/>
          </a:xfrm>
          <a:prstGeom prst="straightConnector1">
            <a:avLst/>
          </a:prstGeom>
          <a:ln>
            <a:solidFill>
              <a:srgbClr val="FF0000"/>
            </a:solidFill>
            <a:tailEnd type="oval" w="lg" len="lg"/>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78552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D41F-D92E-B7C9-0B73-DB2C054B50F3}"/>
              </a:ext>
            </a:extLst>
          </p:cNvPr>
          <p:cNvSpPr>
            <a:spLocks noGrp="1"/>
          </p:cNvSpPr>
          <p:nvPr>
            <p:ph type="title"/>
          </p:nvPr>
        </p:nvSpPr>
        <p:spPr/>
        <p:txBody>
          <a:bodyPr/>
          <a:lstStyle/>
          <a:p>
            <a:r>
              <a:rPr lang="en-ZA" dirty="0"/>
              <a:t>Expanding the FFBD</a:t>
            </a:r>
          </a:p>
        </p:txBody>
      </p:sp>
      <p:pic>
        <p:nvPicPr>
          <p:cNvPr id="13" name="Content Placeholder 12" descr="Diagram&#10;&#10;Description automatically generated">
            <a:extLst>
              <a:ext uri="{FF2B5EF4-FFF2-40B4-BE49-F238E27FC236}">
                <a16:creationId xmlns:a16="http://schemas.microsoft.com/office/drawing/2014/main" id="{050C8FB9-3365-4DD5-17FD-B65F584C853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0917" y="3874690"/>
            <a:ext cx="8201025" cy="2390775"/>
          </a:xfrm>
        </p:spPr>
      </p:pic>
      <p:pic>
        <p:nvPicPr>
          <p:cNvPr id="14" name="Content Placeholder 10" descr="Diagram, schematic&#10;&#10;Description automatically generated">
            <a:extLst>
              <a:ext uri="{FF2B5EF4-FFF2-40B4-BE49-F238E27FC236}">
                <a16:creationId xmlns:a16="http://schemas.microsoft.com/office/drawing/2014/main" id="{342C1052-A5F6-AFD7-C918-AAA18F2665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9073" y="592535"/>
            <a:ext cx="5285739" cy="2196306"/>
          </a:xfrm>
          <a:prstGeom prst="rect">
            <a:avLst/>
          </a:prstGeom>
        </p:spPr>
      </p:pic>
      <p:cxnSp>
        <p:nvCxnSpPr>
          <p:cNvPr id="16" name="Straight Connector 15">
            <a:extLst>
              <a:ext uri="{FF2B5EF4-FFF2-40B4-BE49-F238E27FC236}">
                <a16:creationId xmlns:a16="http://schemas.microsoft.com/office/drawing/2014/main" id="{C8ED1D1B-DD67-284C-24FF-65E5EAFEC5A6}"/>
              </a:ext>
            </a:extLst>
          </p:cNvPr>
          <p:cNvCxnSpPr>
            <a:cxnSpLocks/>
          </p:cNvCxnSpPr>
          <p:nvPr/>
        </p:nvCxnSpPr>
        <p:spPr>
          <a:xfrm flipH="1">
            <a:off x="2324100" y="1009650"/>
            <a:ext cx="6505575" cy="26574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833470D-078E-92D2-6C7F-DFE25F2C24AC}"/>
              </a:ext>
            </a:extLst>
          </p:cNvPr>
          <p:cNvCxnSpPr>
            <a:cxnSpLocks/>
          </p:cNvCxnSpPr>
          <p:nvPr/>
        </p:nvCxnSpPr>
        <p:spPr>
          <a:xfrm flipH="1">
            <a:off x="9096375" y="1350169"/>
            <a:ext cx="419100" cy="308848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9033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1F181-714B-24C6-76F1-D51225F08B41}"/>
              </a:ext>
            </a:extLst>
          </p:cNvPr>
          <p:cNvSpPr>
            <a:spLocks noGrp="1"/>
          </p:cNvSpPr>
          <p:nvPr>
            <p:ph type="title"/>
          </p:nvPr>
        </p:nvSpPr>
        <p:spPr/>
        <p:txBody>
          <a:bodyPr/>
          <a:lstStyle/>
          <a:p>
            <a:r>
              <a:rPr lang="en-ZA" dirty="0"/>
              <a:t>Expanding the FFBD</a:t>
            </a:r>
          </a:p>
        </p:txBody>
      </p:sp>
      <p:pic>
        <p:nvPicPr>
          <p:cNvPr id="5" name="Content Placeholder 4" descr="Diagram, schematic&#10;&#10;Description automatically generated">
            <a:extLst>
              <a:ext uri="{FF2B5EF4-FFF2-40B4-BE49-F238E27FC236}">
                <a16:creationId xmlns:a16="http://schemas.microsoft.com/office/drawing/2014/main" id="{AC2AA690-C5F1-86E0-8A44-114F8D35893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975" y="3510519"/>
            <a:ext cx="10515600" cy="3134200"/>
          </a:xfrm>
        </p:spPr>
      </p:pic>
      <p:pic>
        <p:nvPicPr>
          <p:cNvPr id="6" name="Content Placeholder 12" descr="Diagram&#10;&#10;Description automatically generated">
            <a:extLst>
              <a:ext uri="{FF2B5EF4-FFF2-40B4-BE49-F238E27FC236}">
                <a16:creationId xmlns:a16="http://schemas.microsoft.com/office/drawing/2014/main" id="{7187FD72-ABD5-CC65-2917-11954B1184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9067" y="1655438"/>
            <a:ext cx="4547051" cy="1325563"/>
          </a:xfrm>
          <a:prstGeom prst="rect">
            <a:avLst/>
          </a:prstGeom>
        </p:spPr>
      </p:pic>
      <p:pic>
        <p:nvPicPr>
          <p:cNvPr id="7" name="Content Placeholder 10" descr="Diagram, schematic&#10;&#10;Description automatically generated">
            <a:extLst>
              <a:ext uri="{FF2B5EF4-FFF2-40B4-BE49-F238E27FC236}">
                <a16:creationId xmlns:a16="http://schemas.microsoft.com/office/drawing/2014/main" id="{879C99F3-7F3F-8478-4520-58FEFB5F8C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5500" y="213281"/>
            <a:ext cx="2281237" cy="947889"/>
          </a:xfrm>
          <a:prstGeom prst="rect">
            <a:avLst/>
          </a:prstGeom>
        </p:spPr>
      </p:pic>
      <p:cxnSp>
        <p:nvCxnSpPr>
          <p:cNvPr id="11" name="Straight Arrow Connector 10">
            <a:extLst>
              <a:ext uri="{FF2B5EF4-FFF2-40B4-BE49-F238E27FC236}">
                <a16:creationId xmlns:a16="http://schemas.microsoft.com/office/drawing/2014/main" id="{0F141467-91AB-5AD8-E053-835C1BCFD08E}"/>
              </a:ext>
            </a:extLst>
          </p:cNvPr>
          <p:cNvCxnSpPr/>
          <p:nvPr/>
        </p:nvCxnSpPr>
        <p:spPr>
          <a:xfrm flipH="1">
            <a:off x="9372600" y="457200"/>
            <a:ext cx="1483518" cy="1198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8DC62AB-0E44-0738-63F1-748176724564}"/>
              </a:ext>
            </a:extLst>
          </p:cNvPr>
          <p:cNvCxnSpPr/>
          <p:nvPr/>
        </p:nvCxnSpPr>
        <p:spPr>
          <a:xfrm flipH="1">
            <a:off x="1628775" y="1885950"/>
            <a:ext cx="7143750" cy="15430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798EB71-30D8-FCB4-58B8-280A033672E2}"/>
              </a:ext>
            </a:extLst>
          </p:cNvPr>
          <p:cNvCxnSpPr>
            <a:cxnSpLocks/>
          </p:cNvCxnSpPr>
          <p:nvPr/>
        </p:nvCxnSpPr>
        <p:spPr>
          <a:xfrm>
            <a:off x="9403556" y="1885950"/>
            <a:ext cx="174553" cy="199105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9680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06C1A-A9D4-D361-60C5-D511857E55C6}"/>
              </a:ext>
            </a:extLst>
          </p:cNvPr>
          <p:cNvSpPr>
            <a:spLocks noGrp="1"/>
          </p:cNvSpPr>
          <p:nvPr>
            <p:ph type="title"/>
          </p:nvPr>
        </p:nvSpPr>
        <p:spPr/>
        <p:txBody>
          <a:bodyPr/>
          <a:lstStyle/>
          <a:p>
            <a:r>
              <a:rPr lang="en-ZA" dirty="0"/>
              <a:t>Expanding the FFBD</a:t>
            </a:r>
          </a:p>
        </p:txBody>
      </p:sp>
      <p:pic>
        <p:nvPicPr>
          <p:cNvPr id="5" name="Content Placeholder 4" descr="Diagram&#10;&#10;Description automatically generated">
            <a:extLst>
              <a:ext uri="{FF2B5EF4-FFF2-40B4-BE49-F238E27FC236}">
                <a16:creationId xmlns:a16="http://schemas.microsoft.com/office/drawing/2014/main" id="{1FFFB8DC-1619-62AD-8356-FA9FA42317C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051" y="2361334"/>
            <a:ext cx="9156405" cy="4351338"/>
          </a:xfrm>
        </p:spPr>
      </p:pic>
      <p:pic>
        <p:nvPicPr>
          <p:cNvPr id="6" name="Content Placeholder 10" descr="Diagram, schematic&#10;&#10;Description automatically generated">
            <a:extLst>
              <a:ext uri="{FF2B5EF4-FFF2-40B4-BE49-F238E27FC236}">
                <a16:creationId xmlns:a16="http://schemas.microsoft.com/office/drawing/2014/main" id="{C52004BF-57B8-C441-F76B-380031CD49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8473" y="145328"/>
            <a:ext cx="4442691" cy="1846007"/>
          </a:xfrm>
          <a:prstGeom prst="rect">
            <a:avLst/>
          </a:prstGeom>
        </p:spPr>
      </p:pic>
      <p:cxnSp>
        <p:nvCxnSpPr>
          <p:cNvPr id="8" name="Straight Connector 7">
            <a:extLst>
              <a:ext uri="{FF2B5EF4-FFF2-40B4-BE49-F238E27FC236}">
                <a16:creationId xmlns:a16="http://schemas.microsoft.com/office/drawing/2014/main" id="{2CCF2235-A82A-F639-B327-850FA65AD32D}"/>
              </a:ext>
            </a:extLst>
          </p:cNvPr>
          <p:cNvCxnSpPr/>
          <p:nvPr/>
        </p:nvCxnSpPr>
        <p:spPr>
          <a:xfrm flipH="1">
            <a:off x="1099127" y="1237673"/>
            <a:ext cx="8081818" cy="99752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1078F1B-9916-3791-00EB-2ED4C1D33C2F}"/>
              </a:ext>
            </a:extLst>
          </p:cNvPr>
          <p:cNvCxnSpPr>
            <a:cxnSpLocks/>
          </p:cNvCxnSpPr>
          <p:nvPr/>
        </p:nvCxnSpPr>
        <p:spPr>
          <a:xfrm flipH="1">
            <a:off x="9316456" y="1538288"/>
            <a:ext cx="430000" cy="328219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9082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8F38F-3A8B-4902-DD92-2AFE2671348B}"/>
              </a:ext>
            </a:extLst>
          </p:cNvPr>
          <p:cNvSpPr>
            <a:spLocks noGrp="1"/>
          </p:cNvSpPr>
          <p:nvPr>
            <p:ph type="title"/>
          </p:nvPr>
        </p:nvSpPr>
        <p:spPr/>
        <p:txBody>
          <a:bodyPr/>
          <a:lstStyle/>
          <a:p>
            <a:r>
              <a:rPr lang="en-ZA" dirty="0"/>
              <a:t>Expanding the architecture</a:t>
            </a:r>
          </a:p>
        </p:txBody>
      </p:sp>
      <p:pic>
        <p:nvPicPr>
          <p:cNvPr id="5" name="Content Placeholder 4" descr="Diagram, schematic&#10;&#10;Description automatically generated">
            <a:extLst>
              <a:ext uri="{FF2B5EF4-FFF2-40B4-BE49-F238E27FC236}">
                <a16:creationId xmlns:a16="http://schemas.microsoft.com/office/drawing/2014/main" id="{2F8F1134-EDA5-BEED-65A2-B8A819C297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2726" y="2302519"/>
            <a:ext cx="4335203" cy="3067871"/>
          </a:xfrm>
        </p:spPr>
      </p:pic>
      <p:pic>
        <p:nvPicPr>
          <p:cNvPr id="7" name="Picture 6" descr="Diagram, schematic&#10;&#10;Description automatically generated">
            <a:extLst>
              <a:ext uri="{FF2B5EF4-FFF2-40B4-BE49-F238E27FC236}">
                <a16:creationId xmlns:a16="http://schemas.microsoft.com/office/drawing/2014/main" id="{A3F2E86F-87A7-6314-4207-6112FE7DFB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8873" y="530775"/>
            <a:ext cx="4710401" cy="6084267"/>
          </a:xfrm>
          <a:prstGeom prst="rect">
            <a:avLst/>
          </a:prstGeom>
        </p:spPr>
      </p:pic>
      <p:cxnSp>
        <p:nvCxnSpPr>
          <p:cNvPr id="9" name="Straight Arrow Connector 8">
            <a:extLst>
              <a:ext uri="{FF2B5EF4-FFF2-40B4-BE49-F238E27FC236}">
                <a16:creationId xmlns:a16="http://schemas.microsoft.com/office/drawing/2014/main" id="{8D989AE8-65C7-9CA8-0A7B-903700C7E027}"/>
              </a:ext>
            </a:extLst>
          </p:cNvPr>
          <p:cNvCxnSpPr>
            <a:cxnSpLocks/>
          </p:cNvCxnSpPr>
          <p:nvPr/>
        </p:nvCxnSpPr>
        <p:spPr>
          <a:xfrm>
            <a:off x="2992582" y="4054764"/>
            <a:ext cx="3648363"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7233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Content Placeholder 25" descr="Diagram, schematic&#10;&#10;Description automatically generated">
            <a:extLst>
              <a:ext uri="{FF2B5EF4-FFF2-40B4-BE49-F238E27FC236}">
                <a16:creationId xmlns:a16="http://schemas.microsoft.com/office/drawing/2014/main" id="{C01D34D2-1A67-A850-4F96-A5269D72A61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845927" y="990682"/>
            <a:ext cx="3775459" cy="4876636"/>
          </a:xfrm>
        </p:spPr>
      </p:pic>
      <p:pic>
        <p:nvPicPr>
          <p:cNvPr id="6" name="Content Placeholder 4" descr="Diagram&#10;&#10;Description automatically generated">
            <a:extLst>
              <a:ext uri="{FF2B5EF4-FFF2-40B4-BE49-F238E27FC236}">
                <a16:creationId xmlns:a16="http://schemas.microsoft.com/office/drawing/2014/main" id="{C4C83A24-C907-8B85-8C81-82CCFE5513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223490"/>
            <a:ext cx="7478243" cy="3553836"/>
          </a:xfrm>
          <a:prstGeom prst="rect">
            <a:avLst/>
          </a:prstGeom>
        </p:spPr>
      </p:pic>
      <p:sp>
        <p:nvSpPr>
          <p:cNvPr id="2" name="Title 1">
            <a:extLst>
              <a:ext uri="{FF2B5EF4-FFF2-40B4-BE49-F238E27FC236}">
                <a16:creationId xmlns:a16="http://schemas.microsoft.com/office/drawing/2014/main" id="{281EC6C3-B098-EB33-0679-9AB42C6075E2}"/>
              </a:ext>
            </a:extLst>
          </p:cNvPr>
          <p:cNvSpPr>
            <a:spLocks noGrp="1"/>
          </p:cNvSpPr>
          <p:nvPr>
            <p:ph type="title"/>
          </p:nvPr>
        </p:nvSpPr>
        <p:spPr/>
        <p:txBody>
          <a:bodyPr/>
          <a:lstStyle/>
          <a:p>
            <a:r>
              <a:rPr lang="en-ZA" dirty="0"/>
              <a:t>Correct obvious mistake…</a:t>
            </a:r>
          </a:p>
        </p:txBody>
      </p:sp>
      <p:cxnSp>
        <p:nvCxnSpPr>
          <p:cNvPr id="7" name="Straight Arrow Connector 6">
            <a:extLst>
              <a:ext uri="{FF2B5EF4-FFF2-40B4-BE49-F238E27FC236}">
                <a16:creationId xmlns:a16="http://schemas.microsoft.com/office/drawing/2014/main" id="{00BCDCF5-F7C8-6DF9-1ED6-4ABFF709C1CF}"/>
              </a:ext>
            </a:extLst>
          </p:cNvPr>
          <p:cNvCxnSpPr>
            <a:cxnSpLocks/>
          </p:cNvCxnSpPr>
          <p:nvPr/>
        </p:nvCxnSpPr>
        <p:spPr>
          <a:xfrm flipV="1">
            <a:off x="1681018" y="2623127"/>
            <a:ext cx="7656946" cy="1274618"/>
          </a:xfrm>
          <a:prstGeom prst="straightConnector1">
            <a:avLst/>
          </a:prstGeom>
          <a:ln>
            <a:solidFill>
              <a:srgbClr val="00B050"/>
            </a:solidFill>
            <a:tailEnd type="oval" w="lg" len="lg"/>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5E009595-098B-B26B-6DA9-6864987FE87A}"/>
              </a:ext>
            </a:extLst>
          </p:cNvPr>
          <p:cNvCxnSpPr>
            <a:cxnSpLocks/>
          </p:cNvCxnSpPr>
          <p:nvPr/>
        </p:nvCxnSpPr>
        <p:spPr>
          <a:xfrm flipV="1">
            <a:off x="2946400" y="2623127"/>
            <a:ext cx="6391564" cy="1274618"/>
          </a:xfrm>
          <a:prstGeom prst="straightConnector1">
            <a:avLst/>
          </a:prstGeom>
          <a:ln>
            <a:solidFill>
              <a:srgbClr val="00B050"/>
            </a:solidFill>
            <a:tailEnd type="oval" w="lg" len="lg"/>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55A3CED1-8A4C-E554-4ADA-DFE85B81A925}"/>
              </a:ext>
            </a:extLst>
          </p:cNvPr>
          <p:cNvCxnSpPr>
            <a:cxnSpLocks/>
          </p:cNvCxnSpPr>
          <p:nvPr/>
        </p:nvCxnSpPr>
        <p:spPr>
          <a:xfrm flipV="1">
            <a:off x="4579631" y="2623127"/>
            <a:ext cx="4758333" cy="1801091"/>
          </a:xfrm>
          <a:prstGeom prst="straightConnector1">
            <a:avLst/>
          </a:prstGeom>
          <a:ln>
            <a:solidFill>
              <a:srgbClr val="00B050"/>
            </a:solidFill>
            <a:tailEnd type="oval" w="lg" len="lg"/>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E3FF79DD-0F99-3265-AC93-DC6D217BE07D}"/>
              </a:ext>
            </a:extLst>
          </p:cNvPr>
          <p:cNvCxnSpPr>
            <a:cxnSpLocks/>
          </p:cNvCxnSpPr>
          <p:nvPr/>
        </p:nvCxnSpPr>
        <p:spPr>
          <a:xfrm flipV="1">
            <a:off x="4713758" y="2623127"/>
            <a:ext cx="4624206" cy="1043750"/>
          </a:xfrm>
          <a:prstGeom prst="straightConnector1">
            <a:avLst/>
          </a:prstGeom>
          <a:ln>
            <a:solidFill>
              <a:srgbClr val="FF0000"/>
            </a:solidFill>
            <a:tailEnd type="oval" w="lg" len="lg"/>
          </a:ln>
        </p:spPr>
        <p:style>
          <a:lnRef idx="1">
            <a:schemeClr val="accent2"/>
          </a:lnRef>
          <a:fillRef idx="0">
            <a:schemeClr val="accent2"/>
          </a:fillRef>
          <a:effectRef idx="0">
            <a:schemeClr val="accent2"/>
          </a:effectRef>
          <a:fontRef idx="minor">
            <a:schemeClr val="tx1"/>
          </a:fontRef>
        </p:style>
      </p:cxnSp>
      <p:cxnSp>
        <p:nvCxnSpPr>
          <p:cNvPr id="27" name="Straight Arrow Connector 26">
            <a:extLst>
              <a:ext uri="{FF2B5EF4-FFF2-40B4-BE49-F238E27FC236}">
                <a16:creationId xmlns:a16="http://schemas.microsoft.com/office/drawing/2014/main" id="{FE0610BB-CAA2-73C0-5246-F4A10202A403}"/>
              </a:ext>
            </a:extLst>
          </p:cNvPr>
          <p:cNvCxnSpPr>
            <a:cxnSpLocks/>
          </p:cNvCxnSpPr>
          <p:nvPr/>
        </p:nvCxnSpPr>
        <p:spPr>
          <a:xfrm flipV="1">
            <a:off x="2531756" y="3429000"/>
            <a:ext cx="6940335" cy="1738785"/>
          </a:xfrm>
          <a:prstGeom prst="straightConnector1">
            <a:avLst/>
          </a:prstGeom>
          <a:ln>
            <a:tailEnd type="oval" w="lg" len="lg"/>
          </a:ln>
        </p:spPr>
        <p:style>
          <a:lnRef idx="1">
            <a:schemeClr val="accent5"/>
          </a:lnRef>
          <a:fillRef idx="0">
            <a:schemeClr val="accent5"/>
          </a:fillRef>
          <a:effectRef idx="0">
            <a:schemeClr val="accent5"/>
          </a:effectRef>
          <a:fontRef idx="minor">
            <a:schemeClr val="tx1"/>
          </a:fontRef>
        </p:style>
      </p:cxnSp>
      <p:cxnSp>
        <p:nvCxnSpPr>
          <p:cNvPr id="29" name="Straight Arrow Connector 28">
            <a:extLst>
              <a:ext uri="{FF2B5EF4-FFF2-40B4-BE49-F238E27FC236}">
                <a16:creationId xmlns:a16="http://schemas.microsoft.com/office/drawing/2014/main" id="{3699C728-5CD5-35D1-E44D-58C34A6884AF}"/>
              </a:ext>
            </a:extLst>
          </p:cNvPr>
          <p:cNvCxnSpPr>
            <a:cxnSpLocks/>
          </p:cNvCxnSpPr>
          <p:nvPr/>
        </p:nvCxnSpPr>
        <p:spPr>
          <a:xfrm flipV="1">
            <a:off x="2430336" y="3429000"/>
            <a:ext cx="7041755" cy="2438318"/>
          </a:xfrm>
          <a:prstGeom prst="straightConnector1">
            <a:avLst/>
          </a:prstGeom>
          <a:ln>
            <a:tailEnd type="oval" w="lg" len="lg"/>
          </a:ln>
        </p:spPr>
        <p:style>
          <a:lnRef idx="1">
            <a:schemeClr val="accent5"/>
          </a:lnRef>
          <a:fillRef idx="0">
            <a:schemeClr val="accent5"/>
          </a:fillRef>
          <a:effectRef idx="0">
            <a:schemeClr val="accent5"/>
          </a:effectRef>
          <a:fontRef idx="minor">
            <a:schemeClr val="tx1"/>
          </a:fontRef>
        </p:style>
      </p:cxnSp>
      <p:cxnSp>
        <p:nvCxnSpPr>
          <p:cNvPr id="32" name="Straight Arrow Connector 31">
            <a:extLst>
              <a:ext uri="{FF2B5EF4-FFF2-40B4-BE49-F238E27FC236}">
                <a16:creationId xmlns:a16="http://schemas.microsoft.com/office/drawing/2014/main" id="{14E46DD8-3637-68D0-00A4-AA7AD5383F63}"/>
              </a:ext>
            </a:extLst>
          </p:cNvPr>
          <p:cNvCxnSpPr>
            <a:cxnSpLocks/>
          </p:cNvCxnSpPr>
          <p:nvPr/>
        </p:nvCxnSpPr>
        <p:spPr>
          <a:xfrm flipV="1">
            <a:off x="2393443" y="3423974"/>
            <a:ext cx="7078648" cy="2938726"/>
          </a:xfrm>
          <a:prstGeom prst="straightConnector1">
            <a:avLst/>
          </a:prstGeom>
          <a:ln>
            <a:tailEnd type="oval" w="lg" len="lg"/>
          </a:ln>
        </p:spPr>
        <p:style>
          <a:lnRef idx="1">
            <a:schemeClr val="accent5"/>
          </a:lnRef>
          <a:fillRef idx="0">
            <a:schemeClr val="accent5"/>
          </a:fillRef>
          <a:effectRef idx="0">
            <a:schemeClr val="accent5"/>
          </a:effectRef>
          <a:fontRef idx="minor">
            <a:schemeClr val="tx1"/>
          </a:fontRef>
        </p:style>
      </p:cxnSp>
      <p:cxnSp>
        <p:nvCxnSpPr>
          <p:cNvPr id="36" name="Straight Arrow Connector 35">
            <a:extLst>
              <a:ext uri="{FF2B5EF4-FFF2-40B4-BE49-F238E27FC236}">
                <a16:creationId xmlns:a16="http://schemas.microsoft.com/office/drawing/2014/main" id="{8E349919-CB56-8E53-041B-0293676611B2}"/>
              </a:ext>
            </a:extLst>
          </p:cNvPr>
          <p:cNvCxnSpPr>
            <a:cxnSpLocks/>
          </p:cNvCxnSpPr>
          <p:nvPr/>
        </p:nvCxnSpPr>
        <p:spPr>
          <a:xfrm flipV="1">
            <a:off x="4076700" y="3423974"/>
            <a:ext cx="5395391" cy="2443344"/>
          </a:xfrm>
          <a:prstGeom prst="straightConnector1">
            <a:avLst/>
          </a:prstGeom>
          <a:ln>
            <a:tailEnd type="oval" w="lg" len="lg"/>
          </a:ln>
        </p:spPr>
        <p:style>
          <a:lnRef idx="1">
            <a:schemeClr val="accent5"/>
          </a:lnRef>
          <a:fillRef idx="0">
            <a:schemeClr val="accent5"/>
          </a:fillRef>
          <a:effectRef idx="0">
            <a:schemeClr val="accent5"/>
          </a:effectRef>
          <a:fontRef idx="minor">
            <a:schemeClr val="tx1"/>
          </a:fontRef>
        </p:style>
      </p:cxnSp>
      <p:cxnSp>
        <p:nvCxnSpPr>
          <p:cNvPr id="39" name="Straight Arrow Connector 38">
            <a:extLst>
              <a:ext uri="{FF2B5EF4-FFF2-40B4-BE49-F238E27FC236}">
                <a16:creationId xmlns:a16="http://schemas.microsoft.com/office/drawing/2014/main" id="{25251955-50A1-6049-BFBE-D17EFC2C4EEA}"/>
              </a:ext>
            </a:extLst>
          </p:cNvPr>
          <p:cNvCxnSpPr>
            <a:cxnSpLocks/>
          </p:cNvCxnSpPr>
          <p:nvPr/>
        </p:nvCxnSpPr>
        <p:spPr>
          <a:xfrm flipV="1">
            <a:off x="5438775" y="4424218"/>
            <a:ext cx="3936082" cy="1006329"/>
          </a:xfrm>
          <a:prstGeom prst="straightConnector1">
            <a:avLst/>
          </a:prstGeom>
          <a:ln>
            <a:solidFill>
              <a:srgbClr val="7030A0"/>
            </a:solidFill>
            <a:tailEnd type="oval" w="lg" len="lg"/>
          </a:ln>
        </p:spPr>
        <p:style>
          <a:lnRef idx="1">
            <a:schemeClr val="accent2"/>
          </a:lnRef>
          <a:fillRef idx="0">
            <a:schemeClr val="accent2"/>
          </a:fillRef>
          <a:effectRef idx="0">
            <a:schemeClr val="accent2"/>
          </a:effectRef>
          <a:fontRef idx="minor">
            <a:schemeClr val="tx1"/>
          </a:fontRef>
        </p:style>
      </p:cxnSp>
      <p:cxnSp>
        <p:nvCxnSpPr>
          <p:cNvPr id="42" name="Straight Arrow Connector 41">
            <a:extLst>
              <a:ext uri="{FF2B5EF4-FFF2-40B4-BE49-F238E27FC236}">
                <a16:creationId xmlns:a16="http://schemas.microsoft.com/office/drawing/2014/main" id="{7E0CE3A4-223A-B49A-E02F-04A8836A3F82}"/>
              </a:ext>
            </a:extLst>
          </p:cNvPr>
          <p:cNvCxnSpPr>
            <a:cxnSpLocks/>
          </p:cNvCxnSpPr>
          <p:nvPr/>
        </p:nvCxnSpPr>
        <p:spPr>
          <a:xfrm flipV="1">
            <a:off x="5629275" y="4424021"/>
            <a:ext cx="3745582" cy="1733483"/>
          </a:xfrm>
          <a:prstGeom prst="straightConnector1">
            <a:avLst/>
          </a:prstGeom>
          <a:ln>
            <a:solidFill>
              <a:srgbClr val="7030A0"/>
            </a:solidFill>
            <a:tailEnd type="oval" w="lg" len="lg"/>
          </a:ln>
        </p:spPr>
        <p:style>
          <a:lnRef idx="1">
            <a:schemeClr val="accent2"/>
          </a:lnRef>
          <a:fillRef idx="0">
            <a:schemeClr val="accent2"/>
          </a:fillRef>
          <a:effectRef idx="0">
            <a:schemeClr val="accent2"/>
          </a:effectRef>
          <a:fontRef idx="minor">
            <a:schemeClr val="tx1"/>
          </a:fontRef>
        </p:style>
      </p:cxnSp>
      <p:pic>
        <p:nvPicPr>
          <p:cNvPr id="45" name="Picture 44">
            <a:extLst>
              <a:ext uri="{FF2B5EF4-FFF2-40B4-BE49-F238E27FC236}">
                <a16:creationId xmlns:a16="http://schemas.microsoft.com/office/drawing/2014/main" id="{66A9B23C-AC0A-97E0-6FC2-8E4B51EAA2F7}"/>
              </a:ext>
            </a:extLst>
          </p:cNvPr>
          <p:cNvPicPr>
            <a:picLocks noChangeAspect="1"/>
          </p:cNvPicPr>
          <p:nvPr/>
        </p:nvPicPr>
        <p:blipFill rotWithShape="1">
          <a:blip r:embed="rId5">
            <a:duotone>
              <a:prstClr val="black"/>
              <a:schemeClr val="accent5">
                <a:tint val="45000"/>
                <a:satMod val="400000"/>
              </a:schemeClr>
            </a:duotone>
          </a:blip>
          <a:srcRect l="13375" t="14848" r="7064" b="22039"/>
          <a:stretch/>
        </p:blipFill>
        <p:spPr>
          <a:xfrm>
            <a:off x="4076700" y="2134469"/>
            <a:ext cx="4929005" cy="3154967"/>
          </a:xfrm>
          <a:prstGeom prst="rect">
            <a:avLst/>
          </a:prstGeom>
        </p:spPr>
      </p:pic>
    </p:spTree>
    <p:extLst>
      <p:ext uri="{BB962C8B-B14F-4D97-AF65-F5344CB8AC3E}">
        <p14:creationId xmlns:p14="http://schemas.microsoft.com/office/powerpoint/2010/main" val="826283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45"/>
                                        </p:tgtEl>
                                        <p:attrNameLst>
                                          <p:attrName>style.visibility</p:attrName>
                                        </p:attrNameLst>
                                      </p:cBhvr>
                                      <p:to>
                                        <p:strVal val="visible"/>
                                      </p:to>
                                    </p:set>
                                    <p:animEffect transition="in" filter="fade">
                                      <p:cBhvr>
                                        <p:cTn id="4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F3C31A-AC5D-1256-972E-BF1B5B5F6A1B}"/>
              </a:ext>
            </a:extLst>
          </p:cNvPr>
          <p:cNvPicPr>
            <a:picLocks noChangeAspect="1"/>
          </p:cNvPicPr>
          <p:nvPr/>
        </p:nvPicPr>
        <p:blipFill>
          <a:blip r:embed="rId3"/>
          <a:stretch>
            <a:fillRect/>
          </a:stretch>
        </p:blipFill>
        <p:spPr>
          <a:xfrm flipH="1">
            <a:off x="351538" y="2618795"/>
            <a:ext cx="5411086" cy="3677148"/>
          </a:xfrm>
          <a:prstGeom prst="rect">
            <a:avLst/>
          </a:prstGeom>
        </p:spPr>
      </p:pic>
      <p:pic>
        <p:nvPicPr>
          <p:cNvPr id="5" name="Content Placeholder 25" descr="Diagram, schematic&#10;&#10;Description automatically generated">
            <a:extLst>
              <a:ext uri="{FF2B5EF4-FFF2-40B4-BE49-F238E27FC236}">
                <a16:creationId xmlns:a16="http://schemas.microsoft.com/office/drawing/2014/main" id="{DBA03A7F-B3C7-E4A5-F260-4208BBE2F4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70967" y="1104982"/>
            <a:ext cx="3775459" cy="4876636"/>
          </a:xfrm>
          <a:prstGeom prst="rect">
            <a:avLst/>
          </a:prstGeom>
        </p:spPr>
      </p:pic>
      <p:pic>
        <p:nvPicPr>
          <p:cNvPr id="6" name="Content Placeholder 4" descr="Diagram, schematic&#10;&#10;Description automatically generated">
            <a:extLst>
              <a:ext uri="{FF2B5EF4-FFF2-40B4-BE49-F238E27FC236}">
                <a16:creationId xmlns:a16="http://schemas.microsoft.com/office/drawing/2014/main" id="{FF48C868-3A38-D6D0-4C6F-604CF615A226}"/>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89991" y="0"/>
            <a:ext cx="7880976" cy="2348944"/>
          </a:xfrm>
        </p:spPr>
      </p:pic>
      <p:cxnSp>
        <p:nvCxnSpPr>
          <p:cNvPr id="8" name="Straight Arrow Connector 7">
            <a:extLst>
              <a:ext uri="{FF2B5EF4-FFF2-40B4-BE49-F238E27FC236}">
                <a16:creationId xmlns:a16="http://schemas.microsoft.com/office/drawing/2014/main" id="{CFD09BD7-047E-7CA9-A6BB-E03ED013C449}"/>
              </a:ext>
            </a:extLst>
          </p:cNvPr>
          <p:cNvCxnSpPr/>
          <p:nvPr/>
        </p:nvCxnSpPr>
        <p:spPr>
          <a:xfrm>
            <a:off x="5762624" y="2543175"/>
            <a:ext cx="1809751" cy="885825"/>
          </a:xfrm>
          <a:prstGeom prst="straightConnector1">
            <a:avLst/>
          </a:prstGeom>
          <a:ln w="190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30BAAD9-1074-DFA4-363A-472AE4A7CA52}"/>
              </a:ext>
            </a:extLst>
          </p:cNvPr>
          <p:cNvSpPr txBox="1"/>
          <p:nvPr/>
        </p:nvSpPr>
        <p:spPr>
          <a:xfrm flipH="1">
            <a:off x="7258051" y="1417920"/>
            <a:ext cx="628647" cy="1862048"/>
          </a:xfrm>
          <a:prstGeom prst="rect">
            <a:avLst/>
          </a:prstGeom>
          <a:noFill/>
        </p:spPr>
        <p:txBody>
          <a:bodyPr wrap="square" rtlCol="0">
            <a:spAutoFit/>
          </a:bodyPr>
          <a:lstStyle/>
          <a:p>
            <a:r>
              <a:rPr lang="en-ZA" sz="11500" dirty="0">
                <a:solidFill>
                  <a:srgbClr val="FF0000"/>
                </a:solidFill>
              </a:rPr>
              <a:t>?</a:t>
            </a:r>
          </a:p>
        </p:txBody>
      </p:sp>
    </p:spTree>
    <p:extLst>
      <p:ext uri="{BB962C8B-B14F-4D97-AF65-F5344CB8AC3E}">
        <p14:creationId xmlns:p14="http://schemas.microsoft.com/office/powerpoint/2010/main" val="2100326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156</Words>
  <Application>Microsoft Office PowerPoint</Application>
  <PresentationFormat>Widescreen</PresentationFormat>
  <Paragraphs>18</Paragraphs>
  <Slides>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AFPS – Basic FBA</vt:lpstr>
      <vt:lpstr>AFPS – Initial architecture</vt:lpstr>
      <vt:lpstr>Sanity Check</vt:lpstr>
      <vt:lpstr>Expanding the FFBD</vt:lpstr>
      <vt:lpstr>Expanding the FFBD</vt:lpstr>
      <vt:lpstr>Expanding the FFBD</vt:lpstr>
      <vt:lpstr>Expanding the architecture</vt:lpstr>
      <vt:lpstr>Correct obvious mistake…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Henri Marais</dc:creator>
  <cp:lastModifiedBy>Henri Marais</cp:lastModifiedBy>
  <cp:revision>2</cp:revision>
  <dcterms:created xsi:type="dcterms:W3CDTF">2022-08-21T18:57:17Z</dcterms:created>
  <dcterms:modified xsi:type="dcterms:W3CDTF">2025-08-20T06:02:39Z</dcterms:modified>
</cp:coreProperties>
</file>