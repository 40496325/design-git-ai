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19"/>
  </p:notesMasterIdLst>
  <p:sldIdLst>
    <p:sldId id="256" r:id="rId2"/>
    <p:sldId id="279" r:id="rId3"/>
    <p:sldId id="280" r:id="rId4"/>
    <p:sldId id="281" r:id="rId5"/>
    <p:sldId id="282" r:id="rId6"/>
    <p:sldId id="283" r:id="rId7"/>
    <p:sldId id="285" r:id="rId8"/>
    <p:sldId id="286" r:id="rId9"/>
    <p:sldId id="284" r:id="rId10"/>
    <p:sldId id="288" r:id="rId11"/>
    <p:sldId id="287" r:id="rId12"/>
    <p:sldId id="289" r:id="rId13"/>
    <p:sldId id="291" r:id="rId14"/>
    <p:sldId id="290" r:id="rId15"/>
    <p:sldId id="292" r:id="rId16"/>
    <p:sldId id="293" r:id="rId17"/>
    <p:sldId id="29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3406" autoAdjust="0"/>
  </p:normalViewPr>
  <p:slideViewPr>
    <p:cSldViewPr snapToGrid="0">
      <p:cViewPr varScale="1">
        <p:scale>
          <a:sx n="70" d="100"/>
          <a:sy n="70" d="100"/>
        </p:scale>
        <p:origin x="209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214CD7-5223-4EFD-A455-866C4C74A817}" type="datetimeFigureOut">
              <a:rPr lang="en-GB" smtClean="0"/>
              <a:t>03/08/2026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8B9C4-BC1C-48D0-AE2F-1D9956065748}" type="slidenum">
              <a:rPr lang="en-GB" smtClean="0"/>
              <a:t>‹#›</a:t>
            </a:fld>
            <a:endParaRPr lang="en-GB"/>
          </a:p>
        </p:txBody>
      </p:sp>
    </p:spTree>
    <p:extLst>
      <p:ext uri="{BB962C8B-B14F-4D97-AF65-F5344CB8AC3E}">
        <p14:creationId xmlns:p14="http://schemas.microsoft.com/office/powerpoint/2010/main" val="11310233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68B9C4-BC1C-48D0-AE2F-1D9956065748}" type="slidenum">
              <a:rPr lang="en-GB" smtClean="0"/>
              <a:t>1</a:t>
            </a:fld>
            <a:endParaRPr lang="en-GB"/>
          </a:p>
        </p:txBody>
      </p:sp>
    </p:spTree>
    <p:extLst>
      <p:ext uri="{BB962C8B-B14F-4D97-AF65-F5344CB8AC3E}">
        <p14:creationId xmlns:p14="http://schemas.microsoft.com/office/powerpoint/2010/main" val="3703331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Previously,</a:t>
            </a:r>
            <a:r>
              <a:rPr lang="en-GB" baseline="0" dirty="0"/>
              <a:t> we analysed the requirements and determined the completeness thereof. Once you were happy with the requirements, you proceeded to conduct the functional analysis.</a:t>
            </a:r>
          </a:p>
          <a:p>
            <a:endParaRPr lang="en-GB" baseline="0" dirty="0"/>
          </a:p>
          <a:p>
            <a:r>
              <a:rPr lang="en-GB" baseline="0" dirty="0"/>
              <a:t>During the FA multiple missing / unclear requirements issue may be identified, and thus you return to RA to rectify these. </a:t>
            </a:r>
          </a:p>
          <a:p>
            <a:endParaRPr lang="en-GB" baseline="0" dirty="0"/>
          </a:p>
          <a:p>
            <a:r>
              <a:rPr lang="en-GB" baseline="0" dirty="0"/>
              <a:t>From RA you proceed to FA (again) and fix any resulting issues (perhaps only some updates are required). Then proceed to Architectural Synthesis.</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2</a:t>
            </a:fld>
            <a:endParaRPr lang="en-GB"/>
          </a:p>
        </p:txBody>
      </p:sp>
    </p:spTree>
    <p:extLst>
      <p:ext uri="{BB962C8B-B14F-4D97-AF65-F5344CB8AC3E}">
        <p14:creationId xmlns:p14="http://schemas.microsoft.com/office/powerpoint/2010/main" val="30157389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4</a:t>
            </a:fld>
            <a:endParaRPr lang="en-GB"/>
          </a:p>
        </p:txBody>
      </p:sp>
    </p:spTree>
    <p:extLst>
      <p:ext uri="{BB962C8B-B14F-4D97-AF65-F5344CB8AC3E}">
        <p14:creationId xmlns:p14="http://schemas.microsoft.com/office/powerpoint/2010/main" val="4045651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If there</a:t>
            </a:r>
            <a:r>
              <a:rPr lang="en-GB" baseline="0" dirty="0"/>
              <a:t> are specific design requirements (such as “must make use of XYZ”) then aspects of the physical architecture is already available. In such cases it may be sensible to iterate the architecture and flow analysis…</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5</a:t>
            </a:fld>
            <a:endParaRPr lang="en-GB"/>
          </a:p>
        </p:txBody>
      </p:sp>
    </p:spTree>
    <p:extLst>
      <p:ext uri="{BB962C8B-B14F-4D97-AF65-F5344CB8AC3E}">
        <p14:creationId xmlns:p14="http://schemas.microsoft.com/office/powerpoint/2010/main" val="31041044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loop provides a mechanism by which to evaluate your work. A functional analysis (what needs to be done) must be performed by some architecture (how things are done) and the evaluation ensures that you have a) not missed an architecture element and b) that you’ve not started adding features just because…. </a:t>
            </a:r>
          </a:p>
          <a:p>
            <a:endParaRPr lang="en-GB" dirty="0"/>
          </a:p>
          <a:p>
            <a:r>
              <a:rPr lang="en-GB" dirty="0"/>
              <a:t>BUT</a:t>
            </a:r>
          </a:p>
          <a:p>
            <a:endParaRPr lang="en-GB" dirty="0"/>
          </a:p>
          <a:p>
            <a:r>
              <a:rPr lang="en-GB" dirty="0"/>
              <a:t>There is no way to automatically check if your functional analysis is correct. You can map required functionality to elements in the functional analysis but this remains something based on the systems engineer’s skill level. Particularly when considering that a system requirement (toast bread) will map to many functional elements.</a:t>
            </a:r>
          </a:p>
        </p:txBody>
      </p:sp>
      <p:sp>
        <p:nvSpPr>
          <p:cNvPr id="4" name="Slide Number Placeholder 3"/>
          <p:cNvSpPr>
            <a:spLocks noGrp="1"/>
          </p:cNvSpPr>
          <p:nvPr>
            <p:ph type="sldNum" sz="quarter" idx="5"/>
          </p:nvPr>
        </p:nvSpPr>
        <p:spPr/>
        <p:txBody>
          <a:bodyPr/>
          <a:lstStyle/>
          <a:p>
            <a:fld id="{CA68B9C4-BC1C-48D0-AE2F-1D9956065748}" type="slidenum">
              <a:rPr lang="en-GB" smtClean="0"/>
              <a:t>7</a:t>
            </a:fld>
            <a:endParaRPr lang="en-GB"/>
          </a:p>
        </p:txBody>
      </p:sp>
    </p:spTree>
    <p:extLst>
      <p:ext uri="{BB962C8B-B14F-4D97-AF65-F5344CB8AC3E}">
        <p14:creationId xmlns:p14="http://schemas.microsoft.com/office/powerpoint/2010/main" val="3128084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8</a:t>
            </a:fld>
            <a:endParaRPr lang="en-GB"/>
          </a:p>
        </p:txBody>
      </p:sp>
    </p:spTree>
    <p:extLst>
      <p:ext uri="{BB962C8B-B14F-4D97-AF65-F5344CB8AC3E}">
        <p14:creationId xmlns:p14="http://schemas.microsoft.com/office/powerpoint/2010/main" val="18634322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a large degree the</a:t>
            </a:r>
            <a:r>
              <a:rPr lang="en-GB" baseline="0" dirty="0"/>
              <a:t> top level architecture can be inferred from the context diagram. It should, however, be remembered that the CD is used to place the system in an operational context. As such the architecture may exclude elements of the context diagram.</a:t>
            </a:r>
          </a:p>
          <a:p>
            <a:endParaRPr lang="en-GB" baseline="0" dirty="0"/>
          </a:p>
          <a:p>
            <a:r>
              <a:rPr lang="en-GB" baseline="0" dirty="0"/>
              <a:t>Consider the case of a CD that contains a </a:t>
            </a:r>
            <a:r>
              <a:rPr lang="en-GB" b="1" baseline="0" dirty="0"/>
              <a:t>rat</a:t>
            </a:r>
            <a:r>
              <a:rPr lang="en-GB" b="0" baseline="0" dirty="0"/>
              <a:t> that can chew on utility cables. Although our system will be required to handle the effects of the rat, the rat itself is not part of the system physical architecture.</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10</a:t>
            </a:fld>
            <a:endParaRPr lang="en-GB"/>
          </a:p>
        </p:txBody>
      </p:sp>
    </p:spTree>
    <p:extLst>
      <p:ext uri="{BB962C8B-B14F-4D97-AF65-F5344CB8AC3E}">
        <p14:creationId xmlns:p14="http://schemas.microsoft.com/office/powerpoint/2010/main" val="260873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start of by</a:t>
            </a:r>
            <a:r>
              <a:rPr lang="en-GB" baseline="0" dirty="0"/>
              <a:t> performing a functional analysis of the system at hand, and connect requirements at system level to elements in our physical architecture. </a:t>
            </a:r>
          </a:p>
          <a:p>
            <a:endParaRPr lang="en-GB" baseline="0" dirty="0"/>
          </a:p>
          <a:p>
            <a:r>
              <a:rPr lang="en-GB" baseline="0" dirty="0"/>
              <a:t>Remember that something must perform the functions. So functions that remain unaccounted for is not acceptable.</a:t>
            </a:r>
            <a:endParaRPr lang="en-GB" dirty="0"/>
          </a:p>
        </p:txBody>
      </p:sp>
      <p:sp>
        <p:nvSpPr>
          <p:cNvPr id="4" name="Slide Number Placeholder 3"/>
          <p:cNvSpPr>
            <a:spLocks noGrp="1"/>
          </p:cNvSpPr>
          <p:nvPr>
            <p:ph type="sldNum" sz="quarter" idx="10"/>
          </p:nvPr>
        </p:nvSpPr>
        <p:spPr/>
        <p:txBody>
          <a:bodyPr/>
          <a:lstStyle/>
          <a:p>
            <a:fld id="{CA68B9C4-BC1C-48D0-AE2F-1D9956065748}" type="slidenum">
              <a:rPr lang="en-GB" smtClean="0"/>
              <a:t>11</a:t>
            </a:fld>
            <a:endParaRPr lang="en-GB"/>
          </a:p>
        </p:txBody>
      </p:sp>
    </p:spTree>
    <p:extLst>
      <p:ext uri="{BB962C8B-B14F-4D97-AF65-F5344CB8AC3E}">
        <p14:creationId xmlns:p14="http://schemas.microsoft.com/office/powerpoint/2010/main" val="39497452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decomposition here is not super important and more than one possibility exists. This forms part of the creative aspect of design.</a:t>
            </a:r>
          </a:p>
        </p:txBody>
      </p:sp>
      <p:sp>
        <p:nvSpPr>
          <p:cNvPr id="4" name="Slide Number Placeholder 3"/>
          <p:cNvSpPr>
            <a:spLocks noGrp="1"/>
          </p:cNvSpPr>
          <p:nvPr>
            <p:ph type="sldNum" sz="quarter" idx="5"/>
          </p:nvPr>
        </p:nvSpPr>
        <p:spPr/>
        <p:txBody>
          <a:bodyPr/>
          <a:lstStyle/>
          <a:p>
            <a:fld id="{CA68B9C4-BC1C-48D0-AE2F-1D9956065748}" type="slidenum">
              <a:rPr lang="en-GB" smtClean="0"/>
              <a:t>12</a:t>
            </a:fld>
            <a:endParaRPr lang="en-GB"/>
          </a:p>
        </p:txBody>
      </p:sp>
    </p:spTree>
    <p:extLst>
      <p:ext uri="{BB962C8B-B14F-4D97-AF65-F5344CB8AC3E}">
        <p14:creationId xmlns:p14="http://schemas.microsoft.com/office/powerpoint/2010/main" val="3358033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GB"/>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42BEEDC0-5444-4659-AB2C-6D25856E6AF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833386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02997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09270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4687757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E0FEAA-223B-4D36-92FC-916400F612EA}" type="datetimeFigureOut">
              <a:rPr lang="en-GB" smtClean="0"/>
              <a:t>03/08/2026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1693364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DE0FEAA-223B-4D36-92FC-916400F612EA}" type="datetimeFigureOut">
              <a:rPr lang="en-GB" smtClean="0"/>
              <a:t>03/08/2026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2007057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E0FEAA-223B-4D36-92FC-916400F612EA}" type="datetimeFigureOut">
              <a:rPr lang="en-GB" smtClean="0"/>
              <a:t>03/08/2026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46482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833511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E0FEAA-223B-4D36-92FC-916400F612EA}" type="datetimeFigureOut">
              <a:rPr lang="en-GB" smtClean="0"/>
              <a:t>03/08/2026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532238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38006823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DE0FEAA-223B-4D36-92FC-916400F612EA}" type="datetimeFigureOut">
              <a:rPr lang="en-GB" smtClean="0"/>
              <a:t>03/08/2026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2BEEDC0-5444-4659-AB2C-6D25856E6AF5}" type="slidenum">
              <a:rPr lang="en-GB" smtClean="0"/>
              <a:t>‹#›</a:t>
            </a:fld>
            <a:endParaRPr lang="en-GB"/>
          </a:p>
        </p:txBody>
      </p:sp>
    </p:spTree>
    <p:extLst>
      <p:ext uri="{BB962C8B-B14F-4D97-AF65-F5344CB8AC3E}">
        <p14:creationId xmlns:p14="http://schemas.microsoft.com/office/powerpoint/2010/main" val="469616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4DE0FEAA-223B-4D36-92FC-916400F612EA}" type="datetimeFigureOut">
              <a:rPr lang="en-GB" smtClean="0"/>
              <a:t>03/08/2026</a:t>
            </a:fld>
            <a:endParaRPr lang="en-GB"/>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GB"/>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42BEEDC0-5444-4659-AB2C-6D25856E6AF5}" type="slidenum">
              <a:rPr lang="en-GB" smtClean="0"/>
              <a:t>‹#›</a:t>
            </a:fld>
            <a:endParaRPr lang="en-GB"/>
          </a:p>
        </p:txBody>
      </p:sp>
    </p:spTree>
    <p:extLst>
      <p:ext uri="{BB962C8B-B14F-4D97-AF65-F5344CB8AC3E}">
        <p14:creationId xmlns:p14="http://schemas.microsoft.com/office/powerpoint/2010/main" val="4122882950"/>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1.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1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13.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Design Synthesis</a:t>
            </a:r>
          </a:p>
        </p:txBody>
      </p:sp>
      <p:sp>
        <p:nvSpPr>
          <p:cNvPr id="5" name="Subtitle 4"/>
          <p:cNvSpPr>
            <a:spLocks noGrp="1"/>
          </p:cNvSpPr>
          <p:nvPr>
            <p:ph type="subTitle" idx="1"/>
          </p:nvPr>
        </p:nvSpPr>
        <p:spPr/>
        <p:txBody>
          <a:bodyPr/>
          <a:lstStyle/>
          <a:p>
            <a:r>
              <a:rPr lang="en-GB" dirty="0"/>
              <a:t>The fun part…</a:t>
            </a:r>
          </a:p>
        </p:txBody>
      </p:sp>
      <p:sp>
        <p:nvSpPr>
          <p:cNvPr id="3" name="TextBox 2">
            <a:extLst>
              <a:ext uri="{FF2B5EF4-FFF2-40B4-BE49-F238E27FC236}">
                <a16:creationId xmlns:a16="http://schemas.microsoft.com/office/drawing/2014/main" id="{6A52215C-21D1-4E3D-07C7-C9148C99367C}"/>
              </a:ext>
            </a:extLst>
          </p:cNvPr>
          <p:cNvSpPr txBox="1"/>
          <p:nvPr/>
        </p:nvSpPr>
        <p:spPr>
          <a:xfrm>
            <a:off x="10080843" y="6099048"/>
            <a:ext cx="2050561" cy="646331"/>
          </a:xfrm>
          <a:prstGeom prst="rect">
            <a:avLst/>
          </a:prstGeom>
          <a:noFill/>
        </p:spPr>
        <p:txBody>
          <a:bodyPr wrap="none" rtlCol="0">
            <a:spAutoFit/>
          </a:bodyPr>
          <a:lstStyle/>
          <a:p>
            <a:r>
              <a:rPr lang="en-GB" dirty="0"/>
              <a:t>Mr DJ Kritzinger</a:t>
            </a:r>
          </a:p>
          <a:p>
            <a:r>
              <a:rPr lang="en-GB" dirty="0"/>
              <a:t>August 2026</a:t>
            </a:r>
          </a:p>
        </p:txBody>
      </p:sp>
      <p:sp>
        <p:nvSpPr>
          <p:cNvPr id="6" name="TextBox 5">
            <a:extLst>
              <a:ext uri="{FF2B5EF4-FFF2-40B4-BE49-F238E27FC236}">
                <a16:creationId xmlns:a16="http://schemas.microsoft.com/office/drawing/2014/main" id="{E0E26241-37C6-19C4-CD03-648FA095739B}"/>
              </a:ext>
            </a:extLst>
          </p:cNvPr>
          <p:cNvSpPr txBox="1"/>
          <p:nvPr/>
        </p:nvSpPr>
        <p:spPr>
          <a:xfrm>
            <a:off x="1261872" y="5323254"/>
            <a:ext cx="1854995" cy="646331"/>
          </a:xfrm>
          <a:prstGeom prst="rect">
            <a:avLst/>
          </a:prstGeom>
          <a:noFill/>
        </p:spPr>
        <p:txBody>
          <a:bodyPr wrap="none" rtlCol="0">
            <a:spAutoFit/>
          </a:bodyPr>
          <a:lstStyle/>
          <a:p>
            <a:r>
              <a:rPr lang="en-GB" dirty="0"/>
              <a:t>Lecture Week 4</a:t>
            </a:r>
          </a:p>
          <a:p>
            <a:r>
              <a:rPr lang="en-GB"/>
              <a:t>Deck 2</a:t>
            </a:r>
            <a:endParaRPr lang="en-GB" dirty="0"/>
          </a:p>
        </p:txBody>
      </p:sp>
    </p:spTree>
    <p:extLst>
      <p:ext uri="{BB962C8B-B14F-4D97-AF65-F5344CB8AC3E}">
        <p14:creationId xmlns:p14="http://schemas.microsoft.com/office/powerpoint/2010/main" val="1446779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Perspective</a:t>
            </a:r>
          </a:p>
        </p:txBody>
      </p:sp>
      <p:pic>
        <p:nvPicPr>
          <p:cNvPr id="4" name="Content Placeholder 3"/>
          <p:cNvPicPr>
            <a:picLocks noChangeAspect="1"/>
          </p:cNvPicPr>
          <p:nvPr/>
        </p:nvPicPr>
        <p:blipFill>
          <a:blip r:embed="rId3"/>
          <a:stretch>
            <a:fillRect/>
          </a:stretch>
        </p:blipFill>
        <p:spPr>
          <a:xfrm>
            <a:off x="2551322" y="2266596"/>
            <a:ext cx="6218390" cy="2790404"/>
          </a:xfrm>
          <a:prstGeom prst="rect">
            <a:avLst/>
          </a:prstGeom>
        </p:spPr>
      </p:pic>
      <p:cxnSp>
        <p:nvCxnSpPr>
          <p:cNvPr id="6" name="Straight Connector 5"/>
          <p:cNvCxnSpPr/>
          <p:nvPr/>
        </p:nvCxnSpPr>
        <p:spPr>
          <a:xfrm>
            <a:off x="3295650" y="3267075"/>
            <a:ext cx="193357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5229225" y="3257550"/>
            <a:ext cx="0" cy="146685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H="1">
            <a:off x="3943350" y="4724400"/>
            <a:ext cx="128587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3943350" y="3438525"/>
            <a:ext cx="0" cy="128587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3943350" y="3438525"/>
            <a:ext cx="17907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985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up)">
                                      <p:cBhvr>
                                        <p:cTn id="11" dur="500"/>
                                        <p:tgtEl>
                                          <p:spTgt spid="8"/>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ipe(right)">
                                      <p:cBhvr>
                                        <p:cTn id="15" dur="500"/>
                                        <p:tgtEl>
                                          <p:spTgt spid="10"/>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down)">
                                      <p:cBhvr>
                                        <p:cTn id="19" dur="500"/>
                                        <p:tgtEl>
                                          <p:spTgt spid="12"/>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left)">
                                      <p:cBhvr>
                                        <p:cTn id="2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Architectural Synthesis / Physical Design</a:t>
            </a:r>
          </a:p>
        </p:txBody>
      </p:sp>
      <p:sp>
        <p:nvSpPr>
          <p:cNvPr id="3" name="Content Placeholder 2"/>
          <p:cNvSpPr>
            <a:spLocks noGrp="1"/>
          </p:cNvSpPr>
          <p:nvPr>
            <p:ph idx="1"/>
          </p:nvPr>
        </p:nvSpPr>
        <p:spPr/>
        <p:txBody>
          <a:bodyPr/>
          <a:lstStyle/>
          <a:p>
            <a:r>
              <a:rPr lang="en-GB" dirty="0"/>
              <a:t>Process by which designs are developed based on Functional Analysis</a:t>
            </a:r>
          </a:p>
          <a:p>
            <a:r>
              <a:rPr lang="en-GB" dirty="0"/>
              <a:t>Creative activity</a:t>
            </a:r>
          </a:p>
          <a:p>
            <a:r>
              <a:rPr lang="en-GB" dirty="0"/>
              <a:t>Hardware and Software elements are considered as physical elements</a:t>
            </a:r>
          </a:p>
          <a:p>
            <a:r>
              <a:rPr lang="en-GB" dirty="0"/>
              <a:t>Multiple plausible architectures are likely</a:t>
            </a:r>
          </a:p>
          <a:p>
            <a:r>
              <a:rPr lang="en-GB" dirty="0"/>
              <a:t>Trade studies selects optimal architecture</a:t>
            </a:r>
          </a:p>
        </p:txBody>
      </p:sp>
      <p:pic>
        <p:nvPicPr>
          <p:cNvPr id="4" name="Picture 3"/>
          <p:cNvPicPr>
            <a:picLocks noChangeAspect="1"/>
          </p:cNvPicPr>
          <p:nvPr/>
        </p:nvPicPr>
        <p:blipFill>
          <a:blip r:embed="rId2"/>
          <a:stretch>
            <a:fillRect/>
          </a:stretch>
        </p:blipFill>
        <p:spPr>
          <a:xfrm>
            <a:off x="0" y="0"/>
            <a:ext cx="11342748" cy="6858000"/>
          </a:xfrm>
          <a:prstGeom prst="rect">
            <a:avLst/>
          </a:prstGeom>
        </p:spPr>
      </p:pic>
    </p:spTree>
    <p:extLst>
      <p:ext uri="{BB962C8B-B14F-4D97-AF65-F5344CB8AC3E}">
        <p14:creationId xmlns:p14="http://schemas.microsoft.com/office/powerpoint/2010/main" val="395490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Aid understanding</a:t>
            </a:r>
          </a:p>
        </p:txBody>
      </p:sp>
      <p:sp>
        <p:nvSpPr>
          <p:cNvPr id="3" name="Content Placeholder 2"/>
          <p:cNvSpPr>
            <a:spLocks noGrp="1"/>
          </p:cNvSpPr>
          <p:nvPr>
            <p:ph idx="1"/>
          </p:nvPr>
        </p:nvSpPr>
        <p:spPr/>
        <p:txBody>
          <a:bodyPr/>
          <a:lstStyle/>
          <a:p>
            <a:r>
              <a:rPr lang="en-GB" dirty="0"/>
              <a:t>Physical architectures are presented by schematic block diagrams</a:t>
            </a:r>
          </a:p>
          <a:p>
            <a:r>
              <a:rPr lang="en-GB" dirty="0"/>
              <a:t>NOT an electrical schematic</a:t>
            </a:r>
          </a:p>
          <a:p>
            <a:r>
              <a:rPr lang="en-GB" dirty="0"/>
              <a:t>Graphical rules apply</a:t>
            </a:r>
          </a:p>
        </p:txBody>
      </p:sp>
      <p:pic>
        <p:nvPicPr>
          <p:cNvPr id="16" name="Picture 15"/>
          <p:cNvPicPr>
            <a:picLocks noChangeAspect="1"/>
          </p:cNvPicPr>
          <p:nvPr/>
        </p:nvPicPr>
        <p:blipFill>
          <a:blip r:embed="rId3"/>
          <a:stretch>
            <a:fillRect/>
          </a:stretch>
        </p:blipFill>
        <p:spPr>
          <a:xfrm>
            <a:off x="1905000" y="3331532"/>
            <a:ext cx="8549149" cy="3098127"/>
          </a:xfrm>
          <a:prstGeom prst="rect">
            <a:avLst/>
          </a:prstGeom>
        </p:spPr>
      </p:pic>
      <p:cxnSp>
        <p:nvCxnSpPr>
          <p:cNvPr id="18" name="Straight Arrow Connector 17"/>
          <p:cNvCxnSpPr>
            <a:stCxn id="21" idx="2"/>
          </p:cNvCxnSpPr>
          <p:nvPr/>
        </p:nvCxnSpPr>
        <p:spPr>
          <a:xfrm flipH="1">
            <a:off x="6477000" y="2728619"/>
            <a:ext cx="3536951" cy="161478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21" idx="2"/>
          </p:cNvCxnSpPr>
          <p:nvPr/>
        </p:nvCxnSpPr>
        <p:spPr>
          <a:xfrm flipH="1">
            <a:off x="8788400" y="2728619"/>
            <a:ext cx="1225551" cy="1614781"/>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915401" y="1805289"/>
            <a:ext cx="2197100" cy="923330"/>
          </a:xfrm>
          <a:prstGeom prst="rect">
            <a:avLst/>
          </a:prstGeom>
          <a:noFill/>
          <a:ln>
            <a:solidFill>
              <a:schemeClr val="accent5"/>
            </a:solidFill>
          </a:ln>
        </p:spPr>
        <p:txBody>
          <a:bodyPr wrap="square" rtlCol="0">
            <a:spAutoFit/>
          </a:bodyPr>
          <a:lstStyle/>
          <a:p>
            <a:r>
              <a:rPr lang="en-GB" dirty="0"/>
              <a:t>All elements are represented by rectangular blocks</a:t>
            </a:r>
          </a:p>
        </p:txBody>
      </p:sp>
      <p:cxnSp>
        <p:nvCxnSpPr>
          <p:cNvPr id="24" name="Straight Arrow Connector 23"/>
          <p:cNvCxnSpPr>
            <a:stCxn id="25" idx="1"/>
          </p:cNvCxnSpPr>
          <p:nvPr/>
        </p:nvCxnSpPr>
        <p:spPr>
          <a:xfrm flipH="1">
            <a:off x="5110164" y="1013213"/>
            <a:ext cx="3064336" cy="2991255"/>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8174500" y="274549"/>
            <a:ext cx="2197100" cy="1477328"/>
          </a:xfrm>
          <a:prstGeom prst="rect">
            <a:avLst/>
          </a:prstGeom>
          <a:noFill/>
          <a:ln>
            <a:solidFill>
              <a:schemeClr val="accent5"/>
            </a:solidFill>
          </a:ln>
        </p:spPr>
        <p:txBody>
          <a:bodyPr wrap="square" rtlCol="0">
            <a:spAutoFit/>
          </a:bodyPr>
          <a:lstStyle/>
          <a:p>
            <a:r>
              <a:rPr lang="en-GB" dirty="0"/>
              <a:t>Functional Units (F/U) present components inside the system boundary</a:t>
            </a:r>
          </a:p>
        </p:txBody>
      </p:sp>
      <p:cxnSp>
        <p:nvCxnSpPr>
          <p:cNvPr id="29" name="Straight Arrow Connector 28"/>
          <p:cNvCxnSpPr>
            <a:stCxn id="30" idx="3"/>
          </p:cNvCxnSpPr>
          <p:nvPr/>
        </p:nvCxnSpPr>
        <p:spPr>
          <a:xfrm>
            <a:off x="3144378" y="2767540"/>
            <a:ext cx="3837670" cy="179079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947278" y="1751877"/>
            <a:ext cx="2197100" cy="2031325"/>
          </a:xfrm>
          <a:prstGeom prst="rect">
            <a:avLst/>
          </a:prstGeom>
          <a:noFill/>
          <a:ln>
            <a:solidFill>
              <a:schemeClr val="accent5"/>
            </a:solidFill>
          </a:ln>
        </p:spPr>
        <p:txBody>
          <a:bodyPr wrap="square" rtlCol="0">
            <a:spAutoFit/>
          </a:bodyPr>
          <a:lstStyle/>
          <a:p>
            <a:r>
              <a:rPr lang="en-GB" dirty="0"/>
              <a:t>Interfaces (I/F) to other components are presented by bold intersecting lines. Numbering maintains traceability</a:t>
            </a:r>
          </a:p>
        </p:txBody>
      </p:sp>
      <p:cxnSp>
        <p:nvCxnSpPr>
          <p:cNvPr id="32" name="Straight Arrow Connector 31"/>
          <p:cNvCxnSpPr>
            <a:stCxn id="30" idx="3"/>
          </p:cNvCxnSpPr>
          <p:nvPr/>
        </p:nvCxnSpPr>
        <p:spPr>
          <a:xfrm>
            <a:off x="3144378" y="2767540"/>
            <a:ext cx="907312" cy="123692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stCxn id="38" idx="2"/>
          </p:cNvCxnSpPr>
          <p:nvPr/>
        </p:nvCxnSpPr>
        <p:spPr>
          <a:xfrm flipH="1">
            <a:off x="4950730" y="2755785"/>
            <a:ext cx="293577" cy="575747"/>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4145757" y="1555456"/>
            <a:ext cx="2197100" cy="1200329"/>
          </a:xfrm>
          <a:prstGeom prst="rect">
            <a:avLst/>
          </a:prstGeom>
          <a:noFill/>
          <a:ln>
            <a:solidFill>
              <a:schemeClr val="accent5"/>
            </a:solidFill>
          </a:ln>
        </p:spPr>
        <p:txBody>
          <a:bodyPr wrap="square" rtlCol="0">
            <a:spAutoFit/>
          </a:bodyPr>
          <a:lstStyle/>
          <a:p>
            <a:r>
              <a:rPr lang="en-GB" dirty="0"/>
              <a:t>System boundary contains all elements under SE’s control</a:t>
            </a:r>
          </a:p>
        </p:txBody>
      </p:sp>
      <p:cxnSp>
        <p:nvCxnSpPr>
          <p:cNvPr id="42" name="Straight Arrow Connector 41"/>
          <p:cNvCxnSpPr>
            <a:stCxn id="43" idx="1"/>
          </p:cNvCxnSpPr>
          <p:nvPr/>
        </p:nvCxnSpPr>
        <p:spPr>
          <a:xfrm flipH="1" flipV="1">
            <a:off x="7962900" y="5121056"/>
            <a:ext cx="681491" cy="1299908"/>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8644391" y="6097798"/>
            <a:ext cx="2197100" cy="646331"/>
          </a:xfrm>
          <a:prstGeom prst="rect">
            <a:avLst/>
          </a:prstGeom>
          <a:noFill/>
          <a:ln>
            <a:solidFill>
              <a:schemeClr val="accent5"/>
            </a:solidFill>
          </a:ln>
        </p:spPr>
        <p:txBody>
          <a:bodyPr wrap="square" rtlCol="0">
            <a:spAutoFit/>
          </a:bodyPr>
          <a:lstStyle/>
          <a:p>
            <a:r>
              <a:rPr lang="en-GB" dirty="0"/>
              <a:t>Denotes connectivity</a:t>
            </a:r>
          </a:p>
        </p:txBody>
      </p:sp>
    </p:spTree>
    <p:extLst>
      <p:ext uri="{BB962C8B-B14F-4D97-AF65-F5344CB8AC3E}">
        <p14:creationId xmlns:p14="http://schemas.microsoft.com/office/powerpoint/2010/main" val="4083399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hidden"/>
                                      </p:to>
                                    </p:set>
                                  </p:childTnLst>
                                </p:cTn>
                              </p:par>
                              <p:par>
                                <p:cTn id="12" presetID="1" presetClass="exit" presetSubtype="0" fill="hold" grpId="0"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hidden"/>
                                      </p:to>
                                    </p:set>
                                  </p:childTnLst>
                                </p:cTn>
                              </p:par>
                              <p:par>
                                <p:cTn id="14" presetID="1" presetClass="exit" presetSubtype="0" fill="hold" grpId="0"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1"/>
                                        </p:tgtEl>
                                        <p:attrNameLst>
                                          <p:attrName>style.visibility</p:attrName>
                                        </p:attrNameLst>
                                      </p:cBhvr>
                                      <p:to>
                                        <p:strVal val="visible"/>
                                      </p:to>
                                    </p:set>
                                    <p:animEffect transition="in" filter="fade">
                                      <p:cBhvr>
                                        <p:cTn id="20" dur="500"/>
                                        <p:tgtEl>
                                          <p:spTgt spid="21"/>
                                        </p:tgtEl>
                                      </p:cBhvr>
                                    </p:animEffect>
                                  </p:childTnLst>
                                </p:cTn>
                              </p:par>
                              <p:par>
                                <p:cTn id="21" presetID="10"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par>
                                <p:cTn id="24" presetID="10" presetClass="entr" presetSubtype="0" fill="hold" nodeType="with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fade">
                                      <p:cBhvr>
                                        <p:cTn id="26" dur="500"/>
                                        <p:tgtEl>
                                          <p:spTgt spid="2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3"/>
                                        </p:tgtEl>
                                        <p:attrNameLst>
                                          <p:attrName>style.visibility</p:attrName>
                                        </p:attrNameLst>
                                      </p:cBhvr>
                                      <p:to>
                                        <p:strVal val="visible"/>
                                      </p:to>
                                    </p:set>
                                    <p:animEffect transition="in" filter="fade">
                                      <p:cBhvr>
                                        <p:cTn id="31" dur="500"/>
                                        <p:tgtEl>
                                          <p:spTgt spid="43"/>
                                        </p:tgtEl>
                                      </p:cBhvr>
                                    </p:animEffect>
                                  </p:childTnLst>
                                </p:cTn>
                              </p:par>
                              <p:par>
                                <p:cTn id="32" presetID="10" presetClass="entr" presetSubtype="0" fill="hold" nodeType="withEffect">
                                  <p:stCondLst>
                                    <p:cond delay="0"/>
                                  </p:stCondLst>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fade">
                                      <p:cBhvr>
                                        <p:cTn id="39" dur="500"/>
                                        <p:tgtEl>
                                          <p:spTgt spid="25"/>
                                        </p:tgtEl>
                                      </p:cBhvr>
                                    </p:animEffect>
                                  </p:childTnLst>
                                </p:cTn>
                              </p:par>
                              <p:par>
                                <p:cTn id="40" presetID="10"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00"/>
                                        <p:tgtEl>
                                          <p:spTgt spid="30"/>
                                        </p:tgtEl>
                                      </p:cBhvr>
                                    </p:animEffect>
                                  </p:childTnLst>
                                </p:cTn>
                              </p:par>
                              <p:par>
                                <p:cTn id="48" presetID="10" presetClass="entr" presetSubtype="0" fill="hold" nodeType="with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fade">
                                      <p:cBhvr>
                                        <p:cTn id="50" dur="500"/>
                                        <p:tgtEl>
                                          <p:spTgt spid="29"/>
                                        </p:tgtEl>
                                      </p:cBhvr>
                                    </p:animEffect>
                                  </p:childTnLst>
                                </p:cTn>
                              </p:par>
                              <p:par>
                                <p:cTn id="51" presetID="10" presetClass="entr" presetSubtype="0" fill="hold" nodeType="with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00"/>
                                        <p:tgtEl>
                                          <p:spTgt spid="32"/>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38"/>
                                        </p:tgtEl>
                                        <p:attrNameLst>
                                          <p:attrName>style.visibility</p:attrName>
                                        </p:attrNameLst>
                                      </p:cBhvr>
                                      <p:to>
                                        <p:strVal val="visible"/>
                                      </p:to>
                                    </p:set>
                                    <p:animEffect transition="in" filter="fade">
                                      <p:cBhvr>
                                        <p:cTn id="58" dur="500"/>
                                        <p:tgtEl>
                                          <p:spTgt spid="38"/>
                                        </p:tgtEl>
                                      </p:cBhvr>
                                    </p:animEffect>
                                  </p:childTnLst>
                                </p:cTn>
                              </p:par>
                              <p:par>
                                <p:cTn id="59" presetID="10" presetClass="entr" presetSubtype="0" fill="hold" nodeType="withEffect">
                                  <p:stCondLst>
                                    <p:cond delay="0"/>
                                  </p:stCondLst>
                                  <p:childTnLst>
                                    <p:set>
                                      <p:cBhvr>
                                        <p:cTn id="60" dur="1" fill="hold">
                                          <p:stCondLst>
                                            <p:cond delay="0"/>
                                          </p:stCondLst>
                                        </p:cTn>
                                        <p:tgtEl>
                                          <p:spTgt spid="37"/>
                                        </p:tgtEl>
                                        <p:attrNameLst>
                                          <p:attrName>style.visibility</p:attrName>
                                        </p:attrNameLst>
                                      </p:cBhvr>
                                      <p:to>
                                        <p:strVal val="visible"/>
                                      </p:to>
                                    </p:set>
                                    <p:animEffect transition="in" filter="fade">
                                      <p:cBhvr>
                                        <p:cTn id="61"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21" grpId="0" animBg="1"/>
      <p:bldP spid="25" grpId="0" animBg="1"/>
      <p:bldP spid="30" grpId="0" animBg="1"/>
      <p:bldP spid="38" grpId="0" animBg="1"/>
      <p:bldP spid="4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More questions</a:t>
            </a:r>
          </a:p>
        </p:txBody>
      </p:sp>
      <p:sp>
        <p:nvSpPr>
          <p:cNvPr id="3" name="Content Placeholder 2"/>
          <p:cNvSpPr>
            <a:spLocks noGrp="1"/>
          </p:cNvSpPr>
          <p:nvPr>
            <p:ph idx="1"/>
          </p:nvPr>
        </p:nvSpPr>
        <p:spPr/>
        <p:txBody>
          <a:bodyPr/>
          <a:lstStyle/>
          <a:p>
            <a:r>
              <a:rPr lang="en-GB" dirty="0"/>
              <a:t>How is the physical architecture arrived at?</a:t>
            </a:r>
          </a:p>
          <a:p>
            <a:r>
              <a:rPr lang="en-GB" dirty="0"/>
              <a:t>Map functions to functional units</a:t>
            </a:r>
          </a:p>
          <a:p>
            <a:r>
              <a:rPr lang="en-GB" dirty="0"/>
              <a:t>Complete RA to avoid unnecessary iteration</a:t>
            </a:r>
          </a:p>
        </p:txBody>
      </p:sp>
      <p:pic>
        <p:nvPicPr>
          <p:cNvPr id="4" name="Picture 3"/>
          <p:cNvPicPr>
            <a:picLocks noChangeAspect="1"/>
          </p:cNvPicPr>
          <p:nvPr/>
        </p:nvPicPr>
        <p:blipFill>
          <a:blip r:embed="rId3"/>
          <a:stretch>
            <a:fillRect/>
          </a:stretch>
        </p:blipFill>
        <p:spPr>
          <a:xfrm flipH="1">
            <a:off x="9653948" y="4514772"/>
            <a:ext cx="3009983" cy="3009983"/>
          </a:xfrm>
          <a:prstGeom prst="rect">
            <a:avLst/>
          </a:prstGeom>
        </p:spPr>
      </p:pic>
      <p:pic>
        <p:nvPicPr>
          <p:cNvPr id="5" name="Picture 4"/>
          <p:cNvPicPr>
            <a:picLocks noChangeAspect="1"/>
          </p:cNvPicPr>
          <p:nvPr/>
        </p:nvPicPr>
        <p:blipFill>
          <a:blip r:embed="rId4"/>
          <a:stretch>
            <a:fillRect/>
          </a:stretch>
        </p:blipFill>
        <p:spPr>
          <a:xfrm>
            <a:off x="587227" y="4381858"/>
            <a:ext cx="7693766" cy="2052279"/>
          </a:xfrm>
          <a:prstGeom prst="rect">
            <a:avLst/>
          </a:prstGeom>
        </p:spPr>
      </p:pic>
      <p:pic>
        <p:nvPicPr>
          <p:cNvPr id="6" name="Picture 5"/>
          <p:cNvPicPr>
            <a:picLocks noChangeAspect="1"/>
          </p:cNvPicPr>
          <p:nvPr/>
        </p:nvPicPr>
        <p:blipFill>
          <a:blip r:embed="rId5"/>
          <a:stretch>
            <a:fillRect/>
          </a:stretch>
        </p:blipFill>
        <p:spPr>
          <a:xfrm>
            <a:off x="7093047" y="1320642"/>
            <a:ext cx="3781730" cy="2669738"/>
          </a:xfrm>
          <a:prstGeom prst="rect">
            <a:avLst/>
          </a:prstGeom>
        </p:spPr>
      </p:pic>
      <p:cxnSp>
        <p:nvCxnSpPr>
          <p:cNvPr id="8" name="Straight Arrow Connector 7"/>
          <p:cNvCxnSpPr/>
          <p:nvPr/>
        </p:nvCxnSpPr>
        <p:spPr>
          <a:xfrm flipV="1">
            <a:off x="1143000" y="2311400"/>
            <a:ext cx="6265672" cy="2959100"/>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3225800" y="2311400"/>
            <a:ext cx="4182872" cy="2540000"/>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V="1">
            <a:off x="3136900" y="2311400"/>
            <a:ext cx="4271772" cy="3868737"/>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4762500" y="2311400"/>
            <a:ext cx="2646172" cy="2959100"/>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6223000" y="2197100"/>
            <a:ext cx="2760912" cy="3210897"/>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6295419" y="2311400"/>
            <a:ext cx="1113253" cy="3096597"/>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H="1" flipV="1">
            <a:off x="7408672" y="2311400"/>
            <a:ext cx="355562" cy="2959100"/>
          </a:xfrm>
          <a:prstGeom prst="straightConnector1">
            <a:avLst/>
          </a:prstGeom>
          <a:ln w="28575">
            <a:solidFill>
              <a:srgbClr val="7030A0"/>
            </a:solidFill>
            <a:tailEnd type="triangle" w="lg" len="lg"/>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4235027" y="5890578"/>
            <a:ext cx="5368777" cy="461665"/>
          </a:xfrm>
          <a:prstGeom prst="rect">
            <a:avLst/>
          </a:prstGeom>
          <a:noFill/>
        </p:spPr>
        <p:txBody>
          <a:bodyPr wrap="none" rtlCol="0">
            <a:spAutoFit/>
          </a:bodyPr>
          <a:lstStyle/>
          <a:p>
            <a:r>
              <a:rPr lang="en-GB" sz="2400" b="1" dirty="0">
                <a:solidFill>
                  <a:srgbClr val="FF0000"/>
                </a:solidFill>
              </a:rPr>
              <a:t>Describes “WHAT” must be done</a:t>
            </a:r>
          </a:p>
        </p:txBody>
      </p:sp>
      <p:sp>
        <p:nvSpPr>
          <p:cNvPr id="24" name="TextBox 23"/>
          <p:cNvSpPr txBox="1"/>
          <p:nvPr/>
        </p:nvSpPr>
        <p:spPr>
          <a:xfrm>
            <a:off x="6517386" y="814506"/>
            <a:ext cx="3884397" cy="461665"/>
          </a:xfrm>
          <a:prstGeom prst="rect">
            <a:avLst/>
          </a:prstGeom>
          <a:noFill/>
        </p:spPr>
        <p:txBody>
          <a:bodyPr wrap="none" rtlCol="0">
            <a:spAutoFit/>
          </a:bodyPr>
          <a:lstStyle/>
          <a:p>
            <a:r>
              <a:rPr lang="en-GB" sz="2400" b="1" dirty="0">
                <a:solidFill>
                  <a:srgbClr val="FF0000"/>
                </a:solidFill>
              </a:rPr>
              <a:t>“HOW” things are done</a:t>
            </a:r>
          </a:p>
        </p:txBody>
      </p:sp>
      <p:sp>
        <p:nvSpPr>
          <p:cNvPr id="27" name="Down Arrow 26"/>
          <p:cNvSpPr/>
          <p:nvPr/>
        </p:nvSpPr>
        <p:spPr>
          <a:xfrm rot="2055215">
            <a:off x="9289702" y="3078312"/>
            <a:ext cx="1128514" cy="2872918"/>
          </a:xfrm>
          <a:prstGeom prst="downArrow">
            <a:avLst>
              <a:gd name="adj1" fmla="val 100000"/>
              <a:gd name="adj2" fmla="val 50000"/>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GB" dirty="0"/>
              <a:t>This direction is also possible</a:t>
            </a:r>
          </a:p>
        </p:txBody>
      </p:sp>
    </p:spTree>
    <p:extLst>
      <p:ext uri="{BB962C8B-B14F-4D97-AF65-F5344CB8AC3E}">
        <p14:creationId xmlns:p14="http://schemas.microsoft.com/office/powerpoint/2010/main" val="76390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down)">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wipe(down)">
                                      <p:cBhvr>
                                        <p:cTn id="37" dur="500"/>
                                        <p:tgtEl>
                                          <p:spTgt spid="2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down)">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wipe(down)">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3"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500" fill="hold"/>
                                        <p:tgtEl>
                                          <p:spTgt spid="27"/>
                                        </p:tgtEl>
                                        <p:attrNameLst>
                                          <p:attrName>ppt_x</p:attrName>
                                        </p:attrNameLst>
                                      </p:cBhvr>
                                      <p:tavLst>
                                        <p:tav tm="0">
                                          <p:val>
                                            <p:strVal val="1+#ppt_w/2"/>
                                          </p:val>
                                        </p:tav>
                                        <p:tav tm="100000">
                                          <p:val>
                                            <p:strVal val="#ppt_x"/>
                                          </p:val>
                                        </p:tav>
                                      </p:tavLst>
                                    </p:anim>
                                    <p:anim calcmode="lin" valueType="num">
                                      <p:cBhvr additive="base">
                                        <p:cTn id="53" dur="500" fill="hold"/>
                                        <p:tgtEl>
                                          <p:spTgt spid="2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Is the design valid?</a:t>
            </a:r>
          </a:p>
        </p:txBody>
      </p:sp>
      <p:sp>
        <p:nvSpPr>
          <p:cNvPr id="3" name="Content Placeholder 2"/>
          <p:cNvSpPr>
            <a:spLocks noGrp="1"/>
          </p:cNvSpPr>
          <p:nvPr>
            <p:ph idx="1"/>
          </p:nvPr>
        </p:nvSpPr>
        <p:spPr/>
        <p:txBody>
          <a:bodyPr/>
          <a:lstStyle/>
          <a:p>
            <a:r>
              <a:rPr lang="en-GB" dirty="0"/>
              <a:t>Can your proposed architecture perform all the functions?</a:t>
            </a:r>
          </a:p>
          <a:p>
            <a:r>
              <a:rPr lang="en-GB" dirty="0"/>
              <a:t>Construct a resource allocation matrix</a:t>
            </a:r>
          </a:p>
        </p:txBody>
      </p:sp>
      <p:graphicFrame>
        <p:nvGraphicFramePr>
          <p:cNvPr id="4" name="Table 3"/>
          <p:cNvGraphicFramePr>
            <a:graphicFrameLocks noGrp="1"/>
          </p:cNvGraphicFramePr>
          <p:nvPr>
            <p:extLst>
              <p:ext uri="{D42A27DB-BD31-4B8C-83A1-F6EECF244321}">
                <p14:modId xmlns:p14="http://schemas.microsoft.com/office/powerpoint/2010/main" val="4220997293"/>
              </p:ext>
            </p:extLst>
          </p:nvPr>
        </p:nvGraphicFramePr>
        <p:xfrm>
          <a:off x="6235701" y="2723196"/>
          <a:ext cx="4606926" cy="3888741"/>
        </p:xfrm>
        <a:graphic>
          <a:graphicData uri="http://schemas.openxmlformats.org/drawingml/2006/table">
            <a:tbl>
              <a:tblPr/>
              <a:tblGrid>
                <a:gridCol w="3032406">
                  <a:extLst>
                    <a:ext uri="{9D8B030D-6E8A-4147-A177-3AD203B41FA5}">
                      <a16:colId xmlns:a16="http://schemas.microsoft.com/office/drawing/2014/main" val="20000"/>
                    </a:ext>
                  </a:extLst>
                </a:gridCol>
                <a:gridCol w="393630">
                  <a:extLst>
                    <a:ext uri="{9D8B030D-6E8A-4147-A177-3AD203B41FA5}">
                      <a16:colId xmlns:a16="http://schemas.microsoft.com/office/drawing/2014/main" val="20001"/>
                    </a:ext>
                  </a:extLst>
                </a:gridCol>
                <a:gridCol w="393630">
                  <a:extLst>
                    <a:ext uri="{9D8B030D-6E8A-4147-A177-3AD203B41FA5}">
                      <a16:colId xmlns:a16="http://schemas.microsoft.com/office/drawing/2014/main" val="20002"/>
                    </a:ext>
                  </a:extLst>
                </a:gridCol>
                <a:gridCol w="393630">
                  <a:extLst>
                    <a:ext uri="{9D8B030D-6E8A-4147-A177-3AD203B41FA5}">
                      <a16:colId xmlns:a16="http://schemas.microsoft.com/office/drawing/2014/main" val="20003"/>
                    </a:ext>
                  </a:extLst>
                </a:gridCol>
                <a:gridCol w="393630">
                  <a:extLst>
                    <a:ext uri="{9D8B030D-6E8A-4147-A177-3AD203B41FA5}">
                      <a16:colId xmlns:a16="http://schemas.microsoft.com/office/drawing/2014/main" val="20004"/>
                    </a:ext>
                  </a:extLst>
                </a:gridCol>
              </a:tblGrid>
              <a:tr h="270439">
                <a:tc>
                  <a:txBody>
                    <a:bodyPr/>
                    <a:lstStyle/>
                    <a:p>
                      <a:pPr algn="l" fontAlgn="b"/>
                      <a:endParaRPr lang="en-ZA" sz="1300" b="0" i="0" u="none" strike="noStrike" dirty="0">
                        <a:solidFill>
                          <a:srgbClr val="000000"/>
                        </a:solidFill>
                        <a:effectLst/>
                        <a:latin typeface="Calibri" panose="020F0502020204030204" pitchFamily="34" charset="0"/>
                      </a:endParaRPr>
                    </a:p>
                  </a:txBody>
                  <a:tcPr marL="7492" marR="7492" marT="7492" marB="0" anchor="b">
                    <a:lnL>
                      <a:noFill/>
                    </a:lnL>
                    <a:lnR>
                      <a:noFill/>
                    </a:lnR>
                    <a:lnT>
                      <a:noFill/>
                    </a:lnT>
                    <a:lnB>
                      <a:noFill/>
                    </a:lnB>
                  </a:tcPr>
                </a:tc>
                <a:tc gridSpan="4">
                  <a:txBody>
                    <a:bodyPr/>
                    <a:lstStyle/>
                    <a:p>
                      <a:pPr algn="l" fontAlgn="b"/>
                      <a:r>
                        <a:rPr lang="en-ZA" sz="1300" b="0" i="0" u="none" strike="noStrike">
                          <a:solidFill>
                            <a:srgbClr val="000000"/>
                          </a:solidFill>
                          <a:effectLst/>
                          <a:latin typeface="Calibri" panose="020F0502020204030204" pitchFamily="34" charset="0"/>
                        </a:rPr>
                        <a:t>Resources</a:t>
                      </a:r>
                    </a:p>
                  </a:txBody>
                  <a:tcPr marL="7492" marR="7492" marT="7492" marB="0" anchor="b">
                    <a:lnL>
                      <a:noFill/>
                    </a:lnL>
                    <a:lnR>
                      <a:noFill/>
                    </a:lnR>
                    <a:lnT>
                      <a:noFill/>
                    </a:lnT>
                    <a:lnB w="12700" cap="flat" cmpd="sng" algn="ctr">
                      <a:solidFill>
                        <a:srgbClr val="000000"/>
                      </a:solidFill>
                      <a:prstDash val="solid"/>
                      <a:round/>
                      <a:headEnd type="none" w="med" len="med"/>
                      <a:tailEnd type="none" w="med" len="med"/>
                    </a:lnB>
                  </a:tcPr>
                </a:tc>
                <a:tc hMerge="1">
                  <a:txBody>
                    <a:bodyPr/>
                    <a:lstStyle/>
                    <a:p>
                      <a:endParaRPr lang="en-ZA"/>
                    </a:p>
                  </a:txBody>
                  <a:tcPr/>
                </a:tc>
                <a:tc hMerge="1">
                  <a:txBody>
                    <a:bodyPr/>
                    <a:lstStyle/>
                    <a:p>
                      <a:endParaRPr lang="en-ZA"/>
                    </a:p>
                  </a:txBody>
                  <a:tcPr/>
                </a:tc>
                <a:tc hMerge="1">
                  <a:txBody>
                    <a:bodyPr/>
                    <a:lstStyle/>
                    <a:p>
                      <a:endParaRPr lang="en-ZA"/>
                    </a:p>
                  </a:txBody>
                  <a:tcPr/>
                </a:tc>
                <a:extLst>
                  <a:ext uri="{0D108BD9-81ED-4DB2-BD59-A6C34878D82A}">
                    <a16:rowId xmlns:a16="http://schemas.microsoft.com/office/drawing/2014/main" val="10000"/>
                  </a:ext>
                </a:extLst>
              </a:tr>
              <a:tr h="2042288">
                <a:tc>
                  <a:txBody>
                    <a:bodyPr/>
                    <a:lstStyle/>
                    <a:p>
                      <a:pPr algn="l" fontAlgn="b"/>
                      <a:r>
                        <a:rPr lang="en-ZA" sz="1300" b="0" i="0" u="none" strike="noStrike" dirty="0">
                          <a:solidFill>
                            <a:srgbClr val="000000"/>
                          </a:solidFill>
                          <a:effectLst/>
                          <a:latin typeface="Calibri" panose="020F0502020204030204" pitchFamily="34" charset="0"/>
                        </a:rPr>
                        <a:t>Function</a:t>
                      </a:r>
                    </a:p>
                  </a:txBody>
                  <a:tcPr marL="7492" marR="7492" marT="7492" marB="0" anchor="b">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algn="r" fontAlgn="b"/>
                      <a:r>
                        <a:rPr lang="en-ZA" sz="1300" b="0" i="0" u="none" strike="noStrike" dirty="0">
                          <a:solidFill>
                            <a:srgbClr val="000000"/>
                          </a:solidFill>
                          <a:effectLst/>
                          <a:latin typeface="Calibri" panose="020F0502020204030204" pitchFamily="34" charset="0"/>
                        </a:rPr>
                        <a:t>F/U 1.0 - Reflow Oven</a:t>
                      </a:r>
                    </a:p>
                  </a:txBody>
                  <a:tcPr marL="7492" marR="7492" marT="7492" marB="0" vert="vert27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ZA" sz="1300" b="0" i="0" u="none" strike="noStrike" dirty="0">
                          <a:solidFill>
                            <a:srgbClr val="000000"/>
                          </a:solidFill>
                          <a:effectLst/>
                          <a:latin typeface="Calibri" panose="020F0502020204030204" pitchFamily="34" charset="0"/>
                        </a:rPr>
                        <a:t>F/U 2.0 - Populated PCB</a:t>
                      </a:r>
                    </a:p>
                  </a:txBody>
                  <a:tcPr marL="7492" marR="7492" marT="749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ZA" sz="1300" b="0" i="0" u="none" strike="noStrike" dirty="0">
                          <a:solidFill>
                            <a:srgbClr val="000000"/>
                          </a:solidFill>
                          <a:effectLst/>
                          <a:latin typeface="Calibri" panose="020F0502020204030204" pitchFamily="34" charset="0"/>
                        </a:rPr>
                        <a:t>F/U 3.0 - Power Utility</a:t>
                      </a:r>
                    </a:p>
                  </a:txBody>
                  <a:tcPr marL="7492" marR="7492" marT="7492" marB="0" vert="vert27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fontAlgn="b"/>
                      <a:r>
                        <a:rPr lang="en-ZA" sz="1300" b="0" i="0" u="none" strike="noStrike" dirty="0">
                          <a:solidFill>
                            <a:srgbClr val="000000"/>
                          </a:solidFill>
                          <a:effectLst/>
                          <a:latin typeface="Calibri" panose="020F0502020204030204" pitchFamily="34" charset="0"/>
                        </a:rPr>
                        <a:t>F/U 4.0 - Operator</a:t>
                      </a:r>
                    </a:p>
                  </a:txBody>
                  <a:tcPr marL="7492" marR="7492" marT="7492" marB="0" vert="vert27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1115">
                <a:tc>
                  <a:txBody>
                    <a:bodyPr/>
                    <a:lstStyle/>
                    <a:p>
                      <a:pPr algn="l" fontAlgn="b"/>
                      <a:r>
                        <a:rPr lang="en-ZA" sz="1300" b="0" i="0" u="none" strike="noStrike">
                          <a:solidFill>
                            <a:srgbClr val="000000"/>
                          </a:solidFill>
                          <a:effectLst/>
                          <a:latin typeface="Calibri" panose="020F0502020204030204" pitchFamily="34" charset="0"/>
                        </a:rPr>
                        <a:t>1.0 - Design Electronic Product</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ZA" sz="1300" b="0" i="0" u="none" strike="noStrike">
                          <a:solidFill>
                            <a:srgbClr val="000000"/>
                          </a:solidFill>
                          <a:effectLst/>
                          <a:latin typeface="Calibri" panose="020F0502020204030204" pitchFamily="34" charset="0"/>
                        </a:rPr>
                        <a:t> </a:t>
                      </a:r>
                    </a:p>
                  </a:txBody>
                  <a:tcPr marL="7492" marR="7492" marT="7492" marB="0" anchor="b">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61115">
                <a:tc>
                  <a:txBody>
                    <a:bodyPr/>
                    <a:lstStyle/>
                    <a:p>
                      <a:pPr algn="l" fontAlgn="b"/>
                      <a:r>
                        <a:rPr lang="en-ZA" sz="1300" b="0" i="0" u="none" strike="noStrike">
                          <a:solidFill>
                            <a:srgbClr val="000000"/>
                          </a:solidFill>
                          <a:effectLst/>
                          <a:latin typeface="Calibri" panose="020F0502020204030204" pitchFamily="34" charset="0"/>
                        </a:rPr>
                        <a:t>2.0 - Obtain PCB</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dirty="0">
                          <a:solidFill>
                            <a:srgbClr val="000000"/>
                          </a:solidFill>
                          <a:effectLst/>
                          <a:latin typeface="Calibri" panose="020F0502020204030204" pitchFamily="34" charset="0"/>
                        </a:rPr>
                        <a:t> </a:t>
                      </a:r>
                    </a:p>
                  </a:txBody>
                  <a:tcPr marL="7492" marR="7492" marT="749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dirty="0">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dirty="0">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61115">
                <a:tc>
                  <a:txBody>
                    <a:bodyPr/>
                    <a:lstStyle/>
                    <a:p>
                      <a:pPr algn="l" fontAlgn="b"/>
                      <a:r>
                        <a:rPr lang="en-ZA" sz="1300" b="0" i="0" u="none" strike="noStrike">
                          <a:solidFill>
                            <a:srgbClr val="000000"/>
                          </a:solidFill>
                          <a:effectLst/>
                          <a:latin typeface="Calibri" panose="020F0502020204030204" pitchFamily="34" charset="0"/>
                        </a:rPr>
                        <a:t>3.0 - Order SMT components</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dirty="0">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61115">
                <a:tc>
                  <a:txBody>
                    <a:bodyPr/>
                    <a:lstStyle/>
                    <a:p>
                      <a:pPr algn="l" fontAlgn="b"/>
                      <a:r>
                        <a:rPr lang="en-ZA" sz="1300" b="0" i="0" u="none" strike="noStrike">
                          <a:solidFill>
                            <a:srgbClr val="000000"/>
                          </a:solidFill>
                          <a:effectLst/>
                          <a:latin typeface="Calibri" panose="020F0502020204030204" pitchFamily="34" charset="0"/>
                        </a:rPr>
                        <a:t>4.0 - Populate PCB</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61115">
                <a:tc>
                  <a:txBody>
                    <a:bodyPr/>
                    <a:lstStyle/>
                    <a:p>
                      <a:pPr algn="l" fontAlgn="b"/>
                      <a:r>
                        <a:rPr lang="en-ZA" sz="1300" b="0" i="0" u="none" strike="noStrike">
                          <a:solidFill>
                            <a:srgbClr val="000000"/>
                          </a:solidFill>
                          <a:effectLst/>
                          <a:latin typeface="Calibri" panose="020F0502020204030204" pitchFamily="34" charset="0"/>
                        </a:rPr>
                        <a:t>5.0 - Reflow PCB</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70439">
                <a:tc>
                  <a:txBody>
                    <a:bodyPr/>
                    <a:lstStyle/>
                    <a:p>
                      <a:pPr algn="l" fontAlgn="b"/>
                      <a:r>
                        <a:rPr lang="en-ZA" sz="1300" b="0" i="0" u="none" strike="noStrike">
                          <a:solidFill>
                            <a:srgbClr val="000000"/>
                          </a:solidFill>
                          <a:effectLst/>
                          <a:latin typeface="Calibri" panose="020F0502020204030204" pitchFamily="34" charset="0"/>
                        </a:rPr>
                        <a:t>6.0 - Test PCB</a:t>
                      </a:r>
                    </a:p>
                  </a:txBody>
                  <a:tcPr marL="7492" marR="7492" marT="7492"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ZA" sz="1300" b="0" i="0" u="none" strike="noStrike">
                          <a:solidFill>
                            <a:srgbClr val="000000"/>
                          </a:solidFill>
                          <a:effectLst/>
                          <a:latin typeface="Calibri" panose="020F0502020204030204" pitchFamily="34" charset="0"/>
                        </a:rPr>
                        <a:t> </a:t>
                      </a:r>
                    </a:p>
                  </a:txBody>
                  <a:tcPr marL="7492" marR="7492" marT="749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ZA" sz="1300" b="0" i="0" u="none" strike="noStrike" dirty="0">
                          <a:solidFill>
                            <a:srgbClr val="000000"/>
                          </a:solidFill>
                          <a:effectLst/>
                          <a:latin typeface="Calibri" panose="020F0502020204030204" pitchFamily="34" charset="0"/>
                        </a:rPr>
                        <a:t>•</a:t>
                      </a:r>
                    </a:p>
                  </a:txBody>
                  <a:tcPr marL="7492" marR="7492" marT="7492"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pic>
        <p:nvPicPr>
          <p:cNvPr id="21" name="Picture 20"/>
          <p:cNvPicPr>
            <a:picLocks noChangeAspect="1"/>
          </p:cNvPicPr>
          <p:nvPr/>
        </p:nvPicPr>
        <p:blipFill>
          <a:blip r:embed="rId2"/>
          <a:stretch>
            <a:fillRect/>
          </a:stretch>
        </p:blipFill>
        <p:spPr>
          <a:xfrm>
            <a:off x="319060" y="2723196"/>
            <a:ext cx="6859453" cy="3405345"/>
          </a:xfrm>
          <a:prstGeom prst="rect">
            <a:avLst/>
          </a:prstGeom>
        </p:spPr>
      </p:pic>
      <p:cxnSp>
        <p:nvCxnSpPr>
          <p:cNvPr id="23" name="Straight Arrow Connector 22"/>
          <p:cNvCxnSpPr/>
          <p:nvPr/>
        </p:nvCxnSpPr>
        <p:spPr>
          <a:xfrm>
            <a:off x="7073900" y="3708400"/>
            <a:ext cx="1790700" cy="10541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ular Callout 25"/>
          <p:cNvSpPr/>
          <p:nvPr/>
        </p:nvSpPr>
        <p:spPr>
          <a:xfrm>
            <a:off x="6788912" y="199548"/>
            <a:ext cx="2565400" cy="1384300"/>
          </a:xfrm>
          <a:prstGeom prst="wedgeRectCallout">
            <a:avLst>
              <a:gd name="adj1" fmla="val 83649"/>
              <a:gd name="adj2" fmla="val 13198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Unused </a:t>
            </a:r>
            <a:r>
              <a:rPr lang="en-GB" b="1" dirty="0"/>
              <a:t>resources</a:t>
            </a:r>
            <a:r>
              <a:rPr lang="en-GB" dirty="0"/>
              <a:t> indicative of “over design” (adding unused features)</a:t>
            </a:r>
          </a:p>
        </p:txBody>
      </p:sp>
      <p:sp>
        <p:nvSpPr>
          <p:cNvPr id="27" name="Rectangular Callout 26"/>
          <p:cNvSpPr/>
          <p:nvPr/>
        </p:nvSpPr>
        <p:spPr>
          <a:xfrm>
            <a:off x="489712" y="2723196"/>
            <a:ext cx="2565400" cy="1384300"/>
          </a:xfrm>
          <a:prstGeom prst="wedgeRectCallout">
            <a:avLst>
              <a:gd name="adj1" fmla="val 170778"/>
              <a:gd name="adj2" fmla="val 1072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Functions that are not performed by any resources indicates an invalid design!</a:t>
            </a:r>
          </a:p>
        </p:txBody>
      </p:sp>
    </p:spTree>
    <p:extLst>
      <p:ext uri="{BB962C8B-B14F-4D97-AF65-F5344CB8AC3E}">
        <p14:creationId xmlns:p14="http://schemas.microsoft.com/office/powerpoint/2010/main" val="1680675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fade">
                                      <p:cBhvr>
                                        <p:cTn id="2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Resource Allocation</a:t>
            </a:r>
          </a:p>
        </p:txBody>
      </p:sp>
      <p:sp>
        <p:nvSpPr>
          <p:cNvPr id="3" name="Content Placeholder 2"/>
          <p:cNvSpPr>
            <a:spLocks noGrp="1"/>
          </p:cNvSpPr>
          <p:nvPr>
            <p:ph idx="1"/>
          </p:nvPr>
        </p:nvSpPr>
        <p:spPr/>
        <p:txBody>
          <a:bodyPr/>
          <a:lstStyle/>
          <a:p>
            <a:r>
              <a:rPr lang="en-GB" dirty="0"/>
              <a:t>Can be used to identify under/over designed solutions</a:t>
            </a:r>
          </a:p>
          <a:p>
            <a:r>
              <a:rPr lang="en-GB" dirty="0"/>
              <a:t>No performance validation can be done!</a:t>
            </a:r>
          </a:p>
        </p:txBody>
      </p:sp>
      <p:pic>
        <p:nvPicPr>
          <p:cNvPr id="8" name="Picture 7"/>
          <p:cNvPicPr>
            <a:picLocks noChangeAspect="1"/>
          </p:cNvPicPr>
          <p:nvPr/>
        </p:nvPicPr>
        <p:blipFill rotWithShape="1">
          <a:blip r:embed="rId3"/>
          <a:srcRect l="18955" r="12619"/>
          <a:stretch/>
        </p:blipFill>
        <p:spPr>
          <a:xfrm>
            <a:off x="4292600" y="2692735"/>
            <a:ext cx="6858000" cy="3987130"/>
          </a:xfrm>
          <a:prstGeom prst="rect">
            <a:avLst/>
          </a:prstGeom>
        </p:spPr>
      </p:pic>
    </p:spTree>
    <p:extLst>
      <p:ext uri="{BB962C8B-B14F-4D97-AF65-F5344CB8AC3E}">
        <p14:creationId xmlns:p14="http://schemas.microsoft.com/office/powerpoint/2010/main" val="4101789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 Design loops</a:t>
            </a:r>
          </a:p>
        </p:txBody>
      </p:sp>
      <p:sp>
        <p:nvSpPr>
          <p:cNvPr id="3" name="Content Placeholder 2"/>
          <p:cNvSpPr>
            <a:spLocks noGrp="1"/>
          </p:cNvSpPr>
          <p:nvPr>
            <p:ph idx="1"/>
          </p:nvPr>
        </p:nvSpPr>
        <p:spPr/>
        <p:txBody>
          <a:bodyPr/>
          <a:lstStyle/>
          <a:p>
            <a:endParaRPr lang="en-GB" dirty="0"/>
          </a:p>
        </p:txBody>
      </p:sp>
      <p:pic>
        <p:nvPicPr>
          <p:cNvPr id="4" name="Content Placeholder 3"/>
          <p:cNvPicPr>
            <a:picLocks noChangeAspect="1"/>
          </p:cNvPicPr>
          <p:nvPr/>
        </p:nvPicPr>
        <p:blipFill>
          <a:blip r:embed="rId3"/>
          <a:stretch>
            <a:fillRect/>
          </a:stretch>
        </p:blipFill>
        <p:spPr>
          <a:xfrm>
            <a:off x="2551322" y="2266596"/>
            <a:ext cx="6218390" cy="2790404"/>
          </a:xfrm>
          <a:prstGeom prst="rect">
            <a:avLst/>
          </a:prstGeom>
        </p:spPr>
      </p:pic>
      <p:cxnSp>
        <p:nvCxnSpPr>
          <p:cNvPr id="5" name="Straight Connector 4"/>
          <p:cNvCxnSpPr/>
          <p:nvPr/>
        </p:nvCxnSpPr>
        <p:spPr>
          <a:xfrm>
            <a:off x="3295650" y="3267075"/>
            <a:ext cx="193357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a:off x="5229225" y="3257550"/>
            <a:ext cx="0" cy="146685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flipH="1">
            <a:off x="3943350" y="4724400"/>
            <a:ext cx="1285875" cy="0"/>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V="1">
            <a:off x="3943350" y="3438525"/>
            <a:ext cx="0" cy="1285875"/>
          </a:xfrm>
          <a:prstGeom prst="line">
            <a:avLst/>
          </a:prstGeom>
          <a:ln w="762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3943350" y="3438525"/>
            <a:ext cx="1790700" cy="0"/>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5581650" y="3267075"/>
            <a:ext cx="1933575"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7515225" y="3257550"/>
            <a:ext cx="0" cy="146685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5734050" y="4724400"/>
            <a:ext cx="1781176" cy="0"/>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5734050" y="3438525"/>
            <a:ext cx="0" cy="1285875"/>
          </a:xfrm>
          <a:prstGeom prst="line">
            <a:avLst/>
          </a:prstGeom>
          <a:ln w="762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734050" y="3438525"/>
            <a:ext cx="2286000" cy="0"/>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2311400" y="4838700"/>
            <a:ext cx="1104900" cy="6350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1287272" y="5397964"/>
            <a:ext cx="2547492" cy="369332"/>
          </a:xfrm>
          <a:prstGeom prst="rect">
            <a:avLst/>
          </a:prstGeom>
          <a:noFill/>
        </p:spPr>
        <p:txBody>
          <a:bodyPr wrap="none" rtlCol="0">
            <a:spAutoFit/>
          </a:bodyPr>
          <a:lstStyle/>
          <a:p>
            <a:r>
              <a:rPr lang="en-GB" b="1" dirty="0"/>
              <a:t>Requirements Loop</a:t>
            </a:r>
          </a:p>
        </p:txBody>
      </p:sp>
      <p:cxnSp>
        <p:nvCxnSpPr>
          <p:cNvPr id="20" name="Straight Arrow Connector 19"/>
          <p:cNvCxnSpPr/>
          <p:nvPr/>
        </p:nvCxnSpPr>
        <p:spPr>
          <a:xfrm flipH="1" flipV="1">
            <a:off x="7683500" y="4267555"/>
            <a:ext cx="939800" cy="106568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7827900" y="5333238"/>
            <a:ext cx="2547492" cy="369332"/>
          </a:xfrm>
          <a:prstGeom prst="rect">
            <a:avLst/>
          </a:prstGeom>
          <a:noFill/>
        </p:spPr>
        <p:txBody>
          <a:bodyPr wrap="square" rtlCol="0">
            <a:spAutoFit/>
          </a:bodyPr>
          <a:lstStyle/>
          <a:p>
            <a:r>
              <a:rPr lang="en-GB" b="1" dirty="0"/>
              <a:t>Design Loop</a:t>
            </a:r>
          </a:p>
        </p:txBody>
      </p:sp>
      <p:sp>
        <p:nvSpPr>
          <p:cNvPr id="25" name="TextBox 24"/>
          <p:cNvSpPr txBox="1"/>
          <p:nvPr/>
        </p:nvSpPr>
        <p:spPr>
          <a:xfrm>
            <a:off x="240880" y="5680229"/>
            <a:ext cx="5867312" cy="646331"/>
          </a:xfrm>
          <a:prstGeom prst="rect">
            <a:avLst/>
          </a:prstGeom>
          <a:noFill/>
        </p:spPr>
        <p:txBody>
          <a:bodyPr wrap="none" rtlCol="0">
            <a:spAutoFit/>
          </a:bodyPr>
          <a:lstStyle/>
          <a:p>
            <a:r>
              <a:rPr lang="en-GB" dirty="0"/>
              <a:t>Actions system must perform and performance limits</a:t>
            </a:r>
          </a:p>
          <a:p>
            <a:r>
              <a:rPr lang="en-GB" dirty="0"/>
              <a:t>Restrictions or other imposed constraints</a:t>
            </a:r>
          </a:p>
        </p:txBody>
      </p:sp>
      <p:sp>
        <p:nvSpPr>
          <p:cNvPr id="26" name="TextBox 25"/>
          <p:cNvSpPr txBox="1"/>
          <p:nvPr/>
        </p:nvSpPr>
        <p:spPr>
          <a:xfrm>
            <a:off x="6548437" y="5696543"/>
            <a:ext cx="4687502" cy="646331"/>
          </a:xfrm>
          <a:prstGeom prst="rect">
            <a:avLst/>
          </a:prstGeom>
          <a:noFill/>
        </p:spPr>
        <p:txBody>
          <a:bodyPr wrap="none" rtlCol="0">
            <a:spAutoFit/>
          </a:bodyPr>
          <a:lstStyle/>
          <a:p>
            <a:r>
              <a:rPr lang="en-GB" dirty="0"/>
              <a:t>How system functions are to be performed</a:t>
            </a:r>
          </a:p>
          <a:p>
            <a:r>
              <a:rPr lang="en-GB" dirty="0"/>
              <a:t>Typically multiple alternatives</a:t>
            </a:r>
          </a:p>
        </p:txBody>
      </p:sp>
      <p:cxnSp>
        <p:nvCxnSpPr>
          <p:cNvPr id="28" name="Straight Connector 27"/>
          <p:cNvCxnSpPr/>
          <p:nvPr/>
        </p:nvCxnSpPr>
        <p:spPr>
          <a:xfrm>
            <a:off x="6273800" y="5156200"/>
            <a:ext cx="12700" cy="148590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539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up)">
                                      <p:cBhvr>
                                        <p:cTn id="11" dur="500"/>
                                        <p:tgtEl>
                                          <p:spTgt spid="6"/>
                                        </p:tgtEl>
                                      </p:cBhvr>
                                    </p:animEffect>
                                  </p:childTnLst>
                                </p:cTn>
                              </p:par>
                            </p:childTnLst>
                          </p:cTn>
                        </p:par>
                        <p:par>
                          <p:cTn id="12" fill="hold">
                            <p:stCondLst>
                              <p:cond delay="1000"/>
                            </p:stCondLst>
                            <p:childTnLst>
                              <p:par>
                                <p:cTn id="13" presetID="22" presetClass="entr" presetSubtype="2" fill="hold"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right)">
                                      <p:cBhvr>
                                        <p:cTn id="15" dur="500"/>
                                        <p:tgtEl>
                                          <p:spTgt spid="7"/>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500"/>
                                        <p:tgtEl>
                                          <p:spTgt spid="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childTnLst>
                          </p:cTn>
                        </p:par>
                        <p:par>
                          <p:cTn id="24" fill="hold">
                            <p:stCondLst>
                              <p:cond delay="2500"/>
                            </p:stCondLst>
                            <p:childTnLst>
                              <p:par>
                                <p:cTn id="25" presetID="2" presetClass="entr" presetSubtype="12" fill="hold" nodeType="afterEffect">
                                  <p:stCondLst>
                                    <p:cond delay="0"/>
                                  </p:stCondLst>
                                  <p:childTnLst>
                                    <p:set>
                                      <p:cBhvr>
                                        <p:cTn id="26" dur="1" fill="hold">
                                          <p:stCondLst>
                                            <p:cond delay="0"/>
                                          </p:stCondLst>
                                        </p:cTn>
                                        <p:tgtEl>
                                          <p:spTgt spid="18"/>
                                        </p:tgtEl>
                                        <p:attrNameLst>
                                          <p:attrName>style.visibility</p:attrName>
                                        </p:attrNameLst>
                                      </p:cBhvr>
                                      <p:to>
                                        <p:strVal val="visible"/>
                                      </p:to>
                                    </p:set>
                                    <p:anim calcmode="lin" valueType="num">
                                      <p:cBhvr additive="base">
                                        <p:cTn id="27" dur="500" fill="hold"/>
                                        <p:tgtEl>
                                          <p:spTgt spid="18"/>
                                        </p:tgtEl>
                                        <p:attrNameLst>
                                          <p:attrName>ppt_x</p:attrName>
                                        </p:attrNameLst>
                                      </p:cBhvr>
                                      <p:tavLst>
                                        <p:tav tm="0">
                                          <p:val>
                                            <p:strVal val="0-#ppt_w/2"/>
                                          </p:val>
                                        </p:tav>
                                        <p:tav tm="100000">
                                          <p:val>
                                            <p:strVal val="#ppt_x"/>
                                          </p:val>
                                        </p:tav>
                                      </p:tavLst>
                                    </p:anim>
                                    <p:anim calcmode="lin" valueType="num">
                                      <p:cBhvr additive="base">
                                        <p:cTn id="28" dur="500" fill="hold"/>
                                        <p:tgtEl>
                                          <p:spTgt spid="18"/>
                                        </p:tgtEl>
                                        <p:attrNameLst>
                                          <p:attrName>ppt_y</p:attrName>
                                        </p:attrNameLst>
                                      </p:cBhvr>
                                      <p:tavLst>
                                        <p:tav tm="0">
                                          <p:val>
                                            <p:strVal val="1+#ppt_h/2"/>
                                          </p:val>
                                        </p:tav>
                                        <p:tav tm="100000">
                                          <p:val>
                                            <p:strVal val="#ppt_y"/>
                                          </p:val>
                                        </p:tav>
                                      </p:tavLst>
                                    </p:anim>
                                  </p:childTnLst>
                                </p:cTn>
                              </p:par>
                            </p:childTnLst>
                          </p:cTn>
                        </p:par>
                        <p:par>
                          <p:cTn id="29" fill="hold">
                            <p:stCondLst>
                              <p:cond delay="3000"/>
                            </p:stCondLst>
                            <p:childTnLst>
                              <p:par>
                                <p:cTn id="30" presetID="10" presetClass="entr" presetSubtype="0" fill="hold" grpId="0" nodeType="after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par>
                          <p:cTn id="33" fill="hold">
                            <p:stCondLst>
                              <p:cond delay="3500"/>
                            </p:stCondLst>
                            <p:childTnLst>
                              <p:par>
                                <p:cTn id="34" presetID="10" presetClass="entr" presetSubtype="0" fill="hold" grpId="0"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animEffect transition="in" filter="wipe(left)">
                                      <p:cBhvr>
                                        <p:cTn id="41" dur="500"/>
                                        <p:tgtEl>
                                          <p:spTgt spid="10"/>
                                        </p:tgtEl>
                                      </p:cBhvr>
                                    </p:animEffect>
                                  </p:childTnLst>
                                </p:cTn>
                              </p:par>
                            </p:childTnLst>
                          </p:cTn>
                        </p:par>
                        <p:par>
                          <p:cTn id="42" fill="hold">
                            <p:stCondLst>
                              <p:cond delay="500"/>
                            </p:stCondLst>
                            <p:childTnLst>
                              <p:par>
                                <p:cTn id="43" presetID="22" presetClass="entr" presetSubtype="1" fill="hold" nodeType="afterEffect">
                                  <p:stCondLst>
                                    <p:cond delay="0"/>
                                  </p:stCondLst>
                                  <p:childTnLst>
                                    <p:set>
                                      <p:cBhvr>
                                        <p:cTn id="44" dur="1" fill="hold">
                                          <p:stCondLst>
                                            <p:cond delay="0"/>
                                          </p:stCondLst>
                                        </p:cTn>
                                        <p:tgtEl>
                                          <p:spTgt spid="11"/>
                                        </p:tgtEl>
                                        <p:attrNameLst>
                                          <p:attrName>style.visibility</p:attrName>
                                        </p:attrNameLst>
                                      </p:cBhvr>
                                      <p:to>
                                        <p:strVal val="visible"/>
                                      </p:to>
                                    </p:set>
                                    <p:animEffect transition="in" filter="wipe(up)">
                                      <p:cBhvr>
                                        <p:cTn id="45" dur="500"/>
                                        <p:tgtEl>
                                          <p:spTgt spid="11"/>
                                        </p:tgtEl>
                                      </p:cBhvr>
                                    </p:animEffect>
                                  </p:childTnLst>
                                </p:cTn>
                              </p:par>
                            </p:childTnLst>
                          </p:cTn>
                        </p:par>
                        <p:par>
                          <p:cTn id="46" fill="hold">
                            <p:stCondLst>
                              <p:cond delay="1000"/>
                            </p:stCondLst>
                            <p:childTnLst>
                              <p:par>
                                <p:cTn id="47" presetID="22" presetClass="entr" presetSubtype="2" fill="hold" nodeType="after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wipe(right)">
                                      <p:cBhvr>
                                        <p:cTn id="49" dur="500"/>
                                        <p:tgtEl>
                                          <p:spTgt spid="12"/>
                                        </p:tgtEl>
                                      </p:cBhvr>
                                    </p:animEffect>
                                  </p:childTnLst>
                                </p:cTn>
                              </p:par>
                            </p:childTnLst>
                          </p:cTn>
                        </p:par>
                        <p:par>
                          <p:cTn id="50" fill="hold">
                            <p:stCondLst>
                              <p:cond delay="1500"/>
                            </p:stCondLst>
                            <p:childTnLst>
                              <p:par>
                                <p:cTn id="51" presetID="22" presetClass="entr" presetSubtype="4"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wipe(down)">
                                      <p:cBhvr>
                                        <p:cTn id="53" dur="500"/>
                                        <p:tgtEl>
                                          <p:spTgt spid="13"/>
                                        </p:tgtEl>
                                      </p:cBhvr>
                                    </p:animEffect>
                                  </p:childTnLst>
                                </p:cTn>
                              </p:par>
                            </p:childTnLst>
                          </p:cTn>
                        </p:par>
                        <p:par>
                          <p:cTn id="54" fill="hold">
                            <p:stCondLst>
                              <p:cond delay="2000"/>
                            </p:stCondLst>
                            <p:childTnLst>
                              <p:par>
                                <p:cTn id="55" presetID="22" presetClass="entr" presetSubtype="8" fill="hold" nodeType="after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par>
                          <p:cTn id="58" fill="hold">
                            <p:stCondLst>
                              <p:cond delay="2500"/>
                            </p:stCondLst>
                            <p:childTnLst>
                              <p:par>
                                <p:cTn id="59" presetID="2" presetClass="entr" presetSubtype="6" fill="hold" nodeType="after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1+#ppt_w/2"/>
                                          </p:val>
                                        </p:tav>
                                        <p:tav tm="100000">
                                          <p:val>
                                            <p:strVal val="#ppt_x"/>
                                          </p:val>
                                        </p:tav>
                                      </p:tavLst>
                                    </p:anim>
                                    <p:anim calcmode="lin" valueType="num">
                                      <p:cBhvr additive="base">
                                        <p:cTn id="62" dur="500" fill="hold"/>
                                        <p:tgtEl>
                                          <p:spTgt spid="20"/>
                                        </p:tgtEl>
                                        <p:attrNameLst>
                                          <p:attrName>ppt_y</p:attrName>
                                        </p:attrNameLst>
                                      </p:cBhvr>
                                      <p:tavLst>
                                        <p:tav tm="0">
                                          <p:val>
                                            <p:strVal val="1+#ppt_h/2"/>
                                          </p:val>
                                        </p:tav>
                                        <p:tav tm="100000">
                                          <p:val>
                                            <p:strVal val="#ppt_y"/>
                                          </p:val>
                                        </p:tav>
                                      </p:tavLst>
                                    </p:anim>
                                  </p:childTnLst>
                                </p:cTn>
                              </p:par>
                              <p:par>
                                <p:cTn id="63" presetID="1" presetClass="entr" presetSubtype="0" fill="hold" nodeType="withEffect">
                                  <p:stCondLst>
                                    <p:cond delay="0"/>
                                  </p:stCondLst>
                                  <p:childTnLst>
                                    <p:set>
                                      <p:cBhvr>
                                        <p:cTn id="64" dur="1" fill="hold">
                                          <p:stCondLst>
                                            <p:cond delay="0"/>
                                          </p:stCondLst>
                                        </p:cTn>
                                        <p:tgtEl>
                                          <p:spTgt spid="28"/>
                                        </p:tgtEl>
                                        <p:attrNameLst>
                                          <p:attrName>style.visibility</p:attrName>
                                        </p:attrNameLst>
                                      </p:cBhvr>
                                      <p:to>
                                        <p:strVal val="visible"/>
                                      </p:to>
                                    </p:set>
                                  </p:childTnLst>
                                </p:cTn>
                              </p:par>
                            </p:childTnLst>
                          </p:cTn>
                        </p:par>
                        <p:par>
                          <p:cTn id="65" fill="hold">
                            <p:stCondLst>
                              <p:cond delay="3000"/>
                            </p:stCondLst>
                            <p:childTnLst>
                              <p:par>
                                <p:cTn id="66" presetID="10" presetClass="entr" presetSubtype="0" fill="hold" grpId="0" nodeType="after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500"/>
                                        <p:tgtEl>
                                          <p:spTgt spid="21"/>
                                        </p:tgtEl>
                                      </p:cBhvr>
                                    </p:animEffect>
                                  </p:childTnLst>
                                </p:cTn>
                              </p:par>
                            </p:childTnLst>
                          </p:cTn>
                        </p:par>
                        <p:par>
                          <p:cTn id="69" fill="hold">
                            <p:stCondLst>
                              <p:cond delay="3500"/>
                            </p:stCondLst>
                            <p:childTnLst>
                              <p:par>
                                <p:cTn id="70" presetID="10" presetClass="entr" presetSubtype="0" fill="hold" grpId="0" nodeType="after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1" grpId="0"/>
      <p:bldP spid="25" grpId="0"/>
      <p:bldP spid="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Requirements flow-down</a:t>
            </a:r>
          </a:p>
        </p:txBody>
      </p:sp>
      <p:sp>
        <p:nvSpPr>
          <p:cNvPr id="3" name="Content Placeholder 2"/>
          <p:cNvSpPr>
            <a:spLocks noGrp="1"/>
          </p:cNvSpPr>
          <p:nvPr>
            <p:ph idx="1"/>
          </p:nvPr>
        </p:nvSpPr>
        <p:spPr>
          <a:xfrm>
            <a:off x="1261872" y="1828800"/>
            <a:ext cx="8595360" cy="4351337"/>
          </a:xfrm>
        </p:spPr>
        <p:txBody>
          <a:bodyPr/>
          <a:lstStyle/>
          <a:p>
            <a:pPr marL="0" indent="0">
              <a:buNone/>
            </a:pPr>
            <a:r>
              <a:rPr lang="en-GB" dirty="0"/>
              <a:t>Initially requirements are assigned to the system as a whole</a:t>
            </a:r>
          </a:p>
          <a:p>
            <a:pPr marL="0" indent="0">
              <a:buNone/>
            </a:pPr>
            <a:r>
              <a:rPr lang="en-GB" dirty="0"/>
              <a:t>As analysis proceeds, relevant requirements are assigned to F/U 1.0</a:t>
            </a:r>
          </a:p>
          <a:p>
            <a:r>
              <a:rPr lang="en-GB" dirty="0"/>
              <a:t>Includes interfacing requirements</a:t>
            </a:r>
          </a:p>
          <a:p>
            <a:endParaRPr lang="en-GB" dirty="0"/>
          </a:p>
          <a:p>
            <a:pPr marL="0" indent="0">
              <a:buNone/>
            </a:pPr>
            <a:r>
              <a:rPr lang="en-GB" dirty="0"/>
              <a:t>This allows system level requirements to be traced to “as implemented”</a:t>
            </a:r>
          </a:p>
        </p:txBody>
      </p:sp>
      <p:pic>
        <p:nvPicPr>
          <p:cNvPr id="7" name="Picture 6"/>
          <p:cNvPicPr>
            <a:picLocks noChangeAspect="1"/>
          </p:cNvPicPr>
          <p:nvPr/>
        </p:nvPicPr>
        <p:blipFill>
          <a:blip r:embed="rId2"/>
          <a:stretch>
            <a:fillRect/>
          </a:stretch>
        </p:blipFill>
        <p:spPr>
          <a:xfrm>
            <a:off x="6720808" y="4150278"/>
            <a:ext cx="4429792" cy="2604852"/>
          </a:xfrm>
          <a:prstGeom prst="rect">
            <a:avLst/>
          </a:prstGeom>
        </p:spPr>
      </p:pic>
    </p:spTree>
    <p:extLst>
      <p:ext uri="{BB962C8B-B14F-4D97-AF65-F5344CB8AC3E}">
        <p14:creationId xmlns:p14="http://schemas.microsoft.com/office/powerpoint/2010/main" val="413421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 toaster</a:t>
            </a:r>
          </a:p>
        </p:txBody>
      </p:sp>
      <p:sp>
        <p:nvSpPr>
          <p:cNvPr id="3" name="Content Placeholder 2"/>
          <p:cNvSpPr>
            <a:spLocks noGrp="1"/>
          </p:cNvSpPr>
          <p:nvPr>
            <p:ph idx="1"/>
          </p:nvPr>
        </p:nvSpPr>
        <p:spPr/>
        <p:txBody>
          <a:bodyPr/>
          <a:lstStyle/>
          <a:p>
            <a:r>
              <a:rPr lang="en-GB" dirty="0"/>
              <a:t>The system shall toast a maximum of two slices of bread to a user selected degree in no longer than 5 minutes.</a:t>
            </a:r>
          </a:p>
          <a:p>
            <a:r>
              <a:rPr lang="en-GB" dirty="0"/>
              <a:t>The system shall be connected to a 220Vrms 50Hz SANS 1204 plug socket.</a:t>
            </a:r>
          </a:p>
        </p:txBody>
      </p:sp>
      <p:pic>
        <p:nvPicPr>
          <p:cNvPr id="4" name="Picture 3"/>
          <p:cNvPicPr>
            <a:picLocks noChangeAspect="1"/>
          </p:cNvPicPr>
          <p:nvPr/>
        </p:nvPicPr>
        <p:blipFill>
          <a:blip r:embed="rId3"/>
          <a:stretch>
            <a:fillRect/>
          </a:stretch>
        </p:blipFill>
        <p:spPr>
          <a:xfrm>
            <a:off x="7505701" y="3208338"/>
            <a:ext cx="3649662" cy="3649662"/>
          </a:xfrm>
          <a:prstGeom prst="rect">
            <a:avLst/>
          </a:prstGeom>
        </p:spPr>
      </p:pic>
      <p:cxnSp>
        <p:nvCxnSpPr>
          <p:cNvPr id="12" name="Straight Connector 11"/>
          <p:cNvCxnSpPr/>
          <p:nvPr/>
        </p:nvCxnSpPr>
        <p:spPr>
          <a:xfrm flipH="1">
            <a:off x="673100" y="2081530"/>
            <a:ext cx="389636" cy="0"/>
          </a:xfrm>
          <a:prstGeom prst="line">
            <a:avLst/>
          </a:prstGeom>
          <a:ln w="57150" cap="rnd"/>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660400" y="2081530"/>
            <a:ext cx="0" cy="2833370"/>
          </a:xfrm>
          <a:prstGeom prst="line">
            <a:avLst/>
          </a:prstGeom>
          <a:ln w="57150" cap="rnd"/>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4"/>
          <a:stretch>
            <a:fillRect/>
          </a:stretch>
        </p:blipFill>
        <p:spPr>
          <a:xfrm>
            <a:off x="1062736" y="3786259"/>
            <a:ext cx="4771327" cy="2732809"/>
          </a:xfrm>
          <a:prstGeom prst="rect">
            <a:avLst/>
          </a:prstGeom>
        </p:spPr>
      </p:pic>
      <p:cxnSp>
        <p:nvCxnSpPr>
          <p:cNvPr id="18" name="Straight Arrow Connector 17"/>
          <p:cNvCxnSpPr/>
          <p:nvPr/>
        </p:nvCxnSpPr>
        <p:spPr>
          <a:xfrm>
            <a:off x="673100" y="4914900"/>
            <a:ext cx="194818" cy="194818"/>
          </a:xfrm>
          <a:prstGeom prst="straightConnector1">
            <a:avLst/>
          </a:prstGeom>
          <a:ln w="57150" cap="rnd">
            <a:tailEnd type="triangle"/>
          </a:ln>
        </p:spPr>
        <p:style>
          <a:lnRef idx="1">
            <a:schemeClr val="accent1"/>
          </a:lnRef>
          <a:fillRef idx="0">
            <a:schemeClr val="accent1"/>
          </a:fillRef>
          <a:effectRef idx="0">
            <a:schemeClr val="accent1"/>
          </a:effectRef>
          <a:fontRef idx="minor">
            <a:schemeClr val="tx1"/>
          </a:fontRef>
        </p:style>
      </p:cxnSp>
      <p:sp>
        <p:nvSpPr>
          <p:cNvPr id="22" name="Oval 21"/>
          <p:cNvSpPr/>
          <p:nvPr/>
        </p:nvSpPr>
        <p:spPr>
          <a:xfrm>
            <a:off x="946847" y="1952942"/>
            <a:ext cx="257175" cy="257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4" name="Straight Connector 23"/>
          <p:cNvCxnSpPr/>
          <p:nvPr/>
        </p:nvCxnSpPr>
        <p:spPr>
          <a:xfrm>
            <a:off x="6091872" y="3027363"/>
            <a:ext cx="6831" cy="1481137"/>
          </a:xfrm>
          <a:prstGeom prst="line">
            <a:avLst/>
          </a:prstGeom>
          <a:ln w="57150" cap="rnd"/>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4533900" y="4508500"/>
            <a:ext cx="1574291" cy="901700"/>
          </a:xfrm>
          <a:prstGeom prst="straightConnector1">
            <a:avLst/>
          </a:prstGeom>
          <a:ln w="57150" cap="rnd">
            <a:tailEnd type="triangle"/>
          </a:ln>
        </p:spPr>
        <p:style>
          <a:lnRef idx="1">
            <a:schemeClr val="accent1"/>
          </a:lnRef>
          <a:fillRef idx="0">
            <a:schemeClr val="accent1"/>
          </a:fillRef>
          <a:effectRef idx="0">
            <a:schemeClr val="accent1"/>
          </a:effectRef>
          <a:fontRef idx="minor">
            <a:schemeClr val="tx1"/>
          </a:fontRef>
        </p:style>
      </p:cxnSp>
      <p:sp>
        <p:nvSpPr>
          <p:cNvPr id="26" name="Oval 25"/>
          <p:cNvSpPr/>
          <p:nvPr/>
        </p:nvSpPr>
        <p:spPr>
          <a:xfrm>
            <a:off x="5979604" y="2951163"/>
            <a:ext cx="257175" cy="2571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514389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up)">
                                      <p:cBhvr>
                                        <p:cTn id="11" dur="500"/>
                                        <p:tgtEl>
                                          <p:spTgt spid="12"/>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wipe(up)">
                                      <p:cBhvr>
                                        <p:cTn id="24" dur="500"/>
                                        <p:tgtEl>
                                          <p:spTgt spid="26"/>
                                        </p:tgtEl>
                                      </p:cBhvr>
                                    </p:animEffect>
                                  </p:childTnLst>
                                </p:cTn>
                              </p:par>
                            </p:childTnLst>
                          </p:cTn>
                        </p:par>
                        <p:par>
                          <p:cTn id="25" fill="hold">
                            <p:stCondLst>
                              <p:cond delay="500"/>
                            </p:stCondLst>
                            <p:childTnLst>
                              <p:par>
                                <p:cTn id="26" presetID="22" presetClass="entr" presetSubtype="1"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up)">
                                      <p:cBhvr>
                                        <p:cTn id="28" dur="500"/>
                                        <p:tgtEl>
                                          <p:spTgt spid="24"/>
                                        </p:tgtEl>
                                      </p:cBhvr>
                                    </p:animEffect>
                                  </p:childTnLst>
                                </p:cTn>
                              </p:par>
                            </p:childTnLst>
                          </p:cTn>
                        </p:par>
                        <p:par>
                          <p:cTn id="29" fill="hold">
                            <p:stCondLst>
                              <p:cond delay="1000"/>
                            </p:stCondLst>
                            <p:childTnLst>
                              <p:par>
                                <p:cTn id="30" presetID="22" presetClass="entr" presetSubtype="1" fill="hold" nodeType="after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up)">
                                      <p:cBhvr>
                                        <p:cTn id="3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a:picLocks noChangeAspect="1"/>
          </p:cNvPicPr>
          <p:nvPr/>
        </p:nvPicPr>
        <p:blipFill>
          <a:blip r:embed="rId3"/>
          <a:stretch>
            <a:fillRect/>
          </a:stretch>
        </p:blipFill>
        <p:spPr>
          <a:xfrm>
            <a:off x="6794348" y="44786"/>
            <a:ext cx="4347487" cy="2490053"/>
          </a:xfrm>
          <a:prstGeom prst="rect">
            <a:avLst/>
          </a:prstGeom>
        </p:spPr>
      </p:pic>
      <p:sp>
        <p:nvSpPr>
          <p:cNvPr id="2" name="Title 1"/>
          <p:cNvSpPr>
            <a:spLocks noGrp="1"/>
          </p:cNvSpPr>
          <p:nvPr>
            <p:ph type="title"/>
          </p:nvPr>
        </p:nvSpPr>
        <p:spPr/>
        <p:txBody>
          <a:bodyPr/>
          <a:lstStyle/>
          <a:p>
            <a:r>
              <a:rPr lang="en-GB" dirty="0"/>
              <a:t>A small example</a:t>
            </a:r>
          </a:p>
        </p:txBody>
      </p:sp>
      <p:sp>
        <p:nvSpPr>
          <p:cNvPr id="6" name="Rectangular Callout 5"/>
          <p:cNvSpPr/>
          <p:nvPr/>
        </p:nvSpPr>
        <p:spPr>
          <a:xfrm>
            <a:off x="317500" y="1732280"/>
            <a:ext cx="2959100" cy="1378052"/>
          </a:xfrm>
          <a:prstGeom prst="wedgeRectCallout">
            <a:avLst>
              <a:gd name="adj1" fmla="val 98051"/>
              <a:gd name="adj2" fmla="val 13438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For all of these functions F/U 1.0 will need to respond</a:t>
            </a:r>
          </a:p>
        </p:txBody>
      </p:sp>
      <p:sp>
        <p:nvSpPr>
          <p:cNvPr id="7" name="Rectangular Callout 6"/>
          <p:cNvSpPr/>
          <p:nvPr/>
        </p:nvSpPr>
        <p:spPr>
          <a:xfrm>
            <a:off x="4006644" y="1969611"/>
            <a:ext cx="2101548" cy="1378052"/>
          </a:xfrm>
          <a:prstGeom prst="wedgeRectCallout">
            <a:avLst>
              <a:gd name="adj1" fmla="val 140173"/>
              <a:gd name="adj2" fmla="val -508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So you are in effect placing requirements on “My Toasting</a:t>
            </a:r>
          </a:p>
          <a:p>
            <a:pPr algn="ctr"/>
            <a:r>
              <a:rPr lang="en-GB" dirty="0"/>
              <a:t>Device”</a:t>
            </a:r>
          </a:p>
        </p:txBody>
      </p:sp>
      <p:pic>
        <p:nvPicPr>
          <p:cNvPr id="12" name="Picture 11"/>
          <p:cNvPicPr>
            <a:picLocks noChangeAspect="1"/>
          </p:cNvPicPr>
          <p:nvPr/>
        </p:nvPicPr>
        <p:blipFill>
          <a:blip r:embed="rId4"/>
          <a:stretch>
            <a:fillRect/>
          </a:stretch>
        </p:blipFill>
        <p:spPr>
          <a:xfrm>
            <a:off x="-1" y="3713654"/>
            <a:ext cx="11461285" cy="3144346"/>
          </a:xfrm>
          <a:prstGeom prst="rect">
            <a:avLst/>
          </a:prstGeom>
        </p:spPr>
      </p:pic>
      <p:sp>
        <p:nvSpPr>
          <p:cNvPr id="8" name="TextBox 7"/>
          <p:cNvSpPr txBox="1"/>
          <p:nvPr/>
        </p:nvSpPr>
        <p:spPr>
          <a:xfrm>
            <a:off x="8664779" y="2125835"/>
            <a:ext cx="3526549" cy="2308324"/>
          </a:xfrm>
          <a:prstGeom prst="rect">
            <a:avLst/>
          </a:prstGeom>
          <a:solidFill>
            <a:srgbClr val="FFFF00"/>
          </a:solidFill>
          <a:effectLst>
            <a:glow rad="101600">
              <a:schemeClr val="accent3">
                <a:satMod val="175000"/>
                <a:alpha val="40000"/>
              </a:schemeClr>
            </a:glow>
          </a:effectLst>
        </p:spPr>
        <p:txBody>
          <a:bodyPr wrap="square" rtlCol="0">
            <a:spAutoFit/>
          </a:bodyPr>
          <a:lstStyle/>
          <a:p>
            <a:r>
              <a:rPr lang="en-GB" b="1" dirty="0"/>
              <a:t>Requirements for F/U 1.0</a:t>
            </a:r>
          </a:p>
          <a:p>
            <a:pPr marL="285750" indent="-285750">
              <a:buFont typeface="Arial" panose="020B0604020202020204" pitchFamily="34" charset="0"/>
              <a:buChar char="•"/>
            </a:pPr>
            <a:r>
              <a:rPr lang="en-GB" dirty="0"/>
              <a:t>Display options to user</a:t>
            </a:r>
          </a:p>
          <a:p>
            <a:pPr marL="285750" indent="-285750">
              <a:buFont typeface="Arial" panose="020B0604020202020204" pitchFamily="34" charset="0"/>
              <a:buChar char="•"/>
            </a:pPr>
            <a:r>
              <a:rPr lang="en-GB" dirty="0"/>
              <a:t>Capture user selection</a:t>
            </a:r>
          </a:p>
          <a:p>
            <a:pPr marL="285750" indent="-285750">
              <a:buFont typeface="Arial" panose="020B0604020202020204" pitchFamily="34" charset="0"/>
              <a:buChar char="•"/>
            </a:pPr>
            <a:r>
              <a:rPr lang="en-GB" dirty="0"/>
              <a:t>Store user selections</a:t>
            </a:r>
          </a:p>
          <a:p>
            <a:pPr marL="285750" indent="-285750">
              <a:buFont typeface="Arial" panose="020B0604020202020204" pitchFamily="34" charset="0"/>
              <a:buChar char="•"/>
            </a:pPr>
            <a:r>
              <a:rPr lang="en-GB" dirty="0"/>
              <a:t>Capture “start of process”</a:t>
            </a:r>
          </a:p>
          <a:p>
            <a:pPr marL="285750" indent="-285750">
              <a:buFont typeface="Arial" panose="020B0604020202020204" pitchFamily="34" charset="0"/>
              <a:buChar char="•"/>
            </a:pPr>
            <a:r>
              <a:rPr lang="en-GB" dirty="0"/>
              <a:t>Perform process functions</a:t>
            </a:r>
          </a:p>
          <a:p>
            <a:pPr marL="285750" indent="-285750">
              <a:buFont typeface="Arial" panose="020B0604020202020204" pitchFamily="34" charset="0"/>
              <a:buChar char="•"/>
            </a:pPr>
            <a:r>
              <a:rPr lang="en-GB" dirty="0"/>
              <a:t>Indicate status of process</a:t>
            </a:r>
          </a:p>
          <a:p>
            <a:endParaRPr lang="en-GB" dirty="0"/>
          </a:p>
        </p:txBody>
      </p:sp>
      <p:cxnSp>
        <p:nvCxnSpPr>
          <p:cNvPr id="14" name="Straight Arrow Connector 13"/>
          <p:cNvCxnSpPr/>
          <p:nvPr/>
        </p:nvCxnSpPr>
        <p:spPr>
          <a:xfrm flipV="1">
            <a:off x="3429000" y="2110869"/>
            <a:ext cx="5098786" cy="227063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3416300" y="2125835"/>
            <a:ext cx="5111486" cy="280176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3276600" y="2125835"/>
            <a:ext cx="5251186" cy="367806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5549900" y="2125835"/>
            <a:ext cx="2977886" cy="316775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flipV="1">
            <a:off x="7378700" y="2125835"/>
            <a:ext cx="1149086" cy="233925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flipV="1">
            <a:off x="7409797" y="2141685"/>
            <a:ext cx="1117989" cy="322066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8476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down)">
                                      <p:cBhvr>
                                        <p:cTn id="11" dur="500"/>
                                        <p:tgtEl>
                                          <p:spTgt spid="14"/>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down)">
                                      <p:cBhvr>
                                        <p:cTn id="15" dur="500"/>
                                        <p:tgtEl>
                                          <p:spTgt spid="16"/>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down)">
                                      <p:cBhvr>
                                        <p:cTn id="19" dur="500"/>
                                        <p:tgtEl>
                                          <p:spTgt spid="18"/>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25"/>
                                        </p:tgtEl>
                                        <p:attrNameLst>
                                          <p:attrName>style.visibility</p:attrName>
                                        </p:attrNameLst>
                                      </p:cBhvr>
                                      <p:to>
                                        <p:strVal val="visible"/>
                                      </p:to>
                                    </p:set>
                                    <p:animEffect transition="in" filter="wipe(down)">
                                      <p:cBhvr>
                                        <p:cTn id="23" dur="500"/>
                                        <p:tgtEl>
                                          <p:spTgt spid="25"/>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down)">
                                      <p:cBhvr>
                                        <p:cTn id="27" dur="500"/>
                                        <p:tgtEl>
                                          <p:spTgt spid="27"/>
                                        </p:tgtEl>
                                      </p:cBhvr>
                                    </p:animEffect>
                                  </p:childTnLst>
                                </p:cTn>
                              </p:par>
                            </p:childTnLst>
                          </p:cTn>
                        </p:par>
                        <p:par>
                          <p:cTn id="28" fill="hold">
                            <p:stCondLst>
                              <p:cond delay="3000"/>
                            </p:stCondLst>
                            <p:childTnLst>
                              <p:par>
                                <p:cTn id="29" presetID="22" presetClass="entr" presetSubtype="4"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down)">
                                      <p:cBhvr>
                                        <p:cTn id="31" dur="500"/>
                                        <p:tgtEl>
                                          <p:spTgt spid="29"/>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14" presetClass="entr" presetSubtype="1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randombar(horizontal)">
                                      <p:cBhvr>
                                        <p:cTn id="4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2394857" y="139386"/>
            <a:ext cx="9797143" cy="2687797"/>
          </a:xfrm>
          <a:prstGeom prst="rect">
            <a:avLst/>
          </a:prstGeom>
        </p:spPr>
      </p:pic>
      <p:cxnSp>
        <p:nvCxnSpPr>
          <p:cNvPr id="7" name="Straight Arrow Connector 6"/>
          <p:cNvCxnSpPr/>
          <p:nvPr/>
        </p:nvCxnSpPr>
        <p:spPr>
          <a:xfrm flipH="1">
            <a:off x="5715000" y="825500"/>
            <a:ext cx="2781300" cy="195580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rot="19495582">
            <a:off x="5335813" y="2019924"/>
            <a:ext cx="1741182" cy="369332"/>
          </a:xfrm>
          <a:prstGeom prst="rect">
            <a:avLst/>
          </a:prstGeom>
          <a:noFill/>
        </p:spPr>
        <p:txBody>
          <a:bodyPr wrap="none" rtlCol="0">
            <a:spAutoFit/>
          </a:bodyPr>
          <a:lstStyle/>
          <a:p>
            <a:r>
              <a:rPr lang="en-GB" dirty="0">
                <a:solidFill>
                  <a:srgbClr val="FF0000"/>
                </a:solidFill>
              </a:rPr>
              <a:t>DECOMPOSE</a:t>
            </a:r>
          </a:p>
        </p:txBody>
      </p:sp>
      <p:cxnSp>
        <p:nvCxnSpPr>
          <p:cNvPr id="9" name="Straight Arrow Connector 8"/>
          <p:cNvCxnSpPr/>
          <p:nvPr/>
        </p:nvCxnSpPr>
        <p:spPr>
          <a:xfrm>
            <a:off x="5685754" y="4533900"/>
            <a:ext cx="1552173"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7399708" y="3916139"/>
            <a:ext cx="3547259" cy="1235522"/>
            <a:chOff x="7335313" y="3550187"/>
            <a:chExt cx="3547259" cy="1235522"/>
          </a:xfrm>
        </p:grpSpPr>
        <p:sp>
          <p:nvSpPr>
            <p:cNvPr id="11" name="TextBox 10"/>
            <p:cNvSpPr txBox="1"/>
            <p:nvPr/>
          </p:nvSpPr>
          <p:spPr>
            <a:xfrm>
              <a:off x="7903871" y="3619814"/>
              <a:ext cx="2978701" cy="369332"/>
            </a:xfrm>
            <a:prstGeom prst="rect">
              <a:avLst/>
            </a:prstGeom>
            <a:noFill/>
          </p:spPr>
          <p:txBody>
            <a:bodyPr wrap="none" rtlCol="0">
              <a:spAutoFit/>
            </a:bodyPr>
            <a:lstStyle/>
            <a:p>
              <a:r>
                <a:rPr lang="en-GB" dirty="0"/>
                <a:t>Ask “How” / “With What?”</a:t>
              </a:r>
            </a:p>
          </p:txBody>
        </p:sp>
        <p:sp>
          <p:nvSpPr>
            <p:cNvPr id="12" name="TextBox 11"/>
            <p:cNvSpPr txBox="1"/>
            <p:nvPr/>
          </p:nvSpPr>
          <p:spPr>
            <a:xfrm>
              <a:off x="7903871" y="4349234"/>
              <a:ext cx="2339102" cy="369332"/>
            </a:xfrm>
            <a:prstGeom prst="rect">
              <a:avLst/>
            </a:prstGeom>
            <a:noFill/>
          </p:spPr>
          <p:txBody>
            <a:bodyPr wrap="none" rtlCol="0">
              <a:spAutoFit/>
            </a:bodyPr>
            <a:lstStyle/>
            <a:p>
              <a:r>
                <a:rPr lang="en-GB" dirty="0"/>
                <a:t>Update architecture</a:t>
              </a:r>
            </a:p>
          </p:txBody>
        </p:sp>
        <p:sp>
          <p:nvSpPr>
            <p:cNvPr id="13" name="Oval 12"/>
            <p:cNvSpPr/>
            <p:nvPr/>
          </p:nvSpPr>
          <p:spPr>
            <a:xfrm>
              <a:off x="7335313" y="3550187"/>
              <a:ext cx="503618" cy="50361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1</a:t>
              </a:r>
            </a:p>
          </p:txBody>
        </p:sp>
        <p:sp>
          <p:nvSpPr>
            <p:cNvPr id="14" name="Oval 13"/>
            <p:cNvSpPr/>
            <p:nvPr/>
          </p:nvSpPr>
          <p:spPr>
            <a:xfrm>
              <a:off x="7335313" y="4282091"/>
              <a:ext cx="503618" cy="503618"/>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2</a:t>
              </a:r>
            </a:p>
          </p:txBody>
        </p:sp>
      </p:grpSp>
      <p:pic>
        <p:nvPicPr>
          <p:cNvPr id="21" name="Picture 20"/>
          <p:cNvPicPr>
            <a:picLocks noChangeAspect="1"/>
          </p:cNvPicPr>
          <p:nvPr/>
        </p:nvPicPr>
        <p:blipFill>
          <a:blip r:embed="rId4"/>
          <a:stretch>
            <a:fillRect/>
          </a:stretch>
        </p:blipFill>
        <p:spPr>
          <a:xfrm>
            <a:off x="0" y="2582780"/>
            <a:ext cx="7089276" cy="4285072"/>
          </a:xfrm>
          <a:prstGeom prst="rect">
            <a:avLst/>
          </a:prstGeom>
        </p:spPr>
      </p:pic>
      <p:sp>
        <p:nvSpPr>
          <p:cNvPr id="22" name="TextBox 21"/>
          <p:cNvSpPr txBox="1"/>
          <p:nvPr/>
        </p:nvSpPr>
        <p:spPr>
          <a:xfrm>
            <a:off x="7993914" y="3328631"/>
            <a:ext cx="2313454" cy="369332"/>
          </a:xfrm>
          <a:prstGeom prst="rect">
            <a:avLst/>
          </a:prstGeom>
          <a:noFill/>
        </p:spPr>
        <p:txBody>
          <a:bodyPr wrap="none" rtlCol="0">
            <a:spAutoFit/>
          </a:bodyPr>
          <a:lstStyle/>
          <a:p>
            <a:r>
              <a:rPr lang="en-GB" b="1" dirty="0">
                <a:solidFill>
                  <a:srgbClr val="FF0000"/>
                </a:solidFill>
              </a:rPr>
              <a:t>CLASS ACTIVITY</a:t>
            </a:r>
          </a:p>
        </p:txBody>
      </p:sp>
    </p:spTree>
    <p:extLst>
      <p:ext uri="{BB962C8B-B14F-4D97-AF65-F5344CB8AC3E}">
        <p14:creationId xmlns:p14="http://schemas.microsoft.com/office/powerpoint/2010/main" val="137341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up)">
                                      <p:cBhvr>
                                        <p:cTn id="10" dur="500"/>
                                        <p:tgtEl>
                                          <p:spTgt spid="7"/>
                                        </p:tgtEl>
                                      </p:cBhvr>
                                    </p:animEffect>
                                  </p:childTnLst>
                                </p:cTn>
                              </p:par>
                            </p:childTnLst>
                          </p:cTn>
                        </p:par>
                        <p:par>
                          <p:cTn id="11" fill="hold">
                            <p:stCondLst>
                              <p:cond delay="500"/>
                            </p:stCondLst>
                            <p:childTnLst>
                              <p:par>
                                <p:cTn id="12" presetID="2" presetClass="entr" presetSubtype="3" fill="hold" nodeType="afterEffect">
                                  <p:stCondLst>
                                    <p:cond delay="0"/>
                                  </p:stCondLst>
                                  <p:childTnLst>
                                    <p:set>
                                      <p:cBhvr>
                                        <p:cTn id="13" dur="1" fill="hold">
                                          <p:stCondLst>
                                            <p:cond delay="0"/>
                                          </p:stCondLst>
                                        </p:cTn>
                                        <p:tgtEl>
                                          <p:spTgt spid="21"/>
                                        </p:tgtEl>
                                        <p:attrNameLst>
                                          <p:attrName>style.visibility</p:attrName>
                                        </p:attrNameLst>
                                      </p:cBhvr>
                                      <p:to>
                                        <p:strVal val="visible"/>
                                      </p:to>
                                    </p:set>
                                    <p:anim calcmode="lin" valueType="num">
                                      <p:cBhvr additive="base">
                                        <p:cTn id="14" dur="500" fill="hold"/>
                                        <p:tgtEl>
                                          <p:spTgt spid="21"/>
                                        </p:tgtEl>
                                        <p:attrNameLst>
                                          <p:attrName>ppt_x</p:attrName>
                                        </p:attrNameLst>
                                      </p:cBhvr>
                                      <p:tavLst>
                                        <p:tav tm="0">
                                          <p:val>
                                            <p:strVal val="1+#ppt_w/2"/>
                                          </p:val>
                                        </p:tav>
                                        <p:tav tm="100000">
                                          <p:val>
                                            <p:strVal val="#ppt_x"/>
                                          </p:val>
                                        </p:tav>
                                      </p:tavLst>
                                    </p:anim>
                                    <p:anim calcmode="lin" valueType="num">
                                      <p:cBhvr additive="base">
                                        <p:cTn id="15"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0-#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0-#ppt_w/2"/>
                                          </p:val>
                                        </p:tav>
                                        <p:tav tm="100000">
                                          <p:val>
                                            <p:strVal val="#ppt_x"/>
                                          </p:val>
                                        </p:tav>
                                      </p:tavLst>
                                    </p:anim>
                                    <p:anim calcmode="lin" valueType="num">
                                      <p:cBhvr additive="base">
                                        <p:cTn id="25" dur="500" fill="hold"/>
                                        <p:tgtEl>
                                          <p:spTgt spid="16"/>
                                        </p:tgtEl>
                                        <p:attrNameLst>
                                          <p:attrName>ppt_y</p:attrName>
                                        </p:attrNameLst>
                                      </p:cBhvr>
                                      <p:tavLst>
                                        <p:tav tm="0">
                                          <p:val>
                                            <p:strVal val="#ppt_y"/>
                                          </p:val>
                                        </p:tav>
                                        <p:tav tm="100000">
                                          <p:val>
                                            <p:strVal val="#ppt_y"/>
                                          </p:val>
                                        </p:tav>
                                      </p:tavLst>
                                    </p:anim>
                                  </p:childTnLst>
                                </p:cTn>
                              </p:par>
                              <p:par>
                                <p:cTn id="26" presetID="2" presetClass="entr" presetSubtype="8"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anim calcmode="lin" valueType="num">
                                      <p:cBhvr additive="base">
                                        <p:cTn id="28" dur="500" fill="hold"/>
                                        <p:tgtEl>
                                          <p:spTgt spid="22"/>
                                        </p:tgtEl>
                                        <p:attrNameLst>
                                          <p:attrName>ppt_x</p:attrName>
                                        </p:attrNameLst>
                                      </p:cBhvr>
                                      <p:tavLst>
                                        <p:tav tm="0">
                                          <p:val>
                                            <p:strVal val="0-#ppt_w/2"/>
                                          </p:val>
                                        </p:tav>
                                        <p:tav tm="100000">
                                          <p:val>
                                            <p:strVal val="#ppt_x"/>
                                          </p:val>
                                        </p:tav>
                                      </p:tavLst>
                                    </p:anim>
                                    <p:anim calcmode="lin" valueType="num">
                                      <p:cBhvr additive="base">
                                        <p:cTn id="29" dur="500" fill="hold"/>
                                        <p:tgtEl>
                                          <p:spTgt spid="2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0"/>
            <a:ext cx="11345961" cy="6858000"/>
          </a:xfrm>
          <a:prstGeom prst="rect">
            <a:avLst/>
          </a:prstGeom>
        </p:spPr>
      </p:pic>
      <p:sp>
        <p:nvSpPr>
          <p:cNvPr id="6" name="TextBox 5"/>
          <p:cNvSpPr txBox="1"/>
          <p:nvPr/>
        </p:nvSpPr>
        <p:spPr>
          <a:xfrm>
            <a:off x="8420100" y="0"/>
            <a:ext cx="3771900" cy="2031325"/>
          </a:xfrm>
          <a:prstGeom prst="rect">
            <a:avLst/>
          </a:prstGeom>
          <a:solidFill>
            <a:srgbClr val="FFFF00"/>
          </a:solidFill>
          <a:effectLst>
            <a:glow rad="101600">
              <a:schemeClr val="accent3">
                <a:satMod val="175000"/>
                <a:alpha val="40000"/>
              </a:schemeClr>
            </a:glow>
          </a:effectLst>
        </p:spPr>
        <p:txBody>
          <a:bodyPr wrap="square" rtlCol="0">
            <a:spAutoFit/>
          </a:bodyPr>
          <a:lstStyle/>
          <a:p>
            <a:r>
              <a:rPr lang="en-GB" b="1" dirty="0"/>
              <a:t>Requirements Analysis</a:t>
            </a:r>
          </a:p>
          <a:p>
            <a:r>
              <a:rPr lang="en-GB" dirty="0"/>
              <a:t>As an example consider F 3.5.8.4</a:t>
            </a:r>
          </a:p>
          <a:p>
            <a:endParaRPr lang="en-GB" dirty="0"/>
          </a:p>
          <a:p>
            <a:r>
              <a:rPr lang="en-GB" dirty="0"/>
              <a:t>Rate of temperature increase?</a:t>
            </a:r>
          </a:p>
          <a:p>
            <a:endParaRPr lang="en-GB" dirty="0"/>
          </a:p>
          <a:p>
            <a:r>
              <a:rPr lang="en-GB" dirty="0"/>
              <a:t>Maximum temperature?</a:t>
            </a:r>
          </a:p>
          <a:p>
            <a:endParaRPr lang="en-GB" dirty="0"/>
          </a:p>
        </p:txBody>
      </p:sp>
      <p:sp>
        <p:nvSpPr>
          <p:cNvPr id="13" name="Rectangular Callout 12"/>
          <p:cNvSpPr/>
          <p:nvPr/>
        </p:nvSpPr>
        <p:spPr>
          <a:xfrm>
            <a:off x="5213259" y="1754326"/>
            <a:ext cx="3067856" cy="1519707"/>
          </a:xfrm>
          <a:prstGeom prst="wedgeRectCallout">
            <a:avLst>
              <a:gd name="adj1" fmla="val -91261"/>
              <a:gd name="adj2" fmla="val 76059"/>
            </a:avLst>
          </a:prstGeom>
          <a:solidFill>
            <a:srgbClr val="FFFF0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dirty="0">
                <a:solidFill>
                  <a:schemeClr val="tx1"/>
                </a:solidFill>
              </a:rPr>
              <a:t>Toasting temperature shall not exceed 180 </a:t>
            </a:r>
            <a:r>
              <a:rPr lang="en-GB" dirty="0">
                <a:solidFill>
                  <a:schemeClr val="tx1"/>
                </a:solidFill>
                <a:latin typeface="Calibri" panose="020F0502020204030204" pitchFamily="34" charset="0"/>
                <a:cs typeface="Calibri" panose="020F0502020204030204" pitchFamily="34" charset="0"/>
              </a:rPr>
              <a:t>⁰C maximum  applied at a rate of 10 ⁰C/s when actively toasting.</a:t>
            </a:r>
          </a:p>
        </p:txBody>
      </p:sp>
    </p:spTree>
    <p:extLst>
      <p:ext uri="{BB962C8B-B14F-4D97-AF65-F5344CB8AC3E}">
        <p14:creationId xmlns:p14="http://schemas.microsoft.com/office/powerpoint/2010/main" val="1892233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799268" y="1333603"/>
            <a:ext cx="7096075" cy="5159000"/>
          </a:xfrm>
          <a:prstGeom prst="rect">
            <a:avLst/>
          </a:prstGeom>
        </p:spPr>
      </p:pic>
      <p:pic>
        <p:nvPicPr>
          <p:cNvPr id="6" name="Picture 5"/>
          <p:cNvPicPr>
            <a:picLocks noChangeAspect="1"/>
          </p:cNvPicPr>
          <p:nvPr/>
        </p:nvPicPr>
        <p:blipFill>
          <a:blip r:embed="rId3"/>
          <a:stretch>
            <a:fillRect/>
          </a:stretch>
        </p:blipFill>
        <p:spPr>
          <a:xfrm>
            <a:off x="290567" y="147504"/>
            <a:ext cx="3362678" cy="1925996"/>
          </a:xfrm>
          <a:prstGeom prst="rect">
            <a:avLst/>
          </a:prstGeom>
        </p:spPr>
      </p:pic>
      <p:cxnSp>
        <p:nvCxnSpPr>
          <p:cNvPr id="8" name="Straight Arrow Connector 7"/>
          <p:cNvCxnSpPr/>
          <p:nvPr/>
        </p:nvCxnSpPr>
        <p:spPr>
          <a:xfrm flipV="1">
            <a:off x="2305318" y="1691014"/>
            <a:ext cx="1941005" cy="8997"/>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799268" y="131812"/>
            <a:ext cx="3771900" cy="923330"/>
          </a:xfrm>
          <a:prstGeom prst="rect">
            <a:avLst/>
          </a:prstGeom>
          <a:solidFill>
            <a:srgbClr val="FFFF00"/>
          </a:solidFill>
          <a:effectLst>
            <a:glow rad="101600">
              <a:schemeClr val="accent3">
                <a:satMod val="175000"/>
                <a:alpha val="40000"/>
              </a:schemeClr>
            </a:glow>
          </a:effectLst>
        </p:spPr>
        <p:txBody>
          <a:bodyPr wrap="square" rtlCol="0">
            <a:spAutoFit/>
          </a:bodyPr>
          <a:lstStyle/>
          <a:p>
            <a:r>
              <a:rPr lang="en-GB" b="1" dirty="0"/>
              <a:t>IMPORTANT</a:t>
            </a:r>
          </a:p>
          <a:p>
            <a:r>
              <a:rPr lang="en-GB" dirty="0"/>
              <a:t>Traceability is maintained when decomposing to lower levels</a:t>
            </a:r>
          </a:p>
        </p:txBody>
      </p:sp>
    </p:spTree>
    <p:extLst>
      <p:ext uri="{BB962C8B-B14F-4D97-AF65-F5344CB8AC3E}">
        <p14:creationId xmlns:p14="http://schemas.microsoft.com/office/powerpoint/2010/main" val="328162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9"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Verify if we are on the right track</a:t>
            </a:r>
          </a:p>
        </p:txBody>
      </p:sp>
      <p:sp>
        <p:nvSpPr>
          <p:cNvPr id="3" name="Content Placeholder 2"/>
          <p:cNvSpPr>
            <a:spLocks noGrp="1"/>
          </p:cNvSpPr>
          <p:nvPr>
            <p:ph idx="1"/>
          </p:nvPr>
        </p:nvSpPr>
        <p:spPr/>
        <p:txBody>
          <a:bodyPr/>
          <a:lstStyle/>
          <a:p>
            <a:r>
              <a:rPr lang="en-GB" dirty="0"/>
              <a:t>Resource allocation seems to be OK…</a:t>
            </a:r>
          </a:p>
          <a:p>
            <a:endParaRPr lang="en-GB" dirty="0"/>
          </a:p>
        </p:txBody>
      </p:sp>
      <p:pic>
        <p:nvPicPr>
          <p:cNvPr id="5" name="Picture 4"/>
          <p:cNvPicPr>
            <a:picLocks noChangeAspect="1"/>
          </p:cNvPicPr>
          <p:nvPr/>
        </p:nvPicPr>
        <p:blipFill>
          <a:blip r:embed="rId2"/>
          <a:stretch>
            <a:fillRect/>
          </a:stretch>
        </p:blipFill>
        <p:spPr>
          <a:xfrm>
            <a:off x="5559552" y="2557462"/>
            <a:ext cx="5600700" cy="4181475"/>
          </a:xfrm>
          <a:prstGeom prst="rect">
            <a:avLst/>
          </a:prstGeom>
        </p:spPr>
      </p:pic>
      <p:sp>
        <p:nvSpPr>
          <p:cNvPr id="6" name="Rectangular Callout 5"/>
          <p:cNvSpPr/>
          <p:nvPr/>
        </p:nvSpPr>
        <p:spPr>
          <a:xfrm>
            <a:off x="5052124" y="3387144"/>
            <a:ext cx="2112135" cy="810124"/>
          </a:xfrm>
          <a:prstGeom prst="wedgeRectCallout">
            <a:avLst>
              <a:gd name="adj1" fmla="val 134044"/>
              <a:gd name="adj2" fmla="val -9995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Power supply is not used by any function?</a:t>
            </a:r>
          </a:p>
        </p:txBody>
      </p:sp>
    </p:spTree>
    <p:extLst>
      <p:ext uri="{BB962C8B-B14F-4D97-AF65-F5344CB8AC3E}">
        <p14:creationId xmlns:p14="http://schemas.microsoft.com/office/powerpoint/2010/main" val="3377028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Flow-down requirements</a:t>
            </a:r>
          </a:p>
        </p:txBody>
      </p:sp>
      <p:pic>
        <p:nvPicPr>
          <p:cNvPr id="4" name="Picture 3"/>
          <p:cNvPicPr>
            <a:picLocks noChangeAspect="1"/>
          </p:cNvPicPr>
          <p:nvPr/>
        </p:nvPicPr>
        <p:blipFill>
          <a:blip r:embed="rId2"/>
          <a:stretch>
            <a:fillRect/>
          </a:stretch>
        </p:blipFill>
        <p:spPr>
          <a:xfrm>
            <a:off x="4134118" y="1565423"/>
            <a:ext cx="7096075" cy="5159000"/>
          </a:xfrm>
          <a:prstGeom prst="rect">
            <a:avLst/>
          </a:prstGeom>
          <a:ln>
            <a:solidFill>
              <a:schemeClr val="bg1"/>
            </a:solidFill>
          </a:ln>
        </p:spPr>
      </p:pic>
      <p:sp>
        <p:nvSpPr>
          <p:cNvPr id="6" name="TextBox 5"/>
          <p:cNvSpPr txBox="1"/>
          <p:nvPr/>
        </p:nvSpPr>
        <p:spPr>
          <a:xfrm>
            <a:off x="8234022" y="196352"/>
            <a:ext cx="3771900" cy="1200329"/>
          </a:xfrm>
          <a:prstGeom prst="rect">
            <a:avLst/>
          </a:prstGeom>
          <a:solidFill>
            <a:srgbClr val="FFFF00"/>
          </a:solidFill>
          <a:effectLst>
            <a:glow rad="101600">
              <a:schemeClr val="accent3">
                <a:satMod val="175000"/>
                <a:alpha val="40000"/>
              </a:schemeClr>
            </a:glow>
          </a:effectLst>
        </p:spPr>
        <p:txBody>
          <a:bodyPr wrap="square" rtlCol="0">
            <a:spAutoFit/>
          </a:bodyPr>
          <a:lstStyle/>
          <a:p>
            <a:r>
              <a:rPr lang="en-GB" dirty="0"/>
              <a:t>Toasting temperature shall not exceed 180 </a:t>
            </a:r>
            <a:r>
              <a:rPr lang="en-GB" dirty="0">
                <a:latin typeface="Calibri" panose="020F0502020204030204" pitchFamily="34" charset="0"/>
                <a:cs typeface="Calibri" panose="020F0502020204030204" pitchFamily="34" charset="0"/>
              </a:rPr>
              <a:t>⁰C maximum  applied at a rate of 10 ⁰C/s when actively toasting.</a:t>
            </a:r>
          </a:p>
        </p:txBody>
      </p:sp>
      <p:sp>
        <p:nvSpPr>
          <p:cNvPr id="8" name="TextBox 7"/>
          <p:cNvSpPr txBox="1"/>
          <p:nvPr/>
        </p:nvSpPr>
        <p:spPr>
          <a:xfrm>
            <a:off x="362218" y="1860064"/>
            <a:ext cx="3771900" cy="369332"/>
          </a:xfrm>
          <a:prstGeom prst="rect">
            <a:avLst/>
          </a:prstGeom>
          <a:solidFill>
            <a:srgbClr val="FFC000"/>
          </a:solidFill>
          <a:effectLst>
            <a:glow rad="101600">
              <a:schemeClr val="accent3">
                <a:satMod val="175000"/>
                <a:alpha val="40000"/>
              </a:schemeClr>
            </a:glow>
          </a:effectLst>
        </p:spPr>
        <p:txBody>
          <a:bodyPr wrap="square" rtlCol="0">
            <a:spAutoFit/>
          </a:bodyPr>
          <a:lstStyle/>
          <a:p>
            <a:r>
              <a:rPr lang="en-GB" dirty="0"/>
              <a:t>Maximum temperature 180 </a:t>
            </a:r>
            <a:r>
              <a:rPr lang="en-GB" dirty="0">
                <a:latin typeface="Calibri" panose="020F0502020204030204" pitchFamily="34" charset="0"/>
                <a:cs typeface="Calibri" panose="020F0502020204030204" pitchFamily="34" charset="0"/>
              </a:rPr>
              <a:t>⁰C</a:t>
            </a:r>
          </a:p>
        </p:txBody>
      </p:sp>
      <p:sp>
        <p:nvSpPr>
          <p:cNvPr id="9" name="TextBox 8"/>
          <p:cNvSpPr txBox="1"/>
          <p:nvPr/>
        </p:nvSpPr>
        <p:spPr>
          <a:xfrm>
            <a:off x="362218" y="2890985"/>
            <a:ext cx="3771900" cy="369332"/>
          </a:xfrm>
          <a:prstGeom prst="rect">
            <a:avLst/>
          </a:prstGeom>
          <a:solidFill>
            <a:srgbClr val="7030A0"/>
          </a:solidFill>
          <a:effectLst>
            <a:glow rad="101600">
              <a:schemeClr val="accent3">
                <a:satMod val="175000"/>
                <a:alpha val="40000"/>
              </a:schemeClr>
            </a:glow>
          </a:effectLst>
        </p:spPr>
        <p:txBody>
          <a:bodyPr wrap="square" rtlCol="0">
            <a:spAutoFit/>
          </a:bodyPr>
          <a:lstStyle/>
          <a:p>
            <a:r>
              <a:rPr lang="en-GB" dirty="0">
                <a:solidFill>
                  <a:schemeClr val="bg1"/>
                </a:solidFill>
              </a:rPr>
              <a:t>Rate of change min 10</a:t>
            </a:r>
            <a:r>
              <a:rPr lang="en-GB" dirty="0">
                <a:solidFill>
                  <a:schemeClr val="bg1"/>
                </a:solidFill>
                <a:latin typeface="Calibri" panose="020F0502020204030204" pitchFamily="34" charset="0"/>
                <a:cs typeface="Calibri" panose="020F0502020204030204" pitchFamily="34" charset="0"/>
              </a:rPr>
              <a:t>⁰C/s</a:t>
            </a:r>
          </a:p>
        </p:txBody>
      </p:sp>
      <p:cxnSp>
        <p:nvCxnSpPr>
          <p:cNvPr id="11" name="Straight Arrow Connector 10"/>
          <p:cNvCxnSpPr>
            <a:stCxn id="8" idx="3"/>
          </p:cNvCxnSpPr>
          <p:nvPr/>
        </p:nvCxnSpPr>
        <p:spPr>
          <a:xfrm>
            <a:off x="4134118" y="2044730"/>
            <a:ext cx="4984124" cy="2359845"/>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p:cNvCxnSpPr>
          <p:nvPr/>
        </p:nvCxnSpPr>
        <p:spPr>
          <a:xfrm>
            <a:off x="4134118" y="2044730"/>
            <a:ext cx="6272012" cy="2100193"/>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8" idx="3"/>
          </p:cNvCxnSpPr>
          <p:nvPr/>
        </p:nvCxnSpPr>
        <p:spPr>
          <a:xfrm>
            <a:off x="4134118" y="2044730"/>
            <a:ext cx="4984124" cy="818405"/>
          </a:xfrm>
          <a:prstGeom prst="straightConnector1">
            <a:avLst/>
          </a:prstGeom>
          <a:ln w="76200">
            <a:solidFill>
              <a:srgbClr val="FFC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4134118" y="3075651"/>
            <a:ext cx="4984124" cy="1507516"/>
          </a:xfrm>
          <a:prstGeom prst="straightConnector1">
            <a:avLst/>
          </a:prstGeom>
          <a:ln w="7620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3322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par>
                                <p:cTn id="17" presetID="22" presetClass="entr" presetSubtype="8"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par>
                                <p:cTn id="20" presetID="22" presetClass="entr" presetSubtype="8"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wipe(left)">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par>
                          <p:cTn id="28" fill="hold">
                            <p:stCondLst>
                              <p:cond delay="500"/>
                            </p:stCondLst>
                            <p:childTnLst>
                              <p:par>
                                <p:cTn id="29" presetID="22" presetClass="entr" presetSubtype="8" fill="hold"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wipe(left)">
                                      <p:cBhvr>
                                        <p:cTn id="3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Wrap-up</a:t>
            </a:r>
          </a:p>
        </p:txBody>
      </p:sp>
      <p:sp>
        <p:nvSpPr>
          <p:cNvPr id="3" name="Content Placeholder 2"/>
          <p:cNvSpPr>
            <a:spLocks noGrp="1"/>
          </p:cNvSpPr>
          <p:nvPr>
            <p:ph idx="1"/>
          </p:nvPr>
        </p:nvSpPr>
        <p:spPr/>
        <p:txBody>
          <a:bodyPr/>
          <a:lstStyle/>
          <a:p>
            <a:r>
              <a:rPr lang="en-GB" dirty="0"/>
              <a:t>Discussed how requirements analysis is accomplished</a:t>
            </a:r>
          </a:p>
          <a:p>
            <a:r>
              <a:rPr lang="en-GB" dirty="0"/>
              <a:t>Seen how functional analysis can be used as a analysis / design tool</a:t>
            </a:r>
          </a:p>
          <a:p>
            <a:r>
              <a:rPr lang="en-GB" dirty="0"/>
              <a:t>Explored the basics of physical design</a:t>
            </a:r>
          </a:p>
          <a:p>
            <a:r>
              <a:rPr lang="en-GB" dirty="0"/>
              <a:t>Looked at resource allocation as a means of design validation</a:t>
            </a:r>
          </a:p>
          <a:p>
            <a:r>
              <a:rPr lang="en-GB" dirty="0"/>
              <a:t>Seen how requirements are flowed-down during decomposition</a:t>
            </a:r>
          </a:p>
        </p:txBody>
      </p:sp>
    </p:spTree>
    <p:extLst>
      <p:ext uri="{BB962C8B-B14F-4D97-AF65-F5344CB8AC3E}">
        <p14:creationId xmlns:p14="http://schemas.microsoft.com/office/powerpoint/2010/main" val="74677437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2451</TotalTime>
  <Words>1045</Words>
  <Application>Microsoft Office PowerPoint</Application>
  <PresentationFormat>Widescreen</PresentationFormat>
  <Paragraphs>155</Paragraphs>
  <Slides>17</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Century Schoolbook</vt:lpstr>
      <vt:lpstr>Wingdings 2</vt:lpstr>
      <vt:lpstr>View</vt:lpstr>
      <vt:lpstr>Design Synthesis</vt:lpstr>
      <vt:lpstr>Perspective</vt:lpstr>
      <vt:lpstr>Architectural Synthesis / Physical Design</vt:lpstr>
      <vt:lpstr>Aid understanding</vt:lpstr>
      <vt:lpstr>More questions</vt:lpstr>
      <vt:lpstr>Is the design valid?</vt:lpstr>
      <vt:lpstr>Resource Allocation</vt:lpstr>
      <vt:lpstr>Requirements / Design loops</vt:lpstr>
      <vt:lpstr>Requirements flow-down</vt:lpstr>
      <vt:lpstr>A toaster</vt:lpstr>
      <vt:lpstr>A small example</vt:lpstr>
      <vt:lpstr>PowerPoint Presentation</vt:lpstr>
      <vt:lpstr>PowerPoint Presentation</vt:lpstr>
      <vt:lpstr>PowerPoint Presentation</vt:lpstr>
      <vt:lpstr>Verify if we are on the right track</vt:lpstr>
      <vt:lpstr>Flow-down requirements</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 Systems</dc:title>
  <dc:creator>Henri Marais</dc:creator>
  <cp:lastModifiedBy>Henri Marais</cp:lastModifiedBy>
  <cp:revision>79</cp:revision>
  <dcterms:created xsi:type="dcterms:W3CDTF">2018-07-15T09:57:23Z</dcterms:created>
  <dcterms:modified xsi:type="dcterms:W3CDTF">2026-08-03T17:19:44Z</dcterms:modified>
</cp:coreProperties>
</file>