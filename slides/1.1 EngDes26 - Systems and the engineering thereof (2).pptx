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81" r:id="rId3"/>
    <p:sldId id="257" r:id="rId4"/>
    <p:sldId id="258" r:id="rId5"/>
    <p:sldId id="259" r:id="rId6"/>
    <p:sldId id="269" r:id="rId7"/>
    <p:sldId id="268" r:id="rId8"/>
    <p:sldId id="278" r:id="rId9"/>
    <p:sldId id="277" r:id="rId10"/>
    <p:sldId id="279" r:id="rId11"/>
    <p:sldId id="264" r:id="rId12"/>
    <p:sldId id="282" r:id="rId13"/>
    <p:sldId id="284" r:id="rId14"/>
    <p:sldId id="261" r:id="rId15"/>
    <p:sldId id="293" r:id="rId16"/>
    <p:sldId id="294" r:id="rId17"/>
    <p:sldId id="295" r:id="rId18"/>
    <p:sldId id="283" r:id="rId19"/>
    <p:sldId id="286" r:id="rId20"/>
    <p:sldId id="285" r:id="rId21"/>
    <p:sldId id="290" r:id="rId22"/>
    <p:sldId id="291" r:id="rId23"/>
    <p:sldId id="289" r:id="rId24"/>
    <p:sldId id="288" r:id="rId25"/>
    <p:sldId id="272" r:id="rId26"/>
    <p:sldId id="292"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51B9930-ECD7-46B8-B519-F5432702699D}">
          <p14:sldIdLst>
            <p14:sldId id="256"/>
          </p14:sldIdLst>
        </p14:section>
        <p14:section name="Systems Thinking" id="{CC263679-D2D0-47F6-9CDB-6737B5EF5F34}">
          <p14:sldIdLst>
            <p14:sldId id="281"/>
            <p14:sldId id="257"/>
            <p14:sldId id="258"/>
            <p14:sldId id="259"/>
            <p14:sldId id="269"/>
            <p14:sldId id="268"/>
            <p14:sldId id="278"/>
            <p14:sldId id="277"/>
            <p14:sldId id="279"/>
            <p14:sldId id="264"/>
            <p14:sldId id="282"/>
            <p14:sldId id="284"/>
          </p14:sldIdLst>
        </p14:section>
        <p14:section name="Engineering of Systems" id="{7E656E35-09E2-4008-BF13-A9885D8E546F}">
          <p14:sldIdLst>
            <p14:sldId id="261"/>
            <p14:sldId id="293"/>
            <p14:sldId id="294"/>
            <p14:sldId id="295"/>
            <p14:sldId id="283"/>
            <p14:sldId id="286"/>
            <p14:sldId id="285"/>
            <p14:sldId id="290"/>
            <p14:sldId id="291"/>
            <p14:sldId id="289"/>
            <p14:sldId id="288"/>
          </p14:sldIdLst>
        </p14:section>
        <p14:section name="Wrap-up" id="{FDCAC665-83E0-490A-A325-F199A447CCB0}">
          <p14:sldIdLst>
            <p14:sldId id="272"/>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145" autoAdjust="0"/>
  </p:normalViewPr>
  <p:slideViewPr>
    <p:cSldViewPr snapToGrid="0">
      <p:cViewPr varScale="1">
        <p:scale>
          <a:sx n="88" d="100"/>
          <a:sy n="88" d="100"/>
        </p:scale>
        <p:origin x="14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0CD5C2-D6F9-4B86-8D45-3C76FED2351E}" type="doc">
      <dgm:prSet loTypeId="urn:microsoft.com/office/officeart/2005/8/layout/process1" loCatId="process" qsTypeId="urn:microsoft.com/office/officeart/2005/8/quickstyle/simple1" qsCatId="simple" csTypeId="urn:microsoft.com/office/officeart/2005/8/colors/accent1_2" csCatId="accent1" phldr="1"/>
      <dgm:spPr/>
    </dgm:pt>
    <dgm:pt modelId="{077AC67A-DE8A-4077-ABD2-C3774B2584D8}">
      <dgm:prSet phldrT="[Text]"/>
      <dgm:spPr/>
      <dgm:t>
        <a:bodyPr/>
        <a:lstStyle/>
        <a:p>
          <a:r>
            <a:rPr lang="en-GB" dirty="0"/>
            <a:t>Take thing to be explained apart</a:t>
          </a:r>
        </a:p>
      </dgm:t>
    </dgm:pt>
    <dgm:pt modelId="{C6085DE9-924B-4C3F-BA3A-B738B2D7DD1F}" type="parTrans" cxnId="{AEC3D2C8-9CC0-45A5-AA98-8D8B7FDD1012}">
      <dgm:prSet/>
      <dgm:spPr/>
      <dgm:t>
        <a:bodyPr/>
        <a:lstStyle/>
        <a:p>
          <a:endParaRPr lang="en-GB"/>
        </a:p>
      </dgm:t>
    </dgm:pt>
    <dgm:pt modelId="{1C5F8383-B392-41DE-85EA-64ABC21E737E}" type="sibTrans" cxnId="{AEC3D2C8-9CC0-45A5-AA98-8D8B7FDD1012}">
      <dgm:prSet/>
      <dgm:spPr/>
      <dgm:t>
        <a:bodyPr/>
        <a:lstStyle/>
        <a:p>
          <a:endParaRPr lang="en-GB"/>
        </a:p>
      </dgm:t>
    </dgm:pt>
    <dgm:pt modelId="{D07162AD-140A-43F1-9182-DB092266D5FE}">
      <dgm:prSet phldrT="[Text]"/>
      <dgm:spPr/>
      <dgm:t>
        <a:bodyPr/>
        <a:lstStyle/>
        <a:p>
          <a:r>
            <a:rPr lang="en-GB" dirty="0"/>
            <a:t>Explain each of the components</a:t>
          </a:r>
        </a:p>
      </dgm:t>
    </dgm:pt>
    <dgm:pt modelId="{25E44AB2-C1D6-4D5E-8386-93DBAAE855CE}" type="parTrans" cxnId="{04AF7BC7-E206-4916-8897-9F7C10F4C240}">
      <dgm:prSet/>
      <dgm:spPr/>
      <dgm:t>
        <a:bodyPr/>
        <a:lstStyle/>
        <a:p>
          <a:endParaRPr lang="en-GB"/>
        </a:p>
      </dgm:t>
    </dgm:pt>
    <dgm:pt modelId="{588520A3-7F17-425F-B61A-3D56BBD0F655}" type="sibTrans" cxnId="{04AF7BC7-E206-4916-8897-9F7C10F4C240}">
      <dgm:prSet/>
      <dgm:spPr/>
      <dgm:t>
        <a:bodyPr/>
        <a:lstStyle/>
        <a:p>
          <a:endParaRPr lang="en-GB"/>
        </a:p>
      </dgm:t>
    </dgm:pt>
    <dgm:pt modelId="{4CC65879-3665-4CEA-8290-593E9E5B30B0}">
      <dgm:prSet phldrT="[Text]"/>
      <dgm:spPr/>
      <dgm:t>
        <a:bodyPr/>
        <a:lstStyle/>
        <a:p>
          <a:r>
            <a:rPr lang="en-GB" dirty="0"/>
            <a:t>Aggregate component descriptions</a:t>
          </a:r>
        </a:p>
      </dgm:t>
    </dgm:pt>
    <dgm:pt modelId="{8C5E8C12-5699-40BD-89DD-76B0923ADDF7}" type="parTrans" cxnId="{0DA41CCC-B8AC-45D5-9890-6F8A6CD1D7EE}">
      <dgm:prSet/>
      <dgm:spPr/>
      <dgm:t>
        <a:bodyPr/>
        <a:lstStyle/>
        <a:p>
          <a:endParaRPr lang="en-GB"/>
        </a:p>
      </dgm:t>
    </dgm:pt>
    <dgm:pt modelId="{6E32C4BE-0EDA-482C-9554-88096EA01183}" type="sibTrans" cxnId="{0DA41CCC-B8AC-45D5-9890-6F8A6CD1D7EE}">
      <dgm:prSet/>
      <dgm:spPr/>
      <dgm:t>
        <a:bodyPr/>
        <a:lstStyle/>
        <a:p>
          <a:endParaRPr lang="en-GB"/>
        </a:p>
      </dgm:t>
    </dgm:pt>
    <dgm:pt modelId="{4EB27FE3-6DAA-4056-A301-EDE056F0B088}" type="pres">
      <dgm:prSet presAssocID="{500CD5C2-D6F9-4B86-8D45-3C76FED2351E}" presName="Name0" presStyleCnt="0">
        <dgm:presLayoutVars>
          <dgm:dir/>
          <dgm:resizeHandles val="exact"/>
        </dgm:presLayoutVars>
      </dgm:prSet>
      <dgm:spPr/>
    </dgm:pt>
    <dgm:pt modelId="{18D90D49-3787-4A54-9466-5827B6037BC7}" type="pres">
      <dgm:prSet presAssocID="{077AC67A-DE8A-4077-ABD2-C3774B2584D8}" presName="node" presStyleLbl="node1" presStyleIdx="0" presStyleCnt="3">
        <dgm:presLayoutVars>
          <dgm:bulletEnabled val="1"/>
        </dgm:presLayoutVars>
      </dgm:prSet>
      <dgm:spPr/>
    </dgm:pt>
    <dgm:pt modelId="{71B5A048-D0C9-4417-ABD8-A4FFAC13211D}" type="pres">
      <dgm:prSet presAssocID="{1C5F8383-B392-41DE-85EA-64ABC21E737E}" presName="sibTrans" presStyleLbl="sibTrans2D1" presStyleIdx="0" presStyleCnt="2"/>
      <dgm:spPr/>
    </dgm:pt>
    <dgm:pt modelId="{1B7DB45C-0478-46B4-8F8D-2CFD1BA38090}" type="pres">
      <dgm:prSet presAssocID="{1C5F8383-B392-41DE-85EA-64ABC21E737E}" presName="connectorText" presStyleLbl="sibTrans2D1" presStyleIdx="0" presStyleCnt="2"/>
      <dgm:spPr/>
    </dgm:pt>
    <dgm:pt modelId="{38572BA1-0A8D-464A-877D-4446F9B879C6}" type="pres">
      <dgm:prSet presAssocID="{D07162AD-140A-43F1-9182-DB092266D5FE}" presName="node" presStyleLbl="node1" presStyleIdx="1" presStyleCnt="3">
        <dgm:presLayoutVars>
          <dgm:bulletEnabled val="1"/>
        </dgm:presLayoutVars>
      </dgm:prSet>
      <dgm:spPr/>
    </dgm:pt>
    <dgm:pt modelId="{FCB8688A-F7F1-4041-99B8-96BEABF486D6}" type="pres">
      <dgm:prSet presAssocID="{588520A3-7F17-425F-B61A-3D56BBD0F655}" presName="sibTrans" presStyleLbl="sibTrans2D1" presStyleIdx="1" presStyleCnt="2"/>
      <dgm:spPr/>
    </dgm:pt>
    <dgm:pt modelId="{2F0EA1D5-A795-4DD4-B1CA-3A3695013C62}" type="pres">
      <dgm:prSet presAssocID="{588520A3-7F17-425F-B61A-3D56BBD0F655}" presName="connectorText" presStyleLbl="sibTrans2D1" presStyleIdx="1" presStyleCnt="2"/>
      <dgm:spPr/>
    </dgm:pt>
    <dgm:pt modelId="{65561DB3-E495-4B50-B8B8-66B7A2E3D4AF}" type="pres">
      <dgm:prSet presAssocID="{4CC65879-3665-4CEA-8290-593E9E5B30B0}" presName="node" presStyleLbl="node1" presStyleIdx="2" presStyleCnt="3">
        <dgm:presLayoutVars>
          <dgm:bulletEnabled val="1"/>
        </dgm:presLayoutVars>
      </dgm:prSet>
      <dgm:spPr/>
    </dgm:pt>
  </dgm:ptLst>
  <dgm:cxnLst>
    <dgm:cxn modelId="{934A401F-9432-4D37-81D6-8DB0A58CB7E8}" type="presOf" srcId="{1C5F8383-B392-41DE-85EA-64ABC21E737E}" destId="{1B7DB45C-0478-46B4-8F8D-2CFD1BA38090}" srcOrd="1" destOrd="0" presId="urn:microsoft.com/office/officeart/2005/8/layout/process1"/>
    <dgm:cxn modelId="{8AB89320-205F-4D2C-A7F0-BB746CD9022F}" type="presOf" srcId="{077AC67A-DE8A-4077-ABD2-C3774B2584D8}" destId="{18D90D49-3787-4A54-9466-5827B6037BC7}" srcOrd="0" destOrd="0" presId="urn:microsoft.com/office/officeart/2005/8/layout/process1"/>
    <dgm:cxn modelId="{C8CCB432-880C-4C55-B7F3-24C91DACD63F}" type="presOf" srcId="{500CD5C2-D6F9-4B86-8D45-3C76FED2351E}" destId="{4EB27FE3-6DAA-4056-A301-EDE056F0B088}" srcOrd="0" destOrd="0" presId="urn:microsoft.com/office/officeart/2005/8/layout/process1"/>
    <dgm:cxn modelId="{D6A5003F-34E8-44DC-8108-5D2F395AEE96}" type="presOf" srcId="{4CC65879-3665-4CEA-8290-593E9E5B30B0}" destId="{65561DB3-E495-4B50-B8B8-66B7A2E3D4AF}" srcOrd="0" destOrd="0" presId="urn:microsoft.com/office/officeart/2005/8/layout/process1"/>
    <dgm:cxn modelId="{824F1781-9AC5-4A51-B744-A03E8E73F6EF}" type="presOf" srcId="{588520A3-7F17-425F-B61A-3D56BBD0F655}" destId="{FCB8688A-F7F1-4041-99B8-96BEABF486D6}" srcOrd="0" destOrd="0" presId="urn:microsoft.com/office/officeart/2005/8/layout/process1"/>
    <dgm:cxn modelId="{37BAA6A9-05A4-41F0-B410-81ED6628029F}" type="presOf" srcId="{1C5F8383-B392-41DE-85EA-64ABC21E737E}" destId="{71B5A048-D0C9-4417-ABD8-A4FFAC13211D}" srcOrd="0" destOrd="0" presId="urn:microsoft.com/office/officeart/2005/8/layout/process1"/>
    <dgm:cxn modelId="{45A5CFC3-CFF1-45A7-9436-2CD3E9204003}" type="presOf" srcId="{588520A3-7F17-425F-B61A-3D56BBD0F655}" destId="{2F0EA1D5-A795-4DD4-B1CA-3A3695013C62}" srcOrd="1" destOrd="0" presId="urn:microsoft.com/office/officeart/2005/8/layout/process1"/>
    <dgm:cxn modelId="{04AF7BC7-E206-4916-8897-9F7C10F4C240}" srcId="{500CD5C2-D6F9-4B86-8D45-3C76FED2351E}" destId="{D07162AD-140A-43F1-9182-DB092266D5FE}" srcOrd="1" destOrd="0" parTransId="{25E44AB2-C1D6-4D5E-8386-93DBAAE855CE}" sibTransId="{588520A3-7F17-425F-B61A-3D56BBD0F655}"/>
    <dgm:cxn modelId="{AEC3D2C8-9CC0-45A5-AA98-8D8B7FDD1012}" srcId="{500CD5C2-D6F9-4B86-8D45-3C76FED2351E}" destId="{077AC67A-DE8A-4077-ABD2-C3774B2584D8}" srcOrd="0" destOrd="0" parTransId="{C6085DE9-924B-4C3F-BA3A-B738B2D7DD1F}" sibTransId="{1C5F8383-B392-41DE-85EA-64ABC21E737E}"/>
    <dgm:cxn modelId="{0DA41CCC-B8AC-45D5-9890-6F8A6CD1D7EE}" srcId="{500CD5C2-D6F9-4B86-8D45-3C76FED2351E}" destId="{4CC65879-3665-4CEA-8290-593E9E5B30B0}" srcOrd="2" destOrd="0" parTransId="{8C5E8C12-5699-40BD-89DD-76B0923ADDF7}" sibTransId="{6E32C4BE-0EDA-482C-9554-88096EA01183}"/>
    <dgm:cxn modelId="{AADA92FD-BD1C-4E79-94A7-2BAB856F2FC5}" type="presOf" srcId="{D07162AD-140A-43F1-9182-DB092266D5FE}" destId="{38572BA1-0A8D-464A-877D-4446F9B879C6}" srcOrd="0" destOrd="0" presId="urn:microsoft.com/office/officeart/2005/8/layout/process1"/>
    <dgm:cxn modelId="{F54C1620-294E-44B7-986F-CED80F141CFE}" type="presParOf" srcId="{4EB27FE3-6DAA-4056-A301-EDE056F0B088}" destId="{18D90D49-3787-4A54-9466-5827B6037BC7}" srcOrd="0" destOrd="0" presId="urn:microsoft.com/office/officeart/2005/8/layout/process1"/>
    <dgm:cxn modelId="{04C58E23-D919-4C54-B100-1CB6228AB812}" type="presParOf" srcId="{4EB27FE3-6DAA-4056-A301-EDE056F0B088}" destId="{71B5A048-D0C9-4417-ABD8-A4FFAC13211D}" srcOrd="1" destOrd="0" presId="urn:microsoft.com/office/officeart/2005/8/layout/process1"/>
    <dgm:cxn modelId="{5A1C1431-6E82-4845-B79D-2F8D467A589A}" type="presParOf" srcId="{71B5A048-D0C9-4417-ABD8-A4FFAC13211D}" destId="{1B7DB45C-0478-46B4-8F8D-2CFD1BA38090}" srcOrd="0" destOrd="0" presId="urn:microsoft.com/office/officeart/2005/8/layout/process1"/>
    <dgm:cxn modelId="{A0CF0294-4DA1-4603-9EF9-89E892192C32}" type="presParOf" srcId="{4EB27FE3-6DAA-4056-A301-EDE056F0B088}" destId="{38572BA1-0A8D-464A-877D-4446F9B879C6}" srcOrd="2" destOrd="0" presId="urn:microsoft.com/office/officeart/2005/8/layout/process1"/>
    <dgm:cxn modelId="{CD0F510F-9DA4-4C9F-82CA-DCCE5709C807}" type="presParOf" srcId="{4EB27FE3-6DAA-4056-A301-EDE056F0B088}" destId="{FCB8688A-F7F1-4041-99B8-96BEABF486D6}" srcOrd="3" destOrd="0" presId="urn:microsoft.com/office/officeart/2005/8/layout/process1"/>
    <dgm:cxn modelId="{5AC4C7CA-BB17-4845-804C-DCF401129EAE}" type="presParOf" srcId="{FCB8688A-F7F1-4041-99B8-96BEABF486D6}" destId="{2F0EA1D5-A795-4DD4-B1CA-3A3695013C62}" srcOrd="0" destOrd="0" presId="urn:microsoft.com/office/officeart/2005/8/layout/process1"/>
    <dgm:cxn modelId="{C89186C5-6E0A-4DC2-AFBD-612417A66259}" type="presParOf" srcId="{4EB27FE3-6DAA-4056-A301-EDE056F0B088}" destId="{65561DB3-E495-4B50-B8B8-66B7A2E3D4AF}"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0CD5C2-D6F9-4B86-8D45-3C76FED2351E}" type="doc">
      <dgm:prSet loTypeId="urn:microsoft.com/office/officeart/2005/8/layout/process1" loCatId="process" qsTypeId="urn:microsoft.com/office/officeart/2005/8/quickstyle/simple1" qsCatId="simple" csTypeId="urn:microsoft.com/office/officeart/2005/8/colors/accent1_2" csCatId="accent1" phldr="1"/>
      <dgm:spPr/>
    </dgm:pt>
    <dgm:pt modelId="{077AC67A-DE8A-4077-ABD2-C3774B2584D8}">
      <dgm:prSet phldrT="[Text]"/>
      <dgm:spPr/>
      <dgm:t>
        <a:bodyPr/>
        <a:lstStyle/>
        <a:p>
          <a:r>
            <a:rPr lang="en-GB" dirty="0"/>
            <a:t>Identify a system containing the system of interest</a:t>
          </a:r>
        </a:p>
      </dgm:t>
    </dgm:pt>
    <dgm:pt modelId="{C6085DE9-924B-4C3F-BA3A-B738B2D7DD1F}" type="parTrans" cxnId="{AEC3D2C8-9CC0-45A5-AA98-8D8B7FDD1012}">
      <dgm:prSet/>
      <dgm:spPr/>
      <dgm:t>
        <a:bodyPr/>
        <a:lstStyle/>
        <a:p>
          <a:endParaRPr lang="en-GB"/>
        </a:p>
      </dgm:t>
    </dgm:pt>
    <dgm:pt modelId="{1C5F8383-B392-41DE-85EA-64ABC21E737E}" type="sibTrans" cxnId="{AEC3D2C8-9CC0-45A5-AA98-8D8B7FDD1012}">
      <dgm:prSet/>
      <dgm:spPr/>
      <dgm:t>
        <a:bodyPr/>
        <a:lstStyle/>
        <a:p>
          <a:endParaRPr lang="en-GB"/>
        </a:p>
      </dgm:t>
    </dgm:pt>
    <dgm:pt modelId="{D07162AD-140A-43F1-9182-DB092266D5FE}">
      <dgm:prSet phldrT="[Text]"/>
      <dgm:spPr/>
      <dgm:t>
        <a:bodyPr/>
        <a:lstStyle/>
        <a:p>
          <a:r>
            <a:rPr lang="en-GB" dirty="0"/>
            <a:t>Explain the behaviour of the containing system</a:t>
          </a:r>
        </a:p>
      </dgm:t>
    </dgm:pt>
    <dgm:pt modelId="{25E44AB2-C1D6-4D5E-8386-93DBAAE855CE}" type="parTrans" cxnId="{04AF7BC7-E206-4916-8897-9F7C10F4C240}">
      <dgm:prSet/>
      <dgm:spPr/>
      <dgm:t>
        <a:bodyPr/>
        <a:lstStyle/>
        <a:p>
          <a:endParaRPr lang="en-GB"/>
        </a:p>
      </dgm:t>
    </dgm:pt>
    <dgm:pt modelId="{588520A3-7F17-425F-B61A-3D56BBD0F655}" type="sibTrans" cxnId="{04AF7BC7-E206-4916-8897-9F7C10F4C240}">
      <dgm:prSet/>
      <dgm:spPr/>
      <dgm:t>
        <a:bodyPr/>
        <a:lstStyle/>
        <a:p>
          <a:endParaRPr lang="en-GB"/>
        </a:p>
      </dgm:t>
    </dgm:pt>
    <dgm:pt modelId="{4CC65879-3665-4CEA-8290-593E9E5B30B0}">
      <dgm:prSet phldrT="[Text]"/>
      <dgm:spPr/>
      <dgm:t>
        <a:bodyPr/>
        <a:lstStyle/>
        <a:p>
          <a:r>
            <a:rPr lang="en-GB" dirty="0"/>
            <a:t>Disaggregate behaviour to system of interest’s function</a:t>
          </a:r>
        </a:p>
      </dgm:t>
    </dgm:pt>
    <dgm:pt modelId="{8C5E8C12-5699-40BD-89DD-76B0923ADDF7}" type="parTrans" cxnId="{0DA41CCC-B8AC-45D5-9890-6F8A6CD1D7EE}">
      <dgm:prSet/>
      <dgm:spPr/>
      <dgm:t>
        <a:bodyPr/>
        <a:lstStyle/>
        <a:p>
          <a:endParaRPr lang="en-GB"/>
        </a:p>
      </dgm:t>
    </dgm:pt>
    <dgm:pt modelId="{6E32C4BE-0EDA-482C-9554-88096EA01183}" type="sibTrans" cxnId="{0DA41CCC-B8AC-45D5-9890-6F8A6CD1D7EE}">
      <dgm:prSet/>
      <dgm:spPr/>
      <dgm:t>
        <a:bodyPr/>
        <a:lstStyle/>
        <a:p>
          <a:endParaRPr lang="en-GB"/>
        </a:p>
      </dgm:t>
    </dgm:pt>
    <dgm:pt modelId="{4EB27FE3-6DAA-4056-A301-EDE056F0B088}" type="pres">
      <dgm:prSet presAssocID="{500CD5C2-D6F9-4B86-8D45-3C76FED2351E}" presName="Name0" presStyleCnt="0">
        <dgm:presLayoutVars>
          <dgm:dir/>
          <dgm:resizeHandles val="exact"/>
        </dgm:presLayoutVars>
      </dgm:prSet>
      <dgm:spPr/>
    </dgm:pt>
    <dgm:pt modelId="{18D90D49-3787-4A54-9466-5827B6037BC7}" type="pres">
      <dgm:prSet presAssocID="{077AC67A-DE8A-4077-ABD2-C3774B2584D8}" presName="node" presStyleLbl="node1" presStyleIdx="0" presStyleCnt="3">
        <dgm:presLayoutVars>
          <dgm:bulletEnabled val="1"/>
        </dgm:presLayoutVars>
      </dgm:prSet>
      <dgm:spPr/>
    </dgm:pt>
    <dgm:pt modelId="{71B5A048-D0C9-4417-ABD8-A4FFAC13211D}" type="pres">
      <dgm:prSet presAssocID="{1C5F8383-B392-41DE-85EA-64ABC21E737E}" presName="sibTrans" presStyleLbl="sibTrans2D1" presStyleIdx="0" presStyleCnt="2"/>
      <dgm:spPr/>
    </dgm:pt>
    <dgm:pt modelId="{1B7DB45C-0478-46B4-8F8D-2CFD1BA38090}" type="pres">
      <dgm:prSet presAssocID="{1C5F8383-B392-41DE-85EA-64ABC21E737E}" presName="connectorText" presStyleLbl="sibTrans2D1" presStyleIdx="0" presStyleCnt="2"/>
      <dgm:spPr/>
    </dgm:pt>
    <dgm:pt modelId="{38572BA1-0A8D-464A-877D-4446F9B879C6}" type="pres">
      <dgm:prSet presAssocID="{D07162AD-140A-43F1-9182-DB092266D5FE}" presName="node" presStyleLbl="node1" presStyleIdx="1" presStyleCnt="3">
        <dgm:presLayoutVars>
          <dgm:bulletEnabled val="1"/>
        </dgm:presLayoutVars>
      </dgm:prSet>
      <dgm:spPr/>
    </dgm:pt>
    <dgm:pt modelId="{FCB8688A-F7F1-4041-99B8-96BEABF486D6}" type="pres">
      <dgm:prSet presAssocID="{588520A3-7F17-425F-B61A-3D56BBD0F655}" presName="sibTrans" presStyleLbl="sibTrans2D1" presStyleIdx="1" presStyleCnt="2"/>
      <dgm:spPr/>
    </dgm:pt>
    <dgm:pt modelId="{2F0EA1D5-A795-4DD4-B1CA-3A3695013C62}" type="pres">
      <dgm:prSet presAssocID="{588520A3-7F17-425F-B61A-3D56BBD0F655}" presName="connectorText" presStyleLbl="sibTrans2D1" presStyleIdx="1" presStyleCnt="2"/>
      <dgm:spPr/>
    </dgm:pt>
    <dgm:pt modelId="{65561DB3-E495-4B50-B8B8-66B7A2E3D4AF}" type="pres">
      <dgm:prSet presAssocID="{4CC65879-3665-4CEA-8290-593E9E5B30B0}" presName="node" presStyleLbl="node1" presStyleIdx="2" presStyleCnt="3">
        <dgm:presLayoutVars>
          <dgm:bulletEnabled val="1"/>
        </dgm:presLayoutVars>
      </dgm:prSet>
      <dgm:spPr/>
    </dgm:pt>
  </dgm:ptLst>
  <dgm:cxnLst>
    <dgm:cxn modelId="{C917D55C-9876-41FB-958E-FB925BD9B198}" type="presOf" srcId="{D07162AD-140A-43F1-9182-DB092266D5FE}" destId="{38572BA1-0A8D-464A-877D-4446F9B879C6}" srcOrd="0" destOrd="0" presId="urn:microsoft.com/office/officeart/2005/8/layout/process1"/>
    <dgm:cxn modelId="{B302C64E-7FAD-4BDB-AF33-B5D3F385C077}" type="presOf" srcId="{077AC67A-DE8A-4077-ABD2-C3774B2584D8}" destId="{18D90D49-3787-4A54-9466-5827B6037BC7}" srcOrd="0" destOrd="0" presId="urn:microsoft.com/office/officeart/2005/8/layout/process1"/>
    <dgm:cxn modelId="{0E167A7D-6C76-4E82-9D89-162E3A37F669}" type="presOf" srcId="{1C5F8383-B392-41DE-85EA-64ABC21E737E}" destId="{1B7DB45C-0478-46B4-8F8D-2CFD1BA38090}" srcOrd="1" destOrd="0" presId="urn:microsoft.com/office/officeart/2005/8/layout/process1"/>
    <dgm:cxn modelId="{A3AE788D-FA9B-4FAF-A96E-576AFE0393CB}" type="presOf" srcId="{500CD5C2-D6F9-4B86-8D45-3C76FED2351E}" destId="{4EB27FE3-6DAA-4056-A301-EDE056F0B088}" srcOrd="0" destOrd="0" presId="urn:microsoft.com/office/officeart/2005/8/layout/process1"/>
    <dgm:cxn modelId="{FF1998A1-092B-43EA-8E29-1FE0F3521811}" type="presOf" srcId="{588520A3-7F17-425F-B61A-3D56BBD0F655}" destId="{2F0EA1D5-A795-4DD4-B1CA-3A3695013C62}" srcOrd="1" destOrd="0" presId="urn:microsoft.com/office/officeart/2005/8/layout/process1"/>
    <dgm:cxn modelId="{31CAADAB-F7DC-4008-B123-D0123CEE8A27}" type="presOf" srcId="{588520A3-7F17-425F-B61A-3D56BBD0F655}" destId="{FCB8688A-F7F1-4041-99B8-96BEABF486D6}" srcOrd="0" destOrd="0" presId="urn:microsoft.com/office/officeart/2005/8/layout/process1"/>
    <dgm:cxn modelId="{D09DD8C1-92F1-4E96-8A7F-965582810281}" type="presOf" srcId="{1C5F8383-B392-41DE-85EA-64ABC21E737E}" destId="{71B5A048-D0C9-4417-ABD8-A4FFAC13211D}" srcOrd="0" destOrd="0" presId="urn:microsoft.com/office/officeart/2005/8/layout/process1"/>
    <dgm:cxn modelId="{04AF7BC7-E206-4916-8897-9F7C10F4C240}" srcId="{500CD5C2-D6F9-4B86-8D45-3C76FED2351E}" destId="{D07162AD-140A-43F1-9182-DB092266D5FE}" srcOrd="1" destOrd="0" parTransId="{25E44AB2-C1D6-4D5E-8386-93DBAAE855CE}" sibTransId="{588520A3-7F17-425F-B61A-3D56BBD0F655}"/>
    <dgm:cxn modelId="{AEC3D2C8-9CC0-45A5-AA98-8D8B7FDD1012}" srcId="{500CD5C2-D6F9-4B86-8D45-3C76FED2351E}" destId="{077AC67A-DE8A-4077-ABD2-C3774B2584D8}" srcOrd="0" destOrd="0" parTransId="{C6085DE9-924B-4C3F-BA3A-B738B2D7DD1F}" sibTransId="{1C5F8383-B392-41DE-85EA-64ABC21E737E}"/>
    <dgm:cxn modelId="{075884CA-F53E-4276-84BF-30676143BCB0}" type="presOf" srcId="{4CC65879-3665-4CEA-8290-593E9E5B30B0}" destId="{65561DB3-E495-4B50-B8B8-66B7A2E3D4AF}" srcOrd="0" destOrd="0" presId="urn:microsoft.com/office/officeart/2005/8/layout/process1"/>
    <dgm:cxn modelId="{0DA41CCC-B8AC-45D5-9890-6F8A6CD1D7EE}" srcId="{500CD5C2-D6F9-4B86-8D45-3C76FED2351E}" destId="{4CC65879-3665-4CEA-8290-593E9E5B30B0}" srcOrd="2" destOrd="0" parTransId="{8C5E8C12-5699-40BD-89DD-76B0923ADDF7}" sibTransId="{6E32C4BE-0EDA-482C-9554-88096EA01183}"/>
    <dgm:cxn modelId="{0A1D87CD-2F9D-4D1C-AF5D-5865EA789A27}" type="presParOf" srcId="{4EB27FE3-6DAA-4056-A301-EDE056F0B088}" destId="{18D90D49-3787-4A54-9466-5827B6037BC7}" srcOrd="0" destOrd="0" presId="urn:microsoft.com/office/officeart/2005/8/layout/process1"/>
    <dgm:cxn modelId="{398F23A0-A1EF-4348-A182-C131706D2629}" type="presParOf" srcId="{4EB27FE3-6DAA-4056-A301-EDE056F0B088}" destId="{71B5A048-D0C9-4417-ABD8-A4FFAC13211D}" srcOrd="1" destOrd="0" presId="urn:microsoft.com/office/officeart/2005/8/layout/process1"/>
    <dgm:cxn modelId="{A4E37438-18D4-4A52-88FF-4514EB2EA062}" type="presParOf" srcId="{71B5A048-D0C9-4417-ABD8-A4FFAC13211D}" destId="{1B7DB45C-0478-46B4-8F8D-2CFD1BA38090}" srcOrd="0" destOrd="0" presId="urn:microsoft.com/office/officeart/2005/8/layout/process1"/>
    <dgm:cxn modelId="{E2C2707D-A280-4CBC-9E7A-B9910162033C}" type="presParOf" srcId="{4EB27FE3-6DAA-4056-A301-EDE056F0B088}" destId="{38572BA1-0A8D-464A-877D-4446F9B879C6}" srcOrd="2" destOrd="0" presId="urn:microsoft.com/office/officeart/2005/8/layout/process1"/>
    <dgm:cxn modelId="{8231CAC0-4EC1-4037-A8FC-B665DB83A465}" type="presParOf" srcId="{4EB27FE3-6DAA-4056-A301-EDE056F0B088}" destId="{FCB8688A-F7F1-4041-99B8-96BEABF486D6}" srcOrd="3" destOrd="0" presId="urn:microsoft.com/office/officeart/2005/8/layout/process1"/>
    <dgm:cxn modelId="{BF5099DB-309F-46EE-ADCA-316779EBC8A9}" type="presParOf" srcId="{FCB8688A-F7F1-4041-99B8-96BEABF486D6}" destId="{2F0EA1D5-A795-4DD4-B1CA-3A3695013C62}" srcOrd="0" destOrd="0" presId="urn:microsoft.com/office/officeart/2005/8/layout/process1"/>
    <dgm:cxn modelId="{D3CE3917-4BDE-47C2-AF7B-C6BB7D45C684}" type="presParOf" srcId="{4EB27FE3-6DAA-4056-A301-EDE056F0B088}" destId="{65561DB3-E495-4B50-B8B8-66B7A2E3D4AF}"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46CA508-B1C3-4BDB-A97E-97046809D248}"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A1A865D1-399C-468C-AA99-8237103FB48D}">
      <dgm:prSet/>
      <dgm:spPr/>
      <dgm:t>
        <a:bodyPr/>
        <a:lstStyle/>
        <a:p>
          <a:r>
            <a:rPr lang="en-US" dirty="0"/>
            <a:t>is </a:t>
          </a:r>
          <a:r>
            <a:rPr lang="en-US" b="1" dirty="0"/>
            <a:t>Hierarchical</a:t>
          </a:r>
        </a:p>
      </dgm:t>
    </dgm:pt>
    <dgm:pt modelId="{5A74C50A-9DAE-470D-9825-8F52ABEE7344}" type="parTrans" cxnId="{F2D7E32F-916E-4147-8753-D4E06AF9D6E1}">
      <dgm:prSet/>
      <dgm:spPr/>
      <dgm:t>
        <a:bodyPr/>
        <a:lstStyle/>
        <a:p>
          <a:endParaRPr lang="en-US"/>
        </a:p>
      </dgm:t>
    </dgm:pt>
    <dgm:pt modelId="{D1786A69-2294-46AB-99DD-B0D5FE0AAFF9}" type="sibTrans" cxnId="{F2D7E32F-916E-4147-8753-D4E06AF9D6E1}">
      <dgm:prSet phldrT="01" phldr="0"/>
      <dgm:spPr/>
      <dgm:t>
        <a:bodyPr/>
        <a:lstStyle/>
        <a:p>
          <a:r>
            <a:rPr lang="en-US"/>
            <a:t>01</a:t>
          </a:r>
        </a:p>
      </dgm:t>
    </dgm:pt>
    <dgm:pt modelId="{FDAC5ED5-EC71-464A-88B4-9AE1BAC8D3D8}">
      <dgm:prSet/>
      <dgm:spPr/>
      <dgm:t>
        <a:bodyPr/>
        <a:lstStyle/>
        <a:p>
          <a:r>
            <a:rPr lang="en-US" dirty="0"/>
            <a:t>has a </a:t>
          </a:r>
          <a:r>
            <a:rPr lang="en-US" b="1" dirty="0"/>
            <a:t>SINGLE </a:t>
          </a:r>
          <a:r>
            <a:rPr lang="en-US" dirty="0"/>
            <a:t>objective</a:t>
          </a:r>
        </a:p>
      </dgm:t>
    </dgm:pt>
    <dgm:pt modelId="{98D1B30E-F3D0-4261-84AC-51F57B3740E7}" type="parTrans" cxnId="{5DC239FB-641D-423D-8885-1319784F98F1}">
      <dgm:prSet/>
      <dgm:spPr/>
      <dgm:t>
        <a:bodyPr/>
        <a:lstStyle/>
        <a:p>
          <a:endParaRPr lang="en-US"/>
        </a:p>
      </dgm:t>
    </dgm:pt>
    <dgm:pt modelId="{2F4FEF41-44DC-4A00-AE42-185EFD6BD5FD}" type="sibTrans" cxnId="{5DC239FB-641D-423D-8885-1319784F98F1}">
      <dgm:prSet phldrT="02" phldr="0"/>
      <dgm:spPr/>
      <dgm:t>
        <a:bodyPr/>
        <a:lstStyle/>
        <a:p>
          <a:r>
            <a:rPr lang="en-US"/>
            <a:t>02</a:t>
          </a:r>
        </a:p>
      </dgm:t>
    </dgm:pt>
    <dgm:pt modelId="{59BECB7C-3C5E-4D40-9BA2-DDA0D13745CC}">
      <dgm:prSet/>
      <dgm:spPr/>
      <dgm:t>
        <a:bodyPr/>
        <a:lstStyle/>
        <a:p>
          <a:r>
            <a:rPr lang="en-US" dirty="0"/>
            <a:t>composed of</a:t>
          </a:r>
        </a:p>
        <a:p>
          <a:r>
            <a:rPr lang="en-US" b="1" dirty="0"/>
            <a:t>Components</a:t>
          </a:r>
          <a:r>
            <a:rPr lang="en-US" dirty="0"/>
            <a:t>, </a:t>
          </a:r>
          <a:r>
            <a:rPr lang="en-US" b="1" dirty="0"/>
            <a:t>Attributes</a:t>
          </a:r>
          <a:r>
            <a:rPr lang="en-US" dirty="0"/>
            <a:t>, and </a:t>
          </a:r>
          <a:r>
            <a:rPr lang="en-US" b="1" dirty="0"/>
            <a:t>Relationships</a:t>
          </a:r>
        </a:p>
      </dgm:t>
    </dgm:pt>
    <dgm:pt modelId="{56484B16-278B-4183-8899-A87BBA67E5CD}" type="parTrans" cxnId="{6FB130A4-FAF5-40DB-A426-D155A990EA8A}">
      <dgm:prSet/>
      <dgm:spPr/>
      <dgm:t>
        <a:bodyPr/>
        <a:lstStyle/>
        <a:p>
          <a:endParaRPr lang="en-US"/>
        </a:p>
      </dgm:t>
    </dgm:pt>
    <dgm:pt modelId="{03248AA4-13F1-4C5E-A874-3D1E43D5A4E5}" type="sibTrans" cxnId="{6FB130A4-FAF5-40DB-A426-D155A990EA8A}">
      <dgm:prSet phldrT="03" phldr="0"/>
      <dgm:spPr/>
      <dgm:t>
        <a:bodyPr/>
        <a:lstStyle/>
        <a:p>
          <a:r>
            <a:rPr lang="en-US"/>
            <a:t>03</a:t>
          </a:r>
        </a:p>
      </dgm:t>
    </dgm:pt>
    <dgm:pt modelId="{72849D7E-82A9-4E4C-B467-DF9D1EAE76BD}">
      <dgm:prSet/>
      <dgm:spPr/>
      <dgm:t>
        <a:bodyPr/>
        <a:lstStyle/>
        <a:p>
          <a:r>
            <a:rPr lang="en-US" b="0" dirty="0"/>
            <a:t>has </a:t>
          </a:r>
          <a:r>
            <a:rPr lang="en-US" b="1" dirty="0"/>
            <a:t>Emergent properties </a:t>
          </a:r>
          <a:r>
            <a:rPr lang="en-US" b="0" dirty="0"/>
            <a:t>that is more than sum of parts</a:t>
          </a:r>
        </a:p>
      </dgm:t>
    </dgm:pt>
    <dgm:pt modelId="{DCA881BE-6843-4FB8-83B9-6A0475536E6D}" type="parTrans" cxnId="{030FD74E-F3BC-42F6-8A6F-E65983F67B1A}">
      <dgm:prSet/>
      <dgm:spPr/>
      <dgm:t>
        <a:bodyPr/>
        <a:lstStyle/>
        <a:p>
          <a:endParaRPr lang="en-US"/>
        </a:p>
      </dgm:t>
    </dgm:pt>
    <dgm:pt modelId="{93045DB4-1850-4DF8-9396-3946CB664194}" type="sibTrans" cxnId="{030FD74E-F3BC-42F6-8A6F-E65983F67B1A}">
      <dgm:prSet phldrT="04" phldr="0"/>
      <dgm:spPr/>
      <dgm:t>
        <a:bodyPr/>
        <a:lstStyle/>
        <a:p>
          <a:r>
            <a:rPr lang="en-US"/>
            <a:t>04</a:t>
          </a:r>
        </a:p>
      </dgm:t>
    </dgm:pt>
    <dgm:pt modelId="{839D4664-57FC-4963-B899-A82C46BC647C}" type="pres">
      <dgm:prSet presAssocID="{A46CA508-B1C3-4BDB-A97E-97046809D248}" presName="Name0" presStyleCnt="0">
        <dgm:presLayoutVars>
          <dgm:animLvl val="lvl"/>
          <dgm:resizeHandles val="exact"/>
        </dgm:presLayoutVars>
      </dgm:prSet>
      <dgm:spPr/>
    </dgm:pt>
    <dgm:pt modelId="{88A688F0-BAD1-43DC-8E5E-A443DBE295C9}" type="pres">
      <dgm:prSet presAssocID="{A1A865D1-399C-468C-AA99-8237103FB48D}" presName="compositeNode" presStyleCnt="0">
        <dgm:presLayoutVars>
          <dgm:bulletEnabled val="1"/>
        </dgm:presLayoutVars>
      </dgm:prSet>
      <dgm:spPr/>
    </dgm:pt>
    <dgm:pt modelId="{DF5D4BEE-6DA1-46CE-9FF3-9244877A7A60}" type="pres">
      <dgm:prSet presAssocID="{A1A865D1-399C-468C-AA99-8237103FB48D}" presName="bgRect" presStyleLbl="alignNode1" presStyleIdx="0" presStyleCnt="4"/>
      <dgm:spPr/>
    </dgm:pt>
    <dgm:pt modelId="{BBC4DE70-910C-4948-B26A-FBAF734B0650}" type="pres">
      <dgm:prSet presAssocID="{D1786A69-2294-46AB-99DD-B0D5FE0AAFF9}" presName="sibTransNodeRect" presStyleLbl="alignNode1" presStyleIdx="0" presStyleCnt="4">
        <dgm:presLayoutVars>
          <dgm:chMax val="0"/>
          <dgm:bulletEnabled val="1"/>
        </dgm:presLayoutVars>
      </dgm:prSet>
      <dgm:spPr/>
    </dgm:pt>
    <dgm:pt modelId="{799C6183-07D9-47DD-9451-B7EB08F8A53C}" type="pres">
      <dgm:prSet presAssocID="{A1A865D1-399C-468C-AA99-8237103FB48D}" presName="nodeRect" presStyleLbl="alignNode1" presStyleIdx="0" presStyleCnt="4">
        <dgm:presLayoutVars>
          <dgm:bulletEnabled val="1"/>
        </dgm:presLayoutVars>
      </dgm:prSet>
      <dgm:spPr/>
    </dgm:pt>
    <dgm:pt modelId="{B5A0BA6D-59BB-4F04-A766-734BCE766F92}" type="pres">
      <dgm:prSet presAssocID="{D1786A69-2294-46AB-99DD-B0D5FE0AAFF9}" presName="sibTrans" presStyleCnt="0"/>
      <dgm:spPr/>
    </dgm:pt>
    <dgm:pt modelId="{2B9E373C-5459-40D4-996C-2A1962191A14}" type="pres">
      <dgm:prSet presAssocID="{FDAC5ED5-EC71-464A-88B4-9AE1BAC8D3D8}" presName="compositeNode" presStyleCnt="0">
        <dgm:presLayoutVars>
          <dgm:bulletEnabled val="1"/>
        </dgm:presLayoutVars>
      </dgm:prSet>
      <dgm:spPr/>
    </dgm:pt>
    <dgm:pt modelId="{D5AFAC22-61B6-44BF-B7E9-F3B357422574}" type="pres">
      <dgm:prSet presAssocID="{FDAC5ED5-EC71-464A-88B4-9AE1BAC8D3D8}" presName="bgRect" presStyleLbl="alignNode1" presStyleIdx="1" presStyleCnt="4"/>
      <dgm:spPr/>
    </dgm:pt>
    <dgm:pt modelId="{7925C6DF-E736-4971-BF6B-F4FF412621C9}" type="pres">
      <dgm:prSet presAssocID="{2F4FEF41-44DC-4A00-AE42-185EFD6BD5FD}" presName="sibTransNodeRect" presStyleLbl="alignNode1" presStyleIdx="1" presStyleCnt="4">
        <dgm:presLayoutVars>
          <dgm:chMax val="0"/>
          <dgm:bulletEnabled val="1"/>
        </dgm:presLayoutVars>
      </dgm:prSet>
      <dgm:spPr/>
    </dgm:pt>
    <dgm:pt modelId="{45796389-877A-411D-93C3-D5E407CF29D7}" type="pres">
      <dgm:prSet presAssocID="{FDAC5ED5-EC71-464A-88B4-9AE1BAC8D3D8}" presName="nodeRect" presStyleLbl="alignNode1" presStyleIdx="1" presStyleCnt="4">
        <dgm:presLayoutVars>
          <dgm:bulletEnabled val="1"/>
        </dgm:presLayoutVars>
      </dgm:prSet>
      <dgm:spPr/>
    </dgm:pt>
    <dgm:pt modelId="{22414D7E-072A-4288-8F91-67BBB85D4D1A}" type="pres">
      <dgm:prSet presAssocID="{2F4FEF41-44DC-4A00-AE42-185EFD6BD5FD}" presName="sibTrans" presStyleCnt="0"/>
      <dgm:spPr/>
    </dgm:pt>
    <dgm:pt modelId="{8FDBD42D-16E1-454B-B85C-959C64C12930}" type="pres">
      <dgm:prSet presAssocID="{59BECB7C-3C5E-4D40-9BA2-DDA0D13745CC}" presName="compositeNode" presStyleCnt="0">
        <dgm:presLayoutVars>
          <dgm:bulletEnabled val="1"/>
        </dgm:presLayoutVars>
      </dgm:prSet>
      <dgm:spPr/>
    </dgm:pt>
    <dgm:pt modelId="{25CD44DD-DF87-45F8-A128-674B8649AD8F}" type="pres">
      <dgm:prSet presAssocID="{59BECB7C-3C5E-4D40-9BA2-DDA0D13745CC}" presName="bgRect" presStyleLbl="alignNode1" presStyleIdx="2" presStyleCnt="4" custLinFactNeighborX="0"/>
      <dgm:spPr/>
    </dgm:pt>
    <dgm:pt modelId="{AE03AC78-88D6-4E79-873A-CF672DA53C34}" type="pres">
      <dgm:prSet presAssocID="{03248AA4-13F1-4C5E-A874-3D1E43D5A4E5}" presName="sibTransNodeRect" presStyleLbl="alignNode1" presStyleIdx="2" presStyleCnt="4">
        <dgm:presLayoutVars>
          <dgm:chMax val="0"/>
          <dgm:bulletEnabled val="1"/>
        </dgm:presLayoutVars>
      </dgm:prSet>
      <dgm:spPr/>
    </dgm:pt>
    <dgm:pt modelId="{01345652-2061-4C12-AC18-E49C27D79A1B}" type="pres">
      <dgm:prSet presAssocID="{59BECB7C-3C5E-4D40-9BA2-DDA0D13745CC}" presName="nodeRect" presStyleLbl="alignNode1" presStyleIdx="2" presStyleCnt="4">
        <dgm:presLayoutVars>
          <dgm:bulletEnabled val="1"/>
        </dgm:presLayoutVars>
      </dgm:prSet>
      <dgm:spPr/>
    </dgm:pt>
    <dgm:pt modelId="{7EFDF060-7F6F-4E50-B16E-740D6B82C6BB}" type="pres">
      <dgm:prSet presAssocID="{03248AA4-13F1-4C5E-A874-3D1E43D5A4E5}" presName="sibTrans" presStyleCnt="0"/>
      <dgm:spPr/>
    </dgm:pt>
    <dgm:pt modelId="{1BBBEBEF-FF9E-46A7-B3F1-35134E337BC9}" type="pres">
      <dgm:prSet presAssocID="{72849D7E-82A9-4E4C-B467-DF9D1EAE76BD}" presName="compositeNode" presStyleCnt="0">
        <dgm:presLayoutVars>
          <dgm:bulletEnabled val="1"/>
        </dgm:presLayoutVars>
      </dgm:prSet>
      <dgm:spPr/>
    </dgm:pt>
    <dgm:pt modelId="{BF428BDC-42F6-434D-8668-DA4CB4ED82D0}" type="pres">
      <dgm:prSet presAssocID="{72849D7E-82A9-4E4C-B467-DF9D1EAE76BD}" presName="bgRect" presStyleLbl="alignNode1" presStyleIdx="3" presStyleCnt="4"/>
      <dgm:spPr/>
    </dgm:pt>
    <dgm:pt modelId="{68E20A92-34BC-4BE9-95F0-4D17FED0CDAD}" type="pres">
      <dgm:prSet presAssocID="{93045DB4-1850-4DF8-9396-3946CB664194}" presName="sibTransNodeRect" presStyleLbl="alignNode1" presStyleIdx="3" presStyleCnt="4">
        <dgm:presLayoutVars>
          <dgm:chMax val="0"/>
          <dgm:bulletEnabled val="1"/>
        </dgm:presLayoutVars>
      </dgm:prSet>
      <dgm:spPr/>
    </dgm:pt>
    <dgm:pt modelId="{AE6A65B5-02E6-417D-9721-CBD5A4BBB1C0}" type="pres">
      <dgm:prSet presAssocID="{72849D7E-82A9-4E4C-B467-DF9D1EAE76BD}" presName="nodeRect" presStyleLbl="alignNode1" presStyleIdx="3" presStyleCnt="4">
        <dgm:presLayoutVars>
          <dgm:bulletEnabled val="1"/>
        </dgm:presLayoutVars>
      </dgm:prSet>
      <dgm:spPr/>
    </dgm:pt>
  </dgm:ptLst>
  <dgm:cxnLst>
    <dgm:cxn modelId="{B2155619-3382-4676-A62E-DE9C86417DFD}" type="presOf" srcId="{72849D7E-82A9-4E4C-B467-DF9D1EAE76BD}" destId="{AE6A65B5-02E6-417D-9721-CBD5A4BBB1C0}" srcOrd="1" destOrd="0" presId="urn:microsoft.com/office/officeart/2016/7/layout/LinearBlockProcessNumbered"/>
    <dgm:cxn modelId="{5CA4D019-9479-4D7F-8068-E7441838DB7A}" type="presOf" srcId="{72849D7E-82A9-4E4C-B467-DF9D1EAE76BD}" destId="{BF428BDC-42F6-434D-8668-DA4CB4ED82D0}" srcOrd="0" destOrd="0" presId="urn:microsoft.com/office/officeart/2016/7/layout/LinearBlockProcessNumbered"/>
    <dgm:cxn modelId="{F2D7E32F-916E-4147-8753-D4E06AF9D6E1}" srcId="{A46CA508-B1C3-4BDB-A97E-97046809D248}" destId="{A1A865D1-399C-468C-AA99-8237103FB48D}" srcOrd="0" destOrd="0" parTransId="{5A74C50A-9DAE-470D-9825-8F52ABEE7344}" sibTransId="{D1786A69-2294-46AB-99DD-B0D5FE0AAFF9}"/>
    <dgm:cxn modelId="{0027383B-E1A8-422A-93DD-C3C37815BD4D}" type="presOf" srcId="{A1A865D1-399C-468C-AA99-8237103FB48D}" destId="{799C6183-07D9-47DD-9451-B7EB08F8A53C}" srcOrd="1" destOrd="0" presId="urn:microsoft.com/office/officeart/2016/7/layout/LinearBlockProcessNumbered"/>
    <dgm:cxn modelId="{F977A445-253A-4959-ACC6-839C40EE55D9}" type="presOf" srcId="{03248AA4-13F1-4C5E-A874-3D1E43D5A4E5}" destId="{AE03AC78-88D6-4E79-873A-CF672DA53C34}" srcOrd="0" destOrd="0" presId="urn:microsoft.com/office/officeart/2016/7/layout/LinearBlockProcessNumbered"/>
    <dgm:cxn modelId="{C141F065-582A-4787-9652-95C472A34905}" type="presOf" srcId="{93045DB4-1850-4DF8-9396-3946CB664194}" destId="{68E20A92-34BC-4BE9-95F0-4D17FED0CDAD}" srcOrd="0" destOrd="0" presId="urn:microsoft.com/office/officeart/2016/7/layout/LinearBlockProcessNumbered"/>
    <dgm:cxn modelId="{030FD74E-F3BC-42F6-8A6F-E65983F67B1A}" srcId="{A46CA508-B1C3-4BDB-A97E-97046809D248}" destId="{72849D7E-82A9-4E4C-B467-DF9D1EAE76BD}" srcOrd="3" destOrd="0" parTransId="{DCA881BE-6843-4FB8-83B9-6A0475536E6D}" sibTransId="{93045DB4-1850-4DF8-9396-3946CB664194}"/>
    <dgm:cxn modelId="{627E1D7A-053D-4805-98F4-4C237F23787E}" type="presOf" srcId="{FDAC5ED5-EC71-464A-88B4-9AE1BAC8D3D8}" destId="{45796389-877A-411D-93C3-D5E407CF29D7}" srcOrd="1" destOrd="0" presId="urn:microsoft.com/office/officeart/2016/7/layout/LinearBlockProcessNumbered"/>
    <dgm:cxn modelId="{1917D07E-397F-43F6-B7C8-1F047A747234}" type="presOf" srcId="{A46CA508-B1C3-4BDB-A97E-97046809D248}" destId="{839D4664-57FC-4963-B899-A82C46BC647C}" srcOrd="0" destOrd="0" presId="urn:microsoft.com/office/officeart/2016/7/layout/LinearBlockProcessNumbered"/>
    <dgm:cxn modelId="{6FB130A4-FAF5-40DB-A426-D155A990EA8A}" srcId="{A46CA508-B1C3-4BDB-A97E-97046809D248}" destId="{59BECB7C-3C5E-4D40-9BA2-DDA0D13745CC}" srcOrd="2" destOrd="0" parTransId="{56484B16-278B-4183-8899-A87BBA67E5CD}" sibTransId="{03248AA4-13F1-4C5E-A874-3D1E43D5A4E5}"/>
    <dgm:cxn modelId="{D7D872B4-06E2-4E57-9DB1-ACAFEBA2EC32}" type="presOf" srcId="{A1A865D1-399C-468C-AA99-8237103FB48D}" destId="{DF5D4BEE-6DA1-46CE-9FF3-9244877A7A60}" srcOrd="0" destOrd="0" presId="urn:microsoft.com/office/officeart/2016/7/layout/LinearBlockProcessNumbered"/>
    <dgm:cxn modelId="{D78B51CB-D816-495D-9A38-602EAFF1A09A}" type="presOf" srcId="{59BECB7C-3C5E-4D40-9BA2-DDA0D13745CC}" destId="{01345652-2061-4C12-AC18-E49C27D79A1B}" srcOrd="1" destOrd="0" presId="urn:microsoft.com/office/officeart/2016/7/layout/LinearBlockProcessNumbered"/>
    <dgm:cxn modelId="{43F583E3-8C52-4A80-B861-6D1A92C8A8A3}" type="presOf" srcId="{FDAC5ED5-EC71-464A-88B4-9AE1BAC8D3D8}" destId="{D5AFAC22-61B6-44BF-B7E9-F3B357422574}" srcOrd="0" destOrd="0" presId="urn:microsoft.com/office/officeart/2016/7/layout/LinearBlockProcessNumbered"/>
    <dgm:cxn modelId="{230A03EF-6EF5-494B-9C44-AF72F42E7CFC}" type="presOf" srcId="{59BECB7C-3C5E-4D40-9BA2-DDA0D13745CC}" destId="{25CD44DD-DF87-45F8-A128-674B8649AD8F}" srcOrd="0" destOrd="0" presId="urn:microsoft.com/office/officeart/2016/7/layout/LinearBlockProcessNumbered"/>
    <dgm:cxn modelId="{A357EDF2-A487-4231-A168-7CB54133D7BF}" type="presOf" srcId="{2F4FEF41-44DC-4A00-AE42-185EFD6BD5FD}" destId="{7925C6DF-E736-4971-BF6B-F4FF412621C9}" srcOrd="0" destOrd="0" presId="urn:microsoft.com/office/officeart/2016/7/layout/LinearBlockProcessNumbered"/>
    <dgm:cxn modelId="{F5D23FF6-13EF-4792-97F6-05EABB908257}" type="presOf" srcId="{D1786A69-2294-46AB-99DD-B0D5FE0AAFF9}" destId="{BBC4DE70-910C-4948-B26A-FBAF734B0650}" srcOrd="0" destOrd="0" presId="urn:microsoft.com/office/officeart/2016/7/layout/LinearBlockProcessNumbered"/>
    <dgm:cxn modelId="{5DC239FB-641D-423D-8885-1319784F98F1}" srcId="{A46CA508-B1C3-4BDB-A97E-97046809D248}" destId="{FDAC5ED5-EC71-464A-88B4-9AE1BAC8D3D8}" srcOrd="1" destOrd="0" parTransId="{98D1B30E-F3D0-4261-84AC-51F57B3740E7}" sibTransId="{2F4FEF41-44DC-4A00-AE42-185EFD6BD5FD}"/>
    <dgm:cxn modelId="{FFB12F50-51DF-47A4-ACC0-2CBB4A39EC71}" type="presParOf" srcId="{839D4664-57FC-4963-B899-A82C46BC647C}" destId="{88A688F0-BAD1-43DC-8E5E-A443DBE295C9}" srcOrd="0" destOrd="0" presId="urn:microsoft.com/office/officeart/2016/7/layout/LinearBlockProcessNumbered"/>
    <dgm:cxn modelId="{5772A10F-FCFC-486F-BBB2-AE695C897886}" type="presParOf" srcId="{88A688F0-BAD1-43DC-8E5E-A443DBE295C9}" destId="{DF5D4BEE-6DA1-46CE-9FF3-9244877A7A60}" srcOrd="0" destOrd="0" presId="urn:microsoft.com/office/officeart/2016/7/layout/LinearBlockProcessNumbered"/>
    <dgm:cxn modelId="{4E0AF2DA-A878-48C4-A3C5-CCD6ABBBA74F}" type="presParOf" srcId="{88A688F0-BAD1-43DC-8E5E-A443DBE295C9}" destId="{BBC4DE70-910C-4948-B26A-FBAF734B0650}" srcOrd="1" destOrd="0" presId="urn:microsoft.com/office/officeart/2016/7/layout/LinearBlockProcessNumbered"/>
    <dgm:cxn modelId="{3D2831C0-A876-40CC-8B85-E9E22110BB0C}" type="presParOf" srcId="{88A688F0-BAD1-43DC-8E5E-A443DBE295C9}" destId="{799C6183-07D9-47DD-9451-B7EB08F8A53C}" srcOrd="2" destOrd="0" presId="urn:microsoft.com/office/officeart/2016/7/layout/LinearBlockProcessNumbered"/>
    <dgm:cxn modelId="{927ADB50-B9C6-4369-9F4A-A2C771960093}" type="presParOf" srcId="{839D4664-57FC-4963-B899-A82C46BC647C}" destId="{B5A0BA6D-59BB-4F04-A766-734BCE766F92}" srcOrd="1" destOrd="0" presId="urn:microsoft.com/office/officeart/2016/7/layout/LinearBlockProcessNumbered"/>
    <dgm:cxn modelId="{55955448-A3D0-4D65-B961-629DDBAAFF49}" type="presParOf" srcId="{839D4664-57FC-4963-B899-A82C46BC647C}" destId="{2B9E373C-5459-40D4-996C-2A1962191A14}" srcOrd="2" destOrd="0" presId="urn:microsoft.com/office/officeart/2016/7/layout/LinearBlockProcessNumbered"/>
    <dgm:cxn modelId="{9B370C70-319E-4776-AAC2-01144F97C8E2}" type="presParOf" srcId="{2B9E373C-5459-40D4-996C-2A1962191A14}" destId="{D5AFAC22-61B6-44BF-B7E9-F3B357422574}" srcOrd="0" destOrd="0" presId="urn:microsoft.com/office/officeart/2016/7/layout/LinearBlockProcessNumbered"/>
    <dgm:cxn modelId="{C4621C8C-B9AD-4A80-AEED-6FF71B5F661F}" type="presParOf" srcId="{2B9E373C-5459-40D4-996C-2A1962191A14}" destId="{7925C6DF-E736-4971-BF6B-F4FF412621C9}" srcOrd="1" destOrd="0" presId="urn:microsoft.com/office/officeart/2016/7/layout/LinearBlockProcessNumbered"/>
    <dgm:cxn modelId="{B518A397-872E-402A-A098-44116B148B4F}" type="presParOf" srcId="{2B9E373C-5459-40D4-996C-2A1962191A14}" destId="{45796389-877A-411D-93C3-D5E407CF29D7}" srcOrd="2" destOrd="0" presId="urn:microsoft.com/office/officeart/2016/7/layout/LinearBlockProcessNumbered"/>
    <dgm:cxn modelId="{EAEEE9CE-118F-4A9A-8AF8-A20F9938E66C}" type="presParOf" srcId="{839D4664-57FC-4963-B899-A82C46BC647C}" destId="{22414D7E-072A-4288-8F91-67BBB85D4D1A}" srcOrd="3" destOrd="0" presId="urn:microsoft.com/office/officeart/2016/7/layout/LinearBlockProcessNumbered"/>
    <dgm:cxn modelId="{EBA3C1BE-B887-4C3D-A973-A46F7B80A397}" type="presParOf" srcId="{839D4664-57FC-4963-B899-A82C46BC647C}" destId="{8FDBD42D-16E1-454B-B85C-959C64C12930}" srcOrd="4" destOrd="0" presId="urn:microsoft.com/office/officeart/2016/7/layout/LinearBlockProcessNumbered"/>
    <dgm:cxn modelId="{9E809D1B-6677-49F8-9DF7-CC28F9D77C8C}" type="presParOf" srcId="{8FDBD42D-16E1-454B-B85C-959C64C12930}" destId="{25CD44DD-DF87-45F8-A128-674B8649AD8F}" srcOrd="0" destOrd="0" presId="urn:microsoft.com/office/officeart/2016/7/layout/LinearBlockProcessNumbered"/>
    <dgm:cxn modelId="{EC8362FF-36DA-4DE3-9159-574B408B4857}" type="presParOf" srcId="{8FDBD42D-16E1-454B-B85C-959C64C12930}" destId="{AE03AC78-88D6-4E79-873A-CF672DA53C34}" srcOrd="1" destOrd="0" presId="urn:microsoft.com/office/officeart/2016/7/layout/LinearBlockProcessNumbered"/>
    <dgm:cxn modelId="{B6003EB0-10EF-436B-8136-A23ABF567114}" type="presParOf" srcId="{8FDBD42D-16E1-454B-B85C-959C64C12930}" destId="{01345652-2061-4C12-AC18-E49C27D79A1B}" srcOrd="2" destOrd="0" presId="urn:microsoft.com/office/officeart/2016/7/layout/LinearBlockProcessNumbered"/>
    <dgm:cxn modelId="{6EDA9408-7A7C-4E66-B780-EF419F054D95}" type="presParOf" srcId="{839D4664-57FC-4963-B899-A82C46BC647C}" destId="{7EFDF060-7F6F-4E50-B16E-740D6B82C6BB}" srcOrd="5" destOrd="0" presId="urn:microsoft.com/office/officeart/2016/7/layout/LinearBlockProcessNumbered"/>
    <dgm:cxn modelId="{C5366090-88C6-4AEC-BD34-524FF8D6458D}" type="presParOf" srcId="{839D4664-57FC-4963-B899-A82C46BC647C}" destId="{1BBBEBEF-FF9E-46A7-B3F1-35134E337BC9}" srcOrd="6" destOrd="0" presId="urn:microsoft.com/office/officeart/2016/7/layout/LinearBlockProcessNumbered"/>
    <dgm:cxn modelId="{F2230BE7-4988-40D3-96DE-C32158AF551E}" type="presParOf" srcId="{1BBBEBEF-FF9E-46A7-B3F1-35134E337BC9}" destId="{BF428BDC-42F6-434D-8668-DA4CB4ED82D0}" srcOrd="0" destOrd="0" presId="urn:microsoft.com/office/officeart/2016/7/layout/LinearBlockProcessNumbered"/>
    <dgm:cxn modelId="{9590CA12-EAC1-4092-A546-F1EC91F0E471}" type="presParOf" srcId="{1BBBEBEF-FF9E-46A7-B3F1-35134E337BC9}" destId="{68E20A92-34BC-4BE9-95F0-4D17FED0CDAD}" srcOrd="1" destOrd="0" presId="urn:microsoft.com/office/officeart/2016/7/layout/LinearBlockProcessNumbered"/>
    <dgm:cxn modelId="{6A42AC13-FEFC-435B-B785-2DDE8E59B43F}" type="presParOf" srcId="{1BBBEBEF-FF9E-46A7-B3F1-35134E337BC9}" destId="{AE6A65B5-02E6-417D-9721-CBD5A4BBB1C0}"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6CA508-B1C3-4BDB-A97E-97046809D248}"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A1A865D1-399C-468C-AA99-8237103FB48D}">
      <dgm:prSet/>
      <dgm:spPr/>
      <dgm:t>
        <a:bodyPr/>
        <a:lstStyle/>
        <a:p>
          <a:r>
            <a:rPr lang="en-US" dirty="0"/>
            <a:t>Systems Engineering is a formal process</a:t>
          </a:r>
        </a:p>
      </dgm:t>
    </dgm:pt>
    <dgm:pt modelId="{5A74C50A-9DAE-470D-9825-8F52ABEE7344}" type="parTrans" cxnId="{F2D7E32F-916E-4147-8753-D4E06AF9D6E1}">
      <dgm:prSet/>
      <dgm:spPr/>
      <dgm:t>
        <a:bodyPr/>
        <a:lstStyle/>
        <a:p>
          <a:endParaRPr lang="en-US"/>
        </a:p>
      </dgm:t>
    </dgm:pt>
    <dgm:pt modelId="{D1786A69-2294-46AB-99DD-B0D5FE0AAFF9}" type="sibTrans" cxnId="{F2D7E32F-916E-4147-8753-D4E06AF9D6E1}">
      <dgm:prSet phldrT="01" phldr="0"/>
      <dgm:spPr/>
      <dgm:t>
        <a:bodyPr/>
        <a:lstStyle/>
        <a:p>
          <a:r>
            <a:rPr lang="en-US"/>
            <a:t>01</a:t>
          </a:r>
        </a:p>
      </dgm:t>
    </dgm:pt>
    <dgm:pt modelId="{FDAC5ED5-EC71-464A-88B4-9AE1BAC8D3D8}">
      <dgm:prSet/>
      <dgm:spPr/>
      <dgm:t>
        <a:bodyPr/>
        <a:lstStyle/>
        <a:p>
          <a:r>
            <a:rPr lang="en-ZA" dirty="0"/>
            <a:t>Aim to deliver best stakeholder value</a:t>
          </a:r>
          <a:endParaRPr lang="en-US" dirty="0"/>
        </a:p>
      </dgm:t>
    </dgm:pt>
    <dgm:pt modelId="{98D1B30E-F3D0-4261-84AC-51F57B3740E7}" type="parTrans" cxnId="{5DC239FB-641D-423D-8885-1319784F98F1}">
      <dgm:prSet/>
      <dgm:spPr/>
      <dgm:t>
        <a:bodyPr/>
        <a:lstStyle/>
        <a:p>
          <a:endParaRPr lang="en-US"/>
        </a:p>
      </dgm:t>
    </dgm:pt>
    <dgm:pt modelId="{2F4FEF41-44DC-4A00-AE42-185EFD6BD5FD}" type="sibTrans" cxnId="{5DC239FB-641D-423D-8885-1319784F98F1}">
      <dgm:prSet phldrT="02" phldr="0"/>
      <dgm:spPr/>
      <dgm:t>
        <a:bodyPr/>
        <a:lstStyle/>
        <a:p>
          <a:r>
            <a:rPr lang="en-US"/>
            <a:t>02</a:t>
          </a:r>
        </a:p>
      </dgm:t>
    </dgm:pt>
    <dgm:pt modelId="{59BECB7C-3C5E-4D40-9BA2-DDA0D13745CC}">
      <dgm:prSet/>
      <dgm:spPr/>
      <dgm:t>
        <a:bodyPr/>
        <a:lstStyle/>
        <a:p>
          <a:r>
            <a:rPr lang="en-ZA" dirty="0"/>
            <a:t>Incremental development approaches help to manage risk</a:t>
          </a:r>
          <a:endParaRPr lang="en-US" dirty="0"/>
        </a:p>
      </dgm:t>
    </dgm:pt>
    <dgm:pt modelId="{56484B16-278B-4183-8899-A87BBA67E5CD}" type="parTrans" cxnId="{6FB130A4-FAF5-40DB-A426-D155A990EA8A}">
      <dgm:prSet/>
      <dgm:spPr/>
      <dgm:t>
        <a:bodyPr/>
        <a:lstStyle/>
        <a:p>
          <a:endParaRPr lang="en-US"/>
        </a:p>
      </dgm:t>
    </dgm:pt>
    <dgm:pt modelId="{03248AA4-13F1-4C5E-A874-3D1E43D5A4E5}" type="sibTrans" cxnId="{6FB130A4-FAF5-40DB-A426-D155A990EA8A}">
      <dgm:prSet phldrT="03" phldr="0"/>
      <dgm:spPr/>
      <dgm:t>
        <a:bodyPr/>
        <a:lstStyle/>
        <a:p>
          <a:r>
            <a:rPr lang="en-US"/>
            <a:t>03</a:t>
          </a:r>
        </a:p>
      </dgm:t>
    </dgm:pt>
    <dgm:pt modelId="{839D4664-57FC-4963-B899-A82C46BC647C}" type="pres">
      <dgm:prSet presAssocID="{A46CA508-B1C3-4BDB-A97E-97046809D248}" presName="Name0" presStyleCnt="0">
        <dgm:presLayoutVars>
          <dgm:animLvl val="lvl"/>
          <dgm:resizeHandles val="exact"/>
        </dgm:presLayoutVars>
      </dgm:prSet>
      <dgm:spPr/>
    </dgm:pt>
    <dgm:pt modelId="{88A688F0-BAD1-43DC-8E5E-A443DBE295C9}" type="pres">
      <dgm:prSet presAssocID="{A1A865D1-399C-468C-AA99-8237103FB48D}" presName="compositeNode" presStyleCnt="0">
        <dgm:presLayoutVars>
          <dgm:bulletEnabled val="1"/>
        </dgm:presLayoutVars>
      </dgm:prSet>
      <dgm:spPr/>
    </dgm:pt>
    <dgm:pt modelId="{DF5D4BEE-6DA1-46CE-9FF3-9244877A7A60}" type="pres">
      <dgm:prSet presAssocID="{A1A865D1-399C-468C-AA99-8237103FB48D}" presName="bgRect" presStyleLbl="alignNode1" presStyleIdx="0" presStyleCnt="3"/>
      <dgm:spPr/>
    </dgm:pt>
    <dgm:pt modelId="{BBC4DE70-910C-4948-B26A-FBAF734B0650}" type="pres">
      <dgm:prSet presAssocID="{D1786A69-2294-46AB-99DD-B0D5FE0AAFF9}" presName="sibTransNodeRect" presStyleLbl="alignNode1" presStyleIdx="0" presStyleCnt="3">
        <dgm:presLayoutVars>
          <dgm:chMax val="0"/>
          <dgm:bulletEnabled val="1"/>
        </dgm:presLayoutVars>
      </dgm:prSet>
      <dgm:spPr/>
    </dgm:pt>
    <dgm:pt modelId="{799C6183-07D9-47DD-9451-B7EB08F8A53C}" type="pres">
      <dgm:prSet presAssocID="{A1A865D1-399C-468C-AA99-8237103FB48D}" presName="nodeRect" presStyleLbl="alignNode1" presStyleIdx="0" presStyleCnt="3">
        <dgm:presLayoutVars>
          <dgm:bulletEnabled val="1"/>
        </dgm:presLayoutVars>
      </dgm:prSet>
      <dgm:spPr/>
    </dgm:pt>
    <dgm:pt modelId="{B5A0BA6D-59BB-4F04-A766-734BCE766F92}" type="pres">
      <dgm:prSet presAssocID="{D1786A69-2294-46AB-99DD-B0D5FE0AAFF9}" presName="sibTrans" presStyleCnt="0"/>
      <dgm:spPr/>
    </dgm:pt>
    <dgm:pt modelId="{2B9E373C-5459-40D4-996C-2A1962191A14}" type="pres">
      <dgm:prSet presAssocID="{FDAC5ED5-EC71-464A-88B4-9AE1BAC8D3D8}" presName="compositeNode" presStyleCnt="0">
        <dgm:presLayoutVars>
          <dgm:bulletEnabled val="1"/>
        </dgm:presLayoutVars>
      </dgm:prSet>
      <dgm:spPr/>
    </dgm:pt>
    <dgm:pt modelId="{D5AFAC22-61B6-44BF-B7E9-F3B357422574}" type="pres">
      <dgm:prSet presAssocID="{FDAC5ED5-EC71-464A-88B4-9AE1BAC8D3D8}" presName="bgRect" presStyleLbl="alignNode1" presStyleIdx="1" presStyleCnt="3"/>
      <dgm:spPr/>
    </dgm:pt>
    <dgm:pt modelId="{7925C6DF-E736-4971-BF6B-F4FF412621C9}" type="pres">
      <dgm:prSet presAssocID="{2F4FEF41-44DC-4A00-AE42-185EFD6BD5FD}" presName="sibTransNodeRect" presStyleLbl="alignNode1" presStyleIdx="1" presStyleCnt="3">
        <dgm:presLayoutVars>
          <dgm:chMax val="0"/>
          <dgm:bulletEnabled val="1"/>
        </dgm:presLayoutVars>
      </dgm:prSet>
      <dgm:spPr/>
    </dgm:pt>
    <dgm:pt modelId="{45796389-877A-411D-93C3-D5E407CF29D7}" type="pres">
      <dgm:prSet presAssocID="{FDAC5ED5-EC71-464A-88B4-9AE1BAC8D3D8}" presName="nodeRect" presStyleLbl="alignNode1" presStyleIdx="1" presStyleCnt="3">
        <dgm:presLayoutVars>
          <dgm:bulletEnabled val="1"/>
        </dgm:presLayoutVars>
      </dgm:prSet>
      <dgm:spPr/>
    </dgm:pt>
    <dgm:pt modelId="{22414D7E-072A-4288-8F91-67BBB85D4D1A}" type="pres">
      <dgm:prSet presAssocID="{2F4FEF41-44DC-4A00-AE42-185EFD6BD5FD}" presName="sibTrans" presStyleCnt="0"/>
      <dgm:spPr/>
    </dgm:pt>
    <dgm:pt modelId="{8FDBD42D-16E1-454B-B85C-959C64C12930}" type="pres">
      <dgm:prSet presAssocID="{59BECB7C-3C5E-4D40-9BA2-DDA0D13745CC}" presName="compositeNode" presStyleCnt="0">
        <dgm:presLayoutVars>
          <dgm:bulletEnabled val="1"/>
        </dgm:presLayoutVars>
      </dgm:prSet>
      <dgm:spPr/>
    </dgm:pt>
    <dgm:pt modelId="{25CD44DD-DF87-45F8-A128-674B8649AD8F}" type="pres">
      <dgm:prSet presAssocID="{59BECB7C-3C5E-4D40-9BA2-DDA0D13745CC}" presName="bgRect" presStyleLbl="alignNode1" presStyleIdx="2" presStyleCnt="3"/>
      <dgm:spPr/>
    </dgm:pt>
    <dgm:pt modelId="{AE03AC78-88D6-4E79-873A-CF672DA53C34}" type="pres">
      <dgm:prSet presAssocID="{03248AA4-13F1-4C5E-A874-3D1E43D5A4E5}" presName="sibTransNodeRect" presStyleLbl="alignNode1" presStyleIdx="2" presStyleCnt="3">
        <dgm:presLayoutVars>
          <dgm:chMax val="0"/>
          <dgm:bulletEnabled val="1"/>
        </dgm:presLayoutVars>
      </dgm:prSet>
      <dgm:spPr/>
    </dgm:pt>
    <dgm:pt modelId="{01345652-2061-4C12-AC18-E49C27D79A1B}" type="pres">
      <dgm:prSet presAssocID="{59BECB7C-3C5E-4D40-9BA2-DDA0D13745CC}" presName="nodeRect" presStyleLbl="alignNode1" presStyleIdx="2" presStyleCnt="3">
        <dgm:presLayoutVars>
          <dgm:bulletEnabled val="1"/>
        </dgm:presLayoutVars>
      </dgm:prSet>
      <dgm:spPr/>
    </dgm:pt>
  </dgm:ptLst>
  <dgm:cxnLst>
    <dgm:cxn modelId="{F2D7E32F-916E-4147-8753-D4E06AF9D6E1}" srcId="{A46CA508-B1C3-4BDB-A97E-97046809D248}" destId="{A1A865D1-399C-468C-AA99-8237103FB48D}" srcOrd="0" destOrd="0" parTransId="{5A74C50A-9DAE-470D-9825-8F52ABEE7344}" sibTransId="{D1786A69-2294-46AB-99DD-B0D5FE0AAFF9}"/>
    <dgm:cxn modelId="{0027383B-E1A8-422A-93DD-C3C37815BD4D}" type="presOf" srcId="{A1A865D1-399C-468C-AA99-8237103FB48D}" destId="{799C6183-07D9-47DD-9451-B7EB08F8A53C}" srcOrd="1" destOrd="0" presId="urn:microsoft.com/office/officeart/2016/7/layout/LinearBlockProcessNumbered"/>
    <dgm:cxn modelId="{F977A445-253A-4959-ACC6-839C40EE55D9}" type="presOf" srcId="{03248AA4-13F1-4C5E-A874-3D1E43D5A4E5}" destId="{AE03AC78-88D6-4E79-873A-CF672DA53C34}" srcOrd="0" destOrd="0" presId="urn:microsoft.com/office/officeart/2016/7/layout/LinearBlockProcessNumbered"/>
    <dgm:cxn modelId="{627E1D7A-053D-4805-98F4-4C237F23787E}" type="presOf" srcId="{FDAC5ED5-EC71-464A-88B4-9AE1BAC8D3D8}" destId="{45796389-877A-411D-93C3-D5E407CF29D7}" srcOrd="1" destOrd="0" presId="urn:microsoft.com/office/officeart/2016/7/layout/LinearBlockProcessNumbered"/>
    <dgm:cxn modelId="{1917D07E-397F-43F6-B7C8-1F047A747234}" type="presOf" srcId="{A46CA508-B1C3-4BDB-A97E-97046809D248}" destId="{839D4664-57FC-4963-B899-A82C46BC647C}" srcOrd="0" destOrd="0" presId="urn:microsoft.com/office/officeart/2016/7/layout/LinearBlockProcessNumbered"/>
    <dgm:cxn modelId="{6FB130A4-FAF5-40DB-A426-D155A990EA8A}" srcId="{A46CA508-B1C3-4BDB-A97E-97046809D248}" destId="{59BECB7C-3C5E-4D40-9BA2-DDA0D13745CC}" srcOrd="2" destOrd="0" parTransId="{56484B16-278B-4183-8899-A87BBA67E5CD}" sibTransId="{03248AA4-13F1-4C5E-A874-3D1E43D5A4E5}"/>
    <dgm:cxn modelId="{D7D872B4-06E2-4E57-9DB1-ACAFEBA2EC32}" type="presOf" srcId="{A1A865D1-399C-468C-AA99-8237103FB48D}" destId="{DF5D4BEE-6DA1-46CE-9FF3-9244877A7A60}" srcOrd="0" destOrd="0" presId="urn:microsoft.com/office/officeart/2016/7/layout/LinearBlockProcessNumbered"/>
    <dgm:cxn modelId="{D78B51CB-D816-495D-9A38-602EAFF1A09A}" type="presOf" srcId="{59BECB7C-3C5E-4D40-9BA2-DDA0D13745CC}" destId="{01345652-2061-4C12-AC18-E49C27D79A1B}" srcOrd="1" destOrd="0" presId="urn:microsoft.com/office/officeart/2016/7/layout/LinearBlockProcessNumbered"/>
    <dgm:cxn modelId="{43F583E3-8C52-4A80-B861-6D1A92C8A8A3}" type="presOf" srcId="{FDAC5ED5-EC71-464A-88B4-9AE1BAC8D3D8}" destId="{D5AFAC22-61B6-44BF-B7E9-F3B357422574}" srcOrd="0" destOrd="0" presId="urn:microsoft.com/office/officeart/2016/7/layout/LinearBlockProcessNumbered"/>
    <dgm:cxn modelId="{230A03EF-6EF5-494B-9C44-AF72F42E7CFC}" type="presOf" srcId="{59BECB7C-3C5E-4D40-9BA2-DDA0D13745CC}" destId="{25CD44DD-DF87-45F8-A128-674B8649AD8F}" srcOrd="0" destOrd="0" presId="urn:microsoft.com/office/officeart/2016/7/layout/LinearBlockProcessNumbered"/>
    <dgm:cxn modelId="{A357EDF2-A487-4231-A168-7CB54133D7BF}" type="presOf" srcId="{2F4FEF41-44DC-4A00-AE42-185EFD6BD5FD}" destId="{7925C6DF-E736-4971-BF6B-F4FF412621C9}" srcOrd="0" destOrd="0" presId="urn:microsoft.com/office/officeart/2016/7/layout/LinearBlockProcessNumbered"/>
    <dgm:cxn modelId="{F5D23FF6-13EF-4792-97F6-05EABB908257}" type="presOf" srcId="{D1786A69-2294-46AB-99DD-B0D5FE0AAFF9}" destId="{BBC4DE70-910C-4948-B26A-FBAF734B0650}" srcOrd="0" destOrd="0" presId="urn:microsoft.com/office/officeart/2016/7/layout/LinearBlockProcessNumbered"/>
    <dgm:cxn modelId="{5DC239FB-641D-423D-8885-1319784F98F1}" srcId="{A46CA508-B1C3-4BDB-A97E-97046809D248}" destId="{FDAC5ED5-EC71-464A-88B4-9AE1BAC8D3D8}" srcOrd="1" destOrd="0" parTransId="{98D1B30E-F3D0-4261-84AC-51F57B3740E7}" sibTransId="{2F4FEF41-44DC-4A00-AE42-185EFD6BD5FD}"/>
    <dgm:cxn modelId="{FFB12F50-51DF-47A4-ACC0-2CBB4A39EC71}" type="presParOf" srcId="{839D4664-57FC-4963-B899-A82C46BC647C}" destId="{88A688F0-BAD1-43DC-8E5E-A443DBE295C9}" srcOrd="0" destOrd="0" presId="urn:microsoft.com/office/officeart/2016/7/layout/LinearBlockProcessNumbered"/>
    <dgm:cxn modelId="{5772A10F-FCFC-486F-BBB2-AE695C897886}" type="presParOf" srcId="{88A688F0-BAD1-43DC-8E5E-A443DBE295C9}" destId="{DF5D4BEE-6DA1-46CE-9FF3-9244877A7A60}" srcOrd="0" destOrd="0" presId="urn:microsoft.com/office/officeart/2016/7/layout/LinearBlockProcessNumbered"/>
    <dgm:cxn modelId="{4E0AF2DA-A878-48C4-A3C5-CCD6ABBBA74F}" type="presParOf" srcId="{88A688F0-BAD1-43DC-8E5E-A443DBE295C9}" destId="{BBC4DE70-910C-4948-B26A-FBAF734B0650}" srcOrd="1" destOrd="0" presId="urn:microsoft.com/office/officeart/2016/7/layout/LinearBlockProcessNumbered"/>
    <dgm:cxn modelId="{3D2831C0-A876-40CC-8B85-E9E22110BB0C}" type="presParOf" srcId="{88A688F0-BAD1-43DC-8E5E-A443DBE295C9}" destId="{799C6183-07D9-47DD-9451-B7EB08F8A53C}" srcOrd="2" destOrd="0" presId="urn:microsoft.com/office/officeart/2016/7/layout/LinearBlockProcessNumbered"/>
    <dgm:cxn modelId="{927ADB50-B9C6-4369-9F4A-A2C771960093}" type="presParOf" srcId="{839D4664-57FC-4963-B899-A82C46BC647C}" destId="{B5A0BA6D-59BB-4F04-A766-734BCE766F92}" srcOrd="1" destOrd="0" presId="urn:microsoft.com/office/officeart/2016/7/layout/LinearBlockProcessNumbered"/>
    <dgm:cxn modelId="{55955448-A3D0-4D65-B961-629DDBAAFF49}" type="presParOf" srcId="{839D4664-57FC-4963-B899-A82C46BC647C}" destId="{2B9E373C-5459-40D4-996C-2A1962191A14}" srcOrd="2" destOrd="0" presId="urn:microsoft.com/office/officeart/2016/7/layout/LinearBlockProcessNumbered"/>
    <dgm:cxn modelId="{9B370C70-319E-4776-AAC2-01144F97C8E2}" type="presParOf" srcId="{2B9E373C-5459-40D4-996C-2A1962191A14}" destId="{D5AFAC22-61B6-44BF-B7E9-F3B357422574}" srcOrd="0" destOrd="0" presId="urn:microsoft.com/office/officeart/2016/7/layout/LinearBlockProcessNumbered"/>
    <dgm:cxn modelId="{C4621C8C-B9AD-4A80-AEED-6FF71B5F661F}" type="presParOf" srcId="{2B9E373C-5459-40D4-996C-2A1962191A14}" destId="{7925C6DF-E736-4971-BF6B-F4FF412621C9}" srcOrd="1" destOrd="0" presId="urn:microsoft.com/office/officeart/2016/7/layout/LinearBlockProcessNumbered"/>
    <dgm:cxn modelId="{B518A397-872E-402A-A098-44116B148B4F}" type="presParOf" srcId="{2B9E373C-5459-40D4-996C-2A1962191A14}" destId="{45796389-877A-411D-93C3-D5E407CF29D7}" srcOrd="2" destOrd="0" presId="urn:microsoft.com/office/officeart/2016/7/layout/LinearBlockProcessNumbered"/>
    <dgm:cxn modelId="{EAEEE9CE-118F-4A9A-8AF8-A20F9938E66C}" type="presParOf" srcId="{839D4664-57FC-4963-B899-A82C46BC647C}" destId="{22414D7E-072A-4288-8F91-67BBB85D4D1A}" srcOrd="3" destOrd="0" presId="urn:microsoft.com/office/officeart/2016/7/layout/LinearBlockProcessNumbered"/>
    <dgm:cxn modelId="{EBA3C1BE-B887-4C3D-A973-A46F7B80A397}" type="presParOf" srcId="{839D4664-57FC-4963-B899-A82C46BC647C}" destId="{8FDBD42D-16E1-454B-B85C-959C64C12930}" srcOrd="4" destOrd="0" presId="urn:microsoft.com/office/officeart/2016/7/layout/LinearBlockProcessNumbered"/>
    <dgm:cxn modelId="{9E809D1B-6677-49F8-9DF7-CC28F9D77C8C}" type="presParOf" srcId="{8FDBD42D-16E1-454B-B85C-959C64C12930}" destId="{25CD44DD-DF87-45F8-A128-674B8649AD8F}" srcOrd="0" destOrd="0" presId="urn:microsoft.com/office/officeart/2016/7/layout/LinearBlockProcessNumbered"/>
    <dgm:cxn modelId="{EC8362FF-36DA-4DE3-9159-574B408B4857}" type="presParOf" srcId="{8FDBD42D-16E1-454B-B85C-959C64C12930}" destId="{AE03AC78-88D6-4E79-873A-CF672DA53C34}" srcOrd="1" destOrd="0" presId="urn:microsoft.com/office/officeart/2016/7/layout/LinearBlockProcessNumbered"/>
    <dgm:cxn modelId="{B6003EB0-10EF-436B-8136-A23ABF567114}" type="presParOf" srcId="{8FDBD42D-16E1-454B-B85C-959C64C12930}" destId="{01345652-2061-4C12-AC18-E49C27D79A1B}"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90D49-3787-4A54-9466-5827B6037BC7}">
      <dsp:nvSpPr>
        <dsp:cNvPr id="0" name=""/>
        <dsp:cNvSpPr/>
      </dsp:nvSpPr>
      <dsp:spPr>
        <a:xfrm>
          <a:off x="7143"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Take thing to be explained apart</a:t>
          </a:r>
        </a:p>
      </dsp:txBody>
      <dsp:txXfrm>
        <a:off x="44665" y="2106299"/>
        <a:ext cx="2060143" cy="1206068"/>
      </dsp:txXfrm>
    </dsp:sp>
    <dsp:sp modelId="{71B5A048-D0C9-4417-ABD8-A4FFAC13211D}">
      <dsp:nvSpPr>
        <dsp:cNvPr id="0" name=""/>
        <dsp:cNvSpPr/>
      </dsp:nvSpPr>
      <dsp:spPr>
        <a:xfrm>
          <a:off x="2355850"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2355850" y="2550475"/>
        <a:ext cx="316861" cy="317716"/>
      </dsp:txXfrm>
    </dsp:sp>
    <dsp:sp modelId="{38572BA1-0A8D-464A-877D-4446F9B879C6}">
      <dsp:nvSpPr>
        <dsp:cNvPr id="0" name=""/>
        <dsp:cNvSpPr/>
      </dsp:nvSpPr>
      <dsp:spPr>
        <a:xfrm>
          <a:off x="2996406"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Explain each of the components</a:t>
          </a:r>
        </a:p>
      </dsp:txBody>
      <dsp:txXfrm>
        <a:off x="3033928" y="2106299"/>
        <a:ext cx="2060143" cy="1206068"/>
      </dsp:txXfrm>
    </dsp:sp>
    <dsp:sp modelId="{FCB8688A-F7F1-4041-99B8-96BEABF486D6}">
      <dsp:nvSpPr>
        <dsp:cNvPr id="0" name=""/>
        <dsp:cNvSpPr/>
      </dsp:nvSpPr>
      <dsp:spPr>
        <a:xfrm>
          <a:off x="5345112"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GB" sz="2000" kern="1200"/>
        </a:p>
      </dsp:txBody>
      <dsp:txXfrm>
        <a:off x="5345112" y="2550475"/>
        <a:ext cx="316861" cy="317716"/>
      </dsp:txXfrm>
    </dsp:sp>
    <dsp:sp modelId="{65561DB3-E495-4B50-B8B8-66B7A2E3D4AF}">
      <dsp:nvSpPr>
        <dsp:cNvPr id="0" name=""/>
        <dsp:cNvSpPr/>
      </dsp:nvSpPr>
      <dsp:spPr>
        <a:xfrm>
          <a:off x="5985668"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Aggregate component descriptions</a:t>
          </a:r>
        </a:p>
      </dsp:txBody>
      <dsp:txXfrm>
        <a:off x="6023190" y="2106299"/>
        <a:ext cx="2060143" cy="12060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D90D49-3787-4A54-9466-5827B6037BC7}">
      <dsp:nvSpPr>
        <dsp:cNvPr id="0" name=""/>
        <dsp:cNvSpPr/>
      </dsp:nvSpPr>
      <dsp:spPr>
        <a:xfrm>
          <a:off x="7143"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Identify a system containing the system of interest</a:t>
          </a:r>
        </a:p>
      </dsp:txBody>
      <dsp:txXfrm>
        <a:off x="44665" y="2106299"/>
        <a:ext cx="2060143" cy="1206068"/>
      </dsp:txXfrm>
    </dsp:sp>
    <dsp:sp modelId="{71B5A048-D0C9-4417-ABD8-A4FFAC13211D}">
      <dsp:nvSpPr>
        <dsp:cNvPr id="0" name=""/>
        <dsp:cNvSpPr/>
      </dsp:nvSpPr>
      <dsp:spPr>
        <a:xfrm>
          <a:off x="2355850"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355850" y="2550475"/>
        <a:ext cx="316861" cy="317716"/>
      </dsp:txXfrm>
    </dsp:sp>
    <dsp:sp modelId="{38572BA1-0A8D-464A-877D-4446F9B879C6}">
      <dsp:nvSpPr>
        <dsp:cNvPr id="0" name=""/>
        <dsp:cNvSpPr/>
      </dsp:nvSpPr>
      <dsp:spPr>
        <a:xfrm>
          <a:off x="2996406"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Explain the behaviour of the containing system</a:t>
          </a:r>
        </a:p>
      </dsp:txBody>
      <dsp:txXfrm>
        <a:off x="3033928" y="2106299"/>
        <a:ext cx="2060143" cy="1206068"/>
      </dsp:txXfrm>
    </dsp:sp>
    <dsp:sp modelId="{FCB8688A-F7F1-4041-99B8-96BEABF486D6}">
      <dsp:nvSpPr>
        <dsp:cNvPr id="0" name=""/>
        <dsp:cNvSpPr/>
      </dsp:nvSpPr>
      <dsp:spPr>
        <a:xfrm>
          <a:off x="5345112" y="2444570"/>
          <a:ext cx="452659" cy="52952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5345112" y="2550475"/>
        <a:ext cx="316861" cy="317716"/>
      </dsp:txXfrm>
    </dsp:sp>
    <dsp:sp modelId="{65561DB3-E495-4B50-B8B8-66B7A2E3D4AF}">
      <dsp:nvSpPr>
        <dsp:cNvPr id="0" name=""/>
        <dsp:cNvSpPr/>
      </dsp:nvSpPr>
      <dsp:spPr>
        <a:xfrm>
          <a:off x="5985668" y="2068777"/>
          <a:ext cx="2135187" cy="1281112"/>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GB" sz="1900" kern="1200" dirty="0"/>
            <a:t>Disaggregate behaviour to system of interest’s function</a:t>
          </a:r>
        </a:p>
      </dsp:txBody>
      <dsp:txXfrm>
        <a:off x="6023190" y="2106299"/>
        <a:ext cx="2060143" cy="12060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5D4BEE-6DA1-46CE-9FF3-9244877A7A60}">
      <dsp:nvSpPr>
        <dsp:cNvPr id="0" name=""/>
        <dsp:cNvSpPr/>
      </dsp:nvSpPr>
      <dsp:spPr>
        <a:xfrm>
          <a:off x="215" y="278337"/>
          <a:ext cx="2601301" cy="3121562"/>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66800">
            <a:lnSpc>
              <a:spcPct val="90000"/>
            </a:lnSpc>
            <a:spcBef>
              <a:spcPct val="0"/>
            </a:spcBef>
            <a:spcAft>
              <a:spcPct val="35000"/>
            </a:spcAft>
            <a:buNone/>
          </a:pPr>
          <a:r>
            <a:rPr lang="en-US" sz="2400" kern="1200" dirty="0"/>
            <a:t>is </a:t>
          </a:r>
          <a:r>
            <a:rPr lang="en-US" sz="2400" b="1" kern="1200" dirty="0"/>
            <a:t>Hierarchical</a:t>
          </a:r>
        </a:p>
      </dsp:txBody>
      <dsp:txXfrm>
        <a:off x="215" y="1526962"/>
        <a:ext cx="2601301" cy="1872937"/>
      </dsp:txXfrm>
    </dsp:sp>
    <dsp:sp modelId="{BBC4DE70-910C-4948-B26A-FBAF734B0650}">
      <dsp:nvSpPr>
        <dsp:cNvPr id="0" name=""/>
        <dsp:cNvSpPr/>
      </dsp:nvSpPr>
      <dsp:spPr>
        <a:xfrm>
          <a:off x="215"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215" y="278337"/>
        <a:ext cx="2601301" cy="1248624"/>
      </dsp:txXfrm>
    </dsp:sp>
    <dsp:sp modelId="{D5AFAC22-61B6-44BF-B7E9-F3B357422574}">
      <dsp:nvSpPr>
        <dsp:cNvPr id="0" name=""/>
        <dsp:cNvSpPr/>
      </dsp:nvSpPr>
      <dsp:spPr>
        <a:xfrm>
          <a:off x="2809621" y="278337"/>
          <a:ext cx="2601301" cy="3121562"/>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66800">
            <a:lnSpc>
              <a:spcPct val="90000"/>
            </a:lnSpc>
            <a:spcBef>
              <a:spcPct val="0"/>
            </a:spcBef>
            <a:spcAft>
              <a:spcPct val="35000"/>
            </a:spcAft>
            <a:buNone/>
          </a:pPr>
          <a:r>
            <a:rPr lang="en-US" sz="2400" kern="1200" dirty="0"/>
            <a:t>has a </a:t>
          </a:r>
          <a:r>
            <a:rPr lang="en-US" sz="2400" b="1" kern="1200" dirty="0"/>
            <a:t>SINGLE </a:t>
          </a:r>
          <a:r>
            <a:rPr lang="en-US" sz="2400" kern="1200" dirty="0"/>
            <a:t>objective</a:t>
          </a:r>
        </a:p>
      </dsp:txBody>
      <dsp:txXfrm>
        <a:off x="2809621" y="1526962"/>
        <a:ext cx="2601301" cy="1872937"/>
      </dsp:txXfrm>
    </dsp:sp>
    <dsp:sp modelId="{7925C6DF-E736-4971-BF6B-F4FF412621C9}">
      <dsp:nvSpPr>
        <dsp:cNvPr id="0" name=""/>
        <dsp:cNvSpPr/>
      </dsp:nvSpPr>
      <dsp:spPr>
        <a:xfrm>
          <a:off x="2809621"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2809621" y="278337"/>
        <a:ext cx="2601301" cy="1248624"/>
      </dsp:txXfrm>
    </dsp:sp>
    <dsp:sp modelId="{25CD44DD-DF87-45F8-A128-674B8649AD8F}">
      <dsp:nvSpPr>
        <dsp:cNvPr id="0" name=""/>
        <dsp:cNvSpPr/>
      </dsp:nvSpPr>
      <dsp:spPr>
        <a:xfrm>
          <a:off x="5619027" y="278337"/>
          <a:ext cx="2601301" cy="3121562"/>
        </a:xfrm>
        <a:prstGeom prst="rect">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66800">
            <a:lnSpc>
              <a:spcPct val="90000"/>
            </a:lnSpc>
            <a:spcBef>
              <a:spcPct val="0"/>
            </a:spcBef>
            <a:spcAft>
              <a:spcPct val="35000"/>
            </a:spcAft>
            <a:buNone/>
          </a:pPr>
          <a:r>
            <a:rPr lang="en-US" sz="2400" kern="1200" dirty="0"/>
            <a:t>composed of</a:t>
          </a:r>
        </a:p>
        <a:p>
          <a:pPr marL="0" lvl="0" indent="0" algn="l" defTabSz="1066800">
            <a:lnSpc>
              <a:spcPct val="90000"/>
            </a:lnSpc>
            <a:spcBef>
              <a:spcPct val="0"/>
            </a:spcBef>
            <a:spcAft>
              <a:spcPct val="35000"/>
            </a:spcAft>
            <a:buNone/>
          </a:pPr>
          <a:r>
            <a:rPr lang="en-US" sz="2400" b="1" kern="1200" dirty="0"/>
            <a:t>Components</a:t>
          </a:r>
          <a:r>
            <a:rPr lang="en-US" sz="2400" kern="1200" dirty="0"/>
            <a:t>, </a:t>
          </a:r>
          <a:r>
            <a:rPr lang="en-US" sz="2400" b="1" kern="1200" dirty="0"/>
            <a:t>Attributes</a:t>
          </a:r>
          <a:r>
            <a:rPr lang="en-US" sz="2400" kern="1200" dirty="0"/>
            <a:t>, and </a:t>
          </a:r>
          <a:r>
            <a:rPr lang="en-US" sz="2400" b="1" kern="1200" dirty="0"/>
            <a:t>Relationships</a:t>
          </a:r>
        </a:p>
      </dsp:txBody>
      <dsp:txXfrm>
        <a:off x="5619027" y="1526962"/>
        <a:ext cx="2601301" cy="1872937"/>
      </dsp:txXfrm>
    </dsp:sp>
    <dsp:sp modelId="{AE03AC78-88D6-4E79-873A-CF672DA53C34}">
      <dsp:nvSpPr>
        <dsp:cNvPr id="0" name=""/>
        <dsp:cNvSpPr/>
      </dsp:nvSpPr>
      <dsp:spPr>
        <a:xfrm>
          <a:off x="5619027"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5619027" y="278337"/>
        <a:ext cx="2601301" cy="1248624"/>
      </dsp:txXfrm>
    </dsp:sp>
    <dsp:sp modelId="{BF428BDC-42F6-434D-8668-DA4CB4ED82D0}">
      <dsp:nvSpPr>
        <dsp:cNvPr id="0" name=""/>
        <dsp:cNvSpPr/>
      </dsp:nvSpPr>
      <dsp:spPr>
        <a:xfrm>
          <a:off x="8428432" y="278337"/>
          <a:ext cx="2601301" cy="3121562"/>
        </a:xfrm>
        <a:prstGeom prst="rect">
          <a:avLst/>
        </a:prstGeom>
        <a:solidFill>
          <a:schemeClr val="accent5">
            <a:hueOff val="0"/>
            <a:satOff val="0"/>
            <a:lumOff val="0"/>
            <a:alphaOff val="0"/>
          </a:schemeClr>
        </a:solidFill>
        <a:ln w="22225"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6951" tIns="0" rIns="256951" bIns="330200" numCol="1" spcCol="1270" anchor="t" anchorCtr="0">
          <a:noAutofit/>
        </a:bodyPr>
        <a:lstStyle/>
        <a:p>
          <a:pPr marL="0" lvl="0" indent="0" algn="l" defTabSz="1066800">
            <a:lnSpc>
              <a:spcPct val="90000"/>
            </a:lnSpc>
            <a:spcBef>
              <a:spcPct val="0"/>
            </a:spcBef>
            <a:spcAft>
              <a:spcPct val="35000"/>
            </a:spcAft>
            <a:buNone/>
          </a:pPr>
          <a:r>
            <a:rPr lang="en-US" sz="2400" b="0" kern="1200" dirty="0"/>
            <a:t>has </a:t>
          </a:r>
          <a:r>
            <a:rPr lang="en-US" sz="2400" b="1" kern="1200" dirty="0"/>
            <a:t>Emergent properties </a:t>
          </a:r>
          <a:r>
            <a:rPr lang="en-US" sz="2400" b="0" kern="1200" dirty="0"/>
            <a:t>that is more than sum of parts</a:t>
          </a:r>
        </a:p>
      </dsp:txBody>
      <dsp:txXfrm>
        <a:off x="8428432" y="1526962"/>
        <a:ext cx="2601301" cy="1872937"/>
      </dsp:txXfrm>
    </dsp:sp>
    <dsp:sp modelId="{68E20A92-34BC-4BE9-95F0-4D17FED0CDAD}">
      <dsp:nvSpPr>
        <dsp:cNvPr id="0" name=""/>
        <dsp:cNvSpPr/>
      </dsp:nvSpPr>
      <dsp:spPr>
        <a:xfrm>
          <a:off x="8428432" y="278337"/>
          <a:ext cx="2601301" cy="1248624"/>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6951" tIns="165100" rIns="256951" bIns="165100" numCol="1" spcCol="1270" anchor="ctr" anchorCtr="0">
          <a:noAutofit/>
        </a:bodyPr>
        <a:lstStyle/>
        <a:p>
          <a:pPr marL="0" lvl="0" indent="0" algn="l" defTabSz="2933700">
            <a:lnSpc>
              <a:spcPct val="90000"/>
            </a:lnSpc>
            <a:spcBef>
              <a:spcPct val="0"/>
            </a:spcBef>
            <a:spcAft>
              <a:spcPct val="35000"/>
            </a:spcAft>
            <a:buNone/>
          </a:pPr>
          <a:r>
            <a:rPr lang="en-US" sz="6600" kern="1200"/>
            <a:t>04</a:t>
          </a:r>
        </a:p>
      </dsp:txBody>
      <dsp:txXfrm>
        <a:off x="8428432" y="278337"/>
        <a:ext cx="2601301" cy="12486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5D4BEE-6DA1-46CE-9FF3-9244877A7A60}">
      <dsp:nvSpPr>
        <dsp:cNvPr id="0" name=""/>
        <dsp:cNvSpPr/>
      </dsp:nvSpPr>
      <dsp:spPr>
        <a:xfrm>
          <a:off x="861" y="0"/>
          <a:ext cx="3489945" cy="3678238"/>
        </a:xfrm>
        <a:prstGeom prst="rect">
          <a:avLst/>
        </a:prstGeom>
        <a:solidFill>
          <a:schemeClr val="accent2">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US" sz="2600" kern="1200" dirty="0"/>
            <a:t>Systems Engineering is a formal process</a:t>
          </a:r>
        </a:p>
      </dsp:txBody>
      <dsp:txXfrm>
        <a:off x="861" y="1471295"/>
        <a:ext cx="3489945" cy="2206942"/>
      </dsp:txXfrm>
    </dsp:sp>
    <dsp:sp modelId="{BBC4DE70-910C-4948-B26A-FBAF734B0650}">
      <dsp:nvSpPr>
        <dsp:cNvPr id="0" name=""/>
        <dsp:cNvSpPr/>
      </dsp:nvSpPr>
      <dsp:spPr>
        <a:xfrm>
          <a:off x="861"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61" y="0"/>
        <a:ext cx="3489945" cy="1471295"/>
      </dsp:txXfrm>
    </dsp:sp>
    <dsp:sp modelId="{D5AFAC22-61B6-44BF-B7E9-F3B357422574}">
      <dsp:nvSpPr>
        <dsp:cNvPr id="0" name=""/>
        <dsp:cNvSpPr/>
      </dsp:nvSpPr>
      <dsp:spPr>
        <a:xfrm>
          <a:off x="3770002" y="0"/>
          <a:ext cx="3489945" cy="3678238"/>
        </a:xfrm>
        <a:prstGeom prst="rect">
          <a:avLst/>
        </a:prstGeom>
        <a:solidFill>
          <a:schemeClr val="accent3">
            <a:hueOff val="0"/>
            <a:satOff val="0"/>
            <a:lumOff val="0"/>
            <a:alphaOff val="0"/>
          </a:schemeClr>
        </a:solidFill>
        <a:ln w="2222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ZA" sz="2600" kern="1200" dirty="0"/>
            <a:t>Aim to deliver best stakeholder value</a:t>
          </a:r>
          <a:endParaRPr lang="en-US" sz="2600" kern="1200" dirty="0"/>
        </a:p>
      </dsp:txBody>
      <dsp:txXfrm>
        <a:off x="3770002" y="1471295"/>
        <a:ext cx="3489945" cy="2206942"/>
      </dsp:txXfrm>
    </dsp:sp>
    <dsp:sp modelId="{7925C6DF-E736-4971-BF6B-F4FF412621C9}">
      <dsp:nvSpPr>
        <dsp:cNvPr id="0" name=""/>
        <dsp:cNvSpPr/>
      </dsp:nvSpPr>
      <dsp:spPr>
        <a:xfrm>
          <a:off x="3770002"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70002" y="0"/>
        <a:ext cx="3489945" cy="1471295"/>
      </dsp:txXfrm>
    </dsp:sp>
    <dsp:sp modelId="{25CD44DD-DF87-45F8-A128-674B8649AD8F}">
      <dsp:nvSpPr>
        <dsp:cNvPr id="0" name=""/>
        <dsp:cNvSpPr/>
      </dsp:nvSpPr>
      <dsp:spPr>
        <a:xfrm>
          <a:off x="7539143" y="0"/>
          <a:ext cx="3489945" cy="3678238"/>
        </a:xfrm>
        <a:prstGeom prst="rect">
          <a:avLst/>
        </a:prstGeom>
        <a:solidFill>
          <a:schemeClr val="accent4">
            <a:hueOff val="0"/>
            <a:satOff val="0"/>
            <a:lumOff val="0"/>
            <a:alphaOff val="0"/>
          </a:schemeClr>
        </a:solidFill>
        <a:ln w="2222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4729" tIns="0" rIns="344729" bIns="330200" numCol="1" spcCol="1270" anchor="t" anchorCtr="0">
          <a:noAutofit/>
        </a:bodyPr>
        <a:lstStyle/>
        <a:p>
          <a:pPr marL="0" lvl="0" indent="0" algn="l" defTabSz="1155700">
            <a:lnSpc>
              <a:spcPct val="90000"/>
            </a:lnSpc>
            <a:spcBef>
              <a:spcPct val="0"/>
            </a:spcBef>
            <a:spcAft>
              <a:spcPct val="35000"/>
            </a:spcAft>
            <a:buNone/>
          </a:pPr>
          <a:r>
            <a:rPr lang="en-ZA" sz="2600" kern="1200" dirty="0"/>
            <a:t>Incremental development approaches help to manage risk</a:t>
          </a:r>
          <a:endParaRPr lang="en-US" sz="2600" kern="1200" dirty="0"/>
        </a:p>
      </dsp:txBody>
      <dsp:txXfrm>
        <a:off x="7539143" y="1471295"/>
        <a:ext cx="3489945" cy="2206942"/>
      </dsp:txXfrm>
    </dsp:sp>
    <dsp:sp modelId="{AE03AC78-88D6-4E79-873A-CF672DA53C34}">
      <dsp:nvSpPr>
        <dsp:cNvPr id="0" name=""/>
        <dsp:cNvSpPr/>
      </dsp:nvSpPr>
      <dsp:spPr>
        <a:xfrm>
          <a:off x="7539143" y="0"/>
          <a:ext cx="3489945" cy="1471295"/>
        </a:xfrm>
        <a:prstGeom prst="rect">
          <a:avLst/>
        </a:prstGeom>
        <a:noFill/>
        <a:ln w="2222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4729" tIns="165100" rIns="344729"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539143" y="0"/>
        <a:ext cx="3489945" cy="1471295"/>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BABC7-DAE0-4041-AE55-8098537A4F71}" type="datetimeFigureOut">
              <a:rPr lang="en-GB" smtClean="0"/>
              <a:t>22/07/2026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95338-AEAB-456A-9E65-33FAB70ABE16}" type="slidenum">
              <a:rPr lang="en-GB" smtClean="0"/>
              <a:t>‹#›</a:t>
            </a:fld>
            <a:endParaRPr lang="en-GB"/>
          </a:p>
        </p:txBody>
      </p:sp>
    </p:spTree>
    <p:extLst>
      <p:ext uri="{BB962C8B-B14F-4D97-AF65-F5344CB8AC3E}">
        <p14:creationId xmlns:p14="http://schemas.microsoft.com/office/powerpoint/2010/main" val="2740130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It should be obvious that neither analytic thinking nor synthetic thinking alone would be sufficient to design truly well functioning systems. The synthetic side would gloss over some of the (maybe very important) low-level detail whilst the analytic approach might fail to consider the environment in which the system should operate.</a:t>
            </a:r>
          </a:p>
          <a:p>
            <a:endParaRPr lang="en-ZA" dirty="0"/>
          </a:p>
          <a:p>
            <a:r>
              <a:rPr lang="en-ZA" dirty="0"/>
              <a:t>Consider the following: If you were to design a 5V power supply which type of thinking would you naturally lean towards? Most likely analytical thinking and that would quickly lead to some process or procedure that you learned in electronics... That might be perfectly fine for a lab practical but how would the design need to change if</a:t>
            </a:r>
          </a:p>
          <a:p>
            <a:pPr marL="171450" indent="-171450">
              <a:buFontTx/>
              <a:buChar char="-"/>
            </a:pPr>
            <a:r>
              <a:rPr lang="en-ZA" dirty="0"/>
              <a:t>The power supply was to be used in very cold climates such as the arctic?</a:t>
            </a:r>
          </a:p>
          <a:p>
            <a:pPr marL="171450" indent="-171450">
              <a:buFontTx/>
              <a:buChar char="-"/>
            </a:pPr>
            <a:r>
              <a:rPr lang="en-ZA" dirty="0"/>
              <a:t>Very hot climates were more realistic, say for instance the Namib dessert?</a:t>
            </a:r>
          </a:p>
          <a:p>
            <a:pPr marL="171450" indent="-171450">
              <a:buFontTx/>
              <a:buChar char="-"/>
            </a:pPr>
            <a:r>
              <a:rPr lang="en-ZA" dirty="0"/>
              <a:t>What if it were to be used in life saving medical devices?</a:t>
            </a:r>
          </a:p>
          <a:p>
            <a:pPr marL="171450" indent="-171450">
              <a:buFontTx/>
              <a:buChar char="-"/>
            </a:pPr>
            <a:endParaRPr lang="en-ZA" dirty="0"/>
          </a:p>
          <a:p>
            <a:pPr marL="0" indent="0">
              <a:buFontTx/>
              <a:buNone/>
            </a:pPr>
            <a:r>
              <a:rPr lang="en-ZA" dirty="0"/>
              <a:t>As you can see the context in which a system is used, is just as important than the technical implementation details.</a:t>
            </a:r>
          </a:p>
          <a:p>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2</a:t>
            </a:fld>
            <a:endParaRPr lang="en-GB"/>
          </a:p>
        </p:txBody>
      </p:sp>
    </p:spTree>
    <p:extLst>
      <p:ext uri="{BB962C8B-B14F-4D97-AF65-F5344CB8AC3E}">
        <p14:creationId xmlns:p14="http://schemas.microsoft.com/office/powerpoint/2010/main" val="3599026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Analytical thinking is required to understand how thigs work, and that is typically what engineers are concerned with (initially at least). </a:t>
            </a:r>
          </a:p>
        </p:txBody>
      </p:sp>
      <p:sp>
        <p:nvSpPr>
          <p:cNvPr id="4" name="Slide Number Placeholder 3"/>
          <p:cNvSpPr>
            <a:spLocks noGrp="1"/>
          </p:cNvSpPr>
          <p:nvPr>
            <p:ph type="sldNum" sz="quarter" idx="5"/>
          </p:nvPr>
        </p:nvSpPr>
        <p:spPr/>
        <p:txBody>
          <a:bodyPr/>
          <a:lstStyle/>
          <a:p>
            <a:fld id="{CA68B9C4-BC1C-48D0-AE2F-1D9956065748}" type="slidenum">
              <a:rPr lang="en-GB" smtClean="0"/>
              <a:t>3</a:t>
            </a:fld>
            <a:endParaRPr lang="en-GB"/>
          </a:p>
        </p:txBody>
      </p:sp>
    </p:spTree>
    <p:extLst>
      <p:ext uri="{BB962C8B-B14F-4D97-AF65-F5344CB8AC3E}">
        <p14:creationId xmlns:p14="http://schemas.microsoft.com/office/powerpoint/2010/main" val="255397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Synthetic thinking on the other hand is concerned with identifying how systems (or sub-systems) are related to other systems, the environment, and itself. By using synthetic thinking you are trying to understand behaviour and from those behaviour(s) identify functionality.</a:t>
            </a:r>
          </a:p>
        </p:txBody>
      </p:sp>
      <p:sp>
        <p:nvSpPr>
          <p:cNvPr id="4" name="Slide Number Placeholder 3"/>
          <p:cNvSpPr>
            <a:spLocks noGrp="1"/>
          </p:cNvSpPr>
          <p:nvPr>
            <p:ph type="sldNum" sz="quarter" idx="5"/>
          </p:nvPr>
        </p:nvSpPr>
        <p:spPr/>
        <p:txBody>
          <a:bodyPr/>
          <a:lstStyle/>
          <a:p>
            <a:fld id="{CA68B9C4-BC1C-48D0-AE2F-1D9956065748}" type="slidenum">
              <a:rPr lang="en-GB" smtClean="0"/>
              <a:t>4</a:t>
            </a:fld>
            <a:endParaRPr lang="en-GB"/>
          </a:p>
        </p:txBody>
      </p:sp>
    </p:spTree>
    <p:extLst>
      <p:ext uri="{BB962C8B-B14F-4D97-AF65-F5344CB8AC3E}">
        <p14:creationId xmlns:p14="http://schemas.microsoft.com/office/powerpoint/2010/main" val="2523568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collection of parts is</a:t>
            </a:r>
            <a:r>
              <a:rPr lang="en-GB" baseline="0" dirty="0"/>
              <a:t> commonly seen as a system. At MOST this is a collection or set of parts. If there are no explicit mention of interactions, systems thinking is not evident.</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5</a:t>
            </a:fld>
            <a:endParaRPr lang="en-GB"/>
          </a:p>
        </p:txBody>
      </p:sp>
    </p:spTree>
    <p:extLst>
      <p:ext uri="{BB962C8B-B14F-4D97-AF65-F5344CB8AC3E}">
        <p14:creationId xmlns:p14="http://schemas.microsoft.com/office/powerpoint/2010/main" val="1683984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Systems thinking is hierarchical in nature, and since SE is based on systems thinking so too is our perspective. Any isolated system will be a sub-system of a larger system and contain one or more sub-systems. It is important to note that for engineered systems this perspective has practical limitations. We’ll delve into those details later on.</a:t>
            </a:r>
          </a:p>
        </p:txBody>
      </p:sp>
      <p:sp>
        <p:nvSpPr>
          <p:cNvPr id="4" name="Slide Number Placeholder 3"/>
          <p:cNvSpPr>
            <a:spLocks noGrp="1"/>
          </p:cNvSpPr>
          <p:nvPr>
            <p:ph type="sldNum" sz="quarter" idx="5"/>
          </p:nvPr>
        </p:nvSpPr>
        <p:spPr/>
        <p:txBody>
          <a:bodyPr/>
          <a:lstStyle/>
          <a:p>
            <a:fld id="{CA68B9C4-BC1C-48D0-AE2F-1D9956065748}" type="slidenum">
              <a:rPr lang="en-GB" smtClean="0"/>
              <a:t>6</a:t>
            </a:fld>
            <a:endParaRPr lang="en-GB"/>
          </a:p>
        </p:txBody>
      </p:sp>
    </p:spTree>
    <p:extLst>
      <p:ext uri="{BB962C8B-B14F-4D97-AF65-F5344CB8AC3E}">
        <p14:creationId xmlns:p14="http://schemas.microsoft.com/office/powerpoint/2010/main" val="126777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Think about this carefully. A system is not just a collection of parts! If you take away the interactions between the parts the entire system collapses. Although this is a simple concept to grasp, it is much more complex in practice.</a:t>
            </a:r>
          </a:p>
        </p:txBody>
      </p:sp>
      <p:sp>
        <p:nvSpPr>
          <p:cNvPr id="4" name="Slide Number Placeholder 3"/>
          <p:cNvSpPr>
            <a:spLocks noGrp="1"/>
          </p:cNvSpPr>
          <p:nvPr>
            <p:ph type="sldNum" sz="quarter" idx="5"/>
          </p:nvPr>
        </p:nvSpPr>
        <p:spPr/>
        <p:txBody>
          <a:bodyPr/>
          <a:lstStyle/>
          <a:p>
            <a:fld id="{CA68B9C4-BC1C-48D0-AE2F-1D9956065748}" type="slidenum">
              <a:rPr lang="en-GB" smtClean="0"/>
              <a:t>7</a:t>
            </a:fld>
            <a:endParaRPr lang="en-GB"/>
          </a:p>
        </p:txBody>
      </p:sp>
    </p:spTree>
    <p:extLst>
      <p:ext uri="{BB962C8B-B14F-4D97-AF65-F5344CB8AC3E}">
        <p14:creationId xmlns:p14="http://schemas.microsoft.com/office/powerpoint/2010/main" val="8427328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 an abstract level this represents a system. Every system has some “world” in which it exists and over which it can exercise some form of control. This is referred to as the </a:t>
            </a:r>
            <a:r>
              <a:rPr lang="en-ZA" b="1" dirty="0"/>
              <a:t>system scope</a:t>
            </a:r>
            <a:r>
              <a:rPr lang="en-ZA" b="0" dirty="0"/>
              <a:t>.</a:t>
            </a:r>
          </a:p>
          <a:p>
            <a:r>
              <a:rPr lang="en-ZA" b="0" dirty="0"/>
              <a:t>Anything that falls outside of the system scope is considered the </a:t>
            </a:r>
            <a:r>
              <a:rPr lang="en-ZA" b="1" dirty="0"/>
              <a:t>environment</a:t>
            </a:r>
            <a:r>
              <a:rPr lang="en-ZA" b="0" dirty="0"/>
              <a:t> and this might be a physical environment / information environment / social environment etc.</a:t>
            </a:r>
          </a:p>
          <a:p>
            <a:r>
              <a:rPr lang="en-ZA" b="0" dirty="0"/>
              <a:t>Finally, a system shall produce some form of output, based on certain inputs and subject to constraints. </a:t>
            </a:r>
          </a:p>
        </p:txBody>
      </p:sp>
      <p:sp>
        <p:nvSpPr>
          <p:cNvPr id="4" name="Slide Number Placeholder 3"/>
          <p:cNvSpPr>
            <a:spLocks noGrp="1"/>
          </p:cNvSpPr>
          <p:nvPr>
            <p:ph type="sldNum" sz="quarter" idx="5"/>
          </p:nvPr>
        </p:nvSpPr>
        <p:spPr/>
        <p:txBody>
          <a:bodyPr/>
          <a:lstStyle/>
          <a:p>
            <a:fld id="{CA68B9C4-BC1C-48D0-AE2F-1D9956065748}" type="slidenum">
              <a:rPr lang="en-GB" smtClean="0"/>
              <a:t>9</a:t>
            </a:fld>
            <a:endParaRPr lang="en-GB"/>
          </a:p>
        </p:txBody>
      </p:sp>
    </p:spTree>
    <p:extLst>
      <p:ext uri="{BB962C8B-B14F-4D97-AF65-F5344CB8AC3E}">
        <p14:creationId xmlns:p14="http://schemas.microsoft.com/office/powerpoint/2010/main" val="1309077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Note that the relationships cannot exist in isolation and requires components. Since we need to describe the components certain attributes are used. The attributes vary from component to component. You should be familiar with some attributes of electronic components such as a resistor’s (component) resistance (attribute), power dissipation rating (attribute) and physical size (attribute). As components become more abstract so too does the attributes. However, the principle remains.</a:t>
            </a:r>
          </a:p>
        </p:txBody>
      </p:sp>
      <p:sp>
        <p:nvSpPr>
          <p:cNvPr id="4" name="Slide Number Placeholder 3"/>
          <p:cNvSpPr>
            <a:spLocks noGrp="1"/>
          </p:cNvSpPr>
          <p:nvPr>
            <p:ph type="sldNum" sz="quarter" idx="5"/>
          </p:nvPr>
        </p:nvSpPr>
        <p:spPr/>
        <p:txBody>
          <a:bodyPr/>
          <a:lstStyle/>
          <a:p>
            <a:fld id="{CA68B9C4-BC1C-48D0-AE2F-1D9956065748}" type="slidenum">
              <a:rPr lang="en-GB" smtClean="0"/>
              <a:t>10</a:t>
            </a:fld>
            <a:endParaRPr lang="en-GB"/>
          </a:p>
        </p:txBody>
      </p:sp>
    </p:spTree>
    <p:extLst>
      <p:ext uri="{BB962C8B-B14F-4D97-AF65-F5344CB8AC3E}">
        <p14:creationId xmlns:p14="http://schemas.microsoft.com/office/powerpoint/2010/main" val="1493389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On an abstract level, once parts have been assembled into a system such a system has a specific state.</a:t>
            </a:r>
          </a:p>
          <a:p>
            <a:r>
              <a:rPr lang="en-ZA" dirty="0"/>
              <a:t>A state is an attribute of the system that can be observer (think of a state of being). Human beings can be in an </a:t>
            </a:r>
            <a:r>
              <a:rPr lang="en-ZA" i="1" dirty="0"/>
              <a:t>awake state </a:t>
            </a:r>
            <a:r>
              <a:rPr lang="en-ZA" i="0" dirty="0"/>
              <a:t>or </a:t>
            </a:r>
            <a:r>
              <a:rPr lang="en-ZA" i="1" dirty="0"/>
              <a:t>asleep state</a:t>
            </a:r>
          </a:p>
          <a:p>
            <a:r>
              <a:rPr lang="en-ZA" i="0" dirty="0"/>
              <a:t>A system behaviour is simply the changing system states over time. For the human example </a:t>
            </a:r>
            <a:r>
              <a:rPr lang="en-ZA" i="1" dirty="0"/>
              <a:t>waking up</a:t>
            </a:r>
            <a:r>
              <a:rPr lang="en-ZA" i="0" dirty="0"/>
              <a:t> can be a behaviour as it moves the human system from one state to another.</a:t>
            </a:r>
          </a:p>
          <a:p>
            <a:r>
              <a:rPr lang="en-ZA" i="0" dirty="0"/>
              <a:t>Finally, a system process is all of the system’s behaviours over time. This is a complex problem since not all behaviours occur on the same times scales. This aspect is not something that we consider in this module.</a:t>
            </a:r>
          </a:p>
        </p:txBody>
      </p:sp>
      <p:sp>
        <p:nvSpPr>
          <p:cNvPr id="4" name="Slide Number Placeholder 3"/>
          <p:cNvSpPr>
            <a:spLocks noGrp="1"/>
          </p:cNvSpPr>
          <p:nvPr>
            <p:ph type="sldNum" sz="quarter" idx="5"/>
          </p:nvPr>
        </p:nvSpPr>
        <p:spPr/>
        <p:txBody>
          <a:bodyPr/>
          <a:lstStyle/>
          <a:p>
            <a:fld id="{CA68B9C4-BC1C-48D0-AE2F-1D9956065748}" type="slidenum">
              <a:rPr lang="en-GB" smtClean="0"/>
              <a:t>11</a:t>
            </a:fld>
            <a:endParaRPr lang="en-GB"/>
          </a:p>
        </p:txBody>
      </p:sp>
    </p:spTree>
    <p:extLst>
      <p:ext uri="{BB962C8B-B14F-4D97-AF65-F5344CB8AC3E}">
        <p14:creationId xmlns:p14="http://schemas.microsoft.com/office/powerpoint/2010/main" val="24239840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Consider this example of a “</a:t>
            </a:r>
            <a:r>
              <a:rPr lang="en-ZA" dirty="0" err="1"/>
              <a:t>draadkar</a:t>
            </a:r>
            <a:r>
              <a:rPr lang="en-ZA" dirty="0"/>
              <a:t>” system. Sure, it is simplistic, but it illustrates the point. From a parts view this is a bunch of wire and some wheels. But if you assemble (thus add relationships) the individual parts utility emerges and you have a vehicle that can be steered around. Removing some of the wheels might not render the vehicle completely useless but certainly diminishes the value of the system (toy car) in this case.</a:t>
            </a:r>
          </a:p>
        </p:txBody>
      </p:sp>
      <p:sp>
        <p:nvSpPr>
          <p:cNvPr id="4" name="Slide Number Placeholder 3"/>
          <p:cNvSpPr>
            <a:spLocks noGrp="1"/>
          </p:cNvSpPr>
          <p:nvPr>
            <p:ph type="sldNum" sz="quarter" idx="5"/>
          </p:nvPr>
        </p:nvSpPr>
        <p:spPr/>
        <p:txBody>
          <a:bodyPr/>
          <a:lstStyle/>
          <a:p>
            <a:fld id="{CA68B9C4-BC1C-48D0-AE2F-1D9956065748}" type="slidenum">
              <a:rPr lang="en-GB" smtClean="0"/>
              <a:t>12</a:t>
            </a:fld>
            <a:endParaRPr lang="en-GB"/>
          </a:p>
        </p:txBody>
      </p:sp>
    </p:spTree>
    <p:extLst>
      <p:ext uri="{BB962C8B-B14F-4D97-AF65-F5344CB8AC3E}">
        <p14:creationId xmlns:p14="http://schemas.microsoft.com/office/powerpoint/2010/main" val="988250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This definition clearly defines the role of systems engineering in the design process. Clearly the focus is on delivering systems that provide value to the customer / stake-holder and not purely systems that make use of the latest and greatest technology.</a:t>
            </a:r>
          </a:p>
        </p:txBody>
      </p:sp>
      <p:sp>
        <p:nvSpPr>
          <p:cNvPr id="4" name="Slide Number Placeholder 3"/>
          <p:cNvSpPr>
            <a:spLocks noGrp="1"/>
          </p:cNvSpPr>
          <p:nvPr>
            <p:ph type="sldNum" sz="quarter" idx="5"/>
          </p:nvPr>
        </p:nvSpPr>
        <p:spPr/>
        <p:txBody>
          <a:bodyPr/>
          <a:lstStyle/>
          <a:p>
            <a:fld id="{CA68B9C4-BC1C-48D0-AE2F-1D9956065748}" type="slidenum">
              <a:rPr lang="en-GB" smtClean="0"/>
              <a:t>14</a:t>
            </a:fld>
            <a:endParaRPr lang="en-GB"/>
          </a:p>
        </p:txBody>
      </p:sp>
    </p:spTree>
    <p:extLst>
      <p:ext uri="{BB962C8B-B14F-4D97-AF65-F5344CB8AC3E}">
        <p14:creationId xmlns:p14="http://schemas.microsoft.com/office/powerpoint/2010/main" val="1954311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the dictionary definition of design alone it is clear that design is not a singular activity. Yes it will be sketches and drawings but note that “execution of plans” is included. So one could say </a:t>
            </a:r>
            <a:r>
              <a:rPr lang="en-GB" dirty="0" err="1"/>
              <a:t>th</a:t>
            </a:r>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16</a:t>
            </a:fld>
            <a:endParaRPr lang="en-GB"/>
          </a:p>
        </p:txBody>
      </p:sp>
    </p:spTree>
    <p:extLst>
      <p:ext uri="{BB962C8B-B14F-4D97-AF65-F5344CB8AC3E}">
        <p14:creationId xmlns:p14="http://schemas.microsoft.com/office/powerpoint/2010/main" val="20250736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this one can clearly identify that </a:t>
            </a:r>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17</a:t>
            </a:fld>
            <a:endParaRPr lang="en-GB"/>
          </a:p>
        </p:txBody>
      </p:sp>
    </p:spTree>
    <p:extLst>
      <p:ext uri="{BB962C8B-B14F-4D97-AF65-F5344CB8AC3E}">
        <p14:creationId xmlns:p14="http://schemas.microsoft.com/office/powerpoint/2010/main" val="614989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An Engineered system is one that is purposefully and by concerted effort established to address a certain need. Although there are many types of systems (biological systems, social systems, solar systems) our focus here is on the engineered variant.</a:t>
            </a:r>
          </a:p>
          <a:p>
            <a:r>
              <a:rPr lang="en-ZA" dirty="0"/>
              <a:t>A system has one and ONLY one purpose. It might have many sub-objectives / purposes but there is only a single purpose for the system. If you think about a transport system the objective of the system is to transport items from point A to point B. Sure, there might be some rail transport, some air transport, some cycling etc. and we might need to move cargo and/or passengers, BUT the main purpose remains.</a:t>
            </a:r>
          </a:p>
          <a:p>
            <a:r>
              <a:rPr lang="en-ZA" dirty="0"/>
              <a:t>The aspects listed under engineering a system is deceptively difficult. It is typically not straight forward to determine the exact purpose of a system. However, determining how well a system should perform its purpose is probably the most complex of the systems engineering activities. We will spend a considerable amount of time on this matter in EEII327 / REII327.</a:t>
            </a:r>
          </a:p>
        </p:txBody>
      </p:sp>
      <p:sp>
        <p:nvSpPr>
          <p:cNvPr id="4" name="Slide Number Placeholder 3"/>
          <p:cNvSpPr>
            <a:spLocks noGrp="1"/>
          </p:cNvSpPr>
          <p:nvPr>
            <p:ph type="sldNum" sz="quarter" idx="10"/>
          </p:nvPr>
        </p:nvSpPr>
        <p:spPr/>
        <p:txBody>
          <a:bodyPr/>
          <a:lstStyle/>
          <a:p>
            <a:fld id="{54E6EEBA-32D8-40E8-A7BF-08042B407399}" type="slidenum">
              <a:rPr lang="en-ZA" smtClean="0"/>
              <a:t>18</a:t>
            </a:fld>
            <a:endParaRPr lang="en-ZA" dirty="0"/>
          </a:p>
        </p:txBody>
      </p:sp>
    </p:spTree>
    <p:extLst>
      <p:ext uri="{BB962C8B-B14F-4D97-AF65-F5344CB8AC3E}">
        <p14:creationId xmlns:p14="http://schemas.microsoft.com/office/powerpoint/2010/main" val="31942017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19</a:t>
            </a:fld>
            <a:endParaRPr lang="en-GB"/>
          </a:p>
        </p:txBody>
      </p:sp>
    </p:spTree>
    <p:extLst>
      <p:ext uri="{BB962C8B-B14F-4D97-AF65-F5344CB8AC3E}">
        <p14:creationId xmlns:p14="http://schemas.microsoft.com/office/powerpoint/2010/main" val="1113580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a typical systems engineering process a significant amount of time is spent on the left side of the Vee. Ideally every step is signed off and unchangeable before moving onto the next step. For example only once the concept of operation (</a:t>
            </a:r>
            <a:r>
              <a:rPr lang="en-GB" dirty="0" err="1"/>
              <a:t>ConOps</a:t>
            </a:r>
            <a:r>
              <a:rPr lang="en-GB" dirty="0"/>
              <a:t>) has been signed off will system requirements development start to take place. Bear in mind that specialist engineering (CE/EE/ME) only takes place at the bottom of the Vee (the pivot) in the traditional approach. </a:t>
            </a:r>
          </a:p>
          <a:p>
            <a:endParaRPr lang="en-GB" dirty="0"/>
          </a:p>
          <a:p>
            <a:r>
              <a:rPr lang="en-GB" dirty="0"/>
              <a:t>While this works for systems that can be well defined and that uses mature technology (think spacecraft) there is a hidden danger in that the systems engineer(s) must be sufficiently well versed in the technical aspects such that specifications are not impossible to achieve. This comes with experience….</a:t>
            </a:r>
          </a:p>
        </p:txBody>
      </p:sp>
      <p:sp>
        <p:nvSpPr>
          <p:cNvPr id="4" name="Slide Number Placeholder 3"/>
          <p:cNvSpPr>
            <a:spLocks noGrp="1"/>
          </p:cNvSpPr>
          <p:nvPr>
            <p:ph type="sldNum" sz="quarter" idx="5"/>
          </p:nvPr>
        </p:nvSpPr>
        <p:spPr/>
        <p:txBody>
          <a:bodyPr/>
          <a:lstStyle/>
          <a:p>
            <a:fld id="{F4095338-AEAB-456A-9E65-33FAB70ABE16}" type="slidenum">
              <a:rPr lang="en-GB" smtClean="0"/>
              <a:t>20</a:t>
            </a:fld>
            <a:endParaRPr lang="en-GB"/>
          </a:p>
        </p:txBody>
      </p:sp>
    </p:spTree>
    <p:extLst>
      <p:ext uri="{BB962C8B-B14F-4D97-AF65-F5344CB8AC3E}">
        <p14:creationId xmlns:p14="http://schemas.microsoft.com/office/powerpoint/2010/main" val="34837963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D10C6-4391-99B1-A14D-C45627AE3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671CF-27AF-44E5-C037-651887EE08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E8A2B-6D6A-0B1F-0480-503B4EE0273B}"/>
              </a:ext>
            </a:extLst>
          </p:cNvPr>
          <p:cNvSpPr>
            <a:spLocks noGrp="1"/>
          </p:cNvSpPr>
          <p:nvPr>
            <p:ph type="body" idx="1"/>
          </p:nvPr>
        </p:nvSpPr>
        <p:spPr/>
        <p:txBody>
          <a:bodyPr/>
          <a:lstStyle/>
          <a:p>
            <a:r>
              <a:rPr lang="en-GB" dirty="0"/>
              <a:t>Although the Vee model has been in use (and remains in use in many cases) it is firmly on the left side of the knowledge environment. In that case the knowledge is certain and the environment is static (think spaceship).</a:t>
            </a:r>
          </a:p>
          <a:p>
            <a:r>
              <a:rPr lang="en-GB" dirty="0"/>
              <a:t>On the right hand we have a changing environment (the degree to which it changes can vary) and there is a large uncertainty in knowledge.</a:t>
            </a:r>
          </a:p>
        </p:txBody>
      </p:sp>
      <p:sp>
        <p:nvSpPr>
          <p:cNvPr id="4" name="Slide Number Placeholder 3">
            <a:extLst>
              <a:ext uri="{FF2B5EF4-FFF2-40B4-BE49-F238E27FC236}">
                <a16:creationId xmlns:a16="http://schemas.microsoft.com/office/drawing/2014/main" id="{4E91019F-469B-710C-28D2-157C13FF68FA}"/>
              </a:ext>
            </a:extLst>
          </p:cNvPr>
          <p:cNvSpPr>
            <a:spLocks noGrp="1"/>
          </p:cNvSpPr>
          <p:nvPr>
            <p:ph type="sldNum" sz="quarter" idx="5"/>
          </p:nvPr>
        </p:nvSpPr>
        <p:spPr/>
        <p:txBody>
          <a:bodyPr/>
          <a:lstStyle/>
          <a:p>
            <a:fld id="{F4095338-AEAB-456A-9E65-33FAB70ABE16}" type="slidenum">
              <a:rPr lang="en-GB" smtClean="0"/>
              <a:t>21</a:t>
            </a:fld>
            <a:endParaRPr lang="en-GB"/>
          </a:p>
        </p:txBody>
      </p:sp>
    </p:spTree>
    <p:extLst>
      <p:ext uri="{BB962C8B-B14F-4D97-AF65-F5344CB8AC3E}">
        <p14:creationId xmlns:p14="http://schemas.microsoft.com/office/powerpoint/2010/main" val="2108762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you are not well versed in a technology (say microcontrollers) it is easy to commit to a technology early on (during first 20% or so of life cycle) only to find out at the 50%+ point that your choice was horribly expensive (solvable) or that it is technically not feasible (very bad – money cannot buy time). Think about your engineering design module. In the next 2 weeks you’ll start to make decisions – the results of which might only be clear 2 weeks before the exam. Wrong choices will be impossible to correct (or at the very least require significant resources).</a:t>
            </a:r>
          </a:p>
        </p:txBody>
      </p:sp>
      <p:sp>
        <p:nvSpPr>
          <p:cNvPr id="4" name="Slide Number Placeholder 3"/>
          <p:cNvSpPr>
            <a:spLocks noGrp="1"/>
          </p:cNvSpPr>
          <p:nvPr>
            <p:ph type="sldNum" sz="quarter" idx="5"/>
          </p:nvPr>
        </p:nvSpPr>
        <p:spPr/>
        <p:txBody>
          <a:bodyPr/>
          <a:lstStyle/>
          <a:p>
            <a:fld id="{F4095338-AEAB-456A-9E65-33FAB70ABE16}" type="slidenum">
              <a:rPr lang="en-GB" smtClean="0"/>
              <a:t>22</a:t>
            </a:fld>
            <a:endParaRPr lang="en-GB"/>
          </a:p>
        </p:txBody>
      </p:sp>
    </p:spTree>
    <p:extLst>
      <p:ext uri="{BB962C8B-B14F-4D97-AF65-F5344CB8AC3E}">
        <p14:creationId xmlns:p14="http://schemas.microsoft.com/office/powerpoint/2010/main" val="3374108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0B91-20C2-EA8D-B982-02C27B59EA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697F3E-CD33-7092-0899-5175B6774E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8F812B-B954-5EF6-8542-E81669B7EED3}"/>
              </a:ext>
            </a:extLst>
          </p:cNvPr>
          <p:cNvSpPr>
            <a:spLocks noGrp="1"/>
          </p:cNvSpPr>
          <p:nvPr>
            <p:ph type="body" idx="1"/>
          </p:nvPr>
        </p:nvSpPr>
        <p:spPr/>
        <p:txBody>
          <a:bodyPr/>
          <a:lstStyle/>
          <a:p>
            <a:r>
              <a:rPr lang="en-GB" dirty="0"/>
              <a:t>Think of this model as a way of only committing a little bit over time but each time getting a system that is closer to the final product. Consider a game of roulette.</a:t>
            </a:r>
          </a:p>
        </p:txBody>
      </p:sp>
      <p:sp>
        <p:nvSpPr>
          <p:cNvPr id="4" name="Slide Number Placeholder 3">
            <a:extLst>
              <a:ext uri="{FF2B5EF4-FFF2-40B4-BE49-F238E27FC236}">
                <a16:creationId xmlns:a16="http://schemas.microsoft.com/office/drawing/2014/main" id="{3663E1BA-19F0-0B11-B9F1-8111C0B65C36}"/>
              </a:ext>
            </a:extLst>
          </p:cNvPr>
          <p:cNvSpPr>
            <a:spLocks noGrp="1"/>
          </p:cNvSpPr>
          <p:nvPr>
            <p:ph type="sldNum" sz="quarter" idx="5"/>
          </p:nvPr>
        </p:nvSpPr>
        <p:spPr/>
        <p:txBody>
          <a:bodyPr/>
          <a:lstStyle/>
          <a:p>
            <a:fld id="{F4095338-AEAB-456A-9E65-33FAB70ABE16}" type="slidenum">
              <a:rPr lang="en-GB" smtClean="0"/>
              <a:t>23</a:t>
            </a:fld>
            <a:endParaRPr lang="en-GB"/>
          </a:p>
        </p:txBody>
      </p:sp>
    </p:spTree>
    <p:extLst>
      <p:ext uri="{BB962C8B-B14F-4D97-AF65-F5344CB8AC3E}">
        <p14:creationId xmlns:p14="http://schemas.microsoft.com/office/powerpoint/2010/main" val="3140416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key here is stakeholder value. As the SE you cannot make decisions about cost (cheapest is the best) or technology (Arduino rocks) or functionality (what the device will do) without the stakeholder’s input.</a:t>
            </a:r>
          </a:p>
        </p:txBody>
      </p:sp>
      <p:sp>
        <p:nvSpPr>
          <p:cNvPr id="4" name="Slide Number Placeholder 3"/>
          <p:cNvSpPr>
            <a:spLocks noGrp="1"/>
          </p:cNvSpPr>
          <p:nvPr>
            <p:ph type="sldNum" sz="quarter" idx="5"/>
          </p:nvPr>
        </p:nvSpPr>
        <p:spPr/>
        <p:txBody>
          <a:bodyPr/>
          <a:lstStyle/>
          <a:p>
            <a:fld id="{F4095338-AEAB-456A-9E65-33FAB70ABE16}" type="slidenum">
              <a:rPr lang="en-GB" smtClean="0"/>
              <a:t>25</a:t>
            </a:fld>
            <a:endParaRPr lang="en-GB"/>
          </a:p>
        </p:txBody>
      </p:sp>
    </p:spTree>
    <p:extLst>
      <p:ext uri="{BB962C8B-B14F-4D97-AF65-F5344CB8AC3E}">
        <p14:creationId xmlns:p14="http://schemas.microsoft.com/office/powerpoint/2010/main" val="41701336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095338-AEAB-456A-9E65-33FAB70ABE16}" type="slidenum">
              <a:rPr lang="en-GB" smtClean="0"/>
              <a:t>26</a:t>
            </a:fld>
            <a:endParaRPr lang="en-GB"/>
          </a:p>
        </p:txBody>
      </p:sp>
    </p:spTree>
    <p:extLst>
      <p:ext uri="{BB962C8B-B14F-4D97-AF65-F5344CB8AC3E}">
        <p14:creationId xmlns:p14="http://schemas.microsoft.com/office/powerpoint/2010/main" val="34737401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7/22/2026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F30AD-669F-4550-8B9C-2F07152FF174}"/>
              </a:ext>
            </a:extLst>
          </p:cNvPr>
          <p:cNvSpPr>
            <a:spLocks noGrp="1"/>
          </p:cNvSpPr>
          <p:nvPr>
            <p:ph type="ctrTitle"/>
          </p:nvPr>
        </p:nvSpPr>
        <p:spPr/>
        <p:txBody>
          <a:bodyPr/>
          <a:lstStyle/>
          <a:p>
            <a:r>
              <a:rPr lang="en-ZA" dirty="0"/>
              <a:t>Engineering design 2026</a:t>
            </a:r>
          </a:p>
        </p:txBody>
      </p:sp>
      <p:sp>
        <p:nvSpPr>
          <p:cNvPr id="3" name="Subtitle 2">
            <a:extLst>
              <a:ext uri="{FF2B5EF4-FFF2-40B4-BE49-F238E27FC236}">
                <a16:creationId xmlns:a16="http://schemas.microsoft.com/office/drawing/2014/main" id="{74ACA5D9-69B4-4263-BCEB-B78FBA6C7512}"/>
              </a:ext>
            </a:extLst>
          </p:cNvPr>
          <p:cNvSpPr>
            <a:spLocks noGrp="1"/>
          </p:cNvSpPr>
          <p:nvPr>
            <p:ph type="subTitle" idx="1"/>
          </p:nvPr>
        </p:nvSpPr>
        <p:spPr/>
        <p:txBody>
          <a:bodyPr>
            <a:normAutofit fontScale="92500" lnSpcReduction="20000"/>
          </a:bodyPr>
          <a:lstStyle/>
          <a:p>
            <a:r>
              <a:rPr lang="en-ZA" dirty="0"/>
              <a:t>Lecture Week 2</a:t>
            </a:r>
          </a:p>
          <a:p>
            <a:r>
              <a:rPr lang="en-ZA" dirty="0"/>
              <a:t>Deck 1</a:t>
            </a:r>
          </a:p>
        </p:txBody>
      </p:sp>
      <p:sp>
        <p:nvSpPr>
          <p:cNvPr id="4" name="TextBox 3">
            <a:extLst>
              <a:ext uri="{FF2B5EF4-FFF2-40B4-BE49-F238E27FC236}">
                <a16:creationId xmlns:a16="http://schemas.microsoft.com/office/drawing/2014/main" id="{DC06299C-5978-4A26-94D2-8952A9D710DE}"/>
              </a:ext>
            </a:extLst>
          </p:cNvPr>
          <p:cNvSpPr txBox="1"/>
          <p:nvPr/>
        </p:nvSpPr>
        <p:spPr>
          <a:xfrm>
            <a:off x="9841831" y="5835812"/>
            <a:ext cx="1852864" cy="523220"/>
          </a:xfrm>
          <a:prstGeom prst="rect">
            <a:avLst/>
          </a:prstGeom>
          <a:noFill/>
        </p:spPr>
        <p:txBody>
          <a:bodyPr wrap="square" rtlCol="0">
            <a:spAutoFit/>
          </a:bodyPr>
          <a:lstStyle/>
          <a:p>
            <a:pPr algn="r"/>
            <a:r>
              <a:rPr lang="en-ZA" sz="1400" dirty="0">
                <a:solidFill>
                  <a:schemeClr val="bg1"/>
                </a:solidFill>
              </a:rPr>
              <a:t>Prof Henri Marais</a:t>
            </a:r>
          </a:p>
          <a:p>
            <a:pPr algn="r"/>
            <a:r>
              <a:rPr lang="en-ZA" sz="1400" dirty="0">
                <a:solidFill>
                  <a:schemeClr val="bg1"/>
                </a:solidFill>
              </a:rPr>
              <a:t>22 Jul 2025</a:t>
            </a:r>
          </a:p>
        </p:txBody>
      </p:sp>
      <p:sp>
        <p:nvSpPr>
          <p:cNvPr id="5" name="TextBox 4">
            <a:extLst>
              <a:ext uri="{FF2B5EF4-FFF2-40B4-BE49-F238E27FC236}">
                <a16:creationId xmlns:a16="http://schemas.microsoft.com/office/drawing/2014/main" id="{13AAB6D6-FDF0-56E8-D814-F566FF541864}"/>
              </a:ext>
            </a:extLst>
          </p:cNvPr>
          <p:cNvSpPr txBox="1"/>
          <p:nvPr/>
        </p:nvSpPr>
        <p:spPr>
          <a:xfrm>
            <a:off x="581191" y="3098706"/>
            <a:ext cx="3735237" cy="1754326"/>
          </a:xfrm>
          <a:prstGeom prst="rect">
            <a:avLst/>
          </a:prstGeom>
          <a:noFill/>
        </p:spPr>
        <p:txBody>
          <a:bodyPr wrap="square" rtlCol="0">
            <a:spAutoFit/>
          </a:bodyPr>
          <a:lstStyle/>
          <a:p>
            <a:r>
              <a:rPr lang="en-GB" sz="3600" b="1" dirty="0">
                <a:solidFill>
                  <a:schemeClr val="bg2"/>
                </a:solidFill>
              </a:rPr>
              <a:t>Systems and the Engineering thereof</a:t>
            </a:r>
          </a:p>
        </p:txBody>
      </p:sp>
    </p:spTree>
    <p:extLst>
      <p:ext uri="{BB962C8B-B14F-4D97-AF65-F5344CB8AC3E}">
        <p14:creationId xmlns:p14="http://schemas.microsoft.com/office/powerpoint/2010/main" val="1854232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8" name="Rectangle 17">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2" name="Rectangle 21">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p:cNvPicPr>
            <a:picLocks noGrp="1" noChangeAspect="1"/>
          </p:cNvPicPr>
          <p:nvPr>
            <p:ph idx="1"/>
          </p:nvPr>
        </p:nvPicPr>
        <p:blipFill>
          <a:blip r:embed="rId3"/>
          <a:srcRect t="1510" r="2" b="8097"/>
          <a:stretch>
            <a:fillRect/>
          </a:stretch>
        </p:blipFill>
        <p:spPr>
          <a:xfrm>
            <a:off x="446534" y="723899"/>
            <a:ext cx="7498616" cy="5676901"/>
          </a:xfrm>
          <a:prstGeom prst="rect">
            <a:avLst/>
          </a:prstGeom>
        </p:spPr>
      </p:pic>
      <p:sp>
        <p:nvSpPr>
          <p:cNvPr id="24" name="Rectangle 23">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3934CDE9-1B34-8677-F508-12E5952162E4}"/>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dirty="0">
                <a:solidFill>
                  <a:srgbClr val="FFFFFF"/>
                </a:solidFill>
              </a:rPr>
              <a:t>Same apple different views</a:t>
            </a:r>
          </a:p>
        </p:txBody>
      </p:sp>
      <p:grpSp>
        <p:nvGrpSpPr>
          <p:cNvPr id="26" name="Group 25">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7" name="Rectangle 26">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8" name="Rectangle 27">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9" name="Rectangle 28">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spTree>
    <p:extLst>
      <p:ext uri="{BB962C8B-B14F-4D97-AF65-F5344CB8AC3E}">
        <p14:creationId xmlns:p14="http://schemas.microsoft.com/office/powerpoint/2010/main" val="3441401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Analytical thinking</a:t>
            </a:r>
          </a:p>
        </p:txBody>
      </p:sp>
      <p:pic>
        <p:nvPicPr>
          <p:cNvPr id="4" name="Picture 3"/>
          <p:cNvPicPr>
            <a:picLocks noChangeAspect="1"/>
          </p:cNvPicPr>
          <p:nvPr/>
        </p:nvPicPr>
        <p:blipFill>
          <a:blip r:embed="rId3"/>
          <a:stretch>
            <a:fillRect/>
          </a:stretch>
        </p:blipFill>
        <p:spPr>
          <a:xfrm>
            <a:off x="3572565" y="4569303"/>
            <a:ext cx="7571182" cy="2125663"/>
          </a:xfrm>
          <a:prstGeom prst="rect">
            <a:avLst/>
          </a:prstGeom>
        </p:spPr>
      </p:pic>
      <p:graphicFrame>
        <p:nvGraphicFramePr>
          <p:cNvPr id="5" name="Diagram 4"/>
          <p:cNvGraphicFramePr/>
          <p:nvPr>
            <p:extLst>
              <p:ext uri="{D42A27DB-BD31-4B8C-83A1-F6EECF244321}">
                <p14:modId xmlns:p14="http://schemas.microsoft.com/office/powerpoint/2010/main" val="3613912354"/>
              </p:ext>
            </p:extLst>
          </p:nvPr>
        </p:nvGraphicFramePr>
        <p:xfrm>
          <a:off x="2250440" y="512064"/>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23230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388360" y="3556843"/>
            <a:ext cx="4803640" cy="3170403"/>
          </a:xfrm>
          <a:prstGeom prst="rect">
            <a:avLst/>
          </a:prstGeom>
        </p:spPr>
      </p:pic>
      <p:sp>
        <p:nvSpPr>
          <p:cNvPr id="2" name="Title 1"/>
          <p:cNvSpPr>
            <a:spLocks noGrp="1"/>
          </p:cNvSpPr>
          <p:nvPr>
            <p:ph type="title"/>
          </p:nvPr>
        </p:nvSpPr>
        <p:spPr/>
        <p:txBody>
          <a:bodyPr/>
          <a:lstStyle/>
          <a:p>
            <a:r>
              <a:rPr lang="en-GB" dirty="0"/>
              <a:t>Synthetic Thinking</a:t>
            </a:r>
          </a:p>
        </p:txBody>
      </p:sp>
      <p:graphicFrame>
        <p:nvGraphicFramePr>
          <p:cNvPr id="5" name="Diagram 4"/>
          <p:cNvGraphicFramePr/>
          <p:nvPr>
            <p:extLst>
              <p:ext uri="{D42A27DB-BD31-4B8C-83A1-F6EECF244321}">
                <p14:modId xmlns:p14="http://schemas.microsoft.com/office/powerpoint/2010/main" val="2309474275"/>
              </p:ext>
            </p:extLst>
          </p:nvPr>
        </p:nvGraphicFramePr>
        <p:xfrm>
          <a:off x="2032000" y="130754"/>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42999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Systems Thinking</a:t>
            </a:r>
          </a:p>
        </p:txBody>
      </p:sp>
      <p:sp>
        <p:nvSpPr>
          <p:cNvPr id="3" name="Content Placeholder 2"/>
          <p:cNvSpPr>
            <a:spLocks noGrp="1"/>
          </p:cNvSpPr>
          <p:nvPr>
            <p:ph idx="1"/>
          </p:nvPr>
        </p:nvSpPr>
        <p:spPr/>
        <p:txBody>
          <a:bodyPr/>
          <a:lstStyle/>
          <a:p>
            <a:endParaRPr lang="en-GB" dirty="0"/>
          </a:p>
          <a:p>
            <a:endParaRPr lang="en-GB" dirty="0"/>
          </a:p>
          <a:p>
            <a:endParaRPr lang="en-GB" dirty="0"/>
          </a:p>
          <a:p>
            <a:r>
              <a:rPr lang="en-GB" dirty="0"/>
              <a:t>Systems must be understood in the context of what they can do in the world in which they will do it.</a:t>
            </a:r>
          </a:p>
          <a:p>
            <a:endParaRPr lang="en-GB" dirty="0"/>
          </a:p>
          <a:p>
            <a:r>
              <a:rPr lang="en-GB" dirty="0"/>
              <a:t>A systems view is not simply a sum of the component parts</a:t>
            </a:r>
          </a:p>
          <a:p>
            <a:endParaRPr lang="en-GB" dirty="0"/>
          </a:p>
          <a:p>
            <a:r>
              <a:rPr lang="en-GB" dirty="0"/>
              <a:t>Systems view is that a collection of parts must be seen as a functioning whole</a:t>
            </a:r>
          </a:p>
        </p:txBody>
      </p:sp>
      <p:pic>
        <p:nvPicPr>
          <p:cNvPr id="5" name="Picture 4"/>
          <p:cNvPicPr>
            <a:picLocks noChangeAspect="1"/>
          </p:cNvPicPr>
          <p:nvPr/>
        </p:nvPicPr>
        <p:blipFill>
          <a:blip r:embed="rId3"/>
          <a:stretch>
            <a:fillRect/>
          </a:stretch>
        </p:blipFill>
        <p:spPr>
          <a:xfrm rot="20681883">
            <a:off x="6754369" y="190500"/>
            <a:ext cx="5215021" cy="2387600"/>
          </a:xfrm>
          <a:prstGeom prst="rect">
            <a:avLst/>
          </a:prstGeom>
        </p:spPr>
      </p:pic>
      <p:pic>
        <p:nvPicPr>
          <p:cNvPr id="6" name="Picture 5"/>
          <p:cNvPicPr>
            <a:picLocks noChangeAspect="1"/>
          </p:cNvPicPr>
          <p:nvPr/>
        </p:nvPicPr>
        <p:blipFill>
          <a:blip r:embed="rId4"/>
          <a:stretch>
            <a:fillRect/>
          </a:stretch>
        </p:blipFill>
        <p:spPr>
          <a:xfrm>
            <a:off x="7742238" y="3820963"/>
            <a:ext cx="1341438" cy="1651000"/>
          </a:xfrm>
          <a:prstGeom prst="rect">
            <a:avLst/>
          </a:prstGeom>
        </p:spPr>
      </p:pic>
    </p:spTree>
    <p:extLst>
      <p:ext uri="{BB962C8B-B14F-4D97-AF65-F5344CB8AC3E}">
        <p14:creationId xmlns:p14="http://schemas.microsoft.com/office/powerpoint/2010/main" val="179603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dirty="0"/>
              <a:t>Classification of system terminology</a:t>
            </a:r>
          </a:p>
        </p:txBody>
      </p:sp>
      <p:sp>
        <p:nvSpPr>
          <p:cNvPr id="11" name="Content Placeholder 10"/>
          <p:cNvSpPr>
            <a:spLocks noGrp="1"/>
          </p:cNvSpPr>
          <p:nvPr>
            <p:ph sz="half" idx="1"/>
          </p:nvPr>
        </p:nvSpPr>
        <p:spPr/>
        <p:txBody>
          <a:bodyPr/>
          <a:lstStyle/>
          <a:p>
            <a:r>
              <a:rPr lang="en-ZA" sz="2800" dirty="0"/>
              <a:t>A system is composed of </a:t>
            </a:r>
            <a:r>
              <a:rPr lang="en-ZA" sz="2800" i="1" dirty="0"/>
              <a:t>sub-system(s)</a:t>
            </a:r>
          </a:p>
          <a:p>
            <a:r>
              <a:rPr lang="en-ZA" sz="2800" dirty="0"/>
              <a:t>Isolated </a:t>
            </a:r>
            <a:r>
              <a:rPr lang="en-ZA" sz="2800" i="1" dirty="0"/>
              <a:t>sub-system</a:t>
            </a:r>
            <a:r>
              <a:rPr lang="en-ZA" sz="2800" dirty="0"/>
              <a:t> becomes a system containing other     </a:t>
            </a:r>
            <a:r>
              <a:rPr lang="en-ZA" sz="2800" i="1" dirty="0"/>
              <a:t>sub-systems</a:t>
            </a:r>
          </a:p>
          <a:p>
            <a:endParaRPr lang="en-GB" dirty="0"/>
          </a:p>
        </p:txBody>
      </p:sp>
      <p:pic>
        <p:nvPicPr>
          <p:cNvPr id="13" name="Content Placeholder 9"/>
          <p:cNvPicPr>
            <a:picLocks noGrp="1" noChangeAspect="1"/>
          </p:cNvPicPr>
          <p:nvPr>
            <p:ph sz="half" idx="2"/>
          </p:nvPr>
        </p:nvPicPr>
        <p:blipFill>
          <a:blip r:embed="rId3"/>
          <a:stretch>
            <a:fillRect/>
          </a:stretch>
        </p:blipFill>
        <p:spPr>
          <a:xfrm>
            <a:off x="6126163" y="2263451"/>
            <a:ext cx="4481512" cy="3482036"/>
          </a:xfrm>
          <a:prstGeom prst="rect">
            <a:avLst/>
          </a:prstGeom>
        </p:spPr>
      </p:pic>
    </p:spTree>
    <p:extLst>
      <p:ext uri="{BB962C8B-B14F-4D97-AF65-F5344CB8AC3E}">
        <p14:creationId xmlns:p14="http://schemas.microsoft.com/office/powerpoint/2010/main" val="2989083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163824" y="2203234"/>
            <a:ext cx="6286911" cy="2483066"/>
          </a:xfrm>
          <a:prstGeom prst="rect">
            <a:avLst/>
          </a:prstGeom>
        </p:spPr>
      </p:pic>
      <p:sp>
        <p:nvSpPr>
          <p:cNvPr id="2" name="Title 1"/>
          <p:cNvSpPr>
            <a:spLocks noGrp="1"/>
          </p:cNvSpPr>
          <p:nvPr>
            <p:ph type="title"/>
          </p:nvPr>
        </p:nvSpPr>
        <p:spPr/>
        <p:txBody>
          <a:bodyPr/>
          <a:lstStyle/>
          <a:p>
            <a:r>
              <a:rPr lang="en-GB" dirty="0"/>
              <a:t>What system?</a:t>
            </a:r>
          </a:p>
        </p:txBody>
      </p:sp>
      <p:sp>
        <p:nvSpPr>
          <p:cNvPr id="3" name="Content Placeholder 2"/>
          <p:cNvSpPr>
            <a:spLocks noGrp="1"/>
          </p:cNvSpPr>
          <p:nvPr>
            <p:ph idx="1"/>
          </p:nvPr>
        </p:nvSpPr>
        <p:spPr>
          <a:xfrm>
            <a:off x="1261872" y="2324100"/>
            <a:ext cx="8595360" cy="4724400"/>
          </a:xfrm>
        </p:spPr>
        <p:txBody>
          <a:bodyPr>
            <a:normAutofit/>
          </a:bodyPr>
          <a:lstStyle/>
          <a:p>
            <a:endParaRPr lang="en-US" dirty="0"/>
          </a:p>
          <a:p>
            <a:endParaRPr lang="en-US" dirty="0"/>
          </a:p>
          <a:p>
            <a:endParaRPr lang="en-US" dirty="0"/>
          </a:p>
          <a:p>
            <a:endParaRPr lang="en-US" dirty="0"/>
          </a:p>
          <a:p>
            <a:endParaRPr lang="en-US" dirty="0"/>
          </a:p>
          <a:p>
            <a:endParaRPr lang="en-US" dirty="0"/>
          </a:p>
          <a:p>
            <a:r>
              <a:rPr lang="en-US" dirty="0"/>
              <a:t>A system is a construct or collection of different elements that together produce results not obtainable by the elements alone.</a:t>
            </a:r>
          </a:p>
          <a:p>
            <a:r>
              <a:rPr lang="en-US" dirty="0"/>
              <a:t>The value added by the system as a whole, beyond that contributed independently by the parts, is primarily created by the relationship among the parts; that is, how they are interconnected</a:t>
            </a:r>
            <a:endParaRPr lang="en-GB" dirty="0"/>
          </a:p>
        </p:txBody>
      </p:sp>
    </p:spTree>
    <p:extLst>
      <p:ext uri="{BB962C8B-B14F-4D97-AF65-F5344CB8AC3E}">
        <p14:creationId xmlns:p14="http://schemas.microsoft.com/office/powerpoint/2010/main" val="3132666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95306-F595-4EA7-9431-08CF4A6FF1B0}"/>
              </a:ext>
            </a:extLst>
          </p:cNvPr>
          <p:cNvSpPr>
            <a:spLocks noGrp="1"/>
          </p:cNvSpPr>
          <p:nvPr>
            <p:ph type="title"/>
          </p:nvPr>
        </p:nvSpPr>
        <p:spPr/>
        <p:txBody>
          <a:bodyPr/>
          <a:lstStyle/>
          <a:p>
            <a:r>
              <a:rPr lang="en-ZA" dirty="0"/>
              <a:t>What is a system? (formally)</a:t>
            </a:r>
          </a:p>
        </p:txBody>
      </p:sp>
      <p:sp>
        <p:nvSpPr>
          <p:cNvPr id="3" name="Content Placeholder 2">
            <a:extLst>
              <a:ext uri="{FF2B5EF4-FFF2-40B4-BE49-F238E27FC236}">
                <a16:creationId xmlns:a16="http://schemas.microsoft.com/office/drawing/2014/main" id="{F6954AD6-54B7-4E88-A563-4B6EEA8FC8F1}"/>
              </a:ext>
            </a:extLst>
          </p:cNvPr>
          <p:cNvSpPr>
            <a:spLocks noGrp="1"/>
          </p:cNvSpPr>
          <p:nvPr>
            <p:ph idx="1"/>
          </p:nvPr>
        </p:nvSpPr>
        <p:spPr/>
        <p:txBody>
          <a:bodyPr/>
          <a:lstStyle/>
          <a:p>
            <a:pPr marL="0" indent="0" algn="ctr">
              <a:buNone/>
            </a:pPr>
            <a:r>
              <a:rPr lang="en-ZA" sz="2400" u="sng"/>
              <a:t>Combination</a:t>
            </a:r>
            <a:r>
              <a:rPr lang="en-ZA" sz="2400"/>
              <a:t> of </a:t>
            </a:r>
            <a:r>
              <a:rPr lang="en-ZA" sz="2400" u="sng"/>
              <a:t>functionally related items</a:t>
            </a:r>
            <a:r>
              <a:rPr lang="en-ZA" sz="2400"/>
              <a:t> forming a </a:t>
            </a:r>
            <a:r>
              <a:rPr lang="en-ZA" sz="2400" u="sng"/>
              <a:t>unitary whole</a:t>
            </a:r>
          </a:p>
          <a:p>
            <a:pPr marL="0" indent="0" algn="ctr">
              <a:buNone/>
            </a:pPr>
            <a:endParaRPr lang="en-ZA" sz="2400" u="sng"/>
          </a:p>
          <a:p>
            <a:r>
              <a:rPr lang="en-ZA"/>
              <a:t>Specific behaviour due to functional relationships</a:t>
            </a:r>
          </a:p>
          <a:p>
            <a:r>
              <a:rPr lang="en-ZA"/>
              <a:t>A system is more than a sum of the parts!</a:t>
            </a:r>
            <a:endParaRPr lang="en-ZA" dirty="0"/>
          </a:p>
        </p:txBody>
      </p:sp>
    </p:spTree>
    <p:extLst>
      <p:ext uri="{BB962C8B-B14F-4D97-AF65-F5344CB8AC3E}">
        <p14:creationId xmlns:p14="http://schemas.microsoft.com/office/powerpoint/2010/main" val="1559007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9372-479D-4729-B96D-BA5FE8C2804E}"/>
              </a:ext>
            </a:extLst>
          </p:cNvPr>
          <p:cNvSpPr>
            <a:spLocks noGrp="1"/>
          </p:cNvSpPr>
          <p:nvPr>
            <p:ph type="title"/>
          </p:nvPr>
        </p:nvSpPr>
        <p:spPr/>
        <p:txBody>
          <a:bodyPr/>
          <a:lstStyle/>
          <a:p>
            <a:r>
              <a:rPr lang="en-ZA" dirty="0"/>
              <a:t>A graphical representation…</a:t>
            </a:r>
          </a:p>
        </p:txBody>
      </p:sp>
      <p:cxnSp>
        <p:nvCxnSpPr>
          <p:cNvPr id="5" name="Straight Arrow Connector 4">
            <a:extLst>
              <a:ext uri="{FF2B5EF4-FFF2-40B4-BE49-F238E27FC236}">
                <a16:creationId xmlns:a16="http://schemas.microsoft.com/office/drawing/2014/main" id="{1D65C625-A712-43B6-88F5-1E5CC8AB2D31}"/>
              </a:ext>
            </a:extLst>
          </p:cNvPr>
          <p:cNvCxnSpPr/>
          <p:nvPr/>
        </p:nvCxnSpPr>
        <p:spPr>
          <a:xfrm flipH="1" flipV="1">
            <a:off x="7391898" y="5089458"/>
            <a:ext cx="1171265" cy="728900"/>
          </a:xfrm>
          <a:prstGeom prst="straightConnector1">
            <a:avLst/>
          </a:prstGeom>
          <a:ln w="698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9A3BB4B-FC78-4759-A165-95489699D019}"/>
              </a:ext>
            </a:extLst>
          </p:cNvPr>
          <p:cNvSpPr txBox="1"/>
          <p:nvPr/>
        </p:nvSpPr>
        <p:spPr>
          <a:xfrm>
            <a:off x="8268501" y="5876512"/>
            <a:ext cx="1683602" cy="707886"/>
          </a:xfrm>
          <a:prstGeom prst="rect">
            <a:avLst/>
          </a:prstGeom>
          <a:noFill/>
        </p:spPr>
        <p:txBody>
          <a:bodyPr wrap="none" rtlCol="0">
            <a:spAutoFit/>
          </a:bodyPr>
          <a:lstStyle/>
          <a:p>
            <a:pPr algn="ctr"/>
            <a:r>
              <a:rPr lang="en-ZA" sz="2000" dirty="0"/>
              <a:t>System Scope</a:t>
            </a:r>
          </a:p>
          <a:p>
            <a:pPr algn="ctr"/>
            <a:r>
              <a:rPr lang="en-ZA" sz="2000" dirty="0"/>
              <a:t>Boundary</a:t>
            </a:r>
          </a:p>
        </p:txBody>
      </p:sp>
      <p:cxnSp>
        <p:nvCxnSpPr>
          <p:cNvPr id="7" name="Straight Arrow Connector 6">
            <a:extLst>
              <a:ext uri="{FF2B5EF4-FFF2-40B4-BE49-F238E27FC236}">
                <a16:creationId xmlns:a16="http://schemas.microsoft.com/office/drawing/2014/main" id="{78D709A9-00B6-4B45-A76C-074BEAE54BC9}"/>
              </a:ext>
            </a:extLst>
          </p:cNvPr>
          <p:cNvCxnSpPr/>
          <p:nvPr/>
        </p:nvCxnSpPr>
        <p:spPr>
          <a:xfrm flipV="1">
            <a:off x="4155403" y="4770622"/>
            <a:ext cx="0" cy="890338"/>
          </a:xfrm>
          <a:prstGeom prst="straightConnector1">
            <a:avLst/>
          </a:prstGeom>
          <a:ln w="69850">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6D7781D-F8ED-4213-8CC6-30CDA7FE9BA3}"/>
              </a:ext>
            </a:extLst>
          </p:cNvPr>
          <p:cNvSpPr txBox="1"/>
          <p:nvPr/>
        </p:nvSpPr>
        <p:spPr>
          <a:xfrm>
            <a:off x="2927182" y="5618303"/>
            <a:ext cx="1343638" cy="400110"/>
          </a:xfrm>
          <a:prstGeom prst="rect">
            <a:avLst/>
          </a:prstGeom>
          <a:noFill/>
        </p:spPr>
        <p:txBody>
          <a:bodyPr wrap="none" rtlCol="0">
            <a:spAutoFit/>
          </a:bodyPr>
          <a:lstStyle/>
          <a:p>
            <a:r>
              <a:rPr lang="en-ZA" sz="2000" dirty="0"/>
              <a:t>Interaction</a:t>
            </a:r>
            <a:endParaRPr lang="en-ZA" dirty="0"/>
          </a:p>
        </p:txBody>
      </p:sp>
      <p:grpSp>
        <p:nvGrpSpPr>
          <p:cNvPr id="9" name="Group 4">
            <a:extLst>
              <a:ext uri="{FF2B5EF4-FFF2-40B4-BE49-F238E27FC236}">
                <a16:creationId xmlns:a16="http://schemas.microsoft.com/office/drawing/2014/main" id="{B1C860E8-5F58-48CD-A407-7674F85CFBD6}"/>
              </a:ext>
            </a:extLst>
          </p:cNvPr>
          <p:cNvGrpSpPr>
            <a:grpSpLocks noChangeAspect="1"/>
          </p:cNvGrpSpPr>
          <p:nvPr/>
        </p:nvGrpSpPr>
        <p:grpSpPr bwMode="auto">
          <a:xfrm>
            <a:off x="1790600" y="2877586"/>
            <a:ext cx="7442200" cy="3124200"/>
            <a:chOff x="1134" y="1558"/>
            <a:chExt cx="4688" cy="1968"/>
          </a:xfrm>
        </p:grpSpPr>
        <p:sp>
          <p:nvSpPr>
            <p:cNvPr id="10" name="AutoShape 3">
              <a:extLst>
                <a:ext uri="{FF2B5EF4-FFF2-40B4-BE49-F238E27FC236}">
                  <a16:creationId xmlns:a16="http://schemas.microsoft.com/office/drawing/2014/main" id="{122D92B9-7C22-4D1D-87EC-B48343CBF1D8}"/>
                </a:ext>
              </a:extLst>
            </p:cNvPr>
            <p:cNvSpPr>
              <a:spLocks noChangeAspect="1" noChangeArrowheads="1" noTextEdit="1"/>
            </p:cNvSpPr>
            <p:nvPr/>
          </p:nvSpPr>
          <p:spPr bwMode="auto">
            <a:xfrm>
              <a:off x="1134" y="1558"/>
              <a:ext cx="4688" cy="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ZA" dirty="0"/>
            </a:p>
          </p:txBody>
        </p:sp>
        <p:pic>
          <p:nvPicPr>
            <p:cNvPr id="2053" name="Picture 5">
              <a:extLst>
                <a:ext uri="{FF2B5EF4-FFF2-40B4-BE49-F238E27FC236}">
                  <a16:creationId xmlns:a16="http://schemas.microsoft.com/office/drawing/2014/main" id="{6C0017F4-AE5F-4791-A5DE-274FAEC8D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8" y="1558"/>
              <a:ext cx="2627"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80DEFEC7-0C31-46A0-AC8B-DA7900C70A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8" y="1558"/>
              <a:ext cx="2627"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7">
              <a:extLst>
                <a:ext uri="{FF2B5EF4-FFF2-40B4-BE49-F238E27FC236}">
                  <a16:creationId xmlns:a16="http://schemas.microsoft.com/office/drawing/2014/main" id="{A922B393-8A7E-4B1A-8247-CE72CC60D36E}"/>
                </a:ext>
              </a:extLst>
            </p:cNvPr>
            <p:cNvSpPr>
              <a:spLocks noEditPoints="1"/>
            </p:cNvSpPr>
            <p:nvPr/>
          </p:nvSpPr>
          <p:spPr bwMode="auto">
            <a:xfrm>
              <a:off x="2146" y="1586"/>
              <a:ext cx="2506" cy="1400"/>
            </a:xfrm>
            <a:custGeom>
              <a:avLst/>
              <a:gdLst>
                <a:gd name="T0" fmla="*/ 10 w 2506"/>
                <a:gd name="T1" fmla="*/ 128 h 1400"/>
                <a:gd name="T2" fmla="*/ 10 w 2506"/>
                <a:gd name="T3" fmla="*/ 332 h 1400"/>
                <a:gd name="T4" fmla="*/ 0 w 2506"/>
                <a:gd name="T5" fmla="*/ 454 h 1400"/>
                <a:gd name="T6" fmla="*/ 0 w 2506"/>
                <a:gd name="T7" fmla="*/ 496 h 1400"/>
                <a:gd name="T8" fmla="*/ 10 w 2506"/>
                <a:gd name="T9" fmla="*/ 618 h 1400"/>
                <a:gd name="T10" fmla="*/ 10 w 2506"/>
                <a:gd name="T11" fmla="*/ 863 h 1400"/>
                <a:gd name="T12" fmla="*/ 10 w 2506"/>
                <a:gd name="T13" fmla="*/ 1067 h 1400"/>
                <a:gd name="T14" fmla="*/ 0 w 2506"/>
                <a:gd name="T15" fmla="*/ 1190 h 1400"/>
                <a:gd name="T16" fmla="*/ 0 w 2506"/>
                <a:gd name="T17" fmla="*/ 1231 h 1400"/>
                <a:gd name="T18" fmla="*/ 45 w 2506"/>
                <a:gd name="T19" fmla="*/ 1400 h 1400"/>
                <a:gd name="T20" fmla="*/ 167 w 2506"/>
                <a:gd name="T21" fmla="*/ 1400 h 1400"/>
                <a:gd name="T22" fmla="*/ 208 w 2506"/>
                <a:gd name="T23" fmla="*/ 1400 h 1400"/>
                <a:gd name="T24" fmla="*/ 330 w 2506"/>
                <a:gd name="T25" fmla="*/ 1390 h 1400"/>
                <a:gd name="T26" fmla="*/ 574 w 2506"/>
                <a:gd name="T27" fmla="*/ 1390 h 1400"/>
                <a:gd name="T28" fmla="*/ 778 w 2506"/>
                <a:gd name="T29" fmla="*/ 1390 h 1400"/>
                <a:gd name="T30" fmla="*/ 900 w 2506"/>
                <a:gd name="T31" fmla="*/ 1400 h 1400"/>
                <a:gd name="T32" fmla="*/ 941 w 2506"/>
                <a:gd name="T33" fmla="*/ 1400 h 1400"/>
                <a:gd name="T34" fmla="*/ 1063 w 2506"/>
                <a:gd name="T35" fmla="*/ 1390 h 1400"/>
                <a:gd name="T36" fmla="*/ 1307 w 2506"/>
                <a:gd name="T37" fmla="*/ 1390 h 1400"/>
                <a:gd name="T38" fmla="*/ 1511 w 2506"/>
                <a:gd name="T39" fmla="*/ 1390 h 1400"/>
                <a:gd name="T40" fmla="*/ 1633 w 2506"/>
                <a:gd name="T41" fmla="*/ 1400 h 1400"/>
                <a:gd name="T42" fmla="*/ 1674 w 2506"/>
                <a:gd name="T43" fmla="*/ 1400 h 1400"/>
                <a:gd name="T44" fmla="*/ 1796 w 2506"/>
                <a:gd name="T45" fmla="*/ 1390 h 1400"/>
                <a:gd name="T46" fmla="*/ 2040 w 2506"/>
                <a:gd name="T47" fmla="*/ 1390 h 1400"/>
                <a:gd name="T48" fmla="*/ 2244 w 2506"/>
                <a:gd name="T49" fmla="*/ 1390 h 1400"/>
                <a:gd name="T50" fmla="*/ 2366 w 2506"/>
                <a:gd name="T51" fmla="*/ 1400 h 1400"/>
                <a:gd name="T52" fmla="*/ 2407 w 2506"/>
                <a:gd name="T53" fmla="*/ 1400 h 1400"/>
                <a:gd name="T54" fmla="*/ 2496 w 2506"/>
                <a:gd name="T55" fmla="*/ 1367 h 1400"/>
                <a:gd name="T56" fmla="*/ 2496 w 2506"/>
                <a:gd name="T57" fmla="*/ 1122 h 1400"/>
                <a:gd name="T58" fmla="*/ 2496 w 2506"/>
                <a:gd name="T59" fmla="*/ 917 h 1400"/>
                <a:gd name="T60" fmla="*/ 2506 w 2506"/>
                <a:gd name="T61" fmla="*/ 795 h 1400"/>
                <a:gd name="T62" fmla="*/ 2506 w 2506"/>
                <a:gd name="T63" fmla="*/ 754 h 1400"/>
                <a:gd name="T64" fmla="*/ 2496 w 2506"/>
                <a:gd name="T65" fmla="*/ 632 h 1400"/>
                <a:gd name="T66" fmla="*/ 2496 w 2506"/>
                <a:gd name="T67" fmla="*/ 387 h 1400"/>
                <a:gd name="T68" fmla="*/ 2496 w 2506"/>
                <a:gd name="T69" fmla="*/ 182 h 1400"/>
                <a:gd name="T70" fmla="*/ 2506 w 2506"/>
                <a:gd name="T71" fmla="*/ 60 h 1400"/>
                <a:gd name="T72" fmla="*/ 2433 w 2506"/>
                <a:gd name="T73" fmla="*/ 10 h 1400"/>
                <a:gd name="T74" fmla="*/ 2311 w 2506"/>
                <a:gd name="T75" fmla="*/ 10 h 1400"/>
                <a:gd name="T76" fmla="*/ 2189 w 2506"/>
                <a:gd name="T77" fmla="*/ 0 h 1400"/>
                <a:gd name="T78" fmla="*/ 2148 w 2506"/>
                <a:gd name="T79" fmla="*/ 0 h 1400"/>
                <a:gd name="T80" fmla="*/ 2026 w 2506"/>
                <a:gd name="T81" fmla="*/ 10 h 1400"/>
                <a:gd name="T82" fmla="*/ 1782 w 2506"/>
                <a:gd name="T83" fmla="*/ 10 h 1400"/>
                <a:gd name="T84" fmla="*/ 1578 w 2506"/>
                <a:gd name="T85" fmla="*/ 10 h 1400"/>
                <a:gd name="T86" fmla="*/ 1456 w 2506"/>
                <a:gd name="T87" fmla="*/ 0 h 1400"/>
                <a:gd name="T88" fmla="*/ 1415 w 2506"/>
                <a:gd name="T89" fmla="*/ 0 h 1400"/>
                <a:gd name="T90" fmla="*/ 1293 w 2506"/>
                <a:gd name="T91" fmla="*/ 10 h 1400"/>
                <a:gd name="T92" fmla="*/ 1049 w 2506"/>
                <a:gd name="T93" fmla="*/ 10 h 1400"/>
                <a:gd name="T94" fmla="*/ 845 w 2506"/>
                <a:gd name="T95" fmla="*/ 10 h 1400"/>
                <a:gd name="T96" fmla="*/ 723 w 2506"/>
                <a:gd name="T97" fmla="*/ 0 h 1400"/>
                <a:gd name="T98" fmla="*/ 682 w 2506"/>
                <a:gd name="T99" fmla="*/ 0 h 1400"/>
                <a:gd name="T100" fmla="*/ 560 w 2506"/>
                <a:gd name="T101" fmla="*/ 10 h 1400"/>
                <a:gd name="T102" fmla="*/ 316 w 2506"/>
                <a:gd name="T103" fmla="*/ 10 h 1400"/>
                <a:gd name="T104" fmla="*/ 112 w 2506"/>
                <a:gd name="T105" fmla="*/ 10 h 1400"/>
                <a:gd name="T106" fmla="*/ 5 w 2506"/>
                <a:gd name="T107" fmla="*/ 0 h 1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506" h="1400">
                  <a:moveTo>
                    <a:pt x="10" y="6"/>
                  </a:moveTo>
                  <a:lnTo>
                    <a:pt x="10" y="87"/>
                  </a:lnTo>
                  <a:lnTo>
                    <a:pt x="0" y="87"/>
                  </a:lnTo>
                  <a:lnTo>
                    <a:pt x="0" y="6"/>
                  </a:lnTo>
                  <a:lnTo>
                    <a:pt x="10" y="6"/>
                  </a:lnTo>
                  <a:close/>
                  <a:moveTo>
                    <a:pt x="10" y="128"/>
                  </a:moveTo>
                  <a:lnTo>
                    <a:pt x="10" y="209"/>
                  </a:lnTo>
                  <a:lnTo>
                    <a:pt x="0" y="209"/>
                  </a:lnTo>
                  <a:lnTo>
                    <a:pt x="0" y="128"/>
                  </a:lnTo>
                  <a:lnTo>
                    <a:pt x="10" y="128"/>
                  </a:lnTo>
                  <a:close/>
                  <a:moveTo>
                    <a:pt x="10" y="251"/>
                  </a:moveTo>
                  <a:lnTo>
                    <a:pt x="10" y="332"/>
                  </a:lnTo>
                  <a:lnTo>
                    <a:pt x="0" y="332"/>
                  </a:lnTo>
                  <a:lnTo>
                    <a:pt x="0" y="251"/>
                  </a:lnTo>
                  <a:lnTo>
                    <a:pt x="10" y="251"/>
                  </a:lnTo>
                  <a:close/>
                  <a:moveTo>
                    <a:pt x="10" y="373"/>
                  </a:moveTo>
                  <a:lnTo>
                    <a:pt x="10" y="454"/>
                  </a:lnTo>
                  <a:lnTo>
                    <a:pt x="0" y="454"/>
                  </a:lnTo>
                  <a:lnTo>
                    <a:pt x="0" y="373"/>
                  </a:lnTo>
                  <a:lnTo>
                    <a:pt x="10" y="373"/>
                  </a:lnTo>
                  <a:close/>
                  <a:moveTo>
                    <a:pt x="10" y="496"/>
                  </a:moveTo>
                  <a:lnTo>
                    <a:pt x="10" y="577"/>
                  </a:lnTo>
                  <a:lnTo>
                    <a:pt x="0" y="577"/>
                  </a:lnTo>
                  <a:lnTo>
                    <a:pt x="0" y="496"/>
                  </a:lnTo>
                  <a:lnTo>
                    <a:pt x="10" y="496"/>
                  </a:lnTo>
                  <a:close/>
                  <a:moveTo>
                    <a:pt x="10" y="618"/>
                  </a:moveTo>
                  <a:lnTo>
                    <a:pt x="10" y="700"/>
                  </a:lnTo>
                  <a:lnTo>
                    <a:pt x="0" y="700"/>
                  </a:lnTo>
                  <a:lnTo>
                    <a:pt x="0" y="618"/>
                  </a:lnTo>
                  <a:lnTo>
                    <a:pt x="10" y="618"/>
                  </a:lnTo>
                  <a:close/>
                  <a:moveTo>
                    <a:pt x="10" y="741"/>
                  </a:moveTo>
                  <a:lnTo>
                    <a:pt x="10" y="822"/>
                  </a:lnTo>
                  <a:lnTo>
                    <a:pt x="0" y="822"/>
                  </a:lnTo>
                  <a:lnTo>
                    <a:pt x="0" y="741"/>
                  </a:lnTo>
                  <a:lnTo>
                    <a:pt x="10" y="741"/>
                  </a:lnTo>
                  <a:close/>
                  <a:moveTo>
                    <a:pt x="10" y="863"/>
                  </a:moveTo>
                  <a:lnTo>
                    <a:pt x="10" y="945"/>
                  </a:lnTo>
                  <a:lnTo>
                    <a:pt x="0" y="945"/>
                  </a:lnTo>
                  <a:lnTo>
                    <a:pt x="0" y="863"/>
                  </a:lnTo>
                  <a:lnTo>
                    <a:pt x="10" y="863"/>
                  </a:lnTo>
                  <a:close/>
                  <a:moveTo>
                    <a:pt x="10" y="986"/>
                  </a:moveTo>
                  <a:lnTo>
                    <a:pt x="10" y="1067"/>
                  </a:lnTo>
                  <a:lnTo>
                    <a:pt x="0" y="1067"/>
                  </a:lnTo>
                  <a:lnTo>
                    <a:pt x="0" y="986"/>
                  </a:lnTo>
                  <a:lnTo>
                    <a:pt x="10" y="986"/>
                  </a:lnTo>
                  <a:close/>
                  <a:moveTo>
                    <a:pt x="10" y="1108"/>
                  </a:moveTo>
                  <a:lnTo>
                    <a:pt x="10" y="1190"/>
                  </a:lnTo>
                  <a:lnTo>
                    <a:pt x="0" y="1190"/>
                  </a:lnTo>
                  <a:lnTo>
                    <a:pt x="0" y="1108"/>
                  </a:lnTo>
                  <a:lnTo>
                    <a:pt x="10" y="1108"/>
                  </a:lnTo>
                  <a:close/>
                  <a:moveTo>
                    <a:pt x="10" y="1231"/>
                  </a:moveTo>
                  <a:lnTo>
                    <a:pt x="10" y="1312"/>
                  </a:lnTo>
                  <a:lnTo>
                    <a:pt x="0" y="1312"/>
                  </a:lnTo>
                  <a:lnTo>
                    <a:pt x="0" y="1231"/>
                  </a:lnTo>
                  <a:lnTo>
                    <a:pt x="10" y="1231"/>
                  </a:lnTo>
                  <a:close/>
                  <a:moveTo>
                    <a:pt x="10" y="1353"/>
                  </a:moveTo>
                  <a:lnTo>
                    <a:pt x="10" y="1394"/>
                  </a:lnTo>
                  <a:lnTo>
                    <a:pt x="5" y="1390"/>
                  </a:lnTo>
                  <a:lnTo>
                    <a:pt x="45" y="1390"/>
                  </a:lnTo>
                  <a:lnTo>
                    <a:pt x="45" y="1400"/>
                  </a:lnTo>
                  <a:lnTo>
                    <a:pt x="0" y="1400"/>
                  </a:lnTo>
                  <a:lnTo>
                    <a:pt x="0" y="1353"/>
                  </a:lnTo>
                  <a:lnTo>
                    <a:pt x="10" y="1353"/>
                  </a:lnTo>
                  <a:close/>
                  <a:moveTo>
                    <a:pt x="86" y="1390"/>
                  </a:moveTo>
                  <a:lnTo>
                    <a:pt x="167" y="1390"/>
                  </a:lnTo>
                  <a:lnTo>
                    <a:pt x="167" y="1400"/>
                  </a:lnTo>
                  <a:lnTo>
                    <a:pt x="86" y="1400"/>
                  </a:lnTo>
                  <a:lnTo>
                    <a:pt x="86" y="1390"/>
                  </a:lnTo>
                  <a:close/>
                  <a:moveTo>
                    <a:pt x="208" y="1390"/>
                  </a:moveTo>
                  <a:lnTo>
                    <a:pt x="289" y="1390"/>
                  </a:lnTo>
                  <a:lnTo>
                    <a:pt x="289" y="1400"/>
                  </a:lnTo>
                  <a:lnTo>
                    <a:pt x="208" y="1400"/>
                  </a:lnTo>
                  <a:lnTo>
                    <a:pt x="208" y="1390"/>
                  </a:lnTo>
                  <a:close/>
                  <a:moveTo>
                    <a:pt x="330" y="1390"/>
                  </a:moveTo>
                  <a:lnTo>
                    <a:pt x="412" y="1390"/>
                  </a:lnTo>
                  <a:lnTo>
                    <a:pt x="412" y="1400"/>
                  </a:lnTo>
                  <a:lnTo>
                    <a:pt x="330" y="1400"/>
                  </a:lnTo>
                  <a:lnTo>
                    <a:pt x="330" y="1390"/>
                  </a:lnTo>
                  <a:close/>
                  <a:moveTo>
                    <a:pt x="452" y="1390"/>
                  </a:moveTo>
                  <a:lnTo>
                    <a:pt x="534" y="1390"/>
                  </a:lnTo>
                  <a:lnTo>
                    <a:pt x="534" y="1400"/>
                  </a:lnTo>
                  <a:lnTo>
                    <a:pt x="452" y="1400"/>
                  </a:lnTo>
                  <a:lnTo>
                    <a:pt x="452" y="1390"/>
                  </a:lnTo>
                  <a:close/>
                  <a:moveTo>
                    <a:pt x="574" y="1390"/>
                  </a:moveTo>
                  <a:lnTo>
                    <a:pt x="656" y="1390"/>
                  </a:lnTo>
                  <a:lnTo>
                    <a:pt x="656" y="1400"/>
                  </a:lnTo>
                  <a:lnTo>
                    <a:pt x="574" y="1400"/>
                  </a:lnTo>
                  <a:lnTo>
                    <a:pt x="574" y="1390"/>
                  </a:lnTo>
                  <a:close/>
                  <a:moveTo>
                    <a:pt x="696" y="1390"/>
                  </a:moveTo>
                  <a:lnTo>
                    <a:pt x="778" y="1390"/>
                  </a:lnTo>
                  <a:lnTo>
                    <a:pt x="778" y="1400"/>
                  </a:lnTo>
                  <a:lnTo>
                    <a:pt x="696" y="1400"/>
                  </a:lnTo>
                  <a:lnTo>
                    <a:pt x="696" y="1390"/>
                  </a:lnTo>
                  <a:close/>
                  <a:moveTo>
                    <a:pt x="819" y="1390"/>
                  </a:moveTo>
                  <a:lnTo>
                    <a:pt x="900" y="1390"/>
                  </a:lnTo>
                  <a:lnTo>
                    <a:pt x="900" y="1400"/>
                  </a:lnTo>
                  <a:lnTo>
                    <a:pt x="819" y="1400"/>
                  </a:lnTo>
                  <a:lnTo>
                    <a:pt x="819" y="1390"/>
                  </a:lnTo>
                  <a:close/>
                  <a:moveTo>
                    <a:pt x="941" y="1390"/>
                  </a:moveTo>
                  <a:lnTo>
                    <a:pt x="1022" y="1390"/>
                  </a:lnTo>
                  <a:lnTo>
                    <a:pt x="1022" y="1400"/>
                  </a:lnTo>
                  <a:lnTo>
                    <a:pt x="941" y="1400"/>
                  </a:lnTo>
                  <a:lnTo>
                    <a:pt x="941" y="1390"/>
                  </a:lnTo>
                  <a:close/>
                  <a:moveTo>
                    <a:pt x="1063" y="1390"/>
                  </a:moveTo>
                  <a:lnTo>
                    <a:pt x="1144" y="1390"/>
                  </a:lnTo>
                  <a:lnTo>
                    <a:pt x="1144" y="1400"/>
                  </a:lnTo>
                  <a:lnTo>
                    <a:pt x="1063" y="1400"/>
                  </a:lnTo>
                  <a:lnTo>
                    <a:pt x="1063" y="1390"/>
                  </a:lnTo>
                  <a:close/>
                  <a:moveTo>
                    <a:pt x="1185" y="1390"/>
                  </a:moveTo>
                  <a:lnTo>
                    <a:pt x="1267" y="1390"/>
                  </a:lnTo>
                  <a:lnTo>
                    <a:pt x="1267" y="1400"/>
                  </a:lnTo>
                  <a:lnTo>
                    <a:pt x="1185" y="1400"/>
                  </a:lnTo>
                  <a:lnTo>
                    <a:pt x="1185" y="1390"/>
                  </a:lnTo>
                  <a:close/>
                  <a:moveTo>
                    <a:pt x="1307" y="1390"/>
                  </a:moveTo>
                  <a:lnTo>
                    <a:pt x="1389" y="1390"/>
                  </a:lnTo>
                  <a:lnTo>
                    <a:pt x="1389" y="1400"/>
                  </a:lnTo>
                  <a:lnTo>
                    <a:pt x="1307" y="1400"/>
                  </a:lnTo>
                  <a:lnTo>
                    <a:pt x="1307" y="1390"/>
                  </a:lnTo>
                  <a:close/>
                  <a:moveTo>
                    <a:pt x="1429" y="1390"/>
                  </a:moveTo>
                  <a:lnTo>
                    <a:pt x="1511" y="1390"/>
                  </a:lnTo>
                  <a:lnTo>
                    <a:pt x="1511" y="1400"/>
                  </a:lnTo>
                  <a:lnTo>
                    <a:pt x="1429" y="1400"/>
                  </a:lnTo>
                  <a:lnTo>
                    <a:pt x="1429" y="1390"/>
                  </a:lnTo>
                  <a:close/>
                  <a:moveTo>
                    <a:pt x="1552" y="1390"/>
                  </a:moveTo>
                  <a:lnTo>
                    <a:pt x="1633" y="1390"/>
                  </a:lnTo>
                  <a:lnTo>
                    <a:pt x="1633" y="1400"/>
                  </a:lnTo>
                  <a:lnTo>
                    <a:pt x="1552" y="1400"/>
                  </a:lnTo>
                  <a:lnTo>
                    <a:pt x="1552" y="1390"/>
                  </a:lnTo>
                  <a:close/>
                  <a:moveTo>
                    <a:pt x="1674" y="1390"/>
                  </a:moveTo>
                  <a:lnTo>
                    <a:pt x="1755" y="1390"/>
                  </a:lnTo>
                  <a:lnTo>
                    <a:pt x="1755" y="1400"/>
                  </a:lnTo>
                  <a:lnTo>
                    <a:pt x="1674" y="1400"/>
                  </a:lnTo>
                  <a:lnTo>
                    <a:pt x="1674" y="1390"/>
                  </a:lnTo>
                  <a:close/>
                  <a:moveTo>
                    <a:pt x="1796" y="1390"/>
                  </a:moveTo>
                  <a:lnTo>
                    <a:pt x="1877" y="1390"/>
                  </a:lnTo>
                  <a:lnTo>
                    <a:pt x="1877" y="1400"/>
                  </a:lnTo>
                  <a:lnTo>
                    <a:pt x="1796" y="1400"/>
                  </a:lnTo>
                  <a:lnTo>
                    <a:pt x="1796" y="1390"/>
                  </a:lnTo>
                  <a:close/>
                  <a:moveTo>
                    <a:pt x="1918" y="1390"/>
                  </a:moveTo>
                  <a:lnTo>
                    <a:pt x="2000" y="1390"/>
                  </a:lnTo>
                  <a:lnTo>
                    <a:pt x="2000" y="1400"/>
                  </a:lnTo>
                  <a:lnTo>
                    <a:pt x="1918" y="1400"/>
                  </a:lnTo>
                  <a:lnTo>
                    <a:pt x="1918" y="1390"/>
                  </a:lnTo>
                  <a:close/>
                  <a:moveTo>
                    <a:pt x="2040" y="1390"/>
                  </a:moveTo>
                  <a:lnTo>
                    <a:pt x="2122" y="1390"/>
                  </a:lnTo>
                  <a:lnTo>
                    <a:pt x="2122" y="1400"/>
                  </a:lnTo>
                  <a:lnTo>
                    <a:pt x="2040" y="1400"/>
                  </a:lnTo>
                  <a:lnTo>
                    <a:pt x="2040" y="1390"/>
                  </a:lnTo>
                  <a:close/>
                  <a:moveTo>
                    <a:pt x="2162" y="1390"/>
                  </a:moveTo>
                  <a:lnTo>
                    <a:pt x="2244" y="1390"/>
                  </a:lnTo>
                  <a:lnTo>
                    <a:pt x="2244" y="1400"/>
                  </a:lnTo>
                  <a:lnTo>
                    <a:pt x="2162" y="1400"/>
                  </a:lnTo>
                  <a:lnTo>
                    <a:pt x="2162" y="1390"/>
                  </a:lnTo>
                  <a:close/>
                  <a:moveTo>
                    <a:pt x="2285" y="1390"/>
                  </a:moveTo>
                  <a:lnTo>
                    <a:pt x="2366" y="1390"/>
                  </a:lnTo>
                  <a:lnTo>
                    <a:pt x="2366" y="1400"/>
                  </a:lnTo>
                  <a:lnTo>
                    <a:pt x="2285" y="1400"/>
                  </a:lnTo>
                  <a:lnTo>
                    <a:pt x="2285" y="1390"/>
                  </a:lnTo>
                  <a:close/>
                  <a:moveTo>
                    <a:pt x="2407" y="1390"/>
                  </a:moveTo>
                  <a:lnTo>
                    <a:pt x="2488" y="1390"/>
                  </a:lnTo>
                  <a:lnTo>
                    <a:pt x="2488" y="1400"/>
                  </a:lnTo>
                  <a:lnTo>
                    <a:pt x="2407" y="1400"/>
                  </a:lnTo>
                  <a:lnTo>
                    <a:pt x="2407" y="1390"/>
                  </a:lnTo>
                  <a:close/>
                  <a:moveTo>
                    <a:pt x="2496" y="1367"/>
                  </a:moveTo>
                  <a:lnTo>
                    <a:pt x="2496" y="1285"/>
                  </a:lnTo>
                  <a:lnTo>
                    <a:pt x="2506" y="1285"/>
                  </a:lnTo>
                  <a:lnTo>
                    <a:pt x="2506" y="1367"/>
                  </a:lnTo>
                  <a:lnTo>
                    <a:pt x="2496" y="1367"/>
                  </a:lnTo>
                  <a:close/>
                  <a:moveTo>
                    <a:pt x="2496" y="1244"/>
                  </a:moveTo>
                  <a:lnTo>
                    <a:pt x="2496" y="1162"/>
                  </a:lnTo>
                  <a:lnTo>
                    <a:pt x="2506" y="1162"/>
                  </a:lnTo>
                  <a:lnTo>
                    <a:pt x="2506" y="1244"/>
                  </a:lnTo>
                  <a:lnTo>
                    <a:pt x="2496" y="1244"/>
                  </a:lnTo>
                  <a:close/>
                  <a:moveTo>
                    <a:pt x="2496" y="1122"/>
                  </a:moveTo>
                  <a:lnTo>
                    <a:pt x="2496" y="1040"/>
                  </a:lnTo>
                  <a:lnTo>
                    <a:pt x="2506" y="1040"/>
                  </a:lnTo>
                  <a:lnTo>
                    <a:pt x="2506" y="1122"/>
                  </a:lnTo>
                  <a:lnTo>
                    <a:pt x="2496" y="1122"/>
                  </a:lnTo>
                  <a:close/>
                  <a:moveTo>
                    <a:pt x="2496" y="999"/>
                  </a:moveTo>
                  <a:lnTo>
                    <a:pt x="2496" y="917"/>
                  </a:lnTo>
                  <a:lnTo>
                    <a:pt x="2506" y="917"/>
                  </a:lnTo>
                  <a:lnTo>
                    <a:pt x="2506" y="999"/>
                  </a:lnTo>
                  <a:lnTo>
                    <a:pt x="2496" y="999"/>
                  </a:lnTo>
                  <a:close/>
                  <a:moveTo>
                    <a:pt x="2496" y="877"/>
                  </a:moveTo>
                  <a:lnTo>
                    <a:pt x="2496" y="795"/>
                  </a:lnTo>
                  <a:lnTo>
                    <a:pt x="2506" y="795"/>
                  </a:lnTo>
                  <a:lnTo>
                    <a:pt x="2506" y="877"/>
                  </a:lnTo>
                  <a:lnTo>
                    <a:pt x="2496" y="877"/>
                  </a:lnTo>
                  <a:close/>
                  <a:moveTo>
                    <a:pt x="2496" y="754"/>
                  </a:moveTo>
                  <a:lnTo>
                    <a:pt x="2496" y="672"/>
                  </a:lnTo>
                  <a:lnTo>
                    <a:pt x="2506" y="672"/>
                  </a:lnTo>
                  <a:lnTo>
                    <a:pt x="2506" y="754"/>
                  </a:lnTo>
                  <a:lnTo>
                    <a:pt x="2496" y="754"/>
                  </a:lnTo>
                  <a:close/>
                  <a:moveTo>
                    <a:pt x="2496" y="632"/>
                  </a:moveTo>
                  <a:lnTo>
                    <a:pt x="2496" y="550"/>
                  </a:lnTo>
                  <a:lnTo>
                    <a:pt x="2506" y="550"/>
                  </a:lnTo>
                  <a:lnTo>
                    <a:pt x="2506" y="632"/>
                  </a:lnTo>
                  <a:lnTo>
                    <a:pt x="2496" y="632"/>
                  </a:lnTo>
                  <a:close/>
                  <a:moveTo>
                    <a:pt x="2496" y="509"/>
                  </a:moveTo>
                  <a:lnTo>
                    <a:pt x="2496" y="427"/>
                  </a:lnTo>
                  <a:lnTo>
                    <a:pt x="2506" y="427"/>
                  </a:lnTo>
                  <a:lnTo>
                    <a:pt x="2506" y="509"/>
                  </a:lnTo>
                  <a:lnTo>
                    <a:pt x="2496" y="509"/>
                  </a:lnTo>
                  <a:close/>
                  <a:moveTo>
                    <a:pt x="2496" y="387"/>
                  </a:moveTo>
                  <a:lnTo>
                    <a:pt x="2496" y="305"/>
                  </a:lnTo>
                  <a:lnTo>
                    <a:pt x="2506" y="305"/>
                  </a:lnTo>
                  <a:lnTo>
                    <a:pt x="2506" y="387"/>
                  </a:lnTo>
                  <a:lnTo>
                    <a:pt x="2496" y="387"/>
                  </a:lnTo>
                  <a:close/>
                  <a:moveTo>
                    <a:pt x="2496" y="264"/>
                  </a:moveTo>
                  <a:lnTo>
                    <a:pt x="2496" y="182"/>
                  </a:lnTo>
                  <a:lnTo>
                    <a:pt x="2506" y="182"/>
                  </a:lnTo>
                  <a:lnTo>
                    <a:pt x="2506" y="264"/>
                  </a:lnTo>
                  <a:lnTo>
                    <a:pt x="2496" y="264"/>
                  </a:lnTo>
                  <a:close/>
                  <a:moveTo>
                    <a:pt x="2496" y="141"/>
                  </a:moveTo>
                  <a:lnTo>
                    <a:pt x="2496" y="60"/>
                  </a:lnTo>
                  <a:lnTo>
                    <a:pt x="2506" y="60"/>
                  </a:lnTo>
                  <a:lnTo>
                    <a:pt x="2506" y="141"/>
                  </a:lnTo>
                  <a:lnTo>
                    <a:pt x="2496" y="141"/>
                  </a:lnTo>
                  <a:close/>
                  <a:moveTo>
                    <a:pt x="2496" y="19"/>
                  </a:moveTo>
                  <a:lnTo>
                    <a:pt x="2496" y="6"/>
                  </a:lnTo>
                  <a:lnTo>
                    <a:pt x="2501" y="10"/>
                  </a:lnTo>
                  <a:lnTo>
                    <a:pt x="2433" y="10"/>
                  </a:lnTo>
                  <a:lnTo>
                    <a:pt x="2433" y="0"/>
                  </a:lnTo>
                  <a:lnTo>
                    <a:pt x="2506" y="0"/>
                  </a:lnTo>
                  <a:lnTo>
                    <a:pt x="2506" y="19"/>
                  </a:lnTo>
                  <a:lnTo>
                    <a:pt x="2496" y="19"/>
                  </a:lnTo>
                  <a:close/>
                  <a:moveTo>
                    <a:pt x="2392" y="10"/>
                  </a:moveTo>
                  <a:lnTo>
                    <a:pt x="2311" y="10"/>
                  </a:lnTo>
                  <a:lnTo>
                    <a:pt x="2311" y="0"/>
                  </a:lnTo>
                  <a:lnTo>
                    <a:pt x="2392" y="0"/>
                  </a:lnTo>
                  <a:lnTo>
                    <a:pt x="2392" y="10"/>
                  </a:lnTo>
                  <a:close/>
                  <a:moveTo>
                    <a:pt x="2270" y="10"/>
                  </a:moveTo>
                  <a:lnTo>
                    <a:pt x="2189" y="10"/>
                  </a:lnTo>
                  <a:lnTo>
                    <a:pt x="2189" y="0"/>
                  </a:lnTo>
                  <a:lnTo>
                    <a:pt x="2270" y="0"/>
                  </a:lnTo>
                  <a:lnTo>
                    <a:pt x="2270" y="10"/>
                  </a:lnTo>
                  <a:close/>
                  <a:moveTo>
                    <a:pt x="2148" y="10"/>
                  </a:moveTo>
                  <a:lnTo>
                    <a:pt x="2066" y="10"/>
                  </a:lnTo>
                  <a:lnTo>
                    <a:pt x="2066" y="0"/>
                  </a:lnTo>
                  <a:lnTo>
                    <a:pt x="2148" y="0"/>
                  </a:lnTo>
                  <a:lnTo>
                    <a:pt x="2148" y="10"/>
                  </a:lnTo>
                  <a:close/>
                  <a:moveTo>
                    <a:pt x="2026" y="10"/>
                  </a:moveTo>
                  <a:lnTo>
                    <a:pt x="1944" y="10"/>
                  </a:lnTo>
                  <a:lnTo>
                    <a:pt x="1944" y="0"/>
                  </a:lnTo>
                  <a:lnTo>
                    <a:pt x="2026" y="0"/>
                  </a:lnTo>
                  <a:lnTo>
                    <a:pt x="2026" y="10"/>
                  </a:lnTo>
                  <a:close/>
                  <a:moveTo>
                    <a:pt x="1904" y="10"/>
                  </a:moveTo>
                  <a:lnTo>
                    <a:pt x="1822" y="10"/>
                  </a:lnTo>
                  <a:lnTo>
                    <a:pt x="1822" y="0"/>
                  </a:lnTo>
                  <a:lnTo>
                    <a:pt x="1904" y="0"/>
                  </a:lnTo>
                  <a:lnTo>
                    <a:pt x="1904" y="10"/>
                  </a:lnTo>
                  <a:close/>
                  <a:moveTo>
                    <a:pt x="1782" y="10"/>
                  </a:moveTo>
                  <a:lnTo>
                    <a:pt x="1700" y="10"/>
                  </a:lnTo>
                  <a:lnTo>
                    <a:pt x="1700" y="0"/>
                  </a:lnTo>
                  <a:lnTo>
                    <a:pt x="1782" y="0"/>
                  </a:lnTo>
                  <a:lnTo>
                    <a:pt x="1782" y="10"/>
                  </a:lnTo>
                  <a:close/>
                  <a:moveTo>
                    <a:pt x="1659" y="10"/>
                  </a:moveTo>
                  <a:lnTo>
                    <a:pt x="1578" y="10"/>
                  </a:lnTo>
                  <a:lnTo>
                    <a:pt x="1578" y="0"/>
                  </a:lnTo>
                  <a:lnTo>
                    <a:pt x="1659" y="0"/>
                  </a:lnTo>
                  <a:lnTo>
                    <a:pt x="1659" y="10"/>
                  </a:lnTo>
                  <a:close/>
                  <a:moveTo>
                    <a:pt x="1537" y="10"/>
                  </a:moveTo>
                  <a:lnTo>
                    <a:pt x="1456" y="10"/>
                  </a:lnTo>
                  <a:lnTo>
                    <a:pt x="1456" y="0"/>
                  </a:lnTo>
                  <a:lnTo>
                    <a:pt x="1537" y="0"/>
                  </a:lnTo>
                  <a:lnTo>
                    <a:pt x="1537" y="10"/>
                  </a:lnTo>
                  <a:close/>
                  <a:moveTo>
                    <a:pt x="1415" y="10"/>
                  </a:moveTo>
                  <a:lnTo>
                    <a:pt x="1333" y="10"/>
                  </a:lnTo>
                  <a:lnTo>
                    <a:pt x="1333" y="0"/>
                  </a:lnTo>
                  <a:lnTo>
                    <a:pt x="1415" y="0"/>
                  </a:lnTo>
                  <a:lnTo>
                    <a:pt x="1415" y="10"/>
                  </a:lnTo>
                  <a:close/>
                  <a:moveTo>
                    <a:pt x="1293" y="10"/>
                  </a:moveTo>
                  <a:lnTo>
                    <a:pt x="1211" y="10"/>
                  </a:lnTo>
                  <a:lnTo>
                    <a:pt x="1211" y="0"/>
                  </a:lnTo>
                  <a:lnTo>
                    <a:pt x="1293" y="0"/>
                  </a:lnTo>
                  <a:lnTo>
                    <a:pt x="1293" y="10"/>
                  </a:lnTo>
                  <a:close/>
                  <a:moveTo>
                    <a:pt x="1171" y="10"/>
                  </a:moveTo>
                  <a:lnTo>
                    <a:pt x="1089" y="10"/>
                  </a:lnTo>
                  <a:lnTo>
                    <a:pt x="1089" y="0"/>
                  </a:lnTo>
                  <a:lnTo>
                    <a:pt x="1171" y="0"/>
                  </a:lnTo>
                  <a:lnTo>
                    <a:pt x="1171" y="10"/>
                  </a:lnTo>
                  <a:close/>
                  <a:moveTo>
                    <a:pt x="1049" y="10"/>
                  </a:moveTo>
                  <a:lnTo>
                    <a:pt x="967" y="10"/>
                  </a:lnTo>
                  <a:lnTo>
                    <a:pt x="967" y="0"/>
                  </a:lnTo>
                  <a:lnTo>
                    <a:pt x="1049" y="0"/>
                  </a:lnTo>
                  <a:lnTo>
                    <a:pt x="1049" y="10"/>
                  </a:lnTo>
                  <a:close/>
                  <a:moveTo>
                    <a:pt x="926" y="10"/>
                  </a:moveTo>
                  <a:lnTo>
                    <a:pt x="845" y="10"/>
                  </a:lnTo>
                  <a:lnTo>
                    <a:pt x="845" y="0"/>
                  </a:lnTo>
                  <a:lnTo>
                    <a:pt x="926" y="0"/>
                  </a:lnTo>
                  <a:lnTo>
                    <a:pt x="926" y="10"/>
                  </a:lnTo>
                  <a:close/>
                  <a:moveTo>
                    <a:pt x="804" y="10"/>
                  </a:moveTo>
                  <a:lnTo>
                    <a:pt x="723" y="10"/>
                  </a:lnTo>
                  <a:lnTo>
                    <a:pt x="723" y="0"/>
                  </a:lnTo>
                  <a:lnTo>
                    <a:pt x="804" y="0"/>
                  </a:lnTo>
                  <a:lnTo>
                    <a:pt x="804" y="10"/>
                  </a:lnTo>
                  <a:close/>
                  <a:moveTo>
                    <a:pt x="682" y="10"/>
                  </a:moveTo>
                  <a:lnTo>
                    <a:pt x="600" y="10"/>
                  </a:lnTo>
                  <a:lnTo>
                    <a:pt x="600" y="0"/>
                  </a:lnTo>
                  <a:lnTo>
                    <a:pt x="682" y="0"/>
                  </a:lnTo>
                  <a:lnTo>
                    <a:pt x="682" y="10"/>
                  </a:lnTo>
                  <a:close/>
                  <a:moveTo>
                    <a:pt x="560" y="10"/>
                  </a:moveTo>
                  <a:lnTo>
                    <a:pt x="478" y="10"/>
                  </a:lnTo>
                  <a:lnTo>
                    <a:pt x="478" y="0"/>
                  </a:lnTo>
                  <a:lnTo>
                    <a:pt x="560" y="0"/>
                  </a:lnTo>
                  <a:lnTo>
                    <a:pt x="560" y="10"/>
                  </a:lnTo>
                  <a:close/>
                  <a:moveTo>
                    <a:pt x="438" y="10"/>
                  </a:moveTo>
                  <a:lnTo>
                    <a:pt x="356" y="10"/>
                  </a:lnTo>
                  <a:lnTo>
                    <a:pt x="356" y="0"/>
                  </a:lnTo>
                  <a:lnTo>
                    <a:pt x="438" y="0"/>
                  </a:lnTo>
                  <a:lnTo>
                    <a:pt x="438" y="10"/>
                  </a:lnTo>
                  <a:close/>
                  <a:moveTo>
                    <a:pt x="316" y="10"/>
                  </a:moveTo>
                  <a:lnTo>
                    <a:pt x="234" y="10"/>
                  </a:lnTo>
                  <a:lnTo>
                    <a:pt x="234" y="0"/>
                  </a:lnTo>
                  <a:lnTo>
                    <a:pt x="316" y="0"/>
                  </a:lnTo>
                  <a:lnTo>
                    <a:pt x="316" y="10"/>
                  </a:lnTo>
                  <a:close/>
                  <a:moveTo>
                    <a:pt x="193" y="10"/>
                  </a:moveTo>
                  <a:lnTo>
                    <a:pt x="112" y="10"/>
                  </a:lnTo>
                  <a:lnTo>
                    <a:pt x="112" y="0"/>
                  </a:lnTo>
                  <a:lnTo>
                    <a:pt x="193" y="0"/>
                  </a:lnTo>
                  <a:lnTo>
                    <a:pt x="193" y="10"/>
                  </a:lnTo>
                  <a:close/>
                  <a:moveTo>
                    <a:pt x="71" y="10"/>
                  </a:moveTo>
                  <a:lnTo>
                    <a:pt x="5" y="10"/>
                  </a:lnTo>
                  <a:lnTo>
                    <a:pt x="5" y="0"/>
                  </a:lnTo>
                  <a:lnTo>
                    <a:pt x="71" y="0"/>
                  </a:lnTo>
                  <a:lnTo>
                    <a:pt x="71" y="10"/>
                  </a:lnTo>
                  <a:close/>
                </a:path>
              </a:pathLst>
            </a:custGeom>
            <a:solidFill>
              <a:srgbClr val="15383B"/>
            </a:solidFill>
            <a:ln w="1588" cap="flat">
              <a:solidFill>
                <a:srgbClr val="15383B"/>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12" name="Line 8">
              <a:extLst>
                <a:ext uri="{FF2B5EF4-FFF2-40B4-BE49-F238E27FC236}">
                  <a16:creationId xmlns:a16="http://schemas.microsoft.com/office/drawing/2014/main" id="{85B2CE12-E16D-4DD2-8358-EEF16FC8E82C}"/>
                </a:ext>
              </a:extLst>
            </p:cNvPr>
            <p:cNvSpPr>
              <a:spLocks noChangeShapeType="1"/>
            </p:cNvSpPr>
            <p:nvPr/>
          </p:nvSpPr>
          <p:spPr bwMode="auto">
            <a:xfrm>
              <a:off x="1472" y="1899"/>
              <a:ext cx="875" cy="0"/>
            </a:xfrm>
            <a:prstGeom prst="line">
              <a:avLst/>
            </a:prstGeom>
            <a:noFill/>
            <a:ln w="104775" cap="flat">
              <a:solidFill>
                <a:srgbClr val="173F4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Freeform 9">
              <a:extLst>
                <a:ext uri="{FF2B5EF4-FFF2-40B4-BE49-F238E27FC236}">
                  <a16:creationId xmlns:a16="http://schemas.microsoft.com/office/drawing/2014/main" id="{BDCB7AC0-1137-4582-95DB-CF96660F0F9A}"/>
                </a:ext>
              </a:extLst>
            </p:cNvPr>
            <p:cNvSpPr>
              <a:spLocks/>
            </p:cNvSpPr>
            <p:nvPr/>
          </p:nvSpPr>
          <p:spPr bwMode="auto">
            <a:xfrm>
              <a:off x="2302" y="1807"/>
              <a:ext cx="183" cy="184"/>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173F4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14" name="Line 10">
              <a:extLst>
                <a:ext uri="{FF2B5EF4-FFF2-40B4-BE49-F238E27FC236}">
                  <a16:creationId xmlns:a16="http://schemas.microsoft.com/office/drawing/2014/main" id="{9FAEE7DB-BFE7-4EE4-B836-65A38C4522FB}"/>
                </a:ext>
              </a:extLst>
            </p:cNvPr>
            <p:cNvSpPr>
              <a:spLocks noChangeShapeType="1"/>
            </p:cNvSpPr>
            <p:nvPr/>
          </p:nvSpPr>
          <p:spPr bwMode="auto">
            <a:xfrm>
              <a:off x="1472" y="2257"/>
              <a:ext cx="875" cy="0"/>
            </a:xfrm>
            <a:prstGeom prst="line">
              <a:avLst/>
            </a:prstGeom>
            <a:noFill/>
            <a:ln w="104775" cap="flat">
              <a:solidFill>
                <a:srgbClr val="173F4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5" name="Freeform 11">
              <a:extLst>
                <a:ext uri="{FF2B5EF4-FFF2-40B4-BE49-F238E27FC236}">
                  <a16:creationId xmlns:a16="http://schemas.microsoft.com/office/drawing/2014/main" id="{006A2AB0-ABC7-46EA-9F5C-275C7723F2EF}"/>
                </a:ext>
              </a:extLst>
            </p:cNvPr>
            <p:cNvSpPr>
              <a:spLocks/>
            </p:cNvSpPr>
            <p:nvPr/>
          </p:nvSpPr>
          <p:spPr bwMode="auto">
            <a:xfrm>
              <a:off x="2302" y="2165"/>
              <a:ext cx="183" cy="184"/>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173F4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16" name="Line 12">
              <a:extLst>
                <a:ext uri="{FF2B5EF4-FFF2-40B4-BE49-F238E27FC236}">
                  <a16:creationId xmlns:a16="http://schemas.microsoft.com/office/drawing/2014/main" id="{B2B59F85-5A46-4402-90FF-56095C394B74}"/>
                </a:ext>
              </a:extLst>
            </p:cNvPr>
            <p:cNvSpPr>
              <a:spLocks noChangeShapeType="1"/>
            </p:cNvSpPr>
            <p:nvPr/>
          </p:nvSpPr>
          <p:spPr bwMode="auto">
            <a:xfrm>
              <a:off x="1472" y="2615"/>
              <a:ext cx="875" cy="0"/>
            </a:xfrm>
            <a:prstGeom prst="line">
              <a:avLst/>
            </a:prstGeom>
            <a:noFill/>
            <a:ln w="104775" cap="flat">
              <a:solidFill>
                <a:srgbClr val="173F42"/>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7" name="Freeform 13">
              <a:extLst>
                <a:ext uri="{FF2B5EF4-FFF2-40B4-BE49-F238E27FC236}">
                  <a16:creationId xmlns:a16="http://schemas.microsoft.com/office/drawing/2014/main" id="{CA1FB035-45AA-4E9F-8ED3-BDBF04AB1569}"/>
                </a:ext>
              </a:extLst>
            </p:cNvPr>
            <p:cNvSpPr>
              <a:spLocks/>
            </p:cNvSpPr>
            <p:nvPr/>
          </p:nvSpPr>
          <p:spPr bwMode="auto">
            <a:xfrm>
              <a:off x="2302" y="2523"/>
              <a:ext cx="183" cy="184"/>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173F42"/>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18" name="Line 14">
              <a:extLst>
                <a:ext uri="{FF2B5EF4-FFF2-40B4-BE49-F238E27FC236}">
                  <a16:creationId xmlns:a16="http://schemas.microsoft.com/office/drawing/2014/main" id="{6B88FB4F-574C-46FB-A413-80310E9EAB48}"/>
                </a:ext>
              </a:extLst>
            </p:cNvPr>
            <p:cNvSpPr>
              <a:spLocks noChangeShapeType="1"/>
            </p:cNvSpPr>
            <p:nvPr/>
          </p:nvSpPr>
          <p:spPr bwMode="auto">
            <a:xfrm>
              <a:off x="4429" y="1899"/>
              <a:ext cx="874" cy="0"/>
            </a:xfrm>
            <a:prstGeom prst="line">
              <a:avLst/>
            </a:prstGeom>
            <a:noFill/>
            <a:ln w="104775" cap="flat">
              <a:solidFill>
                <a:srgbClr val="9E5E9B"/>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9" name="Freeform 15">
              <a:extLst>
                <a:ext uri="{FF2B5EF4-FFF2-40B4-BE49-F238E27FC236}">
                  <a16:creationId xmlns:a16="http://schemas.microsoft.com/office/drawing/2014/main" id="{8DD10372-570F-41C2-93AD-8F1D9657E749}"/>
                </a:ext>
              </a:extLst>
            </p:cNvPr>
            <p:cNvSpPr>
              <a:spLocks/>
            </p:cNvSpPr>
            <p:nvPr/>
          </p:nvSpPr>
          <p:spPr bwMode="auto">
            <a:xfrm>
              <a:off x="5258" y="1807"/>
              <a:ext cx="184" cy="184"/>
            </a:xfrm>
            <a:custGeom>
              <a:avLst/>
              <a:gdLst>
                <a:gd name="T0" fmla="*/ 385 w 385"/>
                <a:gd name="T1" fmla="*/ 193 h 385"/>
                <a:gd name="T2" fmla="*/ 0 w 385"/>
                <a:gd name="T3" fmla="*/ 385 h 385"/>
                <a:gd name="T4" fmla="*/ 0 w 385"/>
                <a:gd name="T5" fmla="*/ 0 h 385"/>
                <a:gd name="T6" fmla="*/ 385 w 385"/>
                <a:gd name="T7" fmla="*/ 193 h 385"/>
              </a:gdLst>
              <a:ahLst/>
              <a:cxnLst>
                <a:cxn ang="0">
                  <a:pos x="T0" y="T1"/>
                </a:cxn>
                <a:cxn ang="0">
                  <a:pos x="T2" y="T3"/>
                </a:cxn>
                <a:cxn ang="0">
                  <a:pos x="T4" y="T5"/>
                </a:cxn>
                <a:cxn ang="0">
                  <a:pos x="T6" y="T7"/>
                </a:cxn>
              </a:cxnLst>
              <a:rect l="0" t="0" r="r" b="b"/>
              <a:pathLst>
                <a:path w="385" h="385">
                  <a:moveTo>
                    <a:pt x="385" y="193"/>
                  </a:moveTo>
                  <a:lnTo>
                    <a:pt x="0" y="385"/>
                  </a:lnTo>
                  <a:cubicBezTo>
                    <a:pt x="60" y="264"/>
                    <a:pt x="60" y="121"/>
                    <a:pt x="0" y="0"/>
                  </a:cubicBezTo>
                  <a:lnTo>
                    <a:pt x="385" y="193"/>
                  </a:lnTo>
                  <a:close/>
                </a:path>
              </a:pathLst>
            </a:custGeom>
            <a:solidFill>
              <a:srgbClr val="9E5E9B"/>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20" name="Line 16">
              <a:extLst>
                <a:ext uri="{FF2B5EF4-FFF2-40B4-BE49-F238E27FC236}">
                  <a16:creationId xmlns:a16="http://schemas.microsoft.com/office/drawing/2014/main" id="{7979FFFC-0CB7-4739-BE6B-32500A8EA589}"/>
                </a:ext>
              </a:extLst>
            </p:cNvPr>
            <p:cNvSpPr>
              <a:spLocks noChangeShapeType="1"/>
            </p:cNvSpPr>
            <p:nvPr/>
          </p:nvSpPr>
          <p:spPr bwMode="auto">
            <a:xfrm>
              <a:off x="4429" y="2257"/>
              <a:ext cx="874" cy="0"/>
            </a:xfrm>
            <a:prstGeom prst="line">
              <a:avLst/>
            </a:prstGeom>
            <a:noFill/>
            <a:ln w="104775" cap="flat">
              <a:solidFill>
                <a:srgbClr val="9E5E9B"/>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21" name="Freeform 17">
              <a:extLst>
                <a:ext uri="{FF2B5EF4-FFF2-40B4-BE49-F238E27FC236}">
                  <a16:creationId xmlns:a16="http://schemas.microsoft.com/office/drawing/2014/main" id="{81E1331C-FFC8-4205-B210-44C0FA633AAA}"/>
                </a:ext>
              </a:extLst>
            </p:cNvPr>
            <p:cNvSpPr>
              <a:spLocks/>
            </p:cNvSpPr>
            <p:nvPr/>
          </p:nvSpPr>
          <p:spPr bwMode="auto">
            <a:xfrm>
              <a:off x="5258" y="2165"/>
              <a:ext cx="184" cy="184"/>
            </a:xfrm>
            <a:custGeom>
              <a:avLst/>
              <a:gdLst>
                <a:gd name="T0" fmla="*/ 385 w 385"/>
                <a:gd name="T1" fmla="*/ 193 h 385"/>
                <a:gd name="T2" fmla="*/ 0 w 385"/>
                <a:gd name="T3" fmla="*/ 385 h 385"/>
                <a:gd name="T4" fmla="*/ 0 w 385"/>
                <a:gd name="T5" fmla="*/ 0 h 385"/>
                <a:gd name="T6" fmla="*/ 385 w 385"/>
                <a:gd name="T7" fmla="*/ 193 h 385"/>
              </a:gdLst>
              <a:ahLst/>
              <a:cxnLst>
                <a:cxn ang="0">
                  <a:pos x="T0" y="T1"/>
                </a:cxn>
                <a:cxn ang="0">
                  <a:pos x="T2" y="T3"/>
                </a:cxn>
                <a:cxn ang="0">
                  <a:pos x="T4" y="T5"/>
                </a:cxn>
                <a:cxn ang="0">
                  <a:pos x="T6" y="T7"/>
                </a:cxn>
              </a:cxnLst>
              <a:rect l="0" t="0" r="r" b="b"/>
              <a:pathLst>
                <a:path w="385" h="385">
                  <a:moveTo>
                    <a:pt x="385" y="193"/>
                  </a:moveTo>
                  <a:lnTo>
                    <a:pt x="0" y="385"/>
                  </a:lnTo>
                  <a:cubicBezTo>
                    <a:pt x="60" y="264"/>
                    <a:pt x="60" y="121"/>
                    <a:pt x="0" y="0"/>
                  </a:cubicBezTo>
                  <a:lnTo>
                    <a:pt x="385" y="193"/>
                  </a:lnTo>
                  <a:close/>
                </a:path>
              </a:pathLst>
            </a:custGeom>
            <a:solidFill>
              <a:srgbClr val="9E5E9B"/>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22" name="Line 18">
              <a:extLst>
                <a:ext uri="{FF2B5EF4-FFF2-40B4-BE49-F238E27FC236}">
                  <a16:creationId xmlns:a16="http://schemas.microsoft.com/office/drawing/2014/main" id="{7FAE3FB8-8B67-4BC5-BF28-72A183254125}"/>
                </a:ext>
              </a:extLst>
            </p:cNvPr>
            <p:cNvSpPr>
              <a:spLocks noChangeShapeType="1"/>
            </p:cNvSpPr>
            <p:nvPr/>
          </p:nvSpPr>
          <p:spPr bwMode="auto">
            <a:xfrm>
              <a:off x="4429" y="2615"/>
              <a:ext cx="874" cy="0"/>
            </a:xfrm>
            <a:prstGeom prst="line">
              <a:avLst/>
            </a:prstGeom>
            <a:noFill/>
            <a:ln w="104775" cap="flat">
              <a:solidFill>
                <a:srgbClr val="9E5E9B"/>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23" name="Freeform 19">
              <a:extLst>
                <a:ext uri="{FF2B5EF4-FFF2-40B4-BE49-F238E27FC236}">
                  <a16:creationId xmlns:a16="http://schemas.microsoft.com/office/drawing/2014/main" id="{B3AFCF92-31A4-48EC-B915-83BBA2D78CBE}"/>
                </a:ext>
              </a:extLst>
            </p:cNvPr>
            <p:cNvSpPr>
              <a:spLocks/>
            </p:cNvSpPr>
            <p:nvPr/>
          </p:nvSpPr>
          <p:spPr bwMode="auto">
            <a:xfrm>
              <a:off x="5258" y="2523"/>
              <a:ext cx="184" cy="184"/>
            </a:xfrm>
            <a:custGeom>
              <a:avLst/>
              <a:gdLst>
                <a:gd name="T0" fmla="*/ 385 w 385"/>
                <a:gd name="T1" fmla="*/ 193 h 385"/>
                <a:gd name="T2" fmla="*/ 0 w 385"/>
                <a:gd name="T3" fmla="*/ 385 h 385"/>
                <a:gd name="T4" fmla="*/ 0 w 385"/>
                <a:gd name="T5" fmla="*/ 0 h 385"/>
                <a:gd name="T6" fmla="*/ 385 w 385"/>
                <a:gd name="T7" fmla="*/ 193 h 385"/>
              </a:gdLst>
              <a:ahLst/>
              <a:cxnLst>
                <a:cxn ang="0">
                  <a:pos x="T0" y="T1"/>
                </a:cxn>
                <a:cxn ang="0">
                  <a:pos x="T2" y="T3"/>
                </a:cxn>
                <a:cxn ang="0">
                  <a:pos x="T4" y="T5"/>
                </a:cxn>
                <a:cxn ang="0">
                  <a:pos x="T6" y="T7"/>
                </a:cxn>
              </a:cxnLst>
              <a:rect l="0" t="0" r="r" b="b"/>
              <a:pathLst>
                <a:path w="385" h="385">
                  <a:moveTo>
                    <a:pt x="385" y="193"/>
                  </a:moveTo>
                  <a:lnTo>
                    <a:pt x="0" y="385"/>
                  </a:lnTo>
                  <a:cubicBezTo>
                    <a:pt x="60" y="264"/>
                    <a:pt x="60" y="121"/>
                    <a:pt x="0" y="0"/>
                  </a:cubicBezTo>
                  <a:lnTo>
                    <a:pt x="385" y="193"/>
                  </a:lnTo>
                  <a:close/>
                </a:path>
              </a:pathLst>
            </a:custGeom>
            <a:solidFill>
              <a:srgbClr val="9E5E9B"/>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24" name="Rectangle 20">
              <a:extLst>
                <a:ext uri="{FF2B5EF4-FFF2-40B4-BE49-F238E27FC236}">
                  <a16:creationId xmlns:a16="http://schemas.microsoft.com/office/drawing/2014/main" id="{D62039C1-DA4B-4157-BB5A-7E6C59D609D8}"/>
                </a:ext>
              </a:extLst>
            </p:cNvPr>
            <p:cNvSpPr>
              <a:spLocks noChangeArrowheads="1"/>
            </p:cNvSpPr>
            <p:nvPr/>
          </p:nvSpPr>
          <p:spPr bwMode="auto">
            <a:xfrm>
              <a:off x="2958" y="2125"/>
              <a:ext cx="96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100" b="0" i="0" u="none" strike="noStrike" cap="none" normalizeH="0" baseline="0" dirty="0">
                  <a:ln>
                    <a:noFill/>
                  </a:ln>
                  <a:solidFill>
                    <a:srgbClr val="15383B"/>
                  </a:solidFill>
                  <a:effectLst/>
                  <a:latin typeface="Franklin Gothic Book" panose="020B0503020102020204" pitchFamily="34" charset="0"/>
                </a:rPr>
                <a:t>SYSTEM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21">
              <a:extLst>
                <a:ext uri="{FF2B5EF4-FFF2-40B4-BE49-F238E27FC236}">
                  <a16:creationId xmlns:a16="http://schemas.microsoft.com/office/drawing/2014/main" id="{0EA1DF93-902E-4A68-86B0-4041FB516143}"/>
                </a:ext>
              </a:extLst>
            </p:cNvPr>
            <p:cNvSpPr>
              <a:spLocks noChangeArrowheads="1"/>
            </p:cNvSpPr>
            <p:nvPr/>
          </p:nvSpPr>
          <p:spPr bwMode="auto">
            <a:xfrm>
              <a:off x="2744" y="3117"/>
              <a:ext cx="1672"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100" b="0" i="0" u="none" strike="noStrike" cap="none" normalizeH="0" baseline="0" dirty="0">
                  <a:ln>
                    <a:noFill/>
                  </a:ln>
                  <a:solidFill>
                    <a:srgbClr val="15383B"/>
                  </a:solidFill>
                  <a:effectLst/>
                  <a:latin typeface="Franklin Gothic Book" panose="020B0503020102020204" pitchFamily="34" charset="0"/>
                </a:rPr>
                <a:t>ENVIRONMENT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22">
              <a:extLst>
                <a:ext uri="{FF2B5EF4-FFF2-40B4-BE49-F238E27FC236}">
                  <a16:creationId xmlns:a16="http://schemas.microsoft.com/office/drawing/2014/main" id="{1667DCA4-3874-4488-892D-E732145BF71A}"/>
                </a:ext>
              </a:extLst>
            </p:cNvPr>
            <p:cNvSpPr>
              <a:spLocks noChangeArrowheads="1"/>
            </p:cNvSpPr>
            <p:nvPr/>
          </p:nvSpPr>
          <p:spPr bwMode="auto">
            <a:xfrm>
              <a:off x="1277" y="2018"/>
              <a:ext cx="38"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15383B"/>
                  </a:solidFill>
                  <a:effectLst/>
                  <a:latin typeface="Franklin Gothic Book" panose="020B0503020102020204" pitchFamily="34" charset="0"/>
                </a:rPr>
                <a:t>Inputs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5EB3030F-ACD5-4FDB-9DFB-A0D747B0F91F}"/>
                </a:ext>
              </a:extLst>
            </p:cNvPr>
            <p:cNvSpPr>
              <a:spLocks noChangeArrowheads="1"/>
            </p:cNvSpPr>
            <p:nvPr/>
          </p:nvSpPr>
          <p:spPr bwMode="auto">
            <a:xfrm>
              <a:off x="5606" y="1903"/>
              <a:ext cx="39"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rgbClr val="15383B"/>
                  </a:solidFill>
                  <a:effectLst/>
                  <a:latin typeface="Franklin Gothic Book" panose="020B0503020102020204" pitchFamily="34" charset="0"/>
                </a:rPr>
                <a:t>Outputs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28" name="Group 27">
            <a:extLst>
              <a:ext uri="{FF2B5EF4-FFF2-40B4-BE49-F238E27FC236}">
                <a16:creationId xmlns:a16="http://schemas.microsoft.com/office/drawing/2014/main" id="{333A66A1-6EDD-40B2-8928-FCF47A9C1751}"/>
              </a:ext>
            </a:extLst>
          </p:cNvPr>
          <p:cNvGrpSpPr/>
          <p:nvPr/>
        </p:nvGrpSpPr>
        <p:grpSpPr>
          <a:xfrm rot="5400000">
            <a:off x="4715030" y="1891905"/>
            <a:ext cx="1333189" cy="1428750"/>
            <a:chOff x="47990" y="1808229"/>
            <a:chExt cx="1957657" cy="1428750"/>
          </a:xfrm>
        </p:grpSpPr>
        <p:sp>
          <p:nvSpPr>
            <p:cNvPr id="30" name="Line 8">
              <a:extLst>
                <a:ext uri="{FF2B5EF4-FFF2-40B4-BE49-F238E27FC236}">
                  <a16:creationId xmlns:a16="http://schemas.microsoft.com/office/drawing/2014/main" id="{4E80AC6F-0BAC-4F4B-9943-CEE9BEC3BAFE}"/>
                </a:ext>
              </a:extLst>
            </p:cNvPr>
            <p:cNvSpPr>
              <a:spLocks noChangeShapeType="1"/>
            </p:cNvSpPr>
            <p:nvPr/>
          </p:nvSpPr>
          <p:spPr bwMode="auto">
            <a:xfrm>
              <a:off x="401537" y="1954279"/>
              <a:ext cx="1389063" cy="0"/>
            </a:xfrm>
            <a:prstGeom prst="line">
              <a:avLst/>
            </a:prstGeom>
            <a:noFill/>
            <a:ln w="104775" cap="flat">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31" name="Line 10">
              <a:extLst>
                <a:ext uri="{FF2B5EF4-FFF2-40B4-BE49-F238E27FC236}">
                  <a16:creationId xmlns:a16="http://schemas.microsoft.com/office/drawing/2014/main" id="{4C47943C-1E9F-4CB9-9FBD-7416DD12B566}"/>
                </a:ext>
              </a:extLst>
            </p:cNvPr>
            <p:cNvSpPr>
              <a:spLocks noChangeShapeType="1"/>
            </p:cNvSpPr>
            <p:nvPr/>
          </p:nvSpPr>
          <p:spPr bwMode="auto">
            <a:xfrm>
              <a:off x="401537" y="2522604"/>
              <a:ext cx="1389063" cy="0"/>
            </a:xfrm>
            <a:prstGeom prst="line">
              <a:avLst/>
            </a:prstGeom>
            <a:noFill/>
            <a:ln w="104775" cap="flat">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32" name="Line 12">
              <a:extLst>
                <a:ext uri="{FF2B5EF4-FFF2-40B4-BE49-F238E27FC236}">
                  <a16:creationId xmlns:a16="http://schemas.microsoft.com/office/drawing/2014/main" id="{6FB1920D-B71E-4AE2-B898-419AE0967B26}"/>
                </a:ext>
              </a:extLst>
            </p:cNvPr>
            <p:cNvSpPr>
              <a:spLocks noChangeShapeType="1"/>
            </p:cNvSpPr>
            <p:nvPr/>
          </p:nvSpPr>
          <p:spPr bwMode="auto">
            <a:xfrm>
              <a:off x="401537" y="3090929"/>
              <a:ext cx="1389063" cy="0"/>
            </a:xfrm>
            <a:prstGeom prst="line">
              <a:avLst/>
            </a:prstGeom>
            <a:noFill/>
            <a:ln w="104775" cap="flat">
              <a:solidFill>
                <a:srgbClr val="FF0000"/>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ZA"/>
            </a:p>
          </p:txBody>
        </p:sp>
        <p:sp>
          <p:nvSpPr>
            <p:cNvPr id="33" name="Rectangle 22">
              <a:extLst>
                <a:ext uri="{FF2B5EF4-FFF2-40B4-BE49-F238E27FC236}">
                  <a16:creationId xmlns:a16="http://schemas.microsoft.com/office/drawing/2014/main" id="{F42BCC52-8639-4E7D-B0BC-96652954230E}"/>
                </a:ext>
              </a:extLst>
            </p:cNvPr>
            <p:cNvSpPr>
              <a:spLocks noChangeArrowheads="1"/>
            </p:cNvSpPr>
            <p:nvPr/>
          </p:nvSpPr>
          <p:spPr bwMode="auto">
            <a:xfrm rot="16200000">
              <a:off x="-368149" y="2362248"/>
              <a:ext cx="11092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5383B"/>
                  </a:solidFill>
                  <a:effectLst/>
                  <a:latin typeface="Franklin Gothic Book" panose="020B0503020102020204" pitchFamily="34" charset="0"/>
                </a:rPr>
                <a:t>Constraints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4" name="Freeform 9">
              <a:extLst>
                <a:ext uri="{FF2B5EF4-FFF2-40B4-BE49-F238E27FC236}">
                  <a16:creationId xmlns:a16="http://schemas.microsoft.com/office/drawing/2014/main" id="{213B5312-13A0-4C21-9F7F-7C7C06477A0A}"/>
                </a:ext>
              </a:extLst>
            </p:cNvPr>
            <p:cNvSpPr>
              <a:spLocks/>
            </p:cNvSpPr>
            <p:nvPr/>
          </p:nvSpPr>
          <p:spPr bwMode="auto">
            <a:xfrm>
              <a:off x="1715134" y="1808229"/>
              <a:ext cx="290513" cy="292100"/>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FF0000"/>
            </a:solidFill>
            <a:ln w="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35" name="Freeform 11">
              <a:extLst>
                <a:ext uri="{FF2B5EF4-FFF2-40B4-BE49-F238E27FC236}">
                  <a16:creationId xmlns:a16="http://schemas.microsoft.com/office/drawing/2014/main" id="{F43112D9-FCD4-45FD-8FA9-C7A99B186C0F}"/>
                </a:ext>
              </a:extLst>
            </p:cNvPr>
            <p:cNvSpPr>
              <a:spLocks/>
            </p:cNvSpPr>
            <p:nvPr/>
          </p:nvSpPr>
          <p:spPr bwMode="auto">
            <a:xfrm>
              <a:off x="1715134" y="2376554"/>
              <a:ext cx="290513" cy="292100"/>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FF0000"/>
            </a:solidFill>
            <a:ln w="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sp>
          <p:nvSpPr>
            <p:cNvPr id="36" name="Freeform 13">
              <a:extLst>
                <a:ext uri="{FF2B5EF4-FFF2-40B4-BE49-F238E27FC236}">
                  <a16:creationId xmlns:a16="http://schemas.microsoft.com/office/drawing/2014/main" id="{82C72CDC-FB34-4A7C-BE73-F5A6AB667098}"/>
                </a:ext>
              </a:extLst>
            </p:cNvPr>
            <p:cNvSpPr>
              <a:spLocks/>
            </p:cNvSpPr>
            <p:nvPr/>
          </p:nvSpPr>
          <p:spPr bwMode="auto">
            <a:xfrm>
              <a:off x="1715134" y="2944879"/>
              <a:ext cx="290513" cy="292100"/>
            </a:xfrm>
            <a:custGeom>
              <a:avLst/>
              <a:gdLst>
                <a:gd name="T0" fmla="*/ 384 w 384"/>
                <a:gd name="T1" fmla="*/ 193 h 385"/>
                <a:gd name="T2" fmla="*/ 0 w 384"/>
                <a:gd name="T3" fmla="*/ 385 h 385"/>
                <a:gd name="T4" fmla="*/ 0 w 384"/>
                <a:gd name="T5" fmla="*/ 0 h 385"/>
                <a:gd name="T6" fmla="*/ 384 w 384"/>
                <a:gd name="T7" fmla="*/ 193 h 385"/>
              </a:gdLst>
              <a:ahLst/>
              <a:cxnLst>
                <a:cxn ang="0">
                  <a:pos x="T0" y="T1"/>
                </a:cxn>
                <a:cxn ang="0">
                  <a:pos x="T2" y="T3"/>
                </a:cxn>
                <a:cxn ang="0">
                  <a:pos x="T4" y="T5"/>
                </a:cxn>
                <a:cxn ang="0">
                  <a:pos x="T6" y="T7"/>
                </a:cxn>
              </a:cxnLst>
              <a:rect l="0" t="0" r="r" b="b"/>
              <a:pathLst>
                <a:path w="384" h="385">
                  <a:moveTo>
                    <a:pt x="384" y="193"/>
                  </a:moveTo>
                  <a:lnTo>
                    <a:pt x="0" y="385"/>
                  </a:lnTo>
                  <a:cubicBezTo>
                    <a:pt x="60" y="264"/>
                    <a:pt x="60" y="121"/>
                    <a:pt x="0" y="0"/>
                  </a:cubicBezTo>
                  <a:lnTo>
                    <a:pt x="384" y="193"/>
                  </a:lnTo>
                  <a:close/>
                </a:path>
              </a:pathLst>
            </a:custGeom>
            <a:solidFill>
              <a:srgbClr val="FF0000"/>
            </a:solidFill>
            <a:ln w="0">
              <a:solidFill>
                <a:srgbClr val="FF0000"/>
              </a:solidFill>
              <a:prstDash val="solid"/>
              <a:round/>
              <a:headEnd/>
              <a:tailEnd/>
            </a:ln>
          </p:spPr>
          <p:txBody>
            <a:bodyPr vert="horz" wrap="square" lIns="91440" tIns="45720" rIns="91440" bIns="45720" numCol="1" anchor="t" anchorCtr="0" compatLnSpc="1">
              <a:prstTxWarp prst="textNoShape">
                <a:avLst/>
              </a:prstTxWarp>
            </a:bodyPr>
            <a:lstStyle/>
            <a:p>
              <a:endParaRPr lang="en-ZA"/>
            </a:p>
          </p:txBody>
        </p:sp>
      </p:grpSp>
    </p:spTree>
    <p:extLst>
      <p:ext uri="{BB962C8B-B14F-4D97-AF65-F5344CB8AC3E}">
        <p14:creationId xmlns:p14="http://schemas.microsoft.com/office/powerpoint/2010/main" val="400220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ZA" sz="3200" dirty="0"/>
              <a:t>Components</a:t>
            </a:r>
          </a:p>
          <a:p>
            <a:pPr lvl="1"/>
            <a:r>
              <a:rPr lang="en-ZA" sz="2800" dirty="0"/>
              <a:t>What the system is made up of</a:t>
            </a:r>
          </a:p>
          <a:p>
            <a:r>
              <a:rPr lang="en-ZA" sz="3200" dirty="0"/>
              <a:t>Attributes</a:t>
            </a:r>
          </a:p>
          <a:p>
            <a:pPr lvl="1"/>
            <a:r>
              <a:rPr lang="en-ZA" sz="2800" dirty="0"/>
              <a:t>Properties of the parts and the system as a whole</a:t>
            </a:r>
          </a:p>
          <a:p>
            <a:r>
              <a:rPr lang="en-ZA" sz="3200" dirty="0"/>
              <a:t>Relationships</a:t>
            </a:r>
          </a:p>
          <a:p>
            <a:pPr lvl="1"/>
            <a:r>
              <a:rPr lang="en-ZA" sz="2800" dirty="0"/>
              <a:t>Results of engineering efforts (man-made systems)</a:t>
            </a:r>
          </a:p>
        </p:txBody>
      </p:sp>
      <p:sp>
        <p:nvSpPr>
          <p:cNvPr id="2" name="Title 1"/>
          <p:cNvSpPr>
            <a:spLocks noGrp="1"/>
          </p:cNvSpPr>
          <p:nvPr>
            <p:ph type="title"/>
          </p:nvPr>
        </p:nvSpPr>
        <p:spPr/>
        <p:txBody>
          <a:bodyPr/>
          <a:lstStyle/>
          <a:p>
            <a:r>
              <a:rPr lang="en-ZA" dirty="0"/>
              <a:t>System: Elements</a:t>
            </a:r>
          </a:p>
        </p:txBody>
      </p:sp>
    </p:spTree>
    <p:extLst>
      <p:ext uri="{BB962C8B-B14F-4D97-AF65-F5344CB8AC3E}">
        <p14:creationId xmlns:p14="http://schemas.microsoft.com/office/powerpoint/2010/main" val="3030440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3064" y="2290224"/>
            <a:ext cx="11029615" cy="3678303"/>
          </a:xfrm>
        </p:spPr>
        <p:txBody>
          <a:bodyPr>
            <a:noAutofit/>
          </a:bodyPr>
          <a:lstStyle/>
          <a:p>
            <a:r>
              <a:rPr lang="en-ZA" sz="3200" dirty="0"/>
              <a:t>State</a:t>
            </a:r>
          </a:p>
          <a:p>
            <a:pPr lvl="1"/>
            <a:r>
              <a:rPr lang="en-ZA" sz="2800" dirty="0"/>
              <a:t>Situation of the system at a specific point in time</a:t>
            </a:r>
          </a:p>
          <a:p>
            <a:r>
              <a:rPr lang="en-ZA" sz="3200" dirty="0"/>
              <a:t>Behaviour</a:t>
            </a:r>
          </a:p>
          <a:p>
            <a:pPr lvl="1"/>
            <a:r>
              <a:rPr lang="en-ZA" sz="2800" dirty="0"/>
              <a:t>How states changes over time</a:t>
            </a:r>
          </a:p>
          <a:p>
            <a:r>
              <a:rPr lang="en-ZA" sz="3200" dirty="0"/>
              <a:t>Process</a:t>
            </a:r>
          </a:p>
          <a:p>
            <a:pPr lvl="1"/>
            <a:r>
              <a:rPr lang="en-ZA" sz="2800" dirty="0"/>
              <a:t>All of the behaviours of the system over time</a:t>
            </a:r>
          </a:p>
        </p:txBody>
      </p:sp>
      <p:sp>
        <p:nvSpPr>
          <p:cNvPr id="2" name="Title 1"/>
          <p:cNvSpPr>
            <a:spLocks noGrp="1"/>
          </p:cNvSpPr>
          <p:nvPr>
            <p:ph type="title"/>
          </p:nvPr>
        </p:nvSpPr>
        <p:spPr/>
        <p:txBody>
          <a:bodyPr/>
          <a:lstStyle/>
          <a:p>
            <a:r>
              <a:rPr lang="en-ZA" dirty="0"/>
              <a:t>System: Elements</a:t>
            </a:r>
          </a:p>
        </p:txBody>
      </p:sp>
      <p:sp>
        <p:nvSpPr>
          <p:cNvPr id="4" name="Down Arrow 3"/>
          <p:cNvSpPr/>
          <p:nvPr/>
        </p:nvSpPr>
        <p:spPr>
          <a:xfrm>
            <a:off x="1114697" y="2406947"/>
            <a:ext cx="637674" cy="34931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 name="TextBox 4"/>
          <p:cNvSpPr txBox="1"/>
          <p:nvPr/>
        </p:nvSpPr>
        <p:spPr>
          <a:xfrm rot="16200000">
            <a:off x="-980108" y="3582215"/>
            <a:ext cx="3584265" cy="461665"/>
          </a:xfrm>
          <a:prstGeom prst="rect">
            <a:avLst/>
          </a:prstGeom>
          <a:noFill/>
        </p:spPr>
        <p:txBody>
          <a:bodyPr wrap="square" rtlCol="0">
            <a:spAutoFit/>
          </a:bodyPr>
          <a:lstStyle/>
          <a:p>
            <a:r>
              <a:rPr lang="en-ZA" sz="2400" dirty="0"/>
              <a:t>Increasing Complexity</a:t>
            </a:r>
          </a:p>
        </p:txBody>
      </p:sp>
    </p:spTree>
    <p:extLst>
      <p:ext uri="{BB962C8B-B14F-4D97-AF65-F5344CB8AC3E}">
        <p14:creationId xmlns:p14="http://schemas.microsoft.com/office/powerpoint/2010/main" val="427494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raadkar Kompetisie 2018! Baie pret en... - Voetspore van Hoop / Footprints  of Hope | Facebook">
            <a:extLst>
              <a:ext uri="{FF2B5EF4-FFF2-40B4-BE49-F238E27FC236}">
                <a16:creationId xmlns:a16="http://schemas.microsoft.com/office/drawing/2014/main" id="{4EF7F612-CC1D-4451-9443-E78166F6DE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19" r="23839"/>
          <a:stretch/>
        </p:blipFill>
        <p:spPr bwMode="auto">
          <a:xfrm>
            <a:off x="1200159" y="2567008"/>
            <a:ext cx="3493719" cy="3848153"/>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F6ED58A-E334-4D5C-828E-C7D963D39181}"/>
              </a:ext>
            </a:extLst>
          </p:cNvPr>
          <p:cNvSpPr>
            <a:spLocks noGrp="1"/>
          </p:cNvSpPr>
          <p:nvPr>
            <p:ph idx="1"/>
          </p:nvPr>
        </p:nvSpPr>
        <p:spPr>
          <a:xfrm>
            <a:off x="5870593" y="2168599"/>
            <a:ext cx="5850128" cy="4246562"/>
          </a:xfrm>
        </p:spPr>
        <p:txBody>
          <a:bodyPr>
            <a:normAutofit/>
          </a:bodyPr>
          <a:lstStyle/>
          <a:p>
            <a:pPr marL="0" indent="0">
              <a:buNone/>
            </a:pPr>
            <a:r>
              <a:rPr lang="en-ZA" dirty="0"/>
              <a:t>COMPONENTS</a:t>
            </a:r>
          </a:p>
          <a:p>
            <a:pPr>
              <a:buFontTx/>
              <a:buChar char="-"/>
            </a:pPr>
            <a:r>
              <a:rPr lang="en-ZA" dirty="0"/>
              <a:t>Body / Chassis</a:t>
            </a:r>
          </a:p>
          <a:p>
            <a:pPr>
              <a:buFontTx/>
              <a:buChar char="-"/>
            </a:pPr>
            <a:r>
              <a:rPr lang="en-ZA" dirty="0"/>
              <a:t>Steering mechanism</a:t>
            </a:r>
          </a:p>
          <a:p>
            <a:pPr>
              <a:buFontTx/>
              <a:buChar char="-"/>
            </a:pPr>
            <a:r>
              <a:rPr lang="en-ZA" dirty="0"/>
              <a:t>Wheels</a:t>
            </a:r>
          </a:p>
          <a:p>
            <a:pPr>
              <a:buFontTx/>
              <a:buChar char="-"/>
            </a:pPr>
            <a:endParaRPr lang="en-ZA" dirty="0"/>
          </a:p>
          <a:p>
            <a:pPr marL="0" indent="0">
              <a:buNone/>
            </a:pPr>
            <a:r>
              <a:rPr lang="en-ZA" dirty="0"/>
              <a:t>RELATIONSHIPS</a:t>
            </a:r>
          </a:p>
          <a:p>
            <a:pPr>
              <a:buFontTx/>
              <a:buChar char="-"/>
            </a:pPr>
            <a:r>
              <a:rPr lang="en-ZA" dirty="0"/>
              <a:t>Between the soil / surface and the wheels</a:t>
            </a:r>
          </a:p>
          <a:p>
            <a:pPr>
              <a:buFontTx/>
              <a:buChar char="-"/>
            </a:pPr>
            <a:r>
              <a:rPr lang="en-ZA" dirty="0"/>
              <a:t>Between the steering mechanism and the wheels</a:t>
            </a:r>
          </a:p>
          <a:p>
            <a:pPr marL="0" indent="0">
              <a:buNone/>
            </a:pPr>
            <a:r>
              <a:rPr lang="en-ZA" dirty="0"/>
              <a:t>- Between the steering mechanism, the body</a:t>
            </a:r>
          </a:p>
        </p:txBody>
      </p:sp>
      <p:sp>
        <p:nvSpPr>
          <p:cNvPr id="4" name="Title 1">
            <a:extLst>
              <a:ext uri="{FF2B5EF4-FFF2-40B4-BE49-F238E27FC236}">
                <a16:creationId xmlns:a16="http://schemas.microsoft.com/office/drawing/2014/main" id="{8FF08B32-B01C-1810-2F56-F2B1A50FF500}"/>
              </a:ext>
            </a:extLst>
          </p:cNvPr>
          <p:cNvSpPr>
            <a:spLocks noGrp="1"/>
          </p:cNvSpPr>
          <p:nvPr>
            <p:ph type="title"/>
          </p:nvPr>
        </p:nvSpPr>
        <p:spPr>
          <a:xfrm>
            <a:off x="581192" y="702156"/>
            <a:ext cx="11029616" cy="1013800"/>
          </a:xfrm>
        </p:spPr>
        <p:txBody>
          <a:bodyPr/>
          <a:lstStyle/>
          <a:p>
            <a:r>
              <a:rPr lang="en-ZA" dirty="0"/>
              <a:t>Practical example</a:t>
            </a:r>
          </a:p>
        </p:txBody>
      </p:sp>
    </p:spTree>
    <p:extLst>
      <p:ext uri="{BB962C8B-B14F-4D97-AF65-F5344CB8AC3E}">
        <p14:creationId xmlns:p14="http://schemas.microsoft.com/office/powerpoint/2010/main" val="2664597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7385-954A-EE93-02B1-40E6D4BEF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875D7-A640-D5BC-0070-F36E6A8020B2}"/>
              </a:ext>
            </a:extLst>
          </p:cNvPr>
          <p:cNvSpPr>
            <a:spLocks noGrp="1"/>
          </p:cNvSpPr>
          <p:nvPr>
            <p:ph type="title"/>
          </p:nvPr>
        </p:nvSpPr>
        <p:spPr>
          <a:xfrm>
            <a:off x="581192" y="702156"/>
            <a:ext cx="11029616" cy="1013800"/>
          </a:xfrm>
        </p:spPr>
        <p:txBody>
          <a:bodyPr>
            <a:normAutofit/>
          </a:bodyPr>
          <a:lstStyle/>
          <a:p>
            <a:r>
              <a:rPr lang="en-ZA" dirty="0">
                <a:solidFill>
                  <a:srgbClr val="FFFEFF"/>
                </a:solidFill>
              </a:rPr>
              <a:t>So a system</a:t>
            </a:r>
          </a:p>
        </p:txBody>
      </p:sp>
      <p:graphicFrame>
        <p:nvGraphicFramePr>
          <p:cNvPr id="5" name="Content Placeholder 2">
            <a:extLst>
              <a:ext uri="{FF2B5EF4-FFF2-40B4-BE49-F238E27FC236}">
                <a16:creationId xmlns:a16="http://schemas.microsoft.com/office/drawing/2014/main" id="{78084C65-1381-0593-6B57-0EC2E29597C6}"/>
              </a:ext>
            </a:extLst>
          </p:cNvPr>
          <p:cNvGraphicFramePr>
            <a:graphicFrameLocks noGrp="1"/>
          </p:cNvGraphicFramePr>
          <p:nvPr>
            <p:ph idx="1"/>
            <p:extLst>
              <p:ext uri="{D42A27DB-BD31-4B8C-83A1-F6EECF244321}">
                <p14:modId xmlns:p14="http://schemas.microsoft.com/office/powerpoint/2010/main" val="1699621576"/>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2956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Systems Engineering</a:t>
            </a:r>
          </a:p>
        </p:txBody>
      </p:sp>
      <p:sp>
        <p:nvSpPr>
          <p:cNvPr id="3" name="Content Placeholder 2"/>
          <p:cNvSpPr>
            <a:spLocks noGrp="1"/>
          </p:cNvSpPr>
          <p:nvPr>
            <p:ph idx="1"/>
          </p:nvPr>
        </p:nvSpPr>
        <p:spPr/>
        <p:txBody>
          <a:bodyPr/>
          <a:lstStyle/>
          <a:p>
            <a:endParaRPr lang="en-GB" dirty="0"/>
          </a:p>
          <a:p>
            <a:endParaRPr lang="en-GB" dirty="0"/>
          </a:p>
          <a:p>
            <a:endParaRPr lang="en-GB" dirty="0"/>
          </a:p>
          <a:p>
            <a:endParaRPr lang="en-GB" dirty="0"/>
          </a:p>
          <a:p>
            <a:endParaRPr lang="en-GB" dirty="0"/>
          </a:p>
          <a:p>
            <a:endParaRPr lang="en-GB" dirty="0"/>
          </a:p>
          <a:p>
            <a:endParaRPr lang="en-GB" dirty="0"/>
          </a:p>
        </p:txBody>
      </p:sp>
      <p:sp>
        <p:nvSpPr>
          <p:cNvPr id="4" name="TextBox 3"/>
          <p:cNvSpPr txBox="1"/>
          <p:nvPr/>
        </p:nvSpPr>
        <p:spPr>
          <a:xfrm>
            <a:off x="5205984" y="2151727"/>
            <a:ext cx="6578600" cy="2554545"/>
          </a:xfrm>
          <a:prstGeom prst="rect">
            <a:avLst/>
          </a:prstGeom>
          <a:noFill/>
        </p:spPr>
        <p:txBody>
          <a:bodyPr wrap="square" rtlCol="0">
            <a:spAutoFit/>
          </a:bodyPr>
          <a:lstStyle/>
          <a:p>
            <a:pPr algn="r"/>
            <a:r>
              <a:rPr lang="en-US" sz="2000" dirty="0"/>
              <a:t>“Systems Engineering is an engineering discipline whose responsibility is creating and executing an interdisciplinary process to ensure that the customer and stakeholder's needs are satisfied in a high quality, trustworthy, cost efficient and schedule compliant manner throughout a system's entire life cycle.” </a:t>
            </a:r>
          </a:p>
          <a:p>
            <a:r>
              <a:rPr lang="en-US" sz="2000" dirty="0"/>
              <a:t>  INCOSE</a:t>
            </a:r>
            <a:endParaRPr lang="en-GB" sz="2000" dirty="0"/>
          </a:p>
        </p:txBody>
      </p:sp>
      <p:sp>
        <p:nvSpPr>
          <p:cNvPr id="5" name="TextBox 4"/>
          <p:cNvSpPr txBox="1"/>
          <p:nvPr/>
        </p:nvSpPr>
        <p:spPr>
          <a:xfrm>
            <a:off x="749300" y="5671284"/>
            <a:ext cx="10033516" cy="646331"/>
          </a:xfrm>
          <a:prstGeom prst="rect">
            <a:avLst/>
          </a:prstGeom>
          <a:noFill/>
        </p:spPr>
        <p:txBody>
          <a:bodyPr wrap="none" rtlCol="0">
            <a:spAutoFit/>
          </a:bodyPr>
          <a:lstStyle/>
          <a:p>
            <a:r>
              <a:rPr lang="en-GB" sz="3600" dirty="0">
                <a:solidFill>
                  <a:srgbClr val="002060"/>
                </a:solidFill>
                <a:effectLst>
                  <a:outerShdw blurRad="38100" dist="38100" dir="2700000" algn="tl">
                    <a:srgbClr val="000000">
                      <a:alpha val="43137"/>
                    </a:srgbClr>
                  </a:outerShdw>
                </a:effectLst>
              </a:rPr>
              <a:t>Building solutions that meet customers’ needs</a:t>
            </a:r>
          </a:p>
        </p:txBody>
      </p:sp>
    </p:spTree>
    <p:extLst>
      <p:ext uri="{BB962C8B-B14F-4D97-AF65-F5344CB8AC3E}">
        <p14:creationId xmlns:p14="http://schemas.microsoft.com/office/powerpoint/2010/main" val="150504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39309-B0A9-D398-7C84-E4D79F9DED87}"/>
              </a:ext>
            </a:extLst>
          </p:cNvPr>
          <p:cNvSpPr>
            <a:spLocks noGrp="1"/>
          </p:cNvSpPr>
          <p:nvPr>
            <p:ph type="title"/>
          </p:nvPr>
        </p:nvSpPr>
        <p:spPr/>
        <p:txBody>
          <a:bodyPr/>
          <a:lstStyle/>
          <a:p>
            <a:r>
              <a:rPr lang="en-GB" dirty="0"/>
              <a:t>What’s in a name</a:t>
            </a:r>
          </a:p>
        </p:txBody>
      </p:sp>
      <p:sp>
        <p:nvSpPr>
          <p:cNvPr id="3" name="Content Placeholder 2">
            <a:extLst>
              <a:ext uri="{FF2B5EF4-FFF2-40B4-BE49-F238E27FC236}">
                <a16:creationId xmlns:a16="http://schemas.microsoft.com/office/drawing/2014/main" id="{61F08236-DD04-9829-4E6F-9591F185371E}"/>
              </a:ext>
            </a:extLst>
          </p:cNvPr>
          <p:cNvSpPr>
            <a:spLocks noGrp="1"/>
          </p:cNvSpPr>
          <p:nvPr>
            <p:ph idx="1"/>
          </p:nvPr>
        </p:nvSpPr>
        <p:spPr/>
        <p:txBody>
          <a:bodyPr>
            <a:normAutofit/>
          </a:bodyPr>
          <a:lstStyle/>
          <a:p>
            <a:r>
              <a:rPr lang="en-US" b="1" dirty="0"/>
              <a:t>Engineering: </a:t>
            </a:r>
            <a:r>
              <a:rPr lang="en-US" dirty="0"/>
              <a:t>discipline for transforming scientific concepts into cost-effective products through the use of analysis and judgment.</a:t>
            </a:r>
          </a:p>
          <a:p>
            <a:r>
              <a:rPr lang="en-US" b="1" dirty="0"/>
              <a:t>Engineering of a System: </a:t>
            </a:r>
            <a:r>
              <a:rPr lang="en-US" dirty="0"/>
              <a:t>engineering discipline that develops, matches, and trades off requirements, functions, and alternate system resources to achieve a cost-effective, life-cycle-balanced product based upon the needs of the stakeholders.</a:t>
            </a:r>
          </a:p>
          <a:p>
            <a:r>
              <a:rPr lang="en-US" b="1" dirty="0"/>
              <a:t>Model-Based Systems Engineering (MBSE): </a:t>
            </a:r>
            <a:r>
              <a:rPr lang="en-US" dirty="0"/>
              <a:t>the formalized application of modeling to support system requirements, design, analysis, verification, and validation activities beginning in the conceptual design phase and continuing throughout development and later life cycle phases</a:t>
            </a:r>
            <a:endParaRPr lang="en-GB" dirty="0"/>
          </a:p>
        </p:txBody>
      </p:sp>
    </p:spTree>
    <p:extLst>
      <p:ext uri="{BB962C8B-B14F-4D97-AF65-F5344CB8AC3E}">
        <p14:creationId xmlns:p14="http://schemas.microsoft.com/office/powerpoint/2010/main" val="1264264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51EC4-D118-6B3E-B31B-97C70B0C00E5}"/>
              </a:ext>
            </a:extLst>
          </p:cNvPr>
          <p:cNvSpPr>
            <a:spLocks noGrp="1"/>
          </p:cNvSpPr>
          <p:nvPr>
            <p:ph type="title"/>
          </p:nvPr>
        </p:nvSpPr>
        <p:spPr>
          <a:xfrm>
            <a:off x="581192" y="702156"/>
            <a:ext cx="11029616" cy="1013800"/>
          </a:xfrm>
        </p:spPr>
        <p:txBody>
          <a:bodyPr>
            <a:normAutofit/>
          </a:bodyPr>
          <a:lstStyle/>
          <a:p>
            <a:r>
              <a:rPr lang="en-GB" dirty="0"/>
              <a:t>about design…</a:t>
            </a:r>
          </a:p>
        </p:txBody>
      </p:sp>
      <p:sp>
        <p:nvSpPr>
          <p:cNvPr id="9" name="Rectangle 8">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5A9CF3E-F012-B18F-4D17-0C3E3E1530CF}"/>
              </a:ext>
            </a:extLst>
          </p:cNvPr>
          <p:cNvPicPr>
            <a:picLocks noChangeAspect="1"/>
          </p:cNvPicPr>
          <p:nvPr/>
        </p:nvPicPr>
        <p:blipFill>
          <a:blip r:embed="rId3"/>
          <a:stretch>
            <a:fillRect/>
          </a:stretch>
        </p:blipFill>
        <p:spPr>
          <a:xfrm>
            <a:off x="657225" y="2770024"/>
            <a:ext cx="4962525" cy="2831283"/>
          </a:xfrm>
          <a:prstGeom prst="rect">
            <a:avLst/>
          </a:prstGeom>
        </p:spPr>
      </p:pic>
      <p:sp>
        <p:nvSpPr>
          <p:cNvPr id="3" name="Content Placeholder 2">
            <a:extLst>
              <a:ext uri="{FF2B5EF4-FFF2-40B4-BE49-F238E27FC236}">
                <a16:creationId xmlns:a16="http://schemas.microsoft.com/office/drawing/2014/main" id="{0C789A66-645D-4F82-E080-AA93CF2BD8BB}"/>
              </a:ext>
            </a:extLst>
          </p:cNvPr>
          <p:cNvSpPr>
            <a:spLocks noGrp="1"/>
          </p:cNvSpPr>
          <p:nvPr>
            <p:ph idx="1"/>
          </p:nvPr>
        </p:nvSpPr>
        <p:spPr>
          <a:xfrm>
            <a:off x="6335805" y="2180496"/>
            <a:ext cx="5275001" cy="4045683"/>
          </a:xfrm>
        </p:spPr>
        <p:txBody>
          <a:bodyPr>
            <a:normAutofit/>
          </a:bodyPr>
          <a:lstStyle/>
          <a:p>
            <a:pPr>
              <a:lnSpc>
                <a:spcPct val="90000"/>
              </a:lnSpc>
            </a:pPr>
            <a:r>
              <a:rPr lang="en-US" sz="1400" dirty="0">
                <a:solidFill>
                  <a:schemeClr val="bg1">
                    <a:lumMod val="75000"/>
                  </a:schemeClr>
                </a:solidFill>
              </a:rPr>
              <a:t>de-sign (di-zin’) v. - signed, - </a:t>
            </a:r>
            <a:r>
              <a:rPr lang="en-US" sz="1400" dirty="0" err="1">
                <a:solidFill>
                  <a:schemeClr val="bg1">
                    <a:lumMod val="75000"/>
                  </a:schemeClr>
                </a:solidFill>
              </a:rPr>
              <a:t>sign.ing</a:t>
            </a:r>
            <a:r>
              <a:rPr lang="en-US" sz="1400" dirty="0">
                <a:solidFill>
                  <a:schemeClr val="bg1">
                    <a:lumMod val="75000"/>
                  </a:schemeClr>
                </a:solidFill>
              </a:rPr>
              <a:t>, - signs. —tr. 1. To </a:t>
            </a:r>
            <a:r>
              <a:rPr lang="en-US" b="1" dirty="0"/>
              <a:t>conceive in the mind</a:t>
            </a:r>
            <a:r>
              <a:rPr lang="en-US" dirty="0"/>
              <a:t>; </a:t>
            </a:r>
            <a:r>
              <a:rPr lang="en-US" b="1" dirty="0"/>
              <a:t>invent</a:t>
            </a:r>
            <a:r>
              <a:rPr lang="en-US" sz="1400" dirty="0">
                <a:solidFill>
                  <a:schemeClr val="bg1">
                    <a:lumMod val="75000"/>
                  </a:schemeClr>
                </a:solidFill>
              </a:rPr>
              <a:t>: designed his dream vacation. 2. To </a:t>
            </a:r>
            <a:r>
              <a:rPr lang="en-US" b="1" dirty="0"/>
              <a:t>form a plan</a:t>
            </a:r>
            <a:r>
              <a:rPr lang="en-US" dirty="0"/>
              <a:t> </a:t>
            </a:r>
            <a:r>
              <a:rPr lang="en-US" sz="1400" dirty="0">
                <a:solidFill>
                  <a:schemeClr val="bg1">
                    <a:lumMod val="75000"/>
                  </a:schemeClr>
                </a:solidFill>
              </a:rPr>
              <a:t>for: designed a marketing strategy for the new product. 3. To </a:t>
            </a:r>
            <a:r>
              <a:rPr lang="en-US" b="1" dirty="0"/>
              <a:t>have a goal or purpose</a:t>
            </a:r>
            <a:r>
              <a:rPr lang="en-US" sz="1400" dirty="0">
                <a:solidFill>
                  <a:schemeClr val="bg1">
                    <a:lumMod val="75000"/>
                  </a:schemeClr>
                </a:solidFill>
              </a:rPr>
              <a:t>; intend. 4. To plan by making a </a:t>
            </a:r>
            <a:r>
              <a:rPr lang="en-US" b="1" dirty="0"/>
              <a:t>preliminary sketch, outline, or drawing</a:t>
            </a:r>
            <a:r>
              <a:rPr lang="en-US" sz="1400" dirty="0">
                <a:solidFill>
                  <a:schemeClr val="bg1">
                    <a:lumMod val="75000"/>
                  </a:schemeClr>
                </a:solidFill>
              </a:rPr>
              <a:t>. 5. </a:t>
            </a:r>
            <a:r>
              <a:rPr lang="en-US" b="1" dirty="0"/>
              <a:t>To create or execute in </a:t>
            </a:r>
            <a:r>
              <a:rPr lang="en-US" sz="1400" dirty="0">
                <a:solidFill>
                  <a:schemeClr val="bg1">
                    <a:lumMod val="75000"/>
                  </a:schemeClr>
                </a:solidFill>
              </a:rPr>
              <a:t>an artistic or</a:t>
            </a:r>
            <a:r>
              <a:rPr lang="en-US" dirty="0"/>
              <a:t> </a:t>
            </a:r>
            <a:r>
              <a:rPr lang="en-US" b="1" dirty="0"/>
              <a:t>highly skilled manner</a:t>
            </a:r>
            <a:r>
              <a:rPr lang="en-US" sz="1400" dirty="0">
                <a:solidFill>
                  <a:schemeClr val="bg1">
                    <a:lumMod val="75000"/>
                  </a:schemeClr>
                </a:solidFill>
              </a:rPr>
              <a:t>. –intr. 1. To make or </a:t>
            </a:r>
            <a:r>
              <a:rPr lang="en-US" b="1" dirty="0"/>
              <a:t>execute plans</a:t>
            </a:r>
            <a:r>
              <a:rPr lang="en-US" sz="1400" dirty="0">
                <a:solidFill>
                  <a:schemeClr val="bg1">
                    <a:lumMod val="75000"/>
                  </a:schemeClr>
                </a:solidFill>
              </a:rPr>
              <a:t>. 2. To create designs. –n. 1. A drawing or sketch. 2. The </a:t>
            </a:r>
            <a:r>
              <a:rPr lang="en-US" b="1" dirty="0"/>
              <a:t>invention and disposition of the forms, parts, or details of something according to a plan</a:t>
            </a:r>
            <a:r>
              <a:rPr lang="en-US" sz="1400" dirty="0">
                <a:solidFill>
                  <a:schemeClr val="bg1">
                    <a:lumMod val="75000"/>
                  </a:schemeClr>
                </a:solidFill>
              </a:rPr>
              <a:t>. 3. A decorative or artistic work. 4. A visual composition; pattern. 5. The art of creating designs. 6. A plan; project. 7. A </a:t>
            </a:r>
            <a:r>
              <a:rPr lang="en-US" b="1" dirty="0"/>
              <a:t>reasoned purpose; intention</a:t>
            </a:r>
            <a:r>
              <a:rPr lang="en-US" sz="1400" dirty="0">
                <a:solidFill>
                  <a:schemeClr val="bg1">
                    <a:lumMod val="75000"/>
                  </a:schemeClr>
                </a:solidFill>
              </a:rPr>
              <a:t>. 8. Often designs. A sinister or hostile scheme: He has designs on my job…</a:t>
            </a:r>
            <a:endParaRPr lang="en-GB" sz="1400" dirty="0">
              <a:solidFill>
                <a:schemeClr val="bg1">
                  <a:lumMod val="75000"/>
                </a:schemeClr>
              </a:solidFill>
            </a:endParaRPr>
          </a:p>
        </p:txBody>
      </p:sp>
    </p:spTree>
    <p:extLst>
      <p:ext uri="{BB962C8B-B14F-4D97-AF65-F5344CB8AC3E}">
        <p14:creationId xmlns:p14="http://schemas.microsoft.com/office/powerpoint/2010/main" val="26679040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32DC7-FC54-CAD5-AB7B-80751990BD4C}"/>
              </a:ext>
            </a:extLst>
          </p:cNvPr>
          <p:cNvSpPr>
            <a:spLocks noGrp="1"/>
          </p:cNvSpPr>
          <p:nvPr>
            <p:ph type="title"/>
          </p:nvPr>
        </p:nvSpPr>
        <p:spPr/>
        <p:txBody>
          <a:bodyPr/>
          <a:lstStyle/>
          <a:p>
            <a:r>
              <a:rPr lang="en-GB" dirty="0"/>
              <a:t>Engineering Design (working definition)</a:t>
            </a:r>
          </a:p>
        </p:txBody>
      </p:sp>
      <p:sp>
        <p:nvSpPr>
          <p:cNvPr id="3" name="Content Placeholder 2">
            <a:extLst>
              <a:ext uri="{FF2B5EF4-FFF2-40B4-BE49-F238E27FC236}">
                <a16:creationId xmlns:a16="http://schemas.microsoft.com/office/drawing/2014/main" id="{5FFD5FFB-0335-5DF0-2929-43B6E81226A0}"/>
              </a:ext>
            </a:extLst>
          </p:cNvPr>
          <p:cNvSpPr>
            <a:spLocks noGrp="1"/>
          </p:cNvSpPr>
          <p:nvPr>
            <p:ph idx="1"/>
          </p:nvPr>
        </p:nvSpPr>
        <p:spPr/>
        <p:txBody>
          <a:bodyPr/>
          <a:lstStyle/>
          <a:p>
            <a:r>
              <a:rPr lang="en-US" dirty="0"/>
              <a:t>Engineering design is the disciplined, purposeful process of transforming scientific and technical concepts into cost-effective, value-generating solutions through the application of analysis, engineering judgment, and creativity.</a:t>
            </a:r>
          </a:p>
          <a:p>
            <a:pPr lvl="1"/>
            <a:r>
              <a:rPr lang="en-US" dirty="0"/>
              <a:t>It is rooted in engineering principles, using systematic reasoning to move from abstract ideas to practical implementations.</a:t>
            </a:r>
          </a:p>
          <a:p>
            <a:pPr lvl="1"/>
            <a:r>
              <a:rPr lang="en-US" dirty="0"/>
              <a:t>Within a systems context, it involves defining and refining requirements, evaluating trade-offs, and aligning functions, components, and resources to meet stakeholder needs across the product life cycle.</a:t>
            </a:r>
          </a:p>
          <a:p>
            <a:pPr lvl="1"/>
            <a:r>
              <a:rPr lang="en-US" dirty="0"/>
              <a:t>It encompasses the planning, execution, and documentation of this transformation — combining intent, structure, and iteration to create designs that are feasible, effective, and adaptable.</a:t>
            </a:r>
            <a:endParaRPr lang="en-GB" dirty="0"/>
          </a:p>
        </p:txBody>
      </p:sp>
      <p:sp>
        <p:nvSpPr>
          <p:cNvPr id="4" name="Rectangle 3">
            <a:extLst>
              <a:ext uri="{FF2B5EF4-FFF2-40B4-BE49-F238E27FC236}">
                <a16:creationId xmlns:a16="http://schemas.microsoft.com/office/drawing/2014/main" id="{FF612606-BFB3-F14D-DF08-14CF6FF70C99}"/>
              </a:ext>
            </a:extLst>
          </p:cNvPr>
          <p:cNvSpPr/>
          <p:nvPr/>
        </p:nvSpPr>
        <p:spPr>
          <a:xfrm>
            <a:off x="4800600" y="3619500"/>
            <a:ext cx="176530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
        <p:nvSpPr>
          <p:cNvPr id="6" name="Rectangle 5">
            <a:extLst>
              <a:ext uri="{FF2B5EF4-FFF2-40B4-BE49-F238E27FC236}">
                <a16:creationId xmlns:a16="http://schemas.microsoft.com/office/drawing/2014/main" id="{0FDC4941-856D-2313-973D-4864E06CF9BE}"/>
              </a:ext>
            </a:extLst>
          </p:cNvPr>
          <p:cNvSpPr/>
          <p:nvPr/>
        </p:nvSpPr>
        <p:spPr>
          <a:xfrm>
            <a:off x="6042660" y="4000694"/>
            <a:ext cx="114046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
        <p:nvSpPr>
          <p:cNvPr id="8" name="Rectangle 7">
            <a:extLst>
              <a:ext uri="{FF2B5EF4-FFF2-40B4-BE49-F238E27FC236}">
                <a16:creationId xmlns:a16="http://schemas.microsoft.com/office/drawing/2014/main" id="{6F63C362-C119-CFD7-5FF5-822B9CCBD12E}"/>
              </a:ext>
            </a:extLst>
          </p:cNvPr>
          <p:cNvSpPr/>
          <p:nvPr/>
        </p:nvSpPr>
        <p:spPr>
          <a:xfrm>
            <a:off x="7183120" y="4000694"/>
            <a:ext cx="172466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
        <p:nvSpPr>
          <p:cNvPr id="10" name="Rectangle 9">
            <a:extLst>
              <a:ext uri="{FF2B5EF4-FFF2-40B4-BE49-F238E27FC236}">
                <a16:creationId xmlns:a16="http://schemas.microsoft.com/office/drawing/2014/main" id="{3C20230D-8165-0373-0D92-BB8BF2CFEC7F}"/>
              </a:ext>
            </a:extLst>
          </p:cNvPr>
          <p:cNvSpPr/>
          <p:nvPr/>
        </p:nvSpPr>
        <p:spPr>
          <a:xfrm>
            <a:off x="2887980" y="4610294"/>
            <a:ext cx="76200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
        <p:nvSpPr>
          <p:cNvPr id="12" name="Rectangle 11">
            <a:extLst>
              <a:ext uri="{FF2B5EF4-FFF2-40B4-BE49-F238E27FC236}">
                <a16:creationId xmlns:a16="http://schemas.microsoft.com/office/drawing/2014/main" id="{E48EB17A-FCE6-F1AB-F2A5-465FAA44C0B2}"/>
              </a:ext>
            </a:extLst>
          </p:cNvPr>
          <p:cNvSpPr/>
          <p:nvPr/>
        </p:nvSpPr>
        <p:spPr>
          <a:xfrm>
            <a:off x="3649980" y="4610294"/>
            <a:ext cx="87630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
        <p:nvSpPr>
          <p:cNvPr id="14" name="Rectangle 13">
            <a:extLst>
              <a:ext uri="{FF2B5EF4-FFF2-40B4-BE49-F238E27FC236}">
                <a16:creationId xmlns:a16="http://schemas.microsoft.com/office/drawing/2014/main" id="{316019C2-C39A-C0F6-677C-64D93853FCCF}"/>
              </a:ext>
            </a:extLst>
          </p:cNvPr>
          <p:cNvSpPr/>
          <p:nvPr/>
        </p:nvSpPr>
        <p:spPr>
          <a:xfrm>
            <a:off x="4850130" y="4610294"/>
            <a:ext cx="1337310" cy="266700"/>
          </a:xfrm>
          <a:prstGeom prst="rect">
            <a:avLst/>
          </a:prstGeom>
          <a:noFill/>
          <a:ln w="57150"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GB"/>
          </a:p>
        </p:txBody>
      </p:sp>
    </p:spTree>
    <p:extLst>
      <p:ext uri="{BB962C8B-B14F-4D97-AF65-F5344CB8AC3E}">
        <p14:creationId xmlns:p14="http://schemas.microsoft.com/office/powerpoint/2010/main" val="3192231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ZA" sz="2800" dirty="0"/>
              <a:t>A system that is brought into being by a concerted and managed engineering activity.</a:t>
            </a:r>
          </a:p>
          <a:p>
            <a:r>
              <a:rPr lang="en-ZA" sz="2800" dirty="0"/>
              <a:t>Any system has </a:t>
            </a:r>
            <a:r>
              <a:rPr lang="en-ZA" sz="2800" b="1" u="sng" dirty="0"/>
              <a:t>one and only one purpose</a:t>
            </a:r>
          </a:p>
          <a:p>
            <a:r>
              <a:rPr lang="en-ZA" sz="2800" dirty="0"/>
              <a:t>Engineering a system means</a:t>
            </a:r>
          </a:p>
          <a:p>
            <a:pPr marL="971550" lvl="1" indent="-514350">
              <a:buFont typeface="+mj-lt"/>
              <a:buAutoNum type="romanUcPeriod"/>
            </a:pPr>
            <a:r>
              <a:rPr lang="en-ZA" sz="2400" dirty="0"/>
              <a:t>Determining the system’s purpose or objective</a:t>
            </a:r>
          </a:p>
          <a:p>
            <a:pPr marL="971550" lvl="1" indent="-514350">
              <a:buFont typeface="+mj-lt"/>
              <a:buAutoNum type="romanUcPeriod"/>
            </a:pPr>
            <a:r>
              <a:rPr lang="en-ZA" sz="2400" dirty="0"/>
              <a:t>Determining how well the system must perform the objective</a:t>
            </a:r>
          </a:p>
        </p:txBody>
      </p:sp>
      <p:sp>
        <p:nvSpPr>
          <p:cNvPr id="2" name="Title 1"/>
          <p:cNvSpPr>
            <a:spLocks noGrp="1"/>
          </p:cNvSpPr>
          <p:nvPr>
            <p:ph type="title"/>
          </p:nvPr>
        </p:nvSpPr>
        <p:spPr/>
        <p:txBody>
          <a:bodyPr/>
          <a:lstStyle/>
          <a:p>
            <a:r>
              <a:rPr lang="en-ZA" dirty="0"/>
              <a:t>Engineered Systems</a:t>
            </a:r>
          </a:p>
        </p:txBody>
      </p:sp>
      <p:cxnSp>
        <p:nvCxnSpPr>
          <p:cNvPr id="5" name="Straight Arrow Connector 4"/>
          <p:cNvCxnSpPr>
            <a:cxnSpLocks/>
          </p:cNvCxnSpPr>
          <p:nvPr/>
        </p:nvCxnSpPr>
        <p:spPr>
          <a:xfrm flipH="1" flipV="1">
            <a:off x="9362209" y="5413664"/>
            <a:ext cx="1256593" cy="445135"/>
          </a:xfrm>
          <a:prstGeom prst="straightConnector1">
            <a:avLst/>
          </a:prstGeom>
          <a:ln w="698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545950" y="5894234"/>
            <a:ext cx="8485015" cy="523220"/>
          </a:xfrm>
          <a:prstGeom prst="rect">
            <a:avLst/>
          </a:prstGeom>
          <a:noFill/>
        </p:spPr>
        <p:txBody>
          <a:bodyPr wrap="none" rtlCol="0">
            <a:spAutoFit/>
          </a:bodyPr>
          <a:lstStyle/>
          <a:p>
            <a:r>
              <a:rPr lang="en-ZA" sz="2800" dirty="0">
                <a:solidFill>
                  <a:srgbClr val="FF0000"/>
                </a:solidFill>
              </a:rPr>
              <a:t>This is the most complex aspect of engineering a system</a:t>
            </a:r>
          </a:p>
        </p:txBody>
      </p:sp>
    </p:spTree>
    <p:extLst>
      <p:ext uri="{BB962C8B-B14F-4D97-AF65-F5344CB8AC3E}">
        <p14:creationId xmlns:p14="http://schemas.microsoft.com/office/powerpoint/2010/main" val="4127978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D684C-DF94-4199-F32D-98650BB3D2F5}"/>
              </a:ext>
            </a:extLst>
          </p:cNvPr>
          <p:cNvSpPr>
            <a:spLocks noGrp="1"/>
          </p:cNvSpPr>
          <p:nvPr>
            <p:ph type="title"/>
          </p:nvPr>
        </p:nvSpPr>
        <p:spPr/>
        <p:txBody>
          <a:bodyPr/>
          <a:lstStyle/>
          <a:p>
            <a:r>
              <a:rPr lang="en-GB" dirty="0"/>
              <a:t>Life Cycles</a:t>
            </a:r>
          </a:p>
        </p:txBody>
      </p:sp>
      <p:sp>
        <p:nvSpPr>
          <p:cNvPr id="3" name="Content Placeholder 2">
            <a:extLst>
              <a:ext uri="{FF2B5EF4-FFF2-40B4-BE49-F238E27FC236}">
                <a16:creationId xmlns:a16="http://schemas.microsoft.com/office/drawing/2014/main" id="{A15957BB-3EEE-9B64-1BB8-2ED16A6FA11F}"/>
              </a:ext>
            </a:extLst>
          </p:cNvPr>
          <p:cNvSpPr>
            <a:spLocks noGrp="1"/>
          </p:cNvSpPr>
          <p:nvPr>
            <p:ph idx="1"/>
          </p:nvPr>
        </p:nvSpPr>
        <p:spPr>
          <a:xfrm>
            <a:off x="581193" y="2180497"/>
            <a:ext cx="2619208" cy="1673638"/>
          </a:xfrm>
        </p:spPr>
        <p:txBody>
          <a:bodyPr>
            <a:normAutofit lnSpcReduction="10000"/>
          </a:bodyPr>
          <a:lstStyle/>
          <a:p>
            <a:r>
              <a:rPr lang="en-GB" dirty="0"/>
              <a:t>In engineering design we ‘design for’ operations and conduct retirement but only implement up to external test phase</a:t>
            </a:r>
          </a:p>
        </p:txBody>
      </p:sp>
      <p:pic>
        <p:nvPicPr>
          <p:cNvPr id="5" name="Picture 4">
            <a:extLst>
              <a:ext uri="{FF2B5EF4-FFF2-40B4-BE49-F238E27FC236}">
                <a16:creationId xmlns:a16="http://schemas.microsoft.com/office/drawing/2014/main" id="{4B263847-2197-6D1B-D2BD-FE1D6221168C}"/>
              </a:ext>
            </a:extLst>
          </p:cNvPr>
          <p:cNvPicPr>
            <a:picLocks noChangeAspect="1"/>
          </p:cNvPicPr>
          <p:nvPr/>
        </p:nvPicPr>
        <p:blipFill>
          <a:blip r:embed="rId3"/>
          <a:srcRect b="85217"/>
          <a:stretch>
            <a:fillRect/>
          </a:stretch>
        </p:blipFill>
        <p:spPr>
          <a:xfrm>
            <a:off x="4089893" y="2090828"/>
            <a:ext cx="7520914" cy="1013800"/>
          </a:xfrm>
          <a:prstGeom prst="rect">
            <a:avLst/>
          </a:prstGeom>
        </p:spPr>
      </p:pic>
      <p:pic>
        <p:nvPicPr>
          <p:cNvPr id="6" name="Picture 5">
            <a:extLst>
              <a:ext uri="{FF2B5EF4-FFF2-40B4-BE49-F238E27FC236}">
                <a16:creationId xmlns:a16="http://schemas.microsoft.com/office/drawing/2014/main" id="{08E8B7B2-98D1-589F-112B-17075AF53274}"/>
              </a:ext>
            </a:extLst>
          </p:cNvPr>
          <p:cNvPicPr>
            <a:picLocks noChangeAspect="1"/>
          </p:cNvPicPr>
          <p:nvPr/>
        </p:nvPicPr>
        <p:blipFill>
          <a:blip r:embed="rId3"/>
          <a:srcRect t="30370" b="53267"/>
          <a:stretch>
            <a:fillRect/>
          </a:stretch>
        </p:blipFill>
        <p:spPr>
          <a:xfrm>
            <a:off x="4089893" y="3192264"/>
            <a:ext cx="7520914" cy="1122218"/>
          </a:xfrm>
          <a:prstGeom prst="rect">
            <a:avLst/>
          </a:prstGeom>
        </p:spPr>
      </p:pic>
      <p:cxnSp>
        <p:nvCxnSpPr>
          <p:cNvPr id="8" name="Straight Arrow Connector 7">
            <a:extLst>
              <a:ext uri="{FF2B5EF4-FFF2-40B4-BE49-F238E27FC236}">
                <a16:creationId xmlns:a16="http://schemas.microsoft.com/office/drawing/2014/main" id="{83054A95-9B72-7453-AEC6-72595BB9F552}"/>
              </a:ext>
            </a:extLst>
          </p:cNvPr>
          <p:cNvCxnSpPr/>
          <p:nvPr/>
        </p:nvCxnSpPr>
        <p:spPr>
          <a:xfrm flipV="1">
            <a:off x="8915400" y="4314482"/>
            <a:ext cx="0" cy="974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A7BC3CE-54D9-8C52-0CBE-ACBDAD296AB0}"/>
              </a:ext>
            </a:extLst>
          </p:cNvPr>
          <p:cNvSpPr txBox="1"/>
          <p:nvPr/>
        </p:nvSpPr>
        <p:spPr>
          <a:xfrm>
            <a:off x="7610184" y="5277342"/>
            <a:ext cx="1957587" cy="646331"/>
          </a:xfrm>
          <a:prstGeom prst="rect">
            <a:avLst/>
          </a:prstGeom>
          <a:noFill/>
        </p:spPr>
        <p:txBody>
          <a:bodyPr wrap="none" rtlCol="0">
            <a:spAutoFit/>
          </a:bodyPr>
          <a:lstStyle/>
          <a:p>
            <a:r>
              <a:rPr lang="en-GB" dirty="0"/>
              <a:t>Engineering Design</a:t>
            </a:r>
          </a:p>
          <a:p>
            <a:r>
              <a:rPr lang="en-GB" dirty="0"/>
              <a:t>Examination Point</a:t>
            </a:r>
          </a:p>
        </p:txBody>
      </p:sp>
      <p:grpSp>
        <p:nvGrpSpPr>
          <p:cNvPr id="26" name="Group 25">
            <a:extLst>
              <a:ext uri="{FF2B5EF4-FFF2-40B4-BE49-F238E27FC236}">
                <a16:creationId xmlns:a16="http://schemas.microsoft.com/office/drawing/2014/main" id="{E8140E24-D965-DA72-98DE-0338F4C798B3}"/>
              </a:ext>
            </a:extLst>
          </p:cNvPr>
          <p:cNvGrpSpPr/>
          <p:nvPr/>
        </p:nvGrpSpPr>
        <p:grpSpPr>
          <a:xfrm>
            <a:off x="0" y="5600507"/>
            <a:ext cx="6775807" cy="1220041"/>
            <a:chOff x="0" y="4802413"/>
            <a:chExt cx="6775807" cy="1220041"/>
          </a:xfrm>
        </p:grpSpPr>
        <p:sp>
          <p:nvSpPr>
            <p:cNvPr id="13" name="TextBox 12">
              <a:extLst>
                <a:ext uri="{FF2B5EF4-FFF2-40B4-BE49-F238E27FC236}">
                  <a16:creationId xmlns:a16="http://schemas.microsoft.com/office/drawing/2014/main" id="{4DF4C965-B9F3-9EB6-6BFD-1A2163AD63AA}"/>
                </a:ext>
              </a:extLst>
            </p:cNvPr>
            <p:cNvSpPr txBox="1"/>
            <p:nvPr/>
          </p:nvSpPr>
          <p:spPr>
            <a:xfrm>
              <a:off x="0" y="4802413"/>
              <a:ext cx="3768980" cy="369332"/>
            </a:xfrm>
            <a:prstGeom prst="rect">
              <a:avLst/>
            </a:prstGeom>
            <a:noFill/>
          </p:spPr>
          <p:txBody>
            <a:bodyPr wrap="none" rtlCol="0">
              <a:spAutoFit/>
            </a:bodyPr>
            <a:lstStyle/>
            <a:p>
              <a:r>
                <a:rPr lang="en-GB" b="1" dirty="0"/>
                <a:t>EDM – Engineering Design Model</a:t>
              </a:r>
            </a:p>
          </p:txBody>
        </p:sp>
        <p:sp>
          <p:nvSpPr>
            <p:cNvPr id="14" name="TextBox 13">
              <a:extLst>
                <a:ext uri="{FF2B5EF4-FFF2-40B4-BE49-F238E27FC236}">
                  <a16:creationId xmlns:a16="http://schemas.microsoft.com/office/drawing/2014/main" id="{0E47058D-8D39-C82A-76A8-76DBC29A75F8}"/>
                </a:ext>
              </a:extLst>
            </p:cNvPr>
            <p:cNvSpPr txBox="1"/>
            <p:nvPr/>
          </p:nvSpPr>
          <p:spPr>
            <a:xfrm>
              <a:off x="9032" y="5099124"/>
              <a:ext cx="6766775" cy="923330"/>
            </a:xfrm>
            <a:prstGeom prst="rect">
              <a:avLst/>
            </a:prstGeom>
            <a:noFill/>
          </p:spPr>
          <p:txBody>
            <a:bodyPr wrap="square" rtlCol="0">
              <a:spAutoFit/>
            </a:bodyPr>
            <a:lstStyle/>
            <a:p>
              <a:pPr algn="just"/>
              <a:r>
                <a:rPr lang="en-GB" dirty="0"/>
                <a:t>Embodiment of the system used to verify / text</a:t>
              </a:r>
            </a:p>
            <a:p>
              <a:pPr algn="just"/>
              <a:r>
                <a:rPr lang="en-GB" dirty="0"/>
                <a:t>Functionality of the solution.</a:t>
              </a:r>
            </a:p>
            <a:p>
              <a:pPr algn="just"/>
              <a:r>
                <a:rPr lang="en-GB" b="1" dirty="0">
                  <a:solidFill>
                    <a:srgbClr val="00B050"/>
                  </a:solidFill>
                </a:rPr>
                <a:t>Typically constructed by engineering talent</a:t>
              </a:r>
            </a:p>
          </p:txBody>
        </p:sp>
      </p:grpSp>
      <p:sp>
        <p:nvSpPr>
          <p:cNvPr id="4" name="Rectangle 3">
            <a:extLst>
              <a:ext uri="{FF2B5EF4-FFF2-40B4-BE49-F238E27FC236}">
                <a16:creationId xmlns:a16="http://schemas.microsoft.com/office/drawing/2014/main" id="{D4F25550-C5EC-F5E6-7889-3B606B15BBBE}"/>
              </a:ext>
            </a:extLst>
          </p:cNvPr>
          <p:cNvSpPr/>
          <p:nvPr/>
        </p:nvSpPr>
        <p:spPr>
          <a:xfrm>
            <a:off x="5641030" y="4340062"/>
            <a:ext cx="1914307" cy="461665"/>
          </a:xfrm>
          <a:prstGeom prst="rect">
            <a:avLst/>
          </a:prstGeom>
          <a:noFill/>
        </p:spPr>
        <p:txBody>
          <a:bodyPr wrap="square" lIns="91440" tIns="45720" rIns="91440" bIns="45720">
            <a:spAutoFit/>
          </a:bodyPr>
          <a:lstStyle/>
          <a:p>
            <a:pPr algn="ctr"/>
            <a:r>
              <a:rPr lang="en-US" sz="24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XDM</a:t>
            </a:r>
          </a:p>
        </p:txBody>
      </p:sp>
      <p:sp>
        <p:nvSpPr>
          <p:cNvPr id="15" name="Rectangle 14">
            <a:extLst>
              <a:ext uri="{FF2B5EF4-FFF2-40B4-BE49-F238E27FC236}">
                <a16:creationId xmlns:a16="http://schemas.microsoft.com/office/drawing/2014/main" id="{10FF8240-6048-5581-FC51-F1C9F3643429}"/>
              </a:ext>
            </a:extLst>
          </p:cNvPr>
          <p:cNvSpPr/>
          <p:nvPr/>
        </p:nvSpPr>
        <p:spPr>
          <a:xfrm>
            <a:off x="7355530" y="4550738"/>
            <a:ext cx="1914307" cy="461665"/>
          </a:xfrm>
          <a:prstGeom prst="rect">
            <a:avLst/>
          </a:prstGeom>
          <a:noFill/>
        </p:spPr>
        <p:txBody>
          <a:bodyPr wrap="square" lIns="91440" tIns="45720" rIns="91440" bIns="45720">
            <a:spAutoFit/>
          </a:bodyPr>
          <a:lstStyle/>
          <a:p>
            <a:pPr algn="ctr"/>
            <a:r>
              <a:rPr lang="en-US" sz="2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EDM</a:t>
            </a:r>
            <a:endParaRPr lang="en-US" sz="24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grpSp>
        <p:nvGrpSpPr>
          <p:cNvPr id="27" name="Group 26">
            <a:extLst>
              <a:ext uri="{FF2B5EF4-FFF2-40B4-BE49-F238E27FC236}">
                <a16:creationId xmlns:a16="http://schemas.microsoft.com/office/drawing/2014/main" id="{27EA485F-1579-4DAD-8295-610413958D30}"/>
              </a:ext>
            </a:extLst>
          </p:cNvPr>
          <p:cNvGrpSpPr/>
          <p:nvPr/>
        </p:nvGrpSpPr>
        <p:grpSpPr>
          <a:xfrm>
            <a:off x="9032" y="4527853"/>
            <a:ext cx="6766775" cy="856585"/>
            <a:chOff x="-2550" y="3941771"/>
            <a:chExt cx="6766775" cy="856585"/>
          </a:xfrm>
        </p:grpSpPr>
        <p:sp>
          <p:nvSpPr>
            <p:cNvPr id="17" name="TextBox 16">
              <a:extLst>
                <a:ext uri="{FF2B5EF4-FFF2-40B4-BE49-F238E27FC236}">
                  <a16:creationId xmlns:a16="http://schemas.microsoft.com/office/drawing/2014/main" id="{E66B5801-7E80-10C1-76D2-A6DA6384B827}"/>
                </a:ext>
              </a:extLst>
            </p:cNvPr>
            <p:cNvSpPr txBox="1"/>
            <p:nvPr/>
          </p:nvSpPr>
          <p:spPr>
            <a:xfrm>
              <a:off x="0" y="3941771"/>
              <a:ext cx="4711290" cy="369332"/>
            </a:xfrm>
            <a:prstGeom prst="rect">
              <a:avLst/>
            </a:prstGeom>
            <a:noFill/>
          </p:spPr>
          <p:txBody>
            <a:bodyPr wrap="none" rtlCol="0">
              <a:spAutoFit/>
            </a:bodyPr>
            <a:lstStyle/>
            <a:p>
              <a:r>
                <a:rPr lang="en-GB" b="1" dirty="0"/>
                <a:t>XDM – Experimental Development Model</a:t>
              </a:r>
            </a:p>
          </p:txBody>
        </p:sp>
        <p:sp>
          <p:nvSpPr>
            <p:cNvPr id="19" name="TextBox 18">
              <a:extLst>
                <a:ext uri="{FF2B5EF4-FFF2-40B4-BE49-F238E27FC236}">
                  <a16:creationId xmlns:a16="http://schemas.microsoft.com/office/drawing/2014/main" id="{06453D61-18C0-9512-E975-A985206DBC88}"/>
                </a:ext>
              </a:extLst>
            </p:cNvPr>
            <p:cNvSpPr txBox="1"/>
            <p:nvPr/>
          </p:nvSpPr>
          <p:spPr>
            <a:xfrm>
              <a:off x="-2550" y="4152025"/>
              <a:ext cx="6766775" cy="646331"/>
            </a:xfrm>
            <a:prstGeom prst="rect">
              <a:avLst/>
            </a:prstGeom>
            <a:noFill/>
          </p:spPr>
          <p:txBody>
            <a:bodyPr wrap="square" rtlCol="0">
              <a:spAutoFit/>
            </a:bodyPr>
            <a:lstStyle/>
            <a:p>
              <a:pPr algn="just"/>
              <a:r>
                <a:rPr lang="en-GB" dirty="0"/>
                <a:t>Used to test concepts / designs / plans</a:t>
              </a:r>
            </a:p>
            <a:p>
              <a:pPr algn="just"/>
              <a:r>
                <a:rPr lang="en-GB" b="1" dirty="0">
                  <a:solidFill>
                    <a:schemeClr val="accent3">
                      <a:lumMod val="50000"/>
                    </a:schemeClr>
                  </a:solidFill>
                </a:rPr>
                <a:t>May be simulation, mocks, samples, etc.</a:t>
              </a:r>
            </a:p>
          </p:txBody>
        </p:sp>
      </p:grpSp>
      <p:sp>
        <p:nvSpPr>
          <p:cNvPr id="21" name="Rectangle 20">
            <a:extLst>
              <a:ext uri="{FF2B5EF4-FFF2-40B4-BE49-F238E27FC236}">
                <a16:creationId xmlns:a16="http://schemas.microsoft.com/office/drawing/2014/main" id="{9F243237-FD99-2E37-7085-B8140FD8D791}"/>
              </a:ext>
            </a:extLst>
          </p:cNvPr>
          <p:cNvSpPr/>
          <p:nvPr/>
        </p:nvSpPr>
        <p:spPr>
          <a:xfrm>
            <a:off x="9696500" y="5046509"/>
            <a:ext cx="1914307" cy="461665"/>
          </a:xfrm>
          <a:prstGeom prst="rect">
            <a:avLst/>
          </a:prstGeom>
          <a:noFill/>
        </p:spPr>
        <p:txBody>
          <a:bodyPr wrap="square" lIns="91440" tIns="45720" rIns="91440" bIns="45720">
            <a:spAutoFit/>
          </a:bodyPr>
          <a:lstStyle/>
          <a:p>
            <a:pPr algn="ctr"/>
            <a:r>
              <a:rPr lang="en-US" sz="24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PPP</a:t>
            </a:r>
            <a:endParaRPr lang="en-US" sz="24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endParaRPr>
          </a:p>
        </p:txBody>
      </p:sp>
      <p:sp>
        <p:nvSpPr>
          <p:cNvPr id="23" name="TextBox 22">
            <a:extLst>
              <a:ext uri="{FF2B5EF4-FFF2-40B4-BE49-F238E27FC236}">
                <a16:creationId xmlns:a16="http://schemas.microsoft.com/office/drawing/2014/main" id="{9EF6A6AA-C951-274F-D1DA-4E3FE5BE21AE}"/>
              </a:ext>
            </a:extLst>
          </p:cNvPr>
          <p:cNvSpPr txBox="1"/>
          <p:nvPr/>
        </p:nvSpPr>
        <p:spPr>
          <a:xfrm>
            <a:off x="9216634" y="5874136"/>
            <a:ext cx="2975366" cy="369332"/>
          </a:xfrm>
          <a:prstGeom prst="rect">
            <a:avLst/>
          </a:prstGeom>
          <a:noFill/>
        </p:spPr>
        <p:txBody>
          <a:bodyPr wrap="none" rtlCol="0">
            <a:spAutoFit/>
          </a:bodyPr>
          <a:lstStyle/>
          <a:p>
            <a:r>
              <a:rPr lang="en-GB" b="1" dirty="0"/>
              <a:t>Pre-production Prototype</a:t>
            </a:r>
          </a:p>
        </p:txBody>
      </p:sp>
      <p:sp>
        <p:nvSpPr>
          <p:cNvPr id="25" name="TextBox 24">
            <a:extLst>
              <a:ext uri="{FF2B5EF4-FFF2-40B4-BE49-F238E27FC236}">
                <a16:creationId xmlns:a16="http://schemas.microsoft.com/office/drawing/2014/main" id="{FD169E08-B115-C5AE-1171-6F36480C3A18}"/>
              </a:ext>
            </a:extLst>
          </p:cNvPr>
          <p:cNvSpPr txBox="1"/>
          <p:nvPr/>
        </p:nvSpPr>
        <p:spPr>
          <a:xfrm>
            <a:off x="8375548" y="6182299"/>
            <a:ext cx="3791443" cy="646331"/>
          </a:xfrm>
          <a:prstGeom prst="rect">
            <a:avLst/>
          </a:prstGeom>
          <a:noFill/>
        </p:spPr>
        <p:txBody>
          <a:bodyPr wrap="square" rtlCol="0">
            <a:spAutoFit/>
          </a:bodyPr>
          <a:lstStyle/>
          <a:p>
            <a:pPr algn="r"/>
            <a:r>
              <a:rPr lang="en-GB" dirty="0"/>
              <a:t>Used to verify production capabilities.</a:t>
            </a:r>
          </a:p>
          <a:p>
            <a:pPr algn="r"/>
            <a:r>
              <a:rPr lang="en-GB" b="1" dirty="0">
                <a:solidFill>
                  <a:srgbClr val="FF0000"/>
                </a:solidFill>
              </a:rPr>
              <a:t>Designed for long in advance.</a:t>
            </a:r>
          </a:p>
        </p:txBody>
      </p:sp>
      <p:cxnSp>
        <p:nvCxnSpPr>
          <p:cNvPr id="28" name="Straight Arrow Connector 27">
            <a:extLst>
              <a:ext uri="{FF2B5EF4-FFF2-40B4-BE49-F238E27FC236}">
                <a16:creationId xmlns:a16="http://schemas.microsoft.com/office/drawing/2014/main" id="{721CFA5F-C44D-4957-835E-6E7A27E64EF4}"/>
              </a:ext>
            </a:extLst>
          </p:cNvPr>
          <p:cNvCxnSpPr/>
          <p:nvPr/>
        </p:nvCxnSpPr>
        <p:spPr>
          <a:xfrm flipV="1">
            <a:off x="9250787" y="4314482"/>
            <a:ext cx="0" cy="9744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B352A11-4791-80AB-BE10-DD1B3F4D2A49}"/>
              </a:ext>
            </a:extLst>
          </p:cNvPr>
          <p:cNvCxnSpPr/>
          <p:nvPr/>
        </p:nvCxnSpPr>
        <p:spPr>
          <a:xfrm>
            <a:off x="9269837" y="5277342"/>
            <a:ext cx="10014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242B55F-F894-3393-91B6-C4B42676A40F}"/>
              </a:ext>
            </a:extLst>
          </p:cNvPr>
          <p:cNvCxnSpPr/>
          <p:nvPr/>
        </p:nvCxnSpPr>
        <p:spPr>
          <a:xfrm flipH="1">
            <a:off x="7212806" y="4801727"/>
            <a:ext cx="637544"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9EEBB07-BEB5-CE41-D9C7-69D85AE6B394}"/>
              </a:ext>
            </a:extLst>
          </p:cNvPr>
          <p:cNvCxnSpPr>
            <a:cxnSpLocks/>
          </p:cNvCxnSpPr>
          <p:nvPr/>
        </p:nvCxnSpPr>
        <p:spPr>
          <a:xfrm>
            <a:off x="8750300" y="4781571"/>
            <a:ext cx="50048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2411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9DB36-3E8D-32E7-A588-418A5D61588F}"/>
              </a:ext>
            </a:extLst>
          </p:cNvPr>
          <p:cNvSpPr>
            <a:spLocks noGrp="1"/>
          </p:cNvSpPr>
          <p:nvPr>
            <p:ph type="title"/>
          </p:nvPr>
        </p:nvSpPr>
        <p:spPr/>
        <p:txBody>
          <a:bodyPr/>
          <a:lstStyle/>
          <a:p>
            <a:r>
              <a:rPr lang="en-GB" dirty="0"/>
              <a:t>The Vee Model</a:t>
            </a:r>
          </a:p>
        </p:txBody>
      </p:sp>
      <p:pic>
        <p:nvPicPr>
          <p:cNvPr id="4" name="Content Placeholder 3">
            <a:extLst>
              <a:ext uri="{FF2B5EF4-FFF2-40B4-BE49-F238E27FC236}">
                <a16:creationId xmlns:a16="http://schemas.microsoft.com/office/drawing/2014/main" id="{BB8E3D9C-EEC1-C254-2EEB-FF9A3977AF46}"/>
              </a:ext>
            </a:extLst>
          </p:cNvPr>
          <p:cNvPicPr>
            <a:picLocks noGrp="1" noChangeAspect="1"/>
          </p:cNvPicPr>
          <p:nvPr>
            <p:ph idx="1"/>
          </p:nvPr>
        </p:nvPicPr>
        <p:blipFill>
          <a:blip r:embed="rId3"/>
          <a:stretch>
            <a:fillRect/>
          </a:stretch>
        </p:blipFill>
        <p:spPr>
          <a:xfrm>
            <a:off x="1963882" y="1937896"/>
            <a:ext cx="8877819" cy="4722676"/>
          </a:xfrm>
          <a:prstGeom prst="rect">
            <a:avLst/>
          </a:prstGeom>
        </p:spPr>
      </p:pic>
    </p:spTree>
    <p:extLst>
      <p:ext uri="{BB962C8B-B14F-4D97-AF65-F5344CB8AC3E}">
        <p14:creationId xmlns:p14="http://schemas.microsoft.com/office/powerpoint/2010/main" val="11285707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531D4-A38D-8CF6-0073-7DB673E570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CE69D-EFDA-5A15-E269-26EC9697582C}"/>
              </a:ext>
            </a:extLst>
          </p:cNvPr>
          <p:cNvSpPr>
            <a:spLocks noGrp="1"/>
          </p:cNvSpPr>
          <p:nvPr>
            <p:ph type="title"/>
          </p:nvPr>
        </p:nvSpPr>
        <p:spPr/>
        <p:txBody>
          <a:bodyPr/>
          <a:lstStyle/>
          <a:p>
            <a:r>
              <a:rPr lang="en-GB" dirty="0"/>
              <a:t>Caveat</a:t>
            </a:r>
          </a:p>
        </p:txBody>
      </p:sp>
      <p:pic>
        <p:nvPicPr>
          <p:cNvPr id="7" name="Content Placeholder 6">
            <a:extLst>
              <a:ext uri="{FF2B5EF4-FFF2-40B4-BE49-F238E27FC236}">
                <a16:creationId xmlns:a16="http://schemas.microsoft.com/office/drawing/2014/main" id="{D844C634-04E8-C148-65CE-8ECB837DDC56}"/>
              </a:ext>
            </a:extLst>
          </p:cNvPr>
          <p:cNvPicPr>
            <a:picLocks noGrp="1" noChangeAspect="1"/>
          </p:cNvPicPr>
          <p:nvPr>
            <p:ph idx="1"/>
          </p:nvPr>
        </p:nvPicPr>
        <p:blipFill>
          <a:blip r:embed="rId3"/>
          <a:stretch>
            <a:fillRect/>
          </a:stretch>
        </p:blipFill>
        <p:spPr>
          <a:xfrm>
            <a:off x="2342139" y="2886256"/>
            <a:ext cx="7653196" cy="2602562"/>
          </a:xfrm>
          <a:prstGeom prst="rect">
            <a:avLst/>
          </a:prstGeom>
        </p:spPr>
      </p:pic>
    </p:spTree>
    <p:extLst>
      <p:ext uri="{BB962C8B-B14F-4D97-AF65-F5344CB8AC3E}">
        <p14:creationId xmlns:p14="http://schemas.microsoft.com/office/powerpoint/2010/main" val="4135330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6" name="Rectangle 15">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18" name="Rectangle 17">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iagram of cost-effective design&#10;&#10;AI-generated content may be incorrect.">
            <a:extLst>
              <a:ext uri="{FF2B5EF4-FFF2-40B4-BE49-F238E27FC236}">
                <a16:creationId xmlns:a16="http://schemas.microsoft.com/office/drawing/2014/main" id="{3123CB82-9971-D494-10D2-8E27649DAB71}"/>
              </a:ext>
            </a:extLst>
          </p:cNvPr>
          <p:cNvPicPr>
            <a:picLocks noGrp="1" noChangeAspect="1"/>
          </p:cNvPicPr>
          <p:nvPr>
            <p:ph idx="1"/>
          </p:nvPr>
        </p:nvPicPr>
        <p:blipFill>
          <a:blip r:embed="rId3"/>
          <a:srcRect t="9605" r="2" b="2"/>
          <a:stretch>
            <a:fillRect/>
          </a:stretch>
        </p:blipFill>
        <p:spPr>
          <a:xfrm>
            <a:off x="446534" y="723899"/>
            <a:ext cx="7498616" cy="5676901"/>
          </a:xfrm>
          <a:prstGeom prst="rect">
            <a:avLst/>
          </a:prstGeom>
        </p:spPr>
      </p:pic>
      <p:sp>
        <p:nvSpPr>
          <p:cNvPr id="20" name="Rectangle 19">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746242D9-4C43-E4B8-9C5A-44066A3A90C8}"/>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dirty="0">
                <a:solidFill>
                  <a:srgbClr val="FFFFFF"/>
                </a:solidFill>
              </a:rPr>
              <a:t>The thing about cost</a:t>
            </a:r>
          </a:p>
        </p:txBody>
      </p:sp>
      <p:grpSp>
        <p:nvGrpSpPr>
          <p:cNvPr id="22" name="Group 21">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23" name="Rectangle 22">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4" name="Rectangle 23">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5" name="Rectangle 24">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pSp>
      <p:cxnSp>
        <p:nvCxnSpPr>
          <p:cNvPr id="7" name="Straight Arrow Connector 6">
            <a:extLst>
              <a:ext uri="{FF2B5EF4-FFF2-40B4-BE49-F238E27FC236}">
                <a16:creationId xmlns:a16="http://schemas.microsoft.com/office/drawing/2014/main" id="{D56E8542-76D5-3A84-143E-6D68F6695EE7}"/>
              </a:ext>
            </a:extLst>
          </p:cNvPr>
          <p:cNvCxnSpPr/>
          <p:nvPr/>
        </p:nvCxnSpPr>
        <p:spPr>
          <a:xfrm flipH="1" flipV="1">
            <a:off x="1984663" y="3429000"/>
            <a:ext cx="2899064" cy="789709"/>
          </a:xfrm>
          <a:prstGeom prst="straightConnector1">
            <a:avLst/>
          </a:prstGeom>
          <a:ln w="7620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8" name="TextBox 7">
            <a:extLst>
              <a:ext uri="{FF2B5EF4-FFF2-40B4-BE49-F238E27FC236}">
                <a16:creationId xmlns:a16="http://schemas.microsoft.com/office/drawing/2014/main" id="{97B4180D-C6BD-B8E8-A753-E40E36D67C1F}"/>
              </a:ext>
            </a:extLst>
          </p:cNvPr>
          <p:cNvSpPr txBox="1"/>
          <p:nvPr/>
        </p:nvSpPr>
        <p:spPr>
          <a:xfrm>
            <a:off x="4883727" y="3915613"/>
            <a:ext cx="1962397" cy="923330"/>
          </a:xfrm>
          <a:prstGeom prst="rect">
            <a:avLst/>
          </a:prstGeom>
          <a:noFill/>
        </p:spPr>
        <p:txBody>
          <a:bodyPr wrap="none" rtlCol="0">
            <a:spAutoFit/>
          </a:bodyPr>
          <a:lstStyle/>
          <a:p>
            <a:pPr algn="ctr"/>
            <a:r>
              <a:rPr lang="en-GB" dirty="0">
                <a:solidFill>
                  <a:srgbClr val="00B050"/>
                </a:solidFill>
              </a:rPr>
              <a:t>Easy to commit to </a:t>
            </a:r>
          </a:p>
          <a:p>
            <a:pPr algn="ctr"/>
            <a:r>
              <a:rPr lang="en-GB" dirty="0">
                <a:solidFill>
                  <a:srgbClr val="00B050"/>
                </a:solidFill>
              </a:rPr>
              <a:t>expensive solution</a:t>
            </a:r>
          </a:p>
          <a:p>
            <a:pPr algn="ctr"/>
            <a:r>
              <a:rPr lang="en-GB" dirty="0">
                <a:solidFill>
                  <a:srgbClr val="00B050"/>
                </a:solidFill>
              </a:rPr>
              <a:t>(unknowingly)</a:t>
            </a:r>
          </a:p>
        </p:txBody>
      </p:sp>
      <p:cxnSp>
        <p:nvCxnSpPr>
          <p:cNvPr id="9" name="Straight Arrow Connector 8">
            <a:extLst>
              <a:ext uri="{FF2B5EF4-FFF2-40B4-BE49-F238E27FC236}">
                <a16:creationId xmlns:a16="http://schemas.microsoft.com/office/drawing/2014/main" id="{5EB0AC85-31C2-685E-5FE5-6BDDF41C0A5A}"/>
              </a:ext>
            </a:extLst>
          </p:cNvPr>
          <p:cNvCxnSpPr>
            <a:cxnSpLocks/>
          </p:cNvCxnSpPr>
          <p:nvPr/>
        </p:nvCxnSpPr>
        <p:spPr>
          <a:xfrm flipH="1">
            <a:off x="4308926" y="2742530"/>
            <a:ext cx="1007394" cy="424692"/>
          </a:xfrm>
          <a:prstGeom prst="straightConnector1">
            <a:avLst/>
          </a:prstGeom>
          <a:ln w="762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328716D0-8759-FD98-A5B1-4F168CC86BE2}"/>
              </a:ext>
            </a:extLst>
          </p:cNvPr>
          <p:cNvSpPr txBox="1"/>
          <p:nvPr/>
        </p:nvSpPr>
        <p:spPr>
          <a:xfrm>
            <a:off x="5316320" y="2400651"/>
            <a:ext cx="2009846" cy="646331"/>
          </a:xfrm>
          <a:prstGeom prst="rect">
            <a:avLst/>
          </a:prstGeom>
          <a:noFill/>
        </p:spPr>
        <p:txBody>
          <a:bodyPr wrap="none" rtlCol="0">
            <a:spAutoFit/>
          </a:bodyPr>
          <a:lstStyle/>
          <a:p>
            <a:r>
              <a:rPr lang="en-GB" dirty="0">
                <a:solidFill>
                  <a:srgbClr val="FF0000"/>
                </a:solidFill>
              </a:rPr>
              <a:t>Only find out here</a:t>
            </a:r>
          </a:p>
          <a:p>
            <a:r>
              <a:rPr lang="en-GB" dirty="0">
                <a:solidFill>
                  <a:srgbClr val="FF0000"/>
                </a:solidFill>
              </a:rPr>
              <a:t>how </a:t>
            </a:r>
            <a:r>
              <a:rPr lang="en-GB" b="1" dirty="0">
                <a:solidFill>
                  <a:srgbClr val="FF0000"/>
                </a:solidFill>
              </a:rPr>
              <a:t>EXPENSIVE</a:t>
            </a:r>
          </a:p>
        </p:txBody>
      </p:sp>
    </p:spTree>
    <p:extLst>
      <p:ext uri="{BB962C8B-B14F-4D97-AF65-F5344CB8AC3E}">
        <p14:creationId xmlns:p14="http://schemas.microsoft.com/office/powerpoint/2010/main" val="1663348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3E24-197E-6475-EA20-3DF3C288C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229A0D-EB0D-C649-3285-69CD8F7DC939}"/>
              </a:ext>
            </a:extLst>
          </p:cNvPr>
          <p:cNvSpPr>
            <a:spLocks noGrp="1"/>
          </p:cNvSpPr>
          <p:nvPr>
            <p:ph type="title"/>
          </p:nvPr>
        </p:nvSpPr>
        <p:spPr/>
        <p:txBody>
          <a:bodyPr/>
          <a:lstStyle/>
          <a:p>
            <a:r>
              <a:rPr lang="en-GB" dirty="0"/>
              <a:t>Incremental commitment spiral model (</a:t>
            </a:r>
            <a:r>
              <a:rPr lang="en-GB" dirty="0" err="1"/>
              <a:t>icsm</a:t>
            </a:r>
            <a:r>
              <a:rPr lang="en-GB" dirty="0"/>
              <a:t>)</a:t>
            </a:r>
          </a:p>
        </p:txBody>
      </p:sp>
      <p:pic>
        <p:nvPicPr>
          <p:cNvPr id="7" name="Content Placeholder 6">
            <a:extLst>
              <a:ext uri="{FF2B5EF4-FFF2-40B4-BE49-F238E27FC236}">
                <a16:creationId xmlns:a16="http://schemas.microsoft.com/office/drawing/2014/main" id="{6B4FE43E-5FFD-0AC1-DBC6-4599FEADDCC5}"/>
              </a:ext>
            </a:extLst>
          </p:cNvPr>
          <p:cNvPicPr>
            <a:picLocks noGrp="1" noChangeAspect="1"/>
          </p:cNvPicPr>
          <p:nvPr>
            <p:ph idx="1"/>
          </p:nvPr>
        </p:nvPicPr>
        <p:blipFill>
          <a:blip r:embed="rId3"/>
          <a:stretch>
            <a:fillRect/>
          </a:stretch>
        </p:blipFill>
        <p:spPr>
          <a:xfrm>
            <a:off x="3117273" y="2066925"/>
            <a:ext cx="6494945" cy="4627978"/>
          </a:xfrm>
        </p:spPr>
      </p:pic>
    </p:spTree>
    <p:extLst>
      <p:ext uri="{BB962C8B-B14F-4D97-AF65-F5344CB8AC3E}">
        <p14:creationId xmlns:p14="http://schemas.microsoft.com/office/powerpoint/2010/main" val="358462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1C130-B33C-E981-DE52-1FBAFB0FF3BC}"/>
              </a:ext>
            </a:extLst>
          </p:cNvPr>
          <p:cNvSpPr>
            <a:spLocks noGrp="1"/>
          </p:cNvSpPr>
          <p:nvPr>
            <p:ph type="title"/>
          </p:nvPr>
        </p:nvSpPr>
        <p:spPr/>
        <p:txBody>
          <a:bodyPr/>
          <a:lstStyle/>
          <a:p>
            <a:r>
              <a:rPr lang="en-GB" dirty="0"/>
              <a:t>Middle-out approach</a:t>
            </a:r>
          </a:p>
        </p:txBody>
      </p:sp>
      <p:sp>
        <p:nvSpPr>
          <p:cNvPr id="3" name="Content Placeholder 2">
            <a:extLst>
              <a:ext uri="{FF2B5EF4-FFF2-40B4-BE49-F238E27FC236}">
                <a16:creationId xmlns:a16="http://schemas.microsoft.com/office/drawing/2014/main" id="{B9B65BED-C256-423A-3BDC-711922B49E45}"/>
              </a:ext>
            </a:extLst>
          </p:cNvPr>
          <p:cNvSpPr>
            <a:spLocks noGrp="1"/>
          </p:cNvSpPr>
          <p:nvPr>
            <p:ph idx="1"/>
          </p:nvPr>
        </p:nvSpPr>
        <p:spPr/>
        <p:txBody>
          <a:bodyPr/>
          <a:lstStyle/>
          <a:p>
            <a:r>
              <a:rPr lang="en-GB" dirty="0"/>
              <a:t>Essentially the middle out approach starts at the pivot point of the Vee model and works both legs of the Vee at the same time. Conceptually “guess” an architecture and then ask “what can this architecture do?” (left side) and “how will I test this architecture?” (right side). However, this might </a:t>
            </a:r>
            <a:r>
              <a:rPr lang="en-GB" b="1" dirty="0">
                <a:solidFill>
                  <a:srgbClr val="FF0000"/>
                </a:solidFill>
              </a:rPr>
              <a:t>take a very long time for inexperience systems engineers.</a:t>
            </a:r>
          </a:p>
          <a:p>
            <a:r>
              <a:rPr lang="en-GB" dirty="0"/>
              <a:t>Alternative is to “gamble” and commit to a set of requirements quickly and then try to develop a system to meet those requirements as quickly as possible (and hope that it was achievable in the fist place). </a:t>
            </a:r>
          </a:p>
          <a:p>
            <a:r>
              <a:rPr lang="en-GB" dirty="0"/>
              <a:t>In design we use a combination of the middle-out Vee and the ICSM. Well explore a bit (tech, approaches, etc) but assume at least some high-level architecture as departure point.</a:t>
            </a:r>
          </a:p>
        </p:txBody>
      </p:sp>
    </p:spTree>
    <p:extLst>
      <p:ext uri="{BB962C8B-B14F-4D97-AF65-F5344CB8AC3E}">
        <p14:creationId xmlns:p14="http://schemas.microsoft.com/office/powerpoint/2010/main" val="762586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C2C78-F0CE-4455-9B94-C97574C88978}"/>
              </a:ext>
            </a:extLst>
          </p:cNvPr>
          <p:cNvSpPr>
            <a:spLocks noGrp="1"/>
          </p:cNvSpPr>
          <p:nvPr>
            <p:ph type="title"/>
          </p:nvPr>
        </p:nvSpPr>
        <p:spPr>
          <a:xfrm>
            <a:off x="581192" y="702156"/>
            <a:ext cx="11029616" cy="1013800"/>
          </a:xfrm>
        </p:spPr>
        <p:txBody>
          <a:bodyPr>
            <a:normAutofit/>
          </a:bodyPr>
          <a:lstStyle/>
          <a:p>
            <a:r>
              <a:rPr lang="en-ZA" dirty="0">
                <a:solidFill>
                  <a:srgbClr val="FFFEFF"/>
                </a:solidFill>
              </a:rPr>
              <a:t>Wrapping up</a:t>
            </a:r>
          </a:p>
        </p:txBody>
      </p:sp>
      <p:graphicFrame>
        <p:nvGraphicFramePr>
          <p:cNvPr id="5" name="Content Placeholder 2">
            <a:extLst>
              <a:ext uri="{FF2B5EF4-FFF2-40B4-BE49-F238E27FC236}">
                <a16:creationId xmlns:a16="http://schemas.microsoft.com/office/drawing/2014/main" id="{430B48CD-F889-41E1-8058-43359E6BD9E8}"/>
              </a:ext>
            </a:extLst>
          </p:cNvPr>
          <p:cNvGraphicFramePr>
            <a:graphicFrameLocks noGrp="1"/>
          </p:cNvGraphicFramePr>
          <p:nvPr>
            <p:ph idx="1"/>
            <p:extLst>
              <p:ext uri="{D42A27DB-BD31-4B8C-83A1-F6EECF244321}">
                <p14:modId xmlns:p14="http://schemas.microsoft.com/office/powerpoint/2010/main" val="395569466"/>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79839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E96387-12F1-45E4-9322-ABBF2EE04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Rectangle 16">
            <a:extLst>
              <a:ext uri="{FF2B5EF4-FFF2-40B4-BE49-F238E27FC236}">
                <a16:creationId xmlns:a16="http://schemas.microsoft.com/office/drawing/2014/main" id="{A9F421DD-DE4E-4547-A904-3F80E25E3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9" name="Rectangle 18">
            <a:extLst>
              <a:ext uri="{FF2B5EF4-FFF2-40B4-BE49-F238E27FC236}">
                <a16:creationId xmlns:a16="http://schemas.microsoft.com/office/drawing/2014/main" id="{09985DEC-1215-4209-9708-B45CC9774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1" name="Rectangle 20">
            <a:extLst>
              <a:ext uri="{FF2B5EF4-FFF2-40B4-BE49-F238E27FC236}">
                <a16:creationId xmlns:a16="http://schemas.microsoft.com/office/drawing/2014/main" id="{90EB7086-616E-4D44-94BE-D0F7635617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useBgFill="1">
        <p:nvSpPr>
          <p:cNvPr id="23" name="Rectangle 22">
            <a:extLst>
              <a:ext uri="{FF2B5EF4-FFF2-40B4-BE49-F238E27FC236}">
                <a16:creationId xmlns:a16="http://schemas.microsoft.com/office/drawing/2014/main" id="{F115DB35-53D7-4EDC-A965-A43492961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Content Placeholder 6">
            <a:extLst>
              <a:ext uri="{FF2B5EF4-FFF2-40B4-BE49-F238E27FC236}">
                <a16:creationId xmlns:a16="http://schemas.microsoft.com/office/drawing/2014/main" id="{BB11B821-23E0-145D-5995-DDA1961C1A44}"/>
              </a:ext>
            </a:extLst>
          </p:cNvPr>
          <p:cNvPicPr>
            <a:picLocks noChangeAspect="1"/>
          </p:cNvPicPr>
          <p:nvPr/>
        </p:nvPicPr>
        <p:blipFill>
          <a:blip r:embed="rId3"/>
          <a:stretch>
            <a:fillRect/>
          </a:stretch>
        </p:blipFill>
        <p:spPr>
          <a:xfrm>
            <a:off x="439623" y="1011724"/>
            <a:ext cx="7549252" cy="5378841"/>
          </a:xfrm>
          <a:prstGeom prst="rect">
            <a:avLst/>
          </a:prstGeom>
        </p:spPr>
      </p:pic>
      <p:sp>
        <p:nvSpPr>
          <p:cNvPr id="25" name="Rectangle 24">
            <a:extLst>
              <a:ext uri="{FF2B5EF4-FFF2-40B4-BE49-F238E27FC236}">
                <a16:creationId xmlns:a16="http://schemas.microsoft.com/office/drawing/2014/main" id="{4B610F9C-62FE-46FC-8607-C35030B63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Title 7">
            <a:extLst>
              <a:ext uri="{FF2B5EF4-FFF2-40B4-BE49-F238E27FC236}">
                <a16:creationId xmlns:a16="http://schemas.microsoft.com/office/drawing/2014/main" id="{47CBB7FD-B774-5E59-CDB6-499C791DDA46}"/>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a:solidFill>
                  <a:srgbClr val="FFFFFF"/>
                </a:solidFill>
              </a:rPr>
              <a:t>Ponder this</a:t>
            </a:r>
          </a:p>
        </p:txBody>
      </p:sp>
      <p:sp>
        <p:nvSpPr>
          <p:cNvPr id="9" name="Content Placeholder 8">
            <a:extLst>
              <a:ext uri="{FF2B5EF4-FFF2-40B4-BE49-F238E27FC236}">
                <a16:creationId xmlns:a16="http://schemas.microsoft.com/office/drawing/2014/main" id="{33548F05-4D01-9577-A27A-AB1E53E0D645}"/>
              </a:ext>
            </a:extLst>
          </p:cNvPr>
          <p:cNvSpPr>
            <a:spLocks noGrp="1"/>
          </p:cNvSpPr>
          <p:nvPr>
            <p:ph idx="1"/>
          </p:nvPr>
        </p:nvSpPr>
        <p:spPr>
          <a:xfrm>
            <a:off x="8296275" y="3505095"/>
            <a:ext cx="3081576" cy="1733655"/>
          </a:xfrm>
        </p:spPr>
        <p:txBody>
          <a:bodyPr vert="horz" lIns="91440" tIns="45720" rIns="91440" bIns="45720" rtlCol="0" anchor="t">
            <a:normAutofit/>
          </a:bodyPr>
          <a:lstStyle/>
          <a:p>
            <a:pPr marL="0" indent="0">
              <a:buNone/>
            </a:pPr>
            <a:r>
              <a:rPr lang="en-US" sz="1600" cap="all" dirty="0">
                <a:solidFill>
                  <a:schemeClr val="bg2"/>
                </a:solidFill>
              </a:rPr>
              <a:t>What will exploration look like so that your design effort can proceed to the next phase?</a:t>
            </a:r>
          </a:p>
        </p:txBody>
      </p:sp>
    </p:spTree>
    <p:extLst>
      <p:ext uri="{BB962C8B-B14F-4D97-AF65-F5344CB8AC3E}">
        <p14:creationId xmlns:p14="http://schemas.microsoft.com/office/powerpoint/2010/main" val="70428942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TM03457464[[fn=Dividend]]</Template>
  <TotalTime>487</TotalTime>
  <Words>2719</Words>
  <Application>Microsoft Office PowerPoint</Application>
  <PresentationFormat>Widescreen</PresentationFormat>
  <Paragraphs>208</Paragraphs>
  <Slides>26</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Arial</vt:lpstr>
      <vt:lpstr>Franklin Gothic Book</vt:lpstr>
      <vt:lpstr>Gill Sans MT</vt:lpstr>
      <vt:lpstr>Wingdings 2</vt:lpstr>
      <vt:lpstr>Dividend</vt:lpstr>
      <vt:lpstr>Engineering design 2026</vt:lpstr>
      <vt:lpstr>Same apple different views</vt:lpstr>
      <vt:lpstr>Analytical thinking</vt:lpstr>
      <vt:lpstr>Synthetic Thinking</vt:lpstr>
      <vt:lpstr>Systems Thinking</vt:lpstr>
      <vt:lpstr>Classification of system terminology</vt:lpstr>
      <vt:lpstr>What system?</vt:lpstr>
      <vt:lpstr>What is a system? (formally)</vt:lpstr>
      <vt:lpstr>A graphical representation…</vt:lpstr>
      <vt:lpstr>System: Elements</vt:lpstr>
      <vt:lpstr>System: Elements</vt:lpstr>
      <vt:lpstr>Practical example</vt:lpstr>
      <vt:lpstr>So a system</vt:lpstr>
      <vt:lpstr>Systems Engineering</vt:lpstr>
      <vt:lpstr>What’s in a name</vt:lpstr>
      <vt:lpstr>about design…</vt:lpstr>
      <vt:lpstr>Engineering Design (working definition)</vt:lpstr>
      <vt:lpstr>Engineered Systems</vt:lpstr>
      <vt:lpstr>Life Cycles</vt:lpstr>
      <vt:lpstr>The Vee Model</vt:lpstr>
      <vt:lpstr>Caveat</vt:lpstr>
      <vt:lpstr>The thing about cost</vt:lpstr>
      <vt:lpstr>Incremental commitment spiral model (icsm)</vt:lpstr>
      <vt:lpstr>Middle-out approach</vt:lpstr>
      <vt:lpstr>Wrapping up</vt:lpstr>
      <vt:lpstr>Ponder this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design 2020</dc:title>
  <dc:creator>Henri Marais</dc:creator>
  <cp:lastModifiedBy>Henri Marais</cp:lastModifiedBy>
  <cp:revision>15</cp:revision>
  <dcterms:created xsi:type="dcterms:W3CDTF">2021-08-02T04:36:19Z</dcterms:created>
  <dcterms:modified xsi:type="dcterms:W3CDTF">2026-07-22T09:11:59Z</dcterms:modified>
</cp:coreProperties>
</file>