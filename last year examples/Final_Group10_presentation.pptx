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6"/>
  </p:notesMasterIdLst>
  <p:sldIdLst>
    <p:sldId id="256" r:id="rId5"/>
    <p:sldId id="257" r:id="rId6"/>
    <p:sldId id="262" r:id="rId7"/>
    <p:sldId id="258" r:id="rId8"/>
    <p:sldId id="273" r:id="rId9"/>
    <p:sldId id="274" r:id="rId10"/>
    <p:sldId id="284" r:id="rId11"/>
    <p:sldId id="283" r:id="rId12"/>
    <p:sldId id="291" r:id="rId13"/>
    <p:sldId id="302" r:id="rId14"/>
    <p:sldId id="286" r:id="rId15"/>
    <p:sldId id="317" r:id="rId16"/>
    <p:sldId id="303" r:id="rId17"/>
    <p:sldId id="307" r:id="rId18"/>
    <p:sldId id="259" r:id="rId19"/>
    <p:sldId id="275" r:id="rId20"/>
    <p:sldId id="287" r:id="rId21"/>
    <p:sldId id="316" r:id="rId22"/>
    <p:sldId id="260" r:id="rId23"/>
    <p:sldId id="276" r:id="rId24"/>
    <p:sldId id="279" r:id="rId25"/>
    <p:sldId id="280" r:id="rId26"/>
    <p:sldId id="293" r:id="rId27"/>
    <p:sldId id="294" r:id="rId28"/>
    <p:sldId id="288" r:id="rId29"/>
    <p:sldId id="289" r:id="rId30"/>
    <p:sldId id="306" r:id="rId31"/>
    <p:sldId id="305" r:id="rId32"/>
    <p:sldId id="261" r:id="rId33"/>
    <p:sldId id="263" r:id="rId34"/>
    <p:sldId id="277" r:id="rId35"/>
    <p:sldId id="281" r:id="rId36"/>
    <p:sldId id="282" r:id="rId37"/>
    <p:sldId id="295" r:id="rId38"/>
    <p:sldId id="296" r:id="rId39"/>
    <p:sldId id="301" r:id="rId40"/>
    <p:sldId id="300" r:id="rId41"/>
    <p:sldId id="314" r:id="rId42"/>
    <p:sldId id="310" r:id="rId43"/>
    <p:sldId id="311" r:id="rId44"/>
    <p:sldId id="312" r:id="rId45"/>
    <p:sldId id="265" r:id="rId46"/>
    <p:sldId id="278" r:id="rId47"/>
    <p:sldId id="285" r:id="rId48"/>
    <p:sldId id="297" r:id="rId49"/>
    <p:sldId id="269" r:id="rId50"/>
    <p:sldId id="267" r:id="rId51"/>
    <p:sldId id="268" r:id="rId52"/>
    <p:sldId id="270" r:id="rId53"/>
    <p:sldId id="271" r:id="rId54"/>
    <p:sldId id="272"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6" d="100"/>
          <a:sy n="96" d="100"/>
        </p:scale>
        <p:origin x="84" y="2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s>
</file>

<file path=ppt/diagrams/_rels/data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svg"/><Relationship Id="rId1" Type="http://schemas.openxmlformats.org/officeDocument/2006/relationships/image" Target="../media/image44.png"/><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4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s>
</file>

<file path=ppt/diagrams/_rels/drawing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svg"/><Relationship Id="rId1" Type="http://schemas.openxmlformats.org/officeDocument/2006/relationships/image" Target="../media/image44.png"/><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48.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D1FD14-F8E9-46A2-BD83-A36132C6E4D7}" type="doc">
      <dgm:prSet loTypeId="urn:microsoft.com/office/officeart/2008/layout/LinedList" loCatId="list" qsTypeId="urn:microsoft.com/office/officeart/2005/8/quickstyle/simple4" qsCatId="simple" csTypeId="urn:microsoft.com/office/officeart/2005/8/colors/colorful1" csCatId="colorful" phldr="1"/>
      <dgm:spPr/>
      <dgm:t>
        <a:bodyPr/>
        <a:lstStyle/>
        <a:p>
          <a:endParaRPr lang="en-US"/>
        </a:p>
      </dgm:t>
    </dgm:pt>
    <dgm:pt modelId="{4D62A09C-E634-482F-827E-4DC4B19F3167}">
      <dgm:prSet/>
      <dgm:spPr/>
      <dgm:t>
        <a:bodyPr/>
        <a:lstStyle/>
        <a:p>
          <a:r>
            <a:rPr lang="en-US" dirty="0"/>
            <a:t>Lateral movement</a:t>
          </a:r>
        </a:p>
        <a:p>
          <a:r>
            <a:rPr lang="en-US" dirty="0"/>
            <a:t>-&gt;Better wheel coat for the wheels</a:t>
          </a:r>
        </a:p>
        <a:p>
          <a:r>
            <a:rPr lang="en-US" dirty="0"/>
            <a:t> -&gt;Better electronic box design ,,more space for everything</a:t>
          </a:r>
        </a:p>
        <a:p>
          <a:r>
            <a:rPr lang="en-US" dirty="0"/>
            <a:t> -&gt;Laser cutting instead of 3d printing for strength </a:t>
          </a:r>
        </a:p>
        <a:p>
          <a:r>
            <a:rPr lang="en-US" dirty="0"/>
            <a:t>                                </a:t>
          </a:r>
        </a:p>
      </dgm:t>
    </dgm:pt>
    <dgm:pt modelId="{1B6295DC-E0A5-480A-9B9D-91E51F680060}" type="parTrans" cxnId="{D5FA4411-BAB1-4659-BD9B-C47FD55AB949}">
      <dgm:prSet/>
      <dgm:spPr/>
      <dgm:t>
        <a:bodyPr/>
        <a:lstStyle/>
        <a:p>
          <a:endParaRPr lang="en-US"/>
        </a:p>
      </dgm:t>
    </dgm:pt>
    <dgm:pt modelId="{510F94BE-8D0D-4993-9209-7491820202E7}" type="sibTrans" cxnId="{D5FA4411-BAB1-4659-BD9B-C47FD55AB949}">
      <dgm:prSet/>
      <dgm:spPr/>
      <dgm:t>
        <a:bodyPr/>
        <a:lstStyle/>
        <a:p>
          <a:endParaRPr lang="en-US"/>
        </a:p>
      </dgm:t>
    </dgm:pt>
    <dgm:pt modelId="{41A7AF7C-F517-4960-BEC9-DBB7D2EE76C2}">
      <dgm:prSet/>
      <dgm:spPr/>
      <dgm:t>
        <a:bodyPr/>
        <a:lstStyle/>
        <a:p>
          <a:r>
            <a:rPr lang="en-US" dirty="0"/>
            <a:t>Hoisting mechanism</a:t>
          </a:r>
        </a:p>
        <a:p>
          <a:r>
            <a:rPr lang="en-US" dirty="0"/>
            <a:t>-&gt;better material for gears to prevent wear</a:t>
          </a:r>
        </a:p>
        <a:p>
          <a:r>
            <a:rPr lang="en-US" dirty="0"/>
            <a:t>-&gt;better lubrication of planetary gearbox to reduce noise</a:t>
          </a:r>
        </a:p>
        <a:p>
          <a:endParaRPr lang="en-US" sz="1100" dirty="0">
            <a:solidFill>
              <a:srgbClr val="444444"/>
            </a:solidFill>
            <a:latin typeface="Calibri"/>
            <a:ea typeface="Calibri"/>
            <a:cs typeface="Calibri"/>
          </a:endParaRPr>
        </a:p>
      </dgm:t>
    </dgm:pt>
    <dgm:pt modelId="{96DA0118-3B17-42D1-9583-96EF36E878F1}" type="parTrans" cxnId="{4808C6FC-5D99-4616-8CDD-77177C5563C4}">
      <dgm:prSet/>
      <dgm:spPr/>
      <dgm:t>
        <a:bodyPr/>
        <a:lstStyle/>
        <a:p>
          <a:endParaRPr lang="en-US"/>
        </a:p>
      </dgm:t>
    </dgm:pt>
    <dgm:pt modelId="{4C712520-FDA3-4ABD-9BC1-9CC4B439E610}" type="sibTrans" cxnId="{4808C6FC-5D99-4616-8CDD-77177C5563C4}">
      <dgm:prSet/>
      <dgm:spPr/>
      <dgm:t>
        <a:bodyPr/>
        <a:lstStyle/>
        <a:p>
          <a:endParaRPr lang="en-US"/>
        </a:p>
      </dgm:t>
    </dgm:pt>
    <dgm:pt modelId="{E158F335-CBC1-4081-B687-37E5F76ED5E6}">
      <dgm:prSet phldr="0"/>
      <dgm:spPr/>
      <dgm:t>
        <a:bodyPr/>
        <a:lstStyle/>
        <a:p>
          <a:pPr rtl="0"/>
          <a:r>
            <a:rPr lang="en-US" sz="1200" b="0" dirty="0">
              <a:solidFill>
                <a:srgbClr val="444444"/>
              </a:solidFill>
              <a:latin typeface="Aptos"/>
              <a:ea typeface="Calibri"/>
              <a:cs typeface="Calibri"/>
            </a:rPr>
            <a:t>D</a:t>
          </a:r>
          <a:r>
            <a:rPr lang="en-US" sz="1200" b="1" dirty="0">
              <a:solidFill>
                <a:srgbClr val="444444"/>
              </a:solidFill>
              <a:latin typeface="Aptos"/>
              <a:ea typeface="Calibri"/>
              <a:cs typeface="Calibri"/>
            </a:rPr>
            <a:t>rive Electronics</a:t>
          </a:r>
        </a:p>
        <a:p>
          <a:pPr rtl="0"/>
          <a:r>
            <a:rPr lang="en-US" sz="1200" b="0" dirty="0">
              <a:solidFill>
                <a:srgbClr val="444444"/>
              </a:solidFill>
              <a:latin typeface="Aptos"/>
              <a:ea typeface="Calibri"/>
              <a:cs typeface="Calibri"/>
            </a:rPr>
            <a:t>-&gt;Choose a better switching component with less ringing in circuit</a:t>
          </a:r>
        </a:p>
        <a:p>
          <a:pPr rtl="0"/>
          <a:r>
            <a:rPr lang="en-US" sz="1200" b="0" dirty="0">
              <a:solidFill>
                <a:srgbClr val="444444"/>
              </a:solidFill>
              <a:latin typeface="Aptos"/>
              <a:ea typeface="Calibri"/>
              <a:cs typeface="Calibri"/>
            </a:rPr>
            <a:t>-&gt;Design a better layout for the PCB for less inductive ringing in circuit.</a:t>
          </a:r>
        </a:p>
        <a:p>
          <a:pPr rtl="0"/>
          <a:r>
            <a:rPr lang="en-US" sz="1200" b="0" dirty="0">
              <a:solidFill>
                <a:srgbClr val="444444"/>
              </a:solidFill>
              <a:latin typeface="Aptos"/>
              <a:ea typeface="Calibri"/>
              <a:cs typeface="Calibri"/>
            </a:rPr>
            <a:t>-&gt; Rather than making a PCB on campus, I would send it in to a place like JLCPCB to be manufactured more accurately.</a:t>
          </a:r>
        </a:p>
        <a:p>
          <a:pPr rtl="0"/>
          <a:r>
            <a:rPr lang="en-US" sz="1200" b="0" dirty="0">
              <a:solidFill>
                <a:srgbClr val="444444"/>
              </a:solidFill>
              <a:latin typeface="Aptos"/>
              <a:ea typeface="Calibri"/>
              <a:cs typeface="Calibri"/>
            </a:rPr>
            <a:t>-&gt; Order components much earlier so that we can perform tests much earlier, especially if we are working on a strict deadline.</a:t>
          </a:r>
        </a:p>
        <a:p>
          <a:pPr rtl="0"/>
          <a:endParaRPr lang="en-GB" dirty="0">
            <a:latin typeface="Aptos Display" panose="02110004020202020204"/>
          </a:endParaRPr>
        </a:p>
      </dgm:t>
    </dgm:pt>
    <dgm:pt modelId="{F8F86F0F-7937-4636-893E-6CBB3A2A414D}" type="parTrans" cxnId="{7A0BC42D-ED59-4210-913C-7CC222589781}">
      <dgm:prSet/>
      <dgm:spPr/>
    </dgm:pt>
    <dgm:pt modelId="{9CEF1EEB-2894-467A-A2D6-D49270C0DD79}" type="sibTrans" cxnId="{7A0BC42D-ED59-4210-913C-7CC222589781}">
      <dgm:prSet/>
      <dgm:spPr/>
      <dgm:t>
        <a:bodyPr/>
        <a:lstStyle/>
        <a:p>
          <a:endParaRPr lang="en-GB"/>
        </a:p>
      </dgm:t>
    </dgm:pt>
    <dgm:pt modelId="{72268682-3006-468D-8EFA-445A323BF563}">
      <dgm:prSet phldr="0"/>
      <dgm:spPr/>
      <dgm:t>
        <a:bodyPr/>
        <a:lstStyle/>
        <a:p>
          <a:pPr rtl="0"/>
          <a:r>
            <a:rPr lang="en-US" sz="1200" dirty="0">
              <a:solidFill>
                <a:srgbClr val="444444"/>
              </a:solidFill>
              <a:latin typeface="Aptos"/>
              <a:ea typeface="Calibri"/>
              <a:cs typeface="Calibri"/>
            </a:rPr>
            <a:t>  </a:t>
          </a:r>
          <a:r>
            <a:rPr lang="en-US" sz="1200" b="0" dirty="0">
              <a:solidFill>
                <a:srgbClr val="444444"/>
              </a:solidFill>
              <a:latin typeface="Aptos"/>
              <a:ea typeface="Calibri"/>
              <a:cs typeface="Calibri"/>
            </a:rPr>
            <a:t> </a:t>
          </a:r>
          <a:r>
            <a:rPr lang="en-US" sz="1200" b="1" dirty="0">
              <a:solidFill>
                <a:srgbClr val="444444"/>
              </a:solidFill>
              <a:latin typeface="Aptos"/>
              <a:ea typeface="Calibri"/>
              <a:cs typeface="Calibri"/>
            </a:rPr>
            <a:t>Wireless pendant </a:t>
          </a:r>
        </a:p>
        <a:p>
          <a:pPr rtl="0"/>
          <a:r>
            <a:rPr lang="en-US" sz="1200" b="0" dirty="0">
              <a:solidFill>
                <a:srgbClr val="444444"/>
              </a:solidFill>
              <a:latin typeface="Calibri"/>
              <a:ea typeface="Calibri"/>
              <a:cs typeface="Calibri"/>
            </a:rPr>
            <a:t>-&gt;Make use of two joysticks, one for lateral movement and one for vertical movement </a:t>
          </a:r>
        </a:p>
        <a:p>
          <a:pPr rtl="0"/>
          <a:r>
            <a:rPr lang="en-US" sz="1200" b="0" dirty="0">
              <a:solidFill>
                <a:srgbClr val="444444"/>
              </a:solidFill>
              <a:latin typeface="Calibri"/>
              <a:ea typeface="Calibri"/>
              <a:cs typeface="Calibri"/>
            </a:rPr>
            <a:t>-&gt;Design a custom PCB instead of using a prototype PCB </a:t>
          </a:r>
        </a:p>
        <a:p>
          <a:pPr algn="l" rtl="0"/>
          <a:r>
            <a:rPr lang="en-US" sz="1200" b="0" dirty="0">
              <a:solidFill>
                <a:srgbClr val="444444"/>
              </a:solidFill>
              <a:latin typeface="Calibri"/>
              <a:ea typeface="Calibri"/>
              <a:cs typeface="Calibri"/>
            </a:rPr>
            <a:t>-&gt;Using a</a:t>
          </a:r>
          <a:r>
            <a:rPr lang="en-US" sz="1200" b="0" dirty="0">
              <a:latin typeface="Aptos Display" panose="02110004020202020204"/>
            </a:rPr>
            <a:t> </a:t>
          </a:r>
          <a:r>
            <a:rPr lang="en-US" sz="1200" b="0" dirty="0"/>
            <a:t>simple moving-average filter or EMA would smooth the joystick response.</a:t>
          </a:r>
        </a:p>
        <a:p>
          <a:pPr rtl="0"/>
          <a:r>
            <a:rPr lang="en-US" sz="1200" b="0" dirty="0">
              <a:solidFill>
                <a:srgbClr val="444444"/>
              </a:solidFill>
              <a:latin typeface="Calibri"/>
              <a:ea typeface="Calibri"/>
              <a:cs typeface="Calibri"/>
            </a:rPr>
            <a:t>-&gt;Could improve enclosure design</a:t>
          </a:r>
        </a:p>
        <a:p>
          <a:pPr rtl="0"/>
          <a:r>
            <a:rPr lang="en-US" sz="1200" b="0" dirty="0">
              <a:solidFill>
                <a:srgbClr val="444444"/>
              </a:solidFill>
              <a:latin typeface="Calibri"/>
              <a:ea typeface="Calibri"/>
              <a:cs typeface="Calibri"/>
            </a:rPr>
            <a:t>-&gt;Add battery level monitoring</a:t>
          </a:r>
          <a:endParaRPr lang="en-GB" dirty="0">
            <a:latin typeface="Aptos Display" panose="02110004020202020204"/>
          </a:endParaRPr>
        </a:p>
      </dgm:t>
    </dgm:pt>
    <dgm:pt modelId="{D4B51529-521D-4560-890B-8DACC0F4C837}" type="parTrans" cxnId="{E105F9DC-9F14-47A8-B32A-BAA8DEC7BEC6}">
      <dgm:prSet/>
      <dgm:spPr/>
    </dgm:pt>
    <dgm:pt modelId="{69025B58-E345-4C2C-8FA7-383AE7D688BC}" type="sibTrans" cxnId="{E105F9DC-9F14-47A8-B32A-BAA8DEC7BEC6}">
      <dgm:prSet/>
      <dgm:spPr/>
      <dgm:t>
        <a:bodyPr/>
        <a:lstStyle/>
        <a:p>
          <a:endParaRPr lang="en-GB"/>
        </a:p>
      </dgm:t>
    </dgm:pt>
    <dgm:pt modelId="{25D00DC4-535B-4ACA-B5BD-D48F448EE733}">
      <dgm:prSet phldr="0"/>
      <dgm:spPr/>
      <dgm:t>
        <a:bodyPr/>
        <a:lstStyle/>
        <a:p>
          <a:pPr rtl="0"/>
          <a:r>
            <a:rPr lang="en-US" sz="1100" dirty="0">
              <a:solidFill>
                <a:srgbClr val="444444"/>
              </a:solidFill>
              <a:latin typeface="Calibri"/>
              <a:ea typeface="Calibri"/>
              <a:cs typeface="Calibri"/>
            </a:rPr>
            <a:t> </a:t>
          </a:r>
          <a:r>
            <a:rPr lang="en-US" sz="1100" b="1" dirty="0">
              <a:solidFill>
                <a:srgbClr val="444444"/>
              </a:solidFill>
              <a:latin typeface="Aptos"/>
              <a:ea typeface="Calibri"/>
              <a:cs typeface="Calibri"/>
            </a:rPr>
            <a:t>Embedded Controller</a:t>
          </a:r>
        </a:p>
        <a:p>
          <a:pPr rtl="0"/>
          <a:r>
            <a:rPr lang="en-US" sz="1100" b="0" dirty="0">
              <a:solidFill>
                <a:srgbClr val="444444"/>
              </a:solidFill>
              <a:latin typeface="Calibri"/>
              <a:ea typeface="Calibri"/>
              <a:cs typeface="Calibri"/>
            </a:rPr>
            <a:t>-&gt; Use of a designed PCB instead of a breadboard for neater, more stable and professional looking connections.</a:t>
          </a:r>
        </a:p>
        <a:p>
          <a:pPr rtl="0"/>
          <a:r>
            <a:rPr lang="en-US" sz="1100" b="0" dirty="0">
              <a:solidFill>
                <a:srgbClr val="000000"/>
              </a:solidFill>
              <a:latin typeface="Calibri"/>
              <a:ea typeface="Calibri"/>
              <a:cs typeface="Calibri"/>
            </a:rPr>
            <a:t>-&gt;</a:t>
          </a:r>
          <a:r>
            <a:rPr lang="en-US" sz="1100" b="0" dirty="0">
              <a:latin typeface="Calibri"/>
              <a:ea typeface="Calibri"/>
              <a:cs typeface="Calibri"/>
            </a:rPr>
            <a:t> Make use of a 3.3V regulator to limit noise and increase output stability.</a:t>
          </a:r>
          <a:br>
            <a:rPr lang="en-US" sz="1100" b="0" dirty="0">
              <a:solidFill>
                <a:srgbClr val="000000"/>
              </a:solidFill>
              <a:latin typeface="Calibri"/>
              <a:ea typeface="Calibri"/>
              <a:cs typeface="Calibri"/>
            </a:rPr>
          </a:br>
          <a:r>
            <a:rPr lang="en-US" sz="1100" b="0" dirty="0">
              <a:latin typeface="Calibri"/>
              <a:ea typeface="Calibri"/>
              <a:cs typeface="Calibri"/>
            </a:rPr>
            <a:t>-&gt; Add extra Status LED's onto the embedded controller itself. </a:t>
          </a:r>
          <a:br>
            <a:rPr lang="en-US" dirty="0"/>
          </a:br>
          <a:r>
            <a:rPr lang="en-US" sz="1100" b="0" dirty="0">
              <a:latin typeface="Calibri"/>
              <a:ea typeface="Calibri"/>
              <a:cs typeface="Calibri"/>
            </a:rPr>
            <a:t>-&gt; Create a custom mount for the Embedded controller within the on-board enclosure for better space usage.</a:t>
          </a:r>
          <a:endParaRPr lang="en-US" sz="1800" dirty="0">
            <a:solidFill>
              <a:srgbClr val="000000"/>
            </a:solidFill>
            <a:latin typeface="Aptos Display" panose="02110004020202020204"/>
            <a:ea typeface="Calibri"/>
            <a:cs typeface="Calibri"/>
          </a:endParaRPr>
        </a:p>
        <a:p>
          <a:pPr rtl="0"/>
          <a:r>
            <a:rPr lang="en-US" sz="1100" dirty="0">
              <a:solidFill>
                <a:srgbClr val="000000"/>
              </a:solidFill>
              <a:latin typeface="Calibri"/>
              <a:ea typeface="Calibri"/>
              <a:cs typeface="Calibri"/>
            </a:rPr>
            <a:t>-&gt; </a:t>
          </a:r>
          <a:r>
            <a:rPr lang="en-US" sz="1100" dirty="0">
              <a:latin typeface="Calibri"/>
              <a:ea typeface="Calibri"/>
              <a:cs typeface="Calibri"/>
            </a:rPr>
            <a:t>Code slower ramp times and make use of a less sensitive analogue stick for easier and more stable control.</a:t>
          </a:r>
          <a:endParaRPr lang="en-US" dirty="0"/>
        </a:p>
        <a:p>
          <a:pPr rtl="0"/>
          <a:endParaRPr lang="en-US" sz="1100" dirty="0">
            <a:solidFill>
              <a:srgbClr val="000000"/>
            </a:solidFill>
            <a:latin typeface="Calibri"/>
            <a:ea typeface="Calibri"/>
            <a:cs typeface="Calibri"/>
          </a:endParaRPr>
        </a:p>
        <a:p>
          <a:pPr rtl="0"/>
          <a:endParaRPr lang="en-US" sz="1100" dirty="0">
            <a:solidFill>
              <a:srgbClr val="444444"/>
            </a:solidFill>
            <a:latin typeface="Calibri"/>
            <a:ea typeface="Calibri"/>
            <a:cs typeface="Calibri"/>
          </a:endParaRPr>
        </a:p>
        <a:p>
          <a:pPr rtl="0"/>
          <a:endParaRPr lang="en-US" dirty="0">
            <a:latin typeface="Aptos Display" panose="02110004020202020204"/>
          </a:endParaRPr>
        </a:p>
      </dgm:t>
    </dgm:pt>
    <dgm:pt modelId="{412C7503-1D14-405F-8FF8-4D4F5F494781}" type="parTrans" cxnId="{0896D100-8D87-46F1-BC77-18A45DCE5237}">
      <dgm:prSet/>
      <dgm:spPr/>
    </dgm:pt>
    <dgm:pt modelId="{5A4D26C3-813E-4E08-BF57-A40103CF3B38}" type="sibTrans" cxnId="{0896D100-8D87-46F1-BC77-18A45DCE5237}">
      <dgm:prSet/>
      <dgm:spPr/>
    </dgm:pt>
    <dgm:pt modelId="{08C7DAE1-9038-4548-ABAF-AB063CE86B8F}" type="pres">
      <dgm:prSet presAssocID="{DFD1FD14-F8E9-46A2-BD83-A36132C6E4D7}" presName="vert0" presStyleCnt="0">
        <dgm:presLayoutVars>
          <dgm:dir/>
          <dgm:animOne val="branch"/>
          <dgm:animLvl val="lvl"/>
        </dgm:presLayoutVars>
      </dgm:prSet>
      <dgm:spPr/>
    </dgm:pt>
    <dgm:pt modelId="{3DC1EA2D-AA59-4B05-8096-CE99D03D11B6}" type="pres">
      <dgm:prSet presAssocID="{4D62A09C-E634-482F-827E-4DC4B19F3167}" presName="thickLine" presStyleLbl="alignNode1" presStyleIdx="0" presStyleCnt="5"/>
      <dgm:spPr/>
    </dgm:pt>
    <dgm:pt modelId="{3237D6C0-AE75-4B38-B9A6-4E8757D2537E}" type="pres">
      <dgm:prSet presAssocID="{4D62A09C-E634-482F-827E-4DC4B19F3167}" presName="horz1" presStyleCnt="0"/>
      <dgm:spPr/>
    </dgm:pt>
    <dgm:pt modelId="{9A3A34D6-B0E2-4994-AED0-EAB33201F9D8}" type="pres">
      <dgm:prSet presAssocID="{4D62A09C-E634-482F-827E-4DC4B19F3167}" presName="tx1" presStyleLbl="revTx" presStyleIdx="0" presStyleCnt="5"/>
      <dgm:spPr/>
    </dgm:pt>
    <dgm:pt modelId="{FAA91A5C-3A76-42C6-A620-642E20A5D5CD}" type="pres">
      <dgm:prSet presAssocID="{4D62A09C-E634-482F-827E-4DC4B19F3167}" presName="vert1" presStyleCnt="0"/>
      <dgm:spPr/>
    </dgm:pt>
    <dgm:pt modelId="{EE7FD2BC-7574-4A9D-A8E7-79C3A4A4FA4F}" type="pres">
      <dgm:prSet presAssocID="{41A7AF7C-F517-4960-BEC9-DBB7D2EE76C2}" presName="thickLine" presStyleLbl="alignNode1" presStyleIdx="1" presStyleCnt="5"/>
      <dgm:spPr/>
    </dgm:pt>
    <dgm:pt modelId="{27FDB24C-0C9A-4BCB-AF55-FC188926A5B9}" type="pres">
      <dgm:prSet presAssocID="{41A7AF7C-F517-4960-BEC9-DBB7D2EE76C2}" presName="horz1" presStyleCnt="0"/>
      <dgm:spPr/>
    </dgm:pt>
    <dgm:pt modelId="{5091698E-4716-4035-95BB-9C1C419290BF}" type="pres">
      <dgm:prSet presAssocID="{41A7AF7C-F517-4960-BEC9-DBB7D2EE76C2}" presName="tx1" presStyleLbl="revTx" presStyleIdx="1" presStyleCnt="5"/>
      <dgm:spPr/>
    </dgm:pt>
    <dgm:pt modelId="{0EBBFE0C-3157-4877-A085-4B998E8CEA0E}" type="pres">
      <dgm:prSet presAssocID="{41A7AF7C-F517-4960-BEC9-DBB7D2EE76C2}" presName="vert1" presStyleCnt="0"/>
      <dgm:spPr/>
    </dgm:pt>
    <dgm:pt modelId="{CEEFB89B-717C-4831-93EE-B65FA92DE8B4}" type="pres">
      <dgm:prSet presAssocID="{E158F335-CBC1-4081-B687-37E5F76ED5E6}" presName="thickLine" presStyleLbl="alignNode1" presStyleIdx="2" presStyleCnt="5"/>
      <dgm:spPr/>
    </dgm:pt>
    <dgm:pt modelId="{8485FCBA-EAB1-492C-A746-7D82FAE2224F}" type="pres">
      <dgm:prSet presAssocID="{E158F335-CBC1-4081-B687-37E5F76ED5E6}" presName="horz1" presStyleCnt="0"/>
      <dgm:spPr/>
    </dgm:pt>
    <dgm:pt modelId="{98B1B254-BD99-49BB-A1CA-197DDB095B57}" type="pres">
      <dgm:prSet presAssocID="{E158F335-CBC1-4081-B687-37E5F76ED5E6}" presName="tx1" presStyleLbl="revTx" presStyleIdx="2" presStyleCnt="5"/>
      <dgm:spPr/>
    </dgm:pt>
    <dgm:pt modelId="{C8B82EC7-5067-472A-80E1-D52A4D09F149}" type="pres">
      <dgm:prSet presAssocID="{E158F335-CBC1-4081-B687-37E5F76ED5E6}" presName="vert1" presStyleCnt="0"/>
      <dgm:spPr/>
    </dgm:pt>
    <dgm:pt modelId="{42A0492C-EC9C-41B0-A640-9568588AE144}" type="pres">
      <dgm:prSet presAssocID="{72268682-3006-468D-8EFA-445A323BF563}" presName="thickLine" presStyleLbl="alignNode1" presStyleIdx="3" presStyleCnt="5"/>
      <dgm:spPr/>
    </dgm:pt>
    <dgm:pt modelId="{9EF74333-B419-42B8-84E3-DC893AE35E6E}" type="pres">
      <dgm:prSet presAssocID="{72268682-3006-468D-8EFA-445A323BF563}" presName="horz1" presStyleCnt="0"/>
      <dgm:spPr/>
    </dgm:pt>
    <dgm:pt modelId="{A2F4AB4D-D579-49E3-A84B-8BDE652E8E0F}" type="pres">
      <dgm:prSet presAssocID="{72268682-3006-468D-8EFA-445A323BF563}" presName="tx1" presStyleLbl="revTx" presStyleIdx="3" presStyleCnt="5"/>
      <dgm:spPr/>
    </dgm:pt>
    <dgm:pt modelId="{CB33CCFE-F19E-482D-8544-625DDCAF99CB}" type="pres">
      <dgm:prSet presAssocID="{72268682-3006-468D-8EFA-445A323BF563}" presName="vert1" presStyleCnt="0"/>
      <dgm:spPr/>
    </dgm:pt>
    <dgm:pt modelId="{750BCA22-0160-4D08-B6E1-F8618C49AE9E}" type="pres">
      <dgm:prSet presAssocID="{25D00DC4-535B-4ACA-B5BD-D48F448EE733}" presName="thickLine" presStyleLbl="alignNode1" presStyleIdx="4" presStyleCnt="5"/>
      <dgm:spPr/>
    </dgm:pt>
    <dgm:pt modelId="{E0BAD8EB-EB55-42C6-85A4-DFBAE862DE76}" type="pres">
      <dgm:prSet presAssocID="{25D00DC4-535B-4ACA-B5BD-D48F448EE733}" presName="horz1" presStyleCnt="0"/>
      <dgm:spPr/>
    </dgm:pt>
    <dgm:pt modelId="{B4EC0575-B5E4-40C9-B5F8-B88C05953F22}" type="pres">
      <dgm:prSet presAssocID="{25D00DC4-535B-4ACA-B5BD-D48F448EE733}" presName="tx1" presStyleLbl="revTx" presStyleIdx="4" presStyleCnt="5"/>
      <dgm:spPr/>
    </dgm:pt>
    <dgm:pt modelId="{7E9A662C-3F0A-4D2A-80AD-6BCDCE2205AF}" type="pres">
      <dgm:prSet presAssocID="{25D00DC4-535B-4ACA-B5BD-D48F448EE733}" presName="vert1" presStyleCnt="0"/>
      <dgm:spPr/>
    </dgm:pt>
  </dgm:ptLst>
  <dgm:cxnLst>
    <dgm:cxn modelId="{0896D100-8D87-46F1-BC77-18A45DCE5237}" srcId="{DFD1FD14-F8E9-46A2-BD83-A36132C6E4D7}" destId="{25D00DC4-535B-4ACA-B5BD-D48F448EE733}" srcOrd="4" destOrd="0" parTransId="{412C7503-1D14-405F-8FF8-4D4F5F494781}" sibTransId="{5A4D26C3-813E-4E08-BF57-A40103CF3B38}"/>
    <dgm:cxn modelId="{D5FA4411-BAB1-4659-BD9B-C47FD55AB949}" srcId="{DFD1FD14-F8E9-46A2-BD83-A36132C6E4D7}" destId="{4D62A09C-E634-482F-827E-4DC4B19F3167}" srcOrd="0" destOrd="0" parTransId="{1B6295DC-E0A5-480A-9B9D-91E51F680060}" sibTransId="{510F94BE-8D0D-4993-9209-7491820202E7}"/>
    <dgm:cxn modelId="{9046BE15-4B93-4763-9339-41B7EAB1AAD8}" type="presOf" srcId="{25D00DC4-535B-4ACA-B5BD-D48F448EE733}" destId="{B4EC0575-B5E4-40C9-B5F8-B88C05953F22}" srcOrd="0" destOrd="0" presId="urn:microsoft.com/office/officeart/2008/layout/LinedList"/>
    <dgm:cxn modelId="{360AE115-DF92-4510-A742-E67C71FF9D14}" type="presOf" srcId="{72268682-3006-468D-8EFA-445A323BF563}" destId="{A2F4AB4D-D579-49E3-A84B-8BDE652E8E0F}" srcOrd="0" destOrd="0" presId="urn:microsoft.com/office/officeart/2008/layout/LinedList"/>
    <dgm:cxn modelId="{7A0BC42D-ED59-4210-913C-7CC222589781}" srcId="{DFD1FD14-F8E9-46A2-BD83-A36132C6E4D7}" destId="{E158F335-CBC1-4081-B687-37E5F76ED5E6}" srcOrd="2" destOrd="0" parTransId="{F8F86F0F-7937-4636-893E-6CBB3A2A414D}" sibTransId="{9CEF1EEB-2894-467A-A2D6-D49270C0DD79}"/>
    <dgm:cxn modelId="{60AABE3A-D198-4E77-8C96-51DAC455C20C}" type="presOf" srcId="{4D62A09C-E634-482F-827E-4DC4B19F3167}" destId="{9A3A34D6-B0E2-4994-AED0-EAB33201F9D8}" srcOrd="0" destOrd="0" presId="urn:microsoft.com/office/officeart/2008/layout/LinedList"/>
    <dgm:cxn modelId="{7C587A90-5B74-4311-9307-EE894D6B04A4}" type="presOf" srcId="{41A7AF7C-F517-4960-BEC9-DBB7D2EE76C2}" destId="{5091698E-4716-4035-95BB-9C1C419290BF}" srcOrd="0" destOrd="0" presId="urn:microsoft.com/office/officeart/2008/layout/LinedList"/>
    <dgm:cxn modelId="{E105F9DC-9F14-47A8-B32A-BAA8DEC7BEC6}" srcId="{DFD1FD14-F8E9-46A2-BD83-A36132C6E4D7}" destId="{72268682-3006-468D-8EFA-445A323BF563}" srcOrd="3" destOrd="0" parTransId="{D4B51529-521D-4560-890B-8DACC0F4C837}" sibTransId="{69025B58-E345-4C2C-8FA7-383AE7D688BC}"/>
    <dgm:cxn modelId="{59CB7BE6-B119-4F50-BB0F-44A64966DDE0}" type="presOf" srcId="{E158F335-CBC1-4081-B687-37E5F76ED5E6}" destId="{98B1B254-BD99-49BB-A1CA-197DDB095B57}" srcOrd="0" destOrd="0" presId="urn:microsoft.com/office/officeart/2008/layout/LinedList"/>
    <dgm:cxn modelId="{2F61E3F1-DB61-4D67-B4E0-F3CD37364727}" type="presOf" srcId="{DFD1FD14-F8E9-46A2-BD83-A36132C6E4D7}" destId="{08C7DAE1-9038-4548-ABAF-AB063CE86B8F}" srcOrd="0" destOrd="0" presId="urn:microsoft.com/office/officeart/2008/layout/LinedList"/>
    <dgm:cxn modelId="{4808C6FC-5D99-4616-8CDD-77177C5563C4}" srcId="{DFD1FD14-F8E9-46A2-BD83-A36132C6E4D7}" destId="{41A7AF7C-F517-4960-BEC9-DBB7D2EE76C2}" srcOrd="1" destOrd="0" parTransId="{96DA0118-3B17-42D1-9583-96EF36E878F1}" sibTransId="{4C712520-FDA3-4ABD-9BC1-9CC4B439E610}"/>
    <dgm:cxn modelId="{63F7B30A-4BD2-419B-B5D2-492EDE06A37D}" type="presParOf" srcId="{08C7DAE1-9038-4548-ABAF-AB063CE86B8F}" destId="{3DC1EA2D-AA59-4B05-8096-CE99D03D11B6}" srcOrd="0" destOrd="0" presId="urn:microsoft.com/office/officeart/2008/layout/LinedList"/>
    <dgm:cxn modelId="{66B2ECBD-B3BF-48A6-8AD6-33255A592A0B}" type="presParOf" srcId="{08C7DAE1-9038-4548-ABAF-AB063CE86B8F}" destId="{3237D6C0-AE75-4B38-B9A6-4E8757D2537E}" srcOrd="1" destOrd="0" presId="urn:microsoft.com/office/officeart/2008/layout/LinedList"/>
    <dgm:cxn modelId="{E89CF3E8-05D2-4C61-A5C4-73A1EE21938B}" type="presParOf" srcId="{3237D6C0-AE75-4B38-B9A6-4E8757D2537E}" destId="{9A3A34D6-B0E2-4994-AED0-EAB33201F9D8}" srcOrd="0" destOrd="0" presId="urn:microsoft.com/office/officeart/2008/layout/LinedList"/>
    <dgm:cxn modelId="{93E562F4-9A82-462D-BD6C-EF0A58ABFC1D}" type="presParOf" srcId="{3237D6C0-AE75-4B38-B9A6-4E8757D2537E}" destId="{FAA91A5C-3A76-42C6-A620-642E20A5D5CD}" srcOrd="1" destOrd="0" presId="urn:microsoft.com/office/officeart/2008/layout/LinedList"/>
    <dgm:cxn modelId="{6C858601-389E-4A15-BF88-FEEE10129D70}" type="presParOf" srcId="{08C7DAE1-9038-4548-ABAF-AB063CE86B8F}" destId="{EE7FD2BC-7574-4A9D-A8E7-79C3A4A4FA4F}" srcOrd="2" destOrd="0" presId="urn:microsoft.com/office/officeart/2008/layout/LinedList"/>
    <dgm:cxn modelId="{A6A7E6D9-3FAA-4CD0-8166-06CF4CF42BAE}" type="presParOf" srcId="{08C7DAE1-9038-4548-ABAF-AB063CE86B8F}" destId="{27FDB24C-0C9A-4BCB-AF55-FC188926A5B9}" srcOrd="3" destOrd="0" presId="urn:microsoft.com/office/officeart/2008/layout/LinedList"/>
    <dgm:cxn modelId="{C39A084E-7619-4632-9253-467FE27A536A}" type="presParOf" srcId="{27FDB24C-0C9A-4BCB-AF55-FC188926A5B9}" destId="{5091698E-4716-4035-95BB-9C1C419290BF}" srcOrd="0" destOrd="0" presId="urn:microsoft.com/office/officeart/2008/layout/LinedList"/>
    <dgm:cxn modelId="{BEADF8D8-EFA1-4CFE-BCAC-6D880804940F}" type="presParOf" srcId="{27FDB24C-0C9A-4BCB-AF55-FC188926A5B9}" destId="{0EBBFE0C-3157-4877-A085-4B998E8CEA0E}" srcOrd="1" destOrd="0" presId="urn:microsoft.com/office/officeart/2008/layout/LinedList"/>
    <dgm:cxn modelId="{BBA8BFBD-9D12-4615-A6EB-176AA9E71257}" type="presParOf" srcId="{08C7DAE1-9038-4548-ABAF-AB063CE86B8F}" destId="{CEEFB89B-717C-4831-93EE-B65FA92DE8B4}" srcOrd="4" destOrd="0" presId="urn:microsoft.com/office/officeart/2008/layout/LinedList"/>
    <dgm:cxn modelId="{0BF99778-4775-4999-A84F-CDA1065CEC43}" type="presParOf" srcId="{08C7DAE1-9038-4548-ABAF-AB063CE86B8F}" destId="{8485FCBA-EAB1-492C-A746-7D82FAE2224F}" srcOrd="5" destOrd="0" presId="urn:microsoft.com/office/officeart/2008/layout/LinedList"/>
    <dgm:cxn modelId="{13D64834-4A50-4ABB-9CE2-81C7B6319E92}" type="presParOf" srcId="{8485FCBA-EAB1-492C-A746-7D82FAE2224F}" destId="{98B1B254-BD99-49BB-A1CA-197DDB095B57}" srcOrd="0" destOrd="0" presId="urn:microsoft.com/office/officeart/2008/layout/LinedList"/>
    <dgm:cxn modelId="{77EA11F2-F5D3-408D-985B-B9D97284B954}" type="presParOf" srcId="{8485FCBA-EAB1-492C-A746-7D82FAE2224F}" destId="{C8B82EC7-5067-472A-80E1-D52A4D09F149}" srcOrd="1" destOrd="0" presId="urn:microsoft.com/office/officeart/2008/layout/LinedList"/>
    <dgm:cxn modelId="{AB02F5C8-40CC-481C-A6C9-11F59EAE3451}" type="presParOf" srcId="{08C7DAE1-9038-4548-ABAF-AB063CE86B8F}" destId="{42A0492C-EC9C-41B0-A640-9568588AE144}" srcOrd="6" destOrd="0" presId="urn:microsoft.com/office/officeart/2008/layout/LinedList"/>
    <dgm:cxn modelId="{8B921CA1-7E0D-4155-93CB-AA94B101530C}" type="presParOf" srcId="{08C7DAE1-9038-4548-ABAF-AB063CE86B8F}" destId="{9EF74333-B419-42B8-84E3-DC893AE35E6E}" srcOrd="7" destOrd="0" presId="urn:microsoft.com/office/officeart/2008/layout/LinedList"/>
    <dgm:cxn modelId="{0EA6A469-875E-47E3-B31B-1FFBA67ACED9}" type="presParOf" srcId="{9EF74333-B419-42B8-84E3-DC893AE35E6E}" destId="{A2F4AB4D-D579-49E3-A84B-8BDE652E8E0F}" srcOrd="0" destOrd="0" presId="urn:microsoft.com/office/officeart/2008/layout/LinedList"/>
    <dgm:cxn modelId="{E73FF7F7-DCEC-4A81-88CF-438474E666B2}" type="presParOf" srcId="{9EF74333-B419-42B8-84E3-DC893AE35E6E}" destId="{CB33CCFE-F19E-482D-8544-625DDCAF99CB}" srcOrd="1" destOrd="0" presId="urn:microsoft.com/office/officeart/2008/layout/LinedList"/>
    <dgm:cxn modelId="{3D14F279-8F5A-4AAD-8C3D-64A1988D59DA}" type="presParOf" srcId="{08C7DAE1-9038-4548-ABAF-AB063CE86B8F}" destId="{750BCA22-0160-4D08-B6E1-F8618C49AE9E}" srcOrd="8" destOrd="0" presId="urn:microsoft.com/office/officeart/2008/layout/LinedList"/>
    <dgm:cxn modelId="{84628EE1-FB7C-4875-A147-69CDA021717D}" type="presParOf" srcId="{08C7DAE1-9038-4548-ABAF-AB063CE86B8F}" destId="{E0BAD8EB-EB55-42C6-85A4-DFBAE862DE76}" srcOrd="9" destOrd="0" presId="urn:microsoft.com/office/officeart/2008/layout/LinedList"/>
    <dgm:cxn modelId="{B2871287-1ED6-4106-A585-ABDA029899C5}" type="presParOf" srcId="{E0BAD8EB-EB55-42C6-85A4-DFBAE862DE76}" destId="{B4EC0575-B5E4-40C9-B5F8-B88C05953F22}" srcOrd="0" destOrd="0" presId="urn:microsoft.com/office/officeart/2008/layout/LinedList"/>
    <dgm:cxn modelId="{A81F6FE0-0EA8-4C64-864F-3917F4189F8F}" type="presParOf" srcId="{E0BAD8EB-EB55-42C6-85A4-DFBAE862DE76}" destId="{7E9A662C-3F0A-4D2A-80AD-6BCDCE2205A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DFB10D3-6322-43BB-A93B-15F869D38B35}" type="doc">
      <dgm:prSet loTypeId="urn:microsoft.com/office/officeart/2018/2/layout/IconVerticalSolidList" loCatId="icon" qsTypeId="urn:microsoft.com/office/officeart/2005/8/quickstyle/simple2" qsCatId="simple" csTypeId="urn:microsoft.com/office/officeart/2018/5/colors/Iconchunking_neutralbg_colorful1" csCatId="colorful" phldr="1"/>
      <dgm:spPr/>
      <dgm:t>
        <a:bodyPr/>
        <a:lstStyle/>
        <a:p>
          <a:endParaRPr lang="en-US"/>
        </a:p>
      </dgm:t>
    </dgm:pt>
    <dgm:pt modelId="{C140DD46-B221-4481-B967-F0F0665B1854}">
      <dgm:prSet/>
      <dgm:spPr/>
      <dgm:t>
        <a:bodyPr/>
        <a:lstStyle/>
        <a:p>
          <a:pPr>
            <a:lnSpc>
              <a:spcPct val="100000"/>
            </a:lnSpc>
          </a:pPr>
          <a:r>
            <a:rPr lang="en-GB" dirty="0"/>
            <a:t>The design process is important for customer requirements to reach it and the design is also important to minimize risk </a:t>
          </a:r>
        </a:p>
        <a:p>
          <a:pPr>
            <a:lnSpc>
              <a:spcPct val="100000"/>
            </a:lnSpc>
          </a:pPr>
          <a:r>
            <a:rPr lang="en-GB" dirty="0"/>
            <a:t>A structured design process also promotes efficient-decision making, helping the team justify design choices and maintain throughout development</a:t>
          </a:r>
        </a:p>
        <a:p>
          <a:endParaRPr lang="en-US" dirty="0"/>
        </a:p>
      </dgm:t>
    </dgm:pt>
    <dgm:pt modelId="{5C01B480-5E78-43BE-B9C6-1BE43495D48E}" type="parTrans" cxnId="{73F18D6C-D07C-4F8A-85AF-7EC449CA84F0}">
      <dgm:prSet/>
      <dgm:spPr/>
      <dgm:t>
        <a:bodyPr/>
        <a:lstStyle/>
        <a:p>
          <a:endParaRPr lang="en-US"/>
        </a:p>
      </dgm:t>
    </dgm:pt>
    <dgm:pt modelId="{C1749CD2-180C-4B68-8A1F-87914023BFBF}" type="sibTrans" cxnId="{73F18D6C-D07C-4F8A-85AF-7EC449CA84F0}">
      <dgm:prSet/>
      <dgm:spPr/>
      <dgm:t>
        <a:bodyPr/>
        <a:lstStyle/>
        <a:p>
          <a:endParaRPr lang="en-US"/>
        </a:p>
      </dgm:t>
    </dgm:pt>
    <dgm:pt modelId="{D170E6C4-3CD8-4899-9DC9-B5BF3E202C49}">
      <dgm:prSet/>
      <dgm:spPr/>
      <dgm:t>
        <a:bodyPr/>
        <a:lstStyle/>
        <a:p>
          <a:pPr>
            <a:lnSpc>
              <a:spcPct val="100000"/>
            </a:lnSpc>
          </a:pPr>
          <a:r>
            <a:rPr lang="en-GB" dirty="0"/>
            <a:t>Our group was unable to fully integrate the system due because the driver unit could not operate at the required </a:t>
          </a:r>
          <a:r>
            <a:rPr lang="en-GB" dirty="0">
              <a:latin typeface="Aptos Display" panose="02110004020202020204"/>
            </a:rPr>
            <a:t>330V</a:t>
          </a:r>
          <a:r>
            <a:rPr lang="en-GB" dirty="0"/>
            <a:t> Ac</a:t>
          </a:r>
          <a:endParaRPr lang="en-US" dirty="0"/>
        </a:p>
      </dgm:t>
    </dgm:pt>
    <dgm:pt modelId="{A929D74C-3B7A-4BF9-B826-EAF21403F4F0}" type="parTrans" cxnId="{0905933A-CB58-4783-8167-10F7EB3D2511}">
      <dgm:prSet/>
      <dgm:spPr/>
      <dgm:t>
        <a:bodyPr/>
        <a:lstStyle/>
        <a:p>
          <a:endParaRPr lang="en-US"/>
        </a:p>
      </dgm:t>
    </dgm:pt>
    <dgm:pt modelId="{17348303-4E69-485A-9FC1-650F16C2AA32}" type="sibTrans" cxnId="{0905933A-CB58-4783-8167-10F7EB3D2511}">
      <dgm:prSet/>
      <dgm:spPr/>
      <dgm:t>
        <a:bodyPr/>
        <a:lstStyle/>
        <a:p>
          <a:endParaRPr lang="en-US"/>
        </a:p>
      </dgm:t>
    </dgm:pt>
    <dgm:pt modelId="{B8FFAB0F-5BE8-4759-AF03-B927B2716D2C}">
      <dgm:prSet/>
      <dgm:spPr/>
      <dgm:t>
        <a:bodyPr/>
        <a:lstStyle/>
        <a:p>
          <a:pPr>
            <a:lnSpc>
              <a:spcPct val="100000"/>
            </a:lnSpc>
          </a:pPr>
          <a:r>
            <a:rPr lang="en-GB" dirty="0"/>
            <a:t>Integration can take longer than expected  </a:t>
          </a:r>
          <a:endParaRPr lang="en-US" dirty="0"/>
        </a:p>
      </dgm:t>
    </dgm:pt>
    <dgm:pt modelId="{9906B055-5995-4DFF-A245-F711DD3FEAC1}" type="parTrans" cxnId="{522F175A-E829-474C-9DBF-97DF22DB6874}">
      <dgm:prSet/>
      <dgm:spPr/>
      <dgm:t>
        <a:bodyPr/>
        <a:lstStyle/>
        <a:p>
          <a:endParaRPr lang="en-US"/>
        </a:p>
      </dgm:t>
    </dgm:pt>
    <dgm:pt modelId="{2357139C-C2A9-42A9-AC93-8E7D53C3188F}" type="sibTrans" cxnId="{522F175A-E829-474C-9DBF-97DF22DB6874}">
      <dgm:prSet/>
      <dgm:spPr/>
      <dgm:t>
        <a:bodyPr/>
        <a:lstStyle/>
        <a:p>
          <a:endParaRPr lang="en-US"/>
        </a:p>
      </dgm:t>
    </dgm:pt>
    <dgm:pt modelId="{DBE0260B-9A52-4859-A5F5-6C390F70E842}" type="pres">
      <dgm:prSet presAssocID="{8DFB10D3-6322-43BB-A93B-15F869D38B35}" presName="root" presStyleCnt="0">
        <dgm:presLayoutVars>
          <dgm:dir/>
          <dgm:resizeHandles val="exact"/>
        </dgm:presLayoutVars>
      </dgm:prSet>
      <dgm:spPr/>
    </dgm:pt>
    <dgm:pt modelId="{23822EA5-B75F-4ECD-A810-6CADDA37B808}" type="pres">
      <dgm:prSet presAssocID="{C140DD46-B221-4481-B967-F0F0665B1854}" presName="compNode" presStyleCnt="0"/>
      <dgm:spPr/>
    </dgm:pt>
    <dgm:pt modelId="{38BAF6FB-E25C-43E0-8212-713C2D22BD2D}" type="pres">
      <dgm:prSet presAssocID="{C140DD46-B221-4481-B967-F0F0665B1854}" presName="bgRect" presStyleLbl="bgShp" presStyleIdx="0" presStyleCnt="3"/>
      <dgm:spPr/>
    </dgm:pt>
    <dgm:pt modelId="{7846DAEB-128F-4257-A345-AA012EA9DF04}" type="pres">
      <dgm:prSet presAssocID="{C140DD46-B221-4481-B967-F0F0665B185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gnifying glass"/>
        </a:ext>
      </dgm:extLst>
    </dgm:pt>
    <dgm:pt modelId="{C02405CA-1B47-4163-BD5A-94FCD46789A1}" type="pres">
      <dgm:prSet presAssocID="{C140DD46-B221-4481-B967-F0F0665B1854}" presName="spaceRect" presStyleCnt="0"/>
      <dgm:spPr/>
    </dgm:pt>
    <dgm:pt modelId="{32EBE06D-2A87-4738-88BA-084DCD6D298C}" type="pres">
      <dgm:prSet presAssocID="{C140DD46-B221-4481-B967-F0F0665B1854}" presName="parTx" presStyleLbl="revTx" presStyleIdx="0" presStyleCnt="3">
        <dgm:presLayoutVars>
          <dgm:chMax val="0"/>
          <dgm:chPref val="0"/>
        </dgm:presLayoutVars>
      </dgm:prSet>
      <dgm:spPr/>
    </dgm:pt>
    <dgm:pt modelId="{2E6B5A1B-01C5-4ED5-BF64-8701A37810C3}" type="pres">
      <dgm:prSet presAssocID="{C1749CD2-180C-4B68-8A1F-87914023BFBF}" presName="sibTrans" presStyleCnt="0"/>
      <dgm:spPr/>
    </dgm:pt>
    <dgm:pt modelId="{1B87FF81-64F3-4138-A1CF-4A51A51CB244}" type="pres">
      <dgm:prSet presAssocID="{D170E6C4-3CD8-4899-9DC9-B5BF3E202C49}" presName="compNode" presStyleCnt="0"/>
      <dgm:spPr/>
    </dgm:pt>
    <dgm:pt modelId="{8B941795-0031-40ED-A2CE-F79A2D607515}" type="pres">
      <dgm:prSet presAssocID="{D170E6C4-3CD8-4899-9DC9-B5BF3E202C49}" presName="bgRect" presStyleLbl="bgShp" presStyleIdx="1" presStyleCnt="3"/>
      <dgm:spPr/>
    </dgm:pt>
    <dgm:pt modelId="{4F460201-9BE8-48AC-B282-E6FFAE813CF2}" type="pres">
      <dgm:prSet presAssocID="{D170E6C4-3CD8-4899-9DC9-B5BF3E202C4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sers"/>
        </a:ext>
      </dgm:extLst>
    </dgm:pt>
    <dgm:pt modelId="{0E4B8A2D-811B-430D-B13D-7A8466C925D5}" type="pres">
      <dgm:prSet presAssocID="{D170E6C4-3CD8-4899-9DC9-B5BF3E202C49}" presName="spaceRect" presStyleCnt="0"/>
      <dgm:spPr/>
    </dgm:pt>
    <dgm:pt modelId="{E95E772D-AEBB-4E76-A09A-B106F7DC4840}" type="pres">
      <dgm:prSet presAssocID="{D170E6C4-3CD8-4899-9DC9-B5BF3E202C49}" presName="parTx" presStyleLbl="revTx" presStyleIdx="1" presStyleCnt="3">
        <dgm:presLayoutVars>
          <dgm:chMax val="0"/>
          <dgm:chPref val="0"/>
        </dgm:presLayoutVars>
      </dgm:prSet>
      <dgm:spPr/>
    </dgm:pt>
    <dgm:pt modelId="{6C356D5F-2463-4179-BD6F-19938E54CE48}" type="pres">
      <dgm:prSet presAssocID="{17348303-4E69-485A-9FC1-650F16C2AA32}" presName="sibTrans" presStyleCnt="0"/>
      <dgm:spPr/>
    </dgm:pt>
    <dgm:pt modelId="{89A28618-E6A8-4162-ACA8-8FA5B420C172}" type="pres">
      <dgm:prSet presAssocID="{B8FFAB0F-5BE8-4759-AF03-B927B2716D2C}" presName="compNode" presStyleCnt="0"/>
      <dgm:spPr/>
    </dgm:pt>
    <dgm:pt modelId="{E6AD6E41-EBDD-42D3-8411-C0C97CEA1FE9}" type="pres">
      <dgm:prSet presAssocID="{B8FFAB0F-5BE8-4759-AF03-B927B2716D2C}" presName="bgRect" presStyleLbl="bgShp" presStyleIdx="2" presStyleCnt="3"/>
      <dgm:spPr/>
    </dgm:pt>
    <dgm:pt modelId="{3378CBCA-399C-401A-85C5-99DC40D762AB}" type="pres">
      <dgm:prSet presAssocID="{B8FFAB0F-5BE8-4759-AF03-B927B2716D2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ooks"/>
        </a:ext>
      </dgm:extLst>
    </dgm:pt>
    <dgm:pt modelId="{5CE807C5-771C-4CE8-A3CD-A3D945D2609A}" type="pres">
      <dgm:prSet presAssocID="{B8FFAB0F-5BE8-4759-AF03-B927B2716D2C}" presName="spaceRect" presStyleCnt="0"/>
      <dgm:spPr/>
    </dgm:pt>
    <dgm:pt modelId="{2EDDBCF9-1F44-467A-B003-A5382E921DCE}" type="pres">
      <dgm:prSet presAssocID="{B8FFAB0F-5BE8-4759-AF03-B927B2716D2C}" presName="parTx" presStyleLbl="revTx" presStyleIdx="2" presStyleCnt="3">
        <dgm:presLayoutVars>
          <dgm:chMax val="0"/>
          <dgm:chPref val="0"/>
        </dgm:presLayoutVars>
      </dgm:prSet>
      <dgm:spPr/>
    </dgm:pt>
  </dgm:ptLst>
  <dgm:cxnLst>
    <dgm:cxn modelId="{037DC02B-A552-42B2-BB4E-0D3778D526D1}" type="presOf" srcId="{C140DD46-B221-4481-B967-F0F0665B1854}" destId="{32EBE06D-2A87-4738-88BA-084DCD6D298C}" srcOrd="0" destOrd="0" presId="urn:microsoft.com/office/officeart/2018/2/layout/IconVerticalSolidList"/>
    <dgm:cxn modelId="{C6C5E32C-58DA-402A-AD2E-F3C3650CAFCC}" type="presOf" srcId="{8DFB10D3-6322-43BB-A93B-15F869D38B35}" destId="{DBE0260B-9A52-4859-A5F5-6C390F70E842}" srcOrd="0" destOrd="0" presId="urn:microsoft.com/office/officeart/2018/2/layout/IconVerticalSolidList"/>
    <dgm:cxn modelId="{09FFC334-2B49-4834-B864-41036CA00E58}" type="presOf" srcId="{B8FFAB0F-5BE8-4759-AF03-B927B2716D2C}" destId="{2EDDBCF9-1F44-467A-B003-A5382E921DCE}" srcOrd="0" destOrd="0" presId="urn:microsoft.com/office/officeart/2018/2/layout/IconVerticalSolidList"/>
    <dgm:cxn modelId="{0905933A-CB58-4783-8167-10F7EB3D2511}" srcId="{8DFB10D3-6322-43BB-A93B-15F869D38B35}" destId="{D170E6C4-3CD8-4899-9DC9-B5BF3E202C49}" srcOrd="1" destOrd="0" parTransId="{A929D74C-3B7A-4BF9-B826-EAF21403F4F0}" sibTransId="{17348303-4E69-485A-9FC1-650F16C2AA32}"/>
    <dgm:cxn modelId="{73F18D6C-D07C-4F8A-85AF-7EC449CA84F0}" srcId="{8DFB10D3-6322-43BB-A93B-15F869D38B35}" destId="{C140DD46-B221-4481-B967-F0F0665B1854}" srcOrd="0" destOrd="0" parTransId="{5C01B480-5E78-43BE-B9C6-1BE43495D48E}" sibTransId="{C1749CD2-180C-4B68-8A1F-87914023BFBF}"/>
    <dgm:cxn modelId="{522F175A-E829-474C-9DBF-97DF22DB6874}" srcId="{8DFB10D3-6322-43BB-A93B-15F869D38B35}" destId="{B8FFAB0F-5BE8-4759-AF03-B927B2716D2C}" srcOrd="2" destOrd="0" parTransId="{9906B055-5995-4DFF-A245-F711DD3FEAC1}" sibTransId="{2357139C-C2A9-42A9-AC93-8E7D53C3188F}"/>
    <dgm:cxn modelId="{334E42F5-BE09-4105-B073-26E951E5415D}" type="presOf" srcId="{D170E6C4-3CD8-4899-9DC9-B5BF3E202C49}" destId="{E95E772D-AEBB-4E76-A09A-B106F7DC4840}" srcOrd="0" destOrd="0" presId="urn:microsoft.com/office/officeart/2018/2/layout/IconVerticalSolidList"/>
    <dgm:cxn modelId="{21E9787F-8009-42D8-99F1-2939FCCB5092}" type="presParOf" srcId="{DBE0260B-9A52-4859-A5F5-6C390F70E842}" destId="{23822EA5-B75F-4ECD-A810-6CADDA37B808}" srcOrd="0" destOrd="0" presId="urn:microsoft.com/office/officeart/2018/2/layout/IconVerticalSolidList"/>
    <dgm:cxn modelId="{C8EEE753-ECA3-4D6C-83F6-AC9EEF6C4414}" type="presParOf" srcId="{23822EA5-B75F-4ECD-A810-6CADDA37B808}" destId="{38BAF6FB-E25C-43E0-8212-713C2D22BD2D}" srcOrd="0" destOrd="0" presId="urn:microsoft.com/office/officeart/2018/2/layout/IconVerticalSolidList"/>
    <dgm:cxn modelId="{2AFF6CA6-0C5B-41E6-9C77-9C83C6C96EB1}" type="presParOf" srcId="{23822EA5-B75F-4ECD-A810-6CADDA37B808}" destId="{7846DAEB-128F-4257-A345-AA012EA9DF04}" srcOrd="1" destOrd="0" presId="urn:microsoft.com/office/officeart/2018/2/layout/IconVerticalSolidList"/>
    <dgm:cxn modelId="{37580C2A-BA0D-41CE-A445-60B5475CD788}" type="presParOf" srcId="{23822EA5-B75F-4ECD-A810-6CADDA37B808}" destId="{C02405CA-1B47-4163-BD5A-94FCD46789A1}" srcOrd="2" destOrd="0" presId="urn:microsoft.com/office/officeart/2018/2/layout/IconVerticalSolidList"/>
    <dgm:cxn modelId="{CA9DBD34-09AB-4023-84B7-D5C02B29EE52}" type="presParOf" srcId="{23822EA5-B75F-4ECD-A810-6CADDA37B808}" destId="{32EBE06D-2A87-4738-88BA-084DCD6D298C}" srcOrd="3" destOrd="0" presId="urn:microsoft.com/office/officeart/2018/2/layout/IconVerticalSolidList"/>
    <dgm:cxn modelId="{C608E0DF-FE82-4D12-9D8E-773E933C174B}" type="presParOf" srcId="{DBE0260B-9A52-4859-A5F5-6C390F70E842}" destId="{2E6B5A1B-01C5-4ED5-BF64-8701A37810C3}" srcOrd="1" destOrd="0" presId="urn:microsoft.com/office/officeart/2018/2/layout/IconVerticalSolidList"/>
    <dgm:cxn modelId="{3365228B-50E2-4E0D-81E0-BC21E480E62B}" type="presParOf" srcId="{DBE0260B-9A52-4859-A5F5-6C390F70E842}" destId="{1B87FF81-64F3-4138-A1CF-4A51A51CB244}" srcOrd="2" destOrd="0" presId="urn:microsoft.com/office/officeart/2018/2/layout/IconVerticalSolidList"/>
    <dgm:cxn modelId="{E72F4321-E723-44A5-8EA4-6A6D59EB6097}" type="presParOf" srcId="{1B87FF81-64F3-4138-A1CF-4A51A51CB244}" destId="{8B941795-0031-40ED-A2CE-F79A2D607515}" srcOrd="0" destOrd="0" presId="urn:microsoft.com/office/officeart/2018/2/layout/IconVerticalSolidList"/>
    <dgm:cxn modelId="{91C13B66-4A8F-4C19-AB51-CD4DE781A67E}" type="presParOf" srcId="{1B87FF81-64F3-4138-A1CF-4A51A51CB244}" destId="{4F460201-9BE8-48AC-B282-E6FFAE813CF2}" srcOrd="1" destOrd="0" presId="urn:microsoft.com/office/officeart/2018/2/layout/IconVerticalSolidList"/>
    <dgm:cxn modelId="{46540E14-CF7B-45A1-BBEA-0C75FC0FEF82}" type="presParOf" srcId="{1B87FF81-64F3-4138-A1CF-4A51A51CB244}" destId="{0E4B8A2D-811B-430D-B13D-7A8466C925D5}" srcOrd="2" destOrd="0" presId="urn:microsoft.com/office/officeart/2018/2/layout/IconVerticalSolidList"/>
    <dgm:cxn modelId="{C1F46741-5DC3-494A-A1DA-EE8560572B0C}" type="presParOf" srcId="{1B87FF81-64F3-4138-A1CF-4A51A51CB244}" destId="{E95E772D-AEBB-4E76-A09A-B106F7DC4840}" srcOrd="3" destOrd="0" presId="urn:microsoft.com/office/officeart/2018/2/layout/IconVerticalSolidList"/>
    <dgm:cxn modelId="{2573584B-A298-4846-9554-04D39DA664C8}" type="presParOf" srcId="{DBE0260B-9A52-4859-A5F5-6C390F70E842}" destId="{6C356D5F-2463-4179-BD6F-19938E54CE48}" srcOrd="3" destOrd="0" presId="urn:microsoft.com/office/officeart/2018/2/layout/IconVerticalSolidList"/>
    <dgm:cxn modelId="{9636A8B9-03C9-4F36-97FA-D32EB58EB8EB}" type="presParOf" srcId="{DBE0260B-9A52-4859-A5F5-6C390F70E842}" destId="{89A28618-E6A8-4162-ACA8-8FA5B420C172}" srcOrd="4" destOrd="0" presId="urn:microsoft.com/office/officeart/2018/2/layout/IconVerticalSolidList"/>
    <dgm:cxn modelId="{A3921B01-8E9F-4022-9D43-C1B3DF4A44EC}" type="presParOf" srcId="{89A28618-E6A8-4162-ACA8-8FA5B420C172}" destId="{E6AD6E41-EBDD-42D3-8411-C0C97CEA1FE9}" srcOrd="0" destOrd="0" presId="urn:microsoft.com/office/officeart/2018/2/layout/IconVerticalSolidList"/>
    <dgm:cxn modelId="{64E43213-427E-4354-B41E-C7AE171920B0}" type="presParOf" srcId="{89A28618-E6A8-4162-ACA8-8FA5B420C172}" destId="{3378CBCA-399C-401A-85C5-99DC40D762AB}" srcOrd="1" destOrd="0" presId="urn:microsoft.com/office/officeart/2018/2/layout/IconVerticalSolidList"/>
    <dgm:cxn modelId="{255DA289-8128-47F5-9569-7021F8C79F2F}" type="presParOf" srcId="{89A28618-E6A8-4162-ACA8-8FA5B420C172}" destId="{5CE807C5-771C-4CE8-A3CD-A3D945D2609A}" srcOrd="2" destOrd="0" presId="urn:microsoft.com/office/officeart/2018/2/layout/IconVerticalSolidList"/>
    <dgm:cxn modelId="{E7D6831A-F4F9-4AB8-A3FC-D315C4818D6D}" type="presParOf" srcId="{89A28618-E6A8-4162-ACA8-8FA5B420C172}" destId="{2EDDBCF9-1F44-467A-B003-A5382E921DC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6C11BDE-54C1-414D-A930-DA7AF75376D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9AC4FCF-F418-471D-90EB-F44D57A9F65C}">
      <dgm:prSet phldr="0"/>
      <dgm:spPr/>
      <dgm:t>
        <a:bodyPr/>
        <a:lstStyle/>
        <a:p>
          <a:pPr>
            <a:lnSpc>
              <a:spcPct val="100000"/>
            </a:lnSpc>
          </a:pPr>
          <a:r>
            <a:rPr lang="en-GB" dirty="0"/>
            <a:t>We learned the importance of earlier subsystem integration and setting aside time </a:t>
          </a:r>
          <a:r>
            <a:rPr lang="en-GB" dirty="0">
              <a:latin typeface="Aptos Display" panose="02110004020202020204"/>
            </a:rPr>
            <a:t>(time management) </a:t>
          </a:r>
          <a:r>
            <a:rPr lang="en-GB" dirty="0"/>
            <a:t>for debugging and validation in future projects.</a:t>
          </a:r>
          <a:endParaRPr lang="en-US" dirty="0">
            <a:latin typeface="Aptos Display" panose="02110004020202020204"/>
          </a:endParaRPr>
        </a:p>
      </dgm:t>
    </dgm:pt>
    <dgm:pt modelId="{074033AD-F619-4522-8116-24AAC8F090A6}" type="parTrans" cxnId="{57B23333-845E-4F1D-9D38-6A5F74CB9CD7}">
      <dgm:prSet/>
      <dgm:spPr/>
    </dgm:pt>
    <dgm:pt modelId="{77F46FAF-CFBB-4BF6-BE7D-7D87C50733E5}" type="sibTrans" cxnId="{57B23333-845E-4F1D-9D38-6A5F74CB9CD7}">
      <dgm:prSet/>
      <dgm:spPr/>
    </dgm:pt>
    <dgm:pt modelId="{15F698C5-EE92-41BE-92CC-F94975204DF3}">
      <dgm:prSet phldr="0"/>
      <dgm:spPr/>
      <dgm:t>
        <a:bodyPr/>
        <a:lstStyle/>
        <a:p>
          <a:pPr>
            <a:lnSpc>
              <a:spcPct val="100000"/>
            </a:lnSpc>
          </a:pPr>
          <a:r>
            <a:rPr lang="en-GB" dirty="0"/>
            <a:t>The division of responsibilities worked well, and teamwork strengthened during integration, with everyone helping across mechanical, electrical, and software tasks.</a:t>
          </a:r>
          <a:endParaRPr lang="en-US" dirty="0"/>
        </a:p>
      </dgm:t>
    </dgm:pt>
    <dgm:pt modelId="{75420189-B284-46CB-BE8E-223C57AB025C}" type="parTrans" cxnId="{21C52B04-88E6-416C-9191-2CA55B41D23B}">
      <dgm:prSet/>
      <dgm:spPr/>
    </dgm:pt>
    <dgm:pt modelId="{78A3E3FF-34D2-4426-8536-7D5A8C7044C0}" type="sibTrans" cxnId="{21C52B04-88E6-416C-9191-2CA55B41D23B}">
      <dgm:prSet/>
      <dgm:spPr/>
    </dgm:pt>
    <dgm:pt modelId="{766B6FD4-DAF2-4A3F-943D-C0EF2EE20C69}">
      <dgm:prSet phldr="0"/>
      <dgm:spPr/>
      <dgm:t>
        <a:bodyPr/>
        <a:lstStyle/>
        <a:p>
          <a:pPr>
            <a:lnSpc>
              <a:spcPct val="100000"/>
            </a:lnSpc>
          </a:pPr>
          <a:r>
            <a:rPr lang="en-GB" dirty="0"/>
            <a:t>The </a:t>
          </a:r>
          <a:r>
            <a:rPr lang="en-GB" dirty="0">
              <a:latin typeface="Aptos Display" panose="02110004020202020204"/>
            </a:rPr>
            <a:t>drive electronics</a:t>
          </a:r>
          <a:r>
            <a:rPr lang="en-GB" dirty="0"/>
            <a:t> caused delays </a:t>
          </a:r>
          <a:r>
            <a:rPr lang="en-GB" dirty="0">
              <a:latin typeface="Aptos Display" panose="02110004020202020204"/>
            </a:rPr>
            <a:t>in project finalization near the end of the deadline. The drive electronics also had a system failure do to faulty connections. </a:t>
          </a:r>
          <a:endParaRPr lang="en-GB" dirty="0"/>
        </a:p>
      </dgm:t>
    </dgm:pt>
    <dgm:pt modelId="{02967404-1932-4737-A354-2DBA24C18009}" type="parTrans" cxnId="{BC9A0903-BDFA-41A5-B790-5B3F6CAEF6D1}">
      <dgm:prSet/>
      <dgm:spPr/>
    </dgm:pt>
    <dgm:pt modelId="{BFB2B8F3-88CA-44C6-81F8-B0DFBCF6F360}" type="sibTrans" cxnId="{BC9A0903-BDFA-41A5-B790-5B3F6CAEF6D1}">
      <dgm:prSet/>
      <dgm:spPr/>
    </dgm:pt>
    <dgm:pt modelId="{0A56A06A-961C-47A4-B27E-E89E68F93361}" type="pres">
      <dgm:prSet presAssocID="{96C11BDE-54C1-414D-A930-DA7AF75376D1}" presName="root" presStyleCnt="0">
        <dgm:presLayoutVars>
          <dgm:dir/>
          <dgm:resizeHandles val="exact"/>
        </dgm:presLayoutVars>
      </dgm:prSet>
      <dgm:spPr/>
    </dgm:pt>
    <dgm:pt modelId="{B7C8693E-78A9-42FA-A37D-199DB7AFE294}" type="pres">
      <dgm:prSet presAssocID="{69AC4FCF-F418-471D-90EB-F44D57A9F65C}" presName="compNode" presStyleCnt="0"/>
      <dgm:spPr/>
    </dgm:pt>
    <dgm:pt modelId="{AAC639E9-3132-4213-8C2B-EFF79BFF202C}" type="pres">
      <dgm:prSet presAssocID="{69AC4FCF-F418-471D-90EB-F44D57A9F65C}" presName="bgRect" presStyleLbl="bgShp" presStyleIdx="0" presStyleCnt="3"/>
      <dgm:spPr/>
    </dgm:pt>
    <dgm:pt modelId="{B5448842-CF68-4B4F-A5FD-4CB81E011E2E}" type="pres">
      <dgm:prSet presAssocID="{69AC4FCF-F418-471D-90EB-F44D57A9F65C}" presName="iconRect" presStyleLbl="nod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ooks with solid fill"/>
        </a:ext>
      </dgm:extLst>
    </dgm:pt>
    <dgm:pt modelId="{16A948E2-26F4-44AB-B223-CE4E94257978}" type="pres">
      <dgm:prSet presAssocID="{69AC4FCF-F418-471D-90EB-F44D57A9F65C}" presName="spaceRect" presStyleCnt="0"/>
      <dgm:spPr/>
    </dgm:pt>
    <dgm:pt modelId="{619F98C8-FCB3-4063-AE52-631DB81AFD86}" type="pres">
      <dgm:prSet presAssocID="{69AC4FCF-F418-471D-90EB-F44D57A9F65C}" presName="parTx" presStyleLbl="revTx" presStyleIdx="0" presStyleCnt="3">
        <dgm:presLayoutVars>
          <dgm:chMax val="0"/>
          <dgm:chPref val="0"/>
        </dgm:presLayoutVars>
      </dgm:prSet>
      <dgm:spPr/>
    </dgm:pt>
    <dgm:pt modelId="{BE77F42B-E740-4F7D-AC9E-D64AFE83CC7B}" type="pres">
      <dgm:prSet presAssocID="{77F46FAF-CFBB-4BF6-BE7D-7D87C50733E5}" presName="sibTrans" presStyleCnt="0"/>
      <dgm:spPr/>
    </dgm:pt>
    <dgm:pt modelId="{578D529E-CE6F-47B4-9B86-6CA6C5F81262}" type="pres">
      <dgm:prSet presAssocID="{15F698C5-EE92-41BE-92CC-F94975204DF3}" presName="compNode" presStyleCnt="0"/>
      <dgm:spPr/>
    </dgm:pt>
    <dgm:pt modelId="{7106FDFC-D861-4486-B410-936C50AA7CCF}" type="pres">
      <dgm:prSet presAssocID="{15F698C5-EE92-41BE-92CC-F94975204DF3}" presName="bgRect" presStyleLbl="bgShp" presStyleIdx="1" presStyleCnt="3"/>
      <dgm:spPr/>
    </dgm:pt>
    <dgm:pt modelId="{6E4AEFA4-6ABA-4A3B-9671-B41AB0564F07}" type="pres">
      <dgm:prSet presAssocID="{15F698C5-EE92-41BE-92CC-F94975204DF3}"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ers with solid fill"/>
        </a:ext>
      </dgm:extLst>
    </dgm:pt>
    <dgm:pt modelId="{78B52F75-F053-412D-AA4F-A957CBF91D86}" type="pres">
      <dgm:prSet presAssocID="{15F698C5-EE92-41BE-92CC-F94975204DF3}" presName="spaceRect" presStyleCnt="0"/>
      <dgm:spPr/>
    </dgm:pt>
    <dgm:pt modelId="{233CB98E-D221-4DD4-A533-625A1DE08F1E}" type="pres">
      <dgm:prSet presAssocID="{15F698C5-EE92-41BE-92CC-F94975204DF3}" presName="parTx" presStyleLbl="revTx" presStyleIdx="1" presStyleCnt="3">
        <dgm:presLayoutVars>
          <dgm:chMax val="0"/>
          <dgm:chPref val="0"/>
        </dgm:presLayoutVars>
      </dgm:prSet>
      <dgm:spPr/>
    </dgm:pt>
    <dgm:pt modelId="{32668C9A-19C1-4CD7-9A27-16987E7167C7}" type="pres">
      <dgm:prSet presAssocID="{78A3E3FF-34D2-4426-8536-7D5A8C7044C0}" presName="sibTrans" presStyleCnt="0"/>
      <dgm:spPr/>
    </dgm:pt>
    <dgm:pt modelId="{F185FF61-F152-4B0C-8AC7-8BB2CFBEC35A}" type="pres">
      <dgm:prSet presAssocID="{766B6FD4-DAF2-4A3F-943D-C0EF2EE20C69}" presName="compNode" presStyleCnt="0"/>
      <dgm:spPr/>
    </dgm:pt>
    <dgm:pt modelId="{66F63A49-B1B0-48C9-9DFB-086CE7047D93}" type="pres">
      <dgm:prSet presAssocID="{766B6FD4-DAF2-4A3F-943D-C0EF2EE20C69}" presName="bgRect" presStyleLbl="bgShp" presStyleIdx="2" presStyleCnt="3"/>
      <dgm:spPr/>
    </dgm:pt>
    <dgm:pt modelId="{849A2E82-F6AD-4B97-8683-9B909FF1E44E}" type="pres">
      <dgm:prSet presAssocID="{766B6FD4-DAF2-4A3F-943D-C0EF2EE20C69}"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lose with solid fill"/>
        </a:ext>
      </dgm:extLst>
    </dgm:pt>
    <dgm:pt modelId="{0381B468-2D4D-4DAF-88DC-5A38002F1249}" type="pres">
      <dgm:prSet presAssocID="{766B6FD4-DAF2-4A3F-943D-C0EF2EE20C69}" presName="spaceRect" presStyleCnt="0"/>
      <dgm:spPr/>
    </dgm:pt>
    <dgm:pt modelId="{6BC7BF9D-247E-4F17-900C-76E203B026E7}" type="pres">
      <dgm:prSet presAssocID="{766B6FD4-DAF2-4A3F-943D-C0EF2EE20C69}" presName="parTx" presStyleLbl="revTx" presStyleIdx="2" presStyleCnt="3">
        <dgm:presLayoutVars>
          <dgm:chMax val="0"/>
          <dgm:chPref val="0"/>
        </dgm:presLayoutVars>
      </dgm:prSet>
      <dgm:spPr/>
    </dgm:pt>
  </dgm:ptLst>
  <dgm:cxnLst>
    <dgm:cxn modelId="{BC9A0903-BDFA-41A5-B790-5B3F6CAEF6D1}" srcId="{96C11BDE-54C1-414D-A930-DA7AF75376D1}" destId="{766B6FD4-DAF2-4A3F-943D-C0EF2EE20C69}" srcOrd="2" destOrd="0" parTransId="{02967404-1932-4737-A354-2DBA24C18009}" sibTransId="{BFB2B8F3-88CA-44C6-81F8-B0DFBCF6F360}"/>
    <dgm:cxn modelId="{21C52B04-88E6-416C-9191-2CA55B41D23B}" srcId="{96C11BDE-54C1-414D-A930-DA7AF75376D1}" destId="{15F698C5-EE92-41BE-92CC-F94975204DF3}" srcOrd="1" destOrd="0" parTransId="{75420189-B284-46CB-BE8E-223C57AB025C}" sibTransId="{78A3E3FF-34D2-4426-8536-7D5A8C7044C0}"/>
    <dgm:cxn modelId="{AB550F0A-F30A-4C6A-A6FE-8EE0F296A7D8}" type="presOf" srcId="{766B6FD4-DAF2-4A3F-943D-C0EF2EE20C69}" destId="{6BC7BF9D-247E-4F17-900C-76E203B026E7}" srcOrd="0" destOrd="0" presId="urn:microsoft.com/office/officeart/2018/2/layout/IconVerticalSolidList"/>
    <dgm:cxn modelId="{57B23333-845E-4F1D-9D38-6A5F74CB9CD7}" srcId="{96C11BDE-54C1-414D-A930-DA7AF75376D1}" destId="{69AC4FCF-F418-471D-90EB-F44D57A9F65C}" srcOrd="0" destOrd="0" parTransId="{074033AD-F619-4522-8116-24AAC8F090A6}" sibTransId="{77F46FAF-CFBB-4BF6-BE7D-7D87C50733E5}"/>
    <dgm:cxn modelId="{BE254D3B-4E5D-4A20-83A5-DCF60D751027}" type="presOf" srcId="{96C11BDE-54C1-414D-A930-DA7AF75376D1}" destId="{0A56A06A-961C-47A4-B27E-E89E68F93361}" srcOrd="0" destOrd="0" presId="urn:microsoft.com/office/officeart/2018/2/layout/IconVerticalSolidList"/>
    <dgm:cxn modelId="{3A565F5F-2466-42CC-8EC9-5809161BE5D0}" type="presOf" srcId="{69AC4FCF-F418-471D-90EB-F44D57A9F65C}" destId="{619F98C8-FCB3-4063-AE52-631DB81AFD86}" srcOrd="0" destOrd="0" presId="urn:microsoft.com/office/officeart/2018/2/layout/IconVerticalSolidList"/>
    <dgm:cxn modelId="{E435AAFE-37D9-4121-967B-98A6A780036C}" type="presOf" srcId="{15F698C5-EE92-41BE-92CC-F94975204DF3}" destId="{233CB98E-D221-4DD4-A533-625A1DE08F1E}" srcOrd="0" destOrd="0" presId="urn:microsoft.com/office/officeart/2018/2/layout/IconVerticalSolidList"/>
    <dgm:cxn modelId="{B10D2C86-BC2E-483A-99D7-6CFED339D573}" type="presParOf" srcId="{0A56A06A-961C-47A4-B27E-E89E68F93361}" destId="{B7C8693E-78A9-42FA-A37D-199DB7AFE294}" srcOrd="0" destOrd="0" presId="urn:microsoft.com/office/officeart/2018/2/layout/IconVerticalSolidList"/>
    <dgm:cxn modelId="{0FA7A5B0-3897-4B4D-B835-793F8FCC81A8}" type="presParOf" srcId="{B7C8693E-78A9-42FA-A37D-199DB7AFE294}" destId="{AAC639E9-3132-4213-8C2B-EFF79BFF202C}" srcOrd="0" destOrd="0" presId="urn:microsoft.com/office/officeart/2018/2/layout/IconVerticalSolidList"/>
    <dgm:cxn modelId="{30E604E5-6C5C-4E29-BD0D-E30991FD102B}" type="presParOf" srcId="{B7C8693E-78A9-42FA-A37D-199DB7AFE294}" destId="{B5448842-CF68-4B4F-A5FD-4CB81E011E2E}" srcOrd="1" destOrd="0" presId="urn:microsoft.com/office/officeart/2018/2/layout/IconVerticalSolidList"/>
    <dgm:cxn modelId="{3D1D6E50-F43D-4128-B06C-9A038A97C858}" type="presParOf" srcId="{B7C8693E-78A9-42FA-A37D-199DB7AFE294}" destId="{16A948E2-26F4-44AB-B223-CE4E94257978}" srcOrd="2" destOrd="0" presId="urn:microsoft.com/office/officeart/2018/2/layout/IconVerticalSolidList"/>
    <dgm:cxn modelId="{394AF778-746F-4D64-836A-DA5ED1FB1FA6}" type="presParOf" srcId="{B7C8693E-78A9-42FA-A37D-199DB7AFE294}" destId="{619F98C8-FCB3-4063-AE52-631DB81AFD86}" srcOrd="3" destOrd="0" presId="urn:microsoft.com/office/officeart/2018/2/layout/IconVerticalSolidList"/>
    <dgm:cxn modelId="{654D16FE-F54D-4552-9BB0-BC93A3D2FCCB}" type="presParOf" srcId="{0A56A06A-961C-47A4-B27E-E89E68F93361}" destId="{BE77F42B-E740-4F7D-AC9E-D64AFE83CC7B}" srcOrd="1" destOrd="0" presId="urn:microsoft.com/office/officeart/2018/2/layout/IconVerticalSolidList"/>
    <dgm:cxn modelId="{D8AB5301-CB5C-4CA2-A88C-E9D6F2896199}" type="presParOf" srcId="{0A56A06A-961C-47A4-B27E-E89E68F93361}" destId="{578D529E-CE6F-47B4-9B86-6CA6C5F81262}" srcOrd="2" destOrd="0" presId="urn:microsoft.com/office/officeart/2018/2/layout/IconVerticalSolidList"/>
    <dgm:cxn modelId="{D1A7EE43-DBDE-47F5-8818-9F4B0462AF3F}" type="presParOf" srcId="{578D529E-CE6F-47B4-9B86-6CA6C5F81262}" destId="{7106FDFC-D861-4486-B410-936C50AA7CCF}" srcOrd="0" destOrd="0" presId="urn:microsoft.com/office/officeart/2018/2/layout/IconVerticalSolidList"/>
    <dgm:cxn modelId="{B6752B0D-78F0-4D8C-9BCA-0B31D3949284}" type="presParOf" srcId="{578D529E-CE6F-47B4-9B86-6CA6C5F81262}" destId="{6E4AEFA4-6ABA-4A3B-9671-B41AB0564F07}" srcOrd="1" destOrd="0" presId="urn:microsoft.com/office/officeart/2018/2/layout/IconVerticalSolidList"/>
    <dgm:cxn modelId="{680691FA-E0FD-49D0-9A71-36C3D3A31CCE}" type="presParOf" srcId="{578D529E-CE6F-47B4-9B86-6CA6C5F81262}" destId="{78B52F75-F053-412D-AA4F-A957CBF91D86}" srcOrd="2" destOrd="0" presId="urn:microsoft.com/office/officeart/2018/2/layout/IconVerticalSolidList"/>
    <dgm:cxn modelId="{3A59C510-CC54-4344-A911-159F2D6CDBC3}" type="presParOf" srcId="{578D529E-CE6F-47B4-9B86-6CA6C5F81262}" destId="{233CB98E-D221-4DD4-A533-625A1DE08F1E}" srcOrd="3" destOrd="0" presId="urn:microsoft.com/office/officeart/2018/2/layout/IconVerticalSolidList"/>
    <dgm:cxn modelId="{7E13DA97-5046-4F29-A6BF-C58978DDB761}" type="presParOf" srcId="{0A56A06A-961C-47A4-B27E-E89E68F93361}" destId="{32668C9A-19C1-4CD7-9A27-16987E7167C7}" srcOrd="3" destOrd="0" presId="urn:microsoft.com/office/officeart/2018/2/layout/IconVerticalSolidList"/>
    <dgm:cxn modelId="{DA4013D4-A8F9-4DEC-A28B-3900C7B750E6}" type="presParOf" srcId="{0A56A06A-961C-47A4-B27E-E89E68F93361}" destId="{F185FF61-F152-4B0C-8AC7-8BB2CFBEC35A}" srcOrd="4" destOrd="0" presId="urn:microsoft.com/office/officeart/2018/2/layout/IconVerticalSolidList"/>
    <dgm:cxn modelId="{458ACDDC-C993-449B-8E30-6EAC5215CE4C}" type="presParOf" srcId="{F185FF61-F152-4B0C-8AC7-8BB2CFBEC35A}" destId="{66F63A49-B1B0-48C9-9DFB-086CE7047D93}" srcOrd="0" destOrd="0" presId="urn:microsoft.com/office/officeart/2018/2/layout/IconVerticalSolidList"/>
    <dgm:cxn modelId="{7F343904-2FF1-4AB5-ADC3-CDD4648EEAA9}" type="presParOf" srcId="{F185FF61-F152-4B0C-8AC7-8BB2CFBEC35A}" destId="{849A2E82-F6AD-4B97-8683-9B909FF1E44E}" srcOrd="1" destOrd="0" presId="urn:microsoft.com/office/officeart/2018/2/layout/IconVerticalSolidList"/>
    <dgm:cxn modelId="{D57B1F02-F678-474C-BECF-AF428438C0FA}" type="presParOf" srcId="{F185FF61-F152-4B0C-8AC7-8BB2CFBEC35A}" destId="{0381B468-2D4D-4DAF-88DC-5A38002F1249}" srcOrd="2" destOrd="0" presId="urn:microsoft.com/office/officeart/2018/2/layout/IconVerticalSolidList"/>
    <dgm:cxn modelId="{E03476A9-F9E0-4ED6-B00F-A03699B9AB73}" type="presParOf" srcId="{F185FF61-F152-4B0C-8AC7-8BB2CFBEC35A}" destId="{6BC7BF9D-247E-4F17-900C-76E203B026E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C1EA2D-AA59-4B05-8096-CE99D03D11B6}">
      <dsp:nvSpPr>
        <dsp:cNvPr id="0" name=""/>
        <dsp:cNvSpPr/>
      </dsp:nvSpPr>
      <dsp:spPr>
        <a:xfrm>
          <a:off x="0" y="791"/>
          <a:ext cx="7374025"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9A3A34D6-B0E2-4994-AED0-EAB33201F9D8}">
      <dsp:nvSpPr>
        <dsp:cNvPr id="0" name=""/>
        <dsp:cNvSpPr/>
      </dsp:nvSpPr>
      <dsp:spPr>
        <a:xfrm>
          <a:off x="0" y="791"/>
          <a:ext cx="7374025" cy="12967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t" anchorCtr="0">
          <a:noAutofit/>
        </a:bodyPr>
        <a:lstStyle/>
        <a:p>
          <a:pPr marL="0" lvl="0" indent="0" algn="l" defTabSz="311150">
            <a:lnSpc>
              <a:spcPct val="90000"/>
            </a:lnSpc>
            <a:spcBef>
              <a:spcPct val="0"/>
            </a:spcBef>
            <a:spcAft>
              <a:spcPct val="35000"/>
            </a:spcAft>
            <a:buNone/>
          </a:pPr>
          <a:r>
            <a:rPr lang="en-US" sz="700" kern="1200" dirty="0"/>
            <a:t>Lateral movement</a:t>
          </a:r>
        </a:p>
        <a:p>
          <a:pPr marL="0" lvl="0" indent="0" algn="l" defTabSz="311150">
            <a:lnSpc>
              <a:spcPct val="90000"/>
            </a:lnSpc>
            <a:spcBef>
              <a:spcPct val="0"/>
            </a:spcBef>
            <a:spcAft>
              <a:spcPct val="35000"/>
            </a:spcAft>
            <a:buNone/>
          </a:pPr>
          <a:r>
            <a:rPr lang="en-US" sz="700" kern="1200" dirty="0"/>
            <a:t>-&gt;Better wheel coat for the wheels</a:t>
          </a:r>
        </a:p>
        <a:p>
          <a:pPr marL="0" lvl="0" indent="0" algn="l" defTabSz="311150">
            <a:lnSpc>
              <a:spcPct val="90000"/>
            </a:lnSpc>
            <a:spcBef>
              <a:spcPct val="0"/>
            </a:spcBef>
            <a:spcAft>
              <a:spcPct val="35000"/>
            </a:spcAft>
            <a:buNone/>
          </a:pPr>
          <a:r>
            <a:rPr lang="en-US" sz="700" kern="1200" dirty="0"/>
            <a:t> -&gt;Better electronic box design ,,more space for everything</a:t>
          </a:r>
        </a:p>
        <a:p>
          <a:pPr marL="0" lvl="0" indent="0" algn="l" defTabSz="311150">
            <a:lnSpc>
              <a:spcPct val="90000"/>
            </a:lnSpc>
            <a:spcBef>
              <a:spcPct val="0"/>
            </a:spcBef>
            <a:spcAft>
              <a:spcPct val="35000"/>
            </a:spcAft>
            <a:buNone/>
          </a:pPr>
          <a:r>
            <a:rPr lang="en-US" sz="700" kern="1200" dirty="0"/>
            <a:t> -&gt;Laser cutting instead of 3d printing for strength </a:t>
          </a:r>
        </a:p>
        <a:p>
          <a:pPr marL="0" lvl="0" indent="0" algn="l" defTabSz="311150">
            <a:lnSpc>
              <a:spcPct val="90000"/>
            </a:lnSpc>
            <a:spcBef>
              <a:spcPct val="0"/>
            </a:spcBef>
            <a:spcAft>
              <a:spcPct val="35000"/>
            </a:spcAft>
            <a:buNone/>
          </a:pPr>
          <a:r>
            <a:rPr lang="en-US" sz="700" kern="1200" dirty="0"/>
            <a:t>                                </a:t>
          </a:r>
        </a:p>
      </dsp:txBody>
      <dsp:txXfrm>
        <a:off x="0" y="791"/>
        <a:ext cx="7374025" cy="1296782"/>
      </dsp:txXfrm>
    </dsp:sp>
    <dsp:sp modelId="{EE7FD2BC-7574-4A9D-A8E7-79C3A4A4FA4F}">
      <dsp:nvSpPr>
        <dsp:cNvPr id="0" name=""/>
        <dsp:cNvSpPr/>
      </dsp:nvSpPr>
      <dsp:spPr>
        <a:xfrm>
          <a:off x="0" y="1297574"/>
          <a:ext cx="7374025"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5091698E-4716-4035-95BB-9C1C419290BF}">
      <dsp:nvSpPr>
        <dsp:cNvPr id="0" name=""/>
        <dsp:cNvSpPr/>
      </dsp:nvSpPr>
      <dsp:spPr>
        <a:xfrm>
          <a:off x="0" y="1297574"/>
          <a:ext cx="7374025" cy="12967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t" anchorCtr="0">
          <a:noAutofit/>
        </a:bodyPr>
        <a:lstStyle/>
        <a:p>
          <a:pPr marL="0" lvl="0" indent="0" algn="l" defTabSz="311150">
            <a:lnSpc>
              <a:spcPct val="90000"/>
            </a:lnSpc>
            <a:spcBef>
              <a:spcPct val="0"/>
            </a:spcBef>
            <a:spcAft>
              <a:spcPct val="35000"/>
            </a:spcAft>
            <a:buNone/>
          </a:pPr>
          <a:r>
            <a:rPr lang="en-US" sz="700" kern="1200" dirty="0"/>
            <a:t>Hoisting mechanism</a:t>
          </a:r>
        </a:p>
        <a:p>
          <a:pPr marL="0" lvl="0" indent="0" algn="l" defTabSz="311150">
            <a:lnSpc>
              <a:spcPct val="90000"/>
            </a:lnSpc>
            <a:spcBef>
              <a:spcPct val="0"/>
            </a:spcBef>
            <a:spcAft>
              <a:spcPct val="35000"/>
            </a:spcAft>
            <a:buNone/>
          </a:pPr>
          <a:r>
            <a:rPr lang="en-US" sz="700" kern="1200" dirty="0"/>
            <a:t>-&gt;better material for gears to prevent wear</a:t>
          </a:r>
        </a:p>
        <a:p>
          <a:pPr marL="0" lvl="0" indent="0" algn="l" defTabSz="311150">
            <a:lnSpc>
              <a:spcPct val="90000"/>
            </a:lnSpc>
            <a:spcBef>
              <a:spcPct val="0"/>
            </a:spcBef>
            <a:spcAft>
              <a:spcPct val="35000"/>
            </a:spcAft>
            <a:buNone/>
          </a:pPr>
          <a:r>
            <a:rPr lang="en-US" sz="700" kern="1200" dirty="0"/>
            <a:t>-&gt;better lubrication of planetary gearbox to reduce noise</a:t>
          </a:r>
        </a:p>
        <a:p>
          <a:pPr marL="0" lvl="0" indent="0" algn="l" defTabSz="311150">
            <a:lnSpc>
              <a:spcPct val="90000"/>
            </a:lnSpc>
            <a:spcBef>
              <a:spcPct val="0"/>
            </a:spcBef>
            <a:spcAft>
              <a:spcPct val="35000"/>
            </a:spcAft>
            <a:buNone/>
          </a:pPr>
          <a:endParaRPr lang="en-US" sz="700" kern="1200" dirty="0">
            <a:solidFill>
              <a:srgbClr val="444444"/>
            </a:solidFill>
            <a:latin typeface="Calibri"/>
            <a:ea typeface="Calibri"/>
            <a:cs typeface="Calibri"/>
          </a:endParaRPr>
        </a:p>
      </dsp:txBody>
      <dsp:txXfrm>
        <a:off x="0" y="1297574"/>
        <a:ext cx="7374025" cy="1296782"/>
      </dsp:txXfrm>
    </dsp:sp>
    <dsp:sp modelId="{CEEFB89B-717C-4831-93EE-B65FA92DE8B4}">
      <dsp:nvSpPr>
        <dsp:cNvPr id="0" name=""/>
        <dsp:cNvSpPr/>
      </dsp:nvSpPr>
      <dsp:spPr>
        <a:xfrm>
          <a:off x="0" y="2594357"/>
          <a:ext cx="7374025" cy="0"/>
        </a:xfrm>
        <a:prstGeom prst="lin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12700" cap="flat" cmpd="sng" algn="ctr">
          <a:solidFill>
            <a:schemeClr val="accent4">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98B1B254-BD99-49BB-A1CA-197DDB095B57}">
      <dsp:nvSpPr>
        <dsp:cNvPr id="0" name=""/>
        <dsp:cNvSpPr/>
      </dsp:nvSpPr>
      <dsp:spPr>
        <a:xfrm>
          <a:off x="0" y="2594357"/>
          <a:ext cx="7374025" cy="12967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t" anchorCtr="0">
          <a:noAutofit/>
        </a:bodyPr>
        <a:lstStyle/>
        <a:p>
          <a:pPr marL="0" lvl="0" indent="0" algn="l" defTabSz="311150" rtl="0">
            <a:lnSpc>
              <a:spcPct val="90000"/>
            </a:lnSpc>
            <a:spcBef>
              <a:spcPct val="0"/>
            </a:spcBef>
            <a:spcAft>
              <a:spcPct val="35000"/>
            </a:spcAft>
            <a:buNone/>
          </a:pPr>
          <a:r>
            <a:rPr lang="en-US" sz="700" b="0" kern="1200" dirty="0">
              <a:solidFill>
                <a:srgbClr val="444444"/>
              </a:solidFill>
              <a:latin typeface="Aptos"/>
              <a:ea typeface="Calibri"/>
              <a:cs typeface="Calibri"/>
            </a:rPr>
            <a:t>D</a:t>
          </a:r>
          <a:r>
            <a:rPr lang="en-US" sz="700" b="1" kern="1200" dirty="0">
              <a:solidFill>
                <a:srgbClr val="444444"/>
              </a:solidFill>
              <a:latin typeface="Aptos"/>
              <a:ea typeface="Calibri"/>
              <a:cs typeface="Calibri"/>
            </a:rPr>
            <a:t>rive Electronics</a:t>
          </a:r>
        </a:p>
        <a:p>
          <a:pPr marL="0" lvl="0" indent="0" algn="l" defTabSz="311150" rtl="0">
            <a:lnSpc>
              <a:spcPct val="90000"/>
            </a:lnSpc>
            <a:spcBef>
              <a:spcPct val="0"/>
            </a:spcBef>
            <a:spcAft>
              <a:spcPct val="35000"/>
            </a:spcAft>
            <a:buNone/>
          </a:pPr>
          <a:r>
            <a:rPr lang="en-US" sz="700" b="0" kern="1200" dirty="0">
              <a:solidFill>
                <a:srgbClr val="444444"/>
              </a:solidFill>
              <a:latin typeface="Aptos"/>
              <a:ea typeface="Calibri"/>
              <a:cs typeface="Calibri"/>
            </a:rPr>
            <a:t>-&gt;Choose a better switching component with less ringing in circuit</a:t>
          </a:r>
        </a:p>
        <a:p>
          <a:pPr marL="0" lvl="0" indent="0" algn="l" defTabSz="311150" rtl="0">
            <a:lnSpc>
              <a:spcPct val="90000"/>
            </a:lnSpc>
            <a:spcBef>
              <a:spcPct val="0"/>
            </a:spcBef>
            <a:spcAft>
              <a:spcPct val="35000"/>
            </a:spcAft>
            <a:buNone/>
          </a:pPr>
          <a:r>
            <a:rPr lang="en-US" sz="700" b="0" kern="1200" dirty="0">
              <a:solidFill>
                <a:srgbClr val="444444"/>
              </a:solidFill>
              <a:latin typeface="Aptos"/>
              <a:ea typeface="Calibri"/>
              <a:cs typeface="Calibri"/>
            </a:rPr>
            <a:t>-&gt;Design a better layout for the PCB for less inductive ringing in circuit.</a:t>
          </a:r>
        </a:p>
        <a:p>
          <a:pPr marL="0" lvl="0" indent="0" algn="l" defTabSz="311150" rtl="0">
            <a:lnSpc>
              <a:spcPct val="90000"/>
            </a:lnSpc>
            <a:spcBef>
              <a:spcPct val="0"/>
            </a:spcBef>
            <a:spcAft>
              <a:spcPct val="35000"/>
            </a:spcAft>
            <a:buNone/>
          </a:pPr>
          <a:r>
            <a:rPr lang="en-US" sz="700" b="0" kern="1200" dirty="0">
              <a:solidFill>
                <a:srgbClr val="444444"/>
              </a:solidFill>
              <a:latin typeface="Aptos"/>
              <a:ea typeface="Calibri"/>
              <a:cs typeface="Calibri"/>
            </a:rPr>
            <a:t>-&gt; Rather than making a PCB on campus, I would send it in to a place like JLCPCB to be manufactured more accurately.</a:t>
          </a:r>
        </a:p>
        <a:p>
          <a:pPr marL="0" lvl="0" indent="0" algn="l" defTabSz="311150" rtl="0">
            <a:lnSpc>
              <a:spcPct val="90000"/>
            </a:lnSpc>
            <a:spcBef>
              <a:spcPct val="0"/>
            </a:spcBef>
            <a:spcAft>
              <a:spcPct val="35000"/>
            </a:spcAft>
            <a:buNone/>
          </a:pPr>
          <a:r>
            <a:rPr lang="en-US" sz="700" b="0" kern="1200" dirty="0">
              <a:solidFill>
                <a:srgbClr val="444444"/>
              </a:solidFill>
              <a:latin typeface="Aptos"/>
              <a:ea typeface="Calibri"/>
              <a:cs typeface="Calibri"/>
            </a:rPr>
            <a:t>-&gt; Order components much earlier so that we can perform tests much earlier, especially if we are working on a strict deadline.</a:t>
          </a:r>
        </a:p>
        <a:p>
          <a:pPr marL="0" lvl="0" indent="0" algn="l" defTabSz="311150" rtl="0">
            <a:lnSpc>
              <a:spcPct val="90000"/>
            </a:lnSpc>
            <a:spcBef>
              <a:spcPct val="0"/>
            </a:spcBef>
            <a:spcAft>
              <a:spcPct val="35000"/>
            </a:spcAft>
            <a:buNone/>
          </a:pPr>
          <a:endParaRPr lang="en-GB" sz="700" kern="1200" dirty="0">
            <a:latin typeface="Aptos Display" panose="02110004020202020204"/>
          </a:endParaRPr>
        </a:p>
      </dsp:txBody>
      <dsp:txXfrm>
        <a:off x="0" y="2594357"/>
        <a:ext cx="7374025" cy="1296782"/>
      </dsp:txXfrm>
    </dsp:sp>
    <dsp:sp modelId="{42A0492C-EC9C-41B0-A640-9568588AE144}">
      <dsp:nvSpPr>
        <dsp:cNvPr id="0" name=""/>
        <dsp:cNvSpPr/>
      </dsp:nvSpPr>
      <dsp:spPr>
        <a:xfrm>
          <a:off x="0" y="3891140"/>
          <a:ext cx="7374025" cy="0"/>
        </a:xfrm>
        <a:prstGeom prst="lin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12700" cap="flat" cmpd="sng" algn="ctr">
          <a:solidFill>
            <a:schemeClr val="accent5">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A2F4AB4D-D579-49E3-A84B-8BDE652E8E0F}">
      <dsp:nvSpPr>
        <dsp:cNvPr id="0" name=""/>
        <dsp:cNvSpPr/>
      </dsp:nvSpPr>
      <dsp:spPr>
        <a:xfrm>
          <a:off x="0" y="3891140"/>
          <a:ext cx="7374025" cy="12967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t" anchorCtr="0">
          <a:noAutofit/>
        </a:bodyPr>
        <a:lstStyle/>
        <a:p>
          <a:pPr marL="0" lvl="0" indent="0" defTabSz="311150" rtl="0">
            <a:lnSpc>
              <a:spcPct val="90000"/>
            </a:lnSpc>
            <a:spcBef>
              <a:spcPct val="0"/>
            </a:spcBef>
            <a:spcAft>
              <a:spcPct val="35000"/>
            </a:spcAft>
            <a:buNone/>
          </a:pPr>
          <a:r>
            <a:rPr lang="en-US" sz="700" kern="1200" dirty="0">
              <a:solidFill>
                <a:srgbClr val="444444"/>
              </a:solidFill>
              <a:latin typeface="Aptos"/>
              <a:ea typeface="Calibri"/>
              <a:cs typeface="Calibri"/>
            </a:rPr>
            <a:t>  </a:t>
          </a:r>
          <a:r>
            <a:rPr lang="en-US" sz="700" b="0" kern="1200" dirty="0">
              <a:solidFill>
                <a:srgbClr val="444444"/>
              </a:solidFill>
              <a:latin typeface="Aptos"/>
              <a:ea typeface="Calibri"/>
              <a:cs typeface="Calibri"/>
            </a:rPr>
            <a:t> </a:t>
          </a:r>
          <a:r>
            <a:rPr lang="en-US" sz="700" b="1" kern="1200" dirty="0">
              <a:solidFill>
                <a:srgbClr val="444444"/>
              </a:solidFill>
              <a:latin typeface="Aptos"/>
              <a:ea typeface="Calibri"/>
              <a:cs typeface="Calibri"/>
            </a:rPr>
            <a:t>Wireless pendant </a:t>
          </a:r>
        </a:p>
        <a:p>
          <a:pPr marL="0" lvl="0" indent="0" defTabSz="311150" rtl="0">
            <a:lnSpc>
              <a:spcPct val="90000"/>
            </a:lnSpc>
            <a:spcBef>
              <a:spcPct val="0"/>
            </a:spcBef>
            <a:spcAft>
              <a:spcPct val="35000"/>
            </a:spcAft>
            <a:buNone/>
          </a:pPr>
          <a:r>
            <a:rPr lang="en-US" sz="700" b="0" kern="1200" dirty="0">
              <a:solidFill>
                <a:srgbClr val="444444"/>
              </a:solidFill>
              <a:latin typeface="Calibri"/>
              <a:ea typeface="Calibri"/>
              <a:cs typeface="Calibri"/>
            </a:rPr>
            <a:t>-&gt;Make use of two joysticks, one for lateral movement and one for vertical movement </a:t>
          </a:r>
        </a:p>
        <a:p>
          <a:pPr marL="0" lvl="0" indent="0" defTabSz="311150" rtl="0">
            <a:lnSpc>
              <a:spcPct val="90000"/>
            </a:lnSpc>
            <a:spcBef>
              <a:spcPct val="0"/>
            </a:spcBef>
            <a:spcAft>
              <a:spcPct val="35000"/>
            </a:spcAft>
            <a:buNone/>
          </a:pPr>
          <a:r>
            <a:rPr lang="en-US" sz="700" b="0" kern="1200" dirty="0">
              <a:solidFill>
                <a:srgbClr val="444444"/>
              </a:solidFill>
              <a:latin typeface="Calibri"/>
              <a:ea typeface="Calibri"/>
              <a:cs typeface="Calibri"/>
            </a:rPr>
            <a:t>-&gt;Design a custom PCB instead of using a prototype PCB </a:t>
          </a:r>
        </a:p>
        <a:p>
          <a:pPr marL="0" lvl="0" indent="0" algn="l" defTabSz="311150" rtl="0">
            <a:lnSpc>
              <a:spcPct val="90000"/>
            </a:lnSpc>
            <a:spcBef>
              <a:spcPct val="0"/>
            </a:spcBef>
            <a:spcAft>
              <a:spcPct val="35000"/>
            </a:spcAft>
            <a:buNone/>
          </a:pPr>
          <a:r>
            <a:rPr lang="en-US" sz="700" b="0" kern="1200" dirty="0">
              <a:solidFill>
                <a:srgbClr val="444444"/>
              </a:solidFill>
              <a:latin typeface="Calibri"/>
              <a:ea typeface="Calibri"/>
              <a:cs typeface="Calibri"/>
            </a:rPr>
            <a:t>-&gt;Using a</a:t>
          </a:r>
          <a:r>
            <a:rPr lang="en-US" sz="700" b="0" kern="1200" dirty="0">
              <a:latin typeface="Aptos Display" panose="02110004020202020204"/>
            </a:rPr>
            <a:t> </a:t>
          </a:r>
          <a:r>
            <a:rPr lang="en-US" sz="700" b="0" kern="1200" dirty="0"/>
            <a:t>simple moving-average filter or EMA would smooth the joystick response.</a:t>
          </a:r>
        </a:p>
        <a:p>
          <a:pPr marL="0" lvl="0" indent="0" defTabSz="311150" rtl="0">
            <a:lnSpc>
              <a:spcPct val="90000"/>
            </a:lnSpc>
            <a:spcBef>
              <a:spcPct val="0"/>
            </a:spcBef>
            <a:spcAft>
              <a:spcPct val="35000"/>
            </a:spcAft>
            <a:buNone/>
          </a:pPr>
          <a:r>
            <a:rPr lang="en-US" sz="700" b="0" kern="1200" dirty="0">
              <a:solidFill>
                <a:srgbClr val="444444"/>
              </a:solidFill>
              <a:latin typeface="Calibri"/>
              <a:ea typeface="Calibri"/>
              <a:cs typeface="Calibri"/>
            </a:rPr>
            <a:t>-&gt;Could improve enclosure design</a:t>
          </a:r>
        </a:p>
        <a:p>
          <a:pPr marL="0" lvl="0" indent="0" defTabSz="311150" rtl="0">
            <a:lnSpc>
              <a:spcPct val="90000"/>
            </a:lnSpc>
            <a:spcBef>
              <a:spcPct val="0"/>
            </a:spcBef>
            <a:spcAft>
              <a:spcPct val="35000"/>
            </a:spcAft>
            <a:buNone/>
          </a:pPr>
          <a:r>
            <a:rPr lang="en-US" sz="700" b="0" kern="1200" dirty="0">
              <a:solidFill>
                <a:srgbClr val="444444"/>
              </a:solidFill>
              <a:latin typeface="Calibri"/>
              <a:ea typeface="Calibri"/>
              <a:cs typeface="Calibri"/>
            </a:rPr>
            <a:t>-&gt;Add battery level monitoring</a:t>
          </a:r>
          <a:endParaRPr lang="en-GB" sz="700" kern="1200" dirty="0">
            <a:latin typeface="Aptos Display" panose="02110004020202020204"/>
          </a:endParaRPr>
        </a:p>
      </dsp:txBody>
      <dsp:txXfrm>
        <a:off x="0" y="3891140"/>
        <a:ext cx="7374025" cy="1296782"/>
      </dsp:txXfrm>
    </dsp:sp>
    <dsp:sp modelId="{750BCA22-0160-4D08-B6E1-F8618C49AE9E}">
      <dsp:nvSpPr>
        <dsp:cNvPr id="0" name=""/>
        <dsp:cNvSpPr/>
      </dsp:nvSpPr>
      <dsp:spPr>
        <a:xfrm>
          <a:off x="0" y="5187923"/>
          <a:ext cx="7374025" cy="0"/>
        </a:xfrm>
        <a:prstGeom prst="line">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w="12700" cap="flat" cmpd="sng" algn="ctr">
          <a:solidFill>
            <a:schemeClr val="accent6">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B4EC0575-B5E4-40C9-B5F8-B88C05953F22}">
      <dsp:nvSpPr>
        <dsp:cNvPr id="0" name=""/>
        <dsp:cNvSpPr/>
      </dsp:nvSpPr>
      <dsp:spPr>
        <a:xfrm>
          <a:off x="0" y="5187923"/>
          <a:ext cx="7374025" cy="12967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70" tIns="26670" rIns="26670" bIns="26670" numCol="1" spcCol="1270" anchor="t" anchorCtr="0">
          <a:noAutofit/>
        </a:bodyPr>
        <a:lstStyle/>
        <a:p>
          <a:pPr marL="0" lvl="0" indent="0" algn="l" defTabSz="311150" rtl="0">
            <a:lnSpc>
              <a:spcPct val="90000"/>
            </a:lnSpc>
            <a:spcBef>
              <a:spcPct val="0"/>
            </a:spcBef>
            <a:spcAft>
              <a:spcPct val="35000"/>
            </a:spcAft>
            <a:buNone/>
          </a:pPr>
          <a:r>
            <a:rPr lang="en-US" sz="700" kern="1200" dirty="0">
              <a:solidFill>
                <a:srgbClr val="444444"/>
              </a:solidFill>
              <a:latin typeface="Calibri"/>
              <a:ea typeface="Calibri"/>
              <a:cs typeface="Calibri"/>
            </a:rPr>
            <a:t> </a:t>
          </a:r>
          <a:r>
            <a:rPr lang="en-US" sz="700" b="1" kern="1200" dirty="0">
              <a:solidFill>
                <a:srgbClr val="444444"/>
              </a:solidFill>
              <a:latin typeface="Aptos"/>
              <a:ea typeface="Calibri"/>
              <a:cs typeface="Calibri"/>
            </a:rPr>
            <a:t>Embedded Controller</a:t>
          </a:r>
        </a:p>
        <a:p>
          <a:pPr marL="0" lvl="0" indent="0" algn="l" defTabSz="311150" rtl="0">
            <a:lnSpc>
              <a:spcPct val="90000"/>
            </a:lnSpc>
            <a:spcBef>
              <a:spcPct val="0"/>
            </a:spcBef>
            <a:spcAft>
              <a:spcPct val="35000"/>
            </a:spcAft>
            <a:buNone/>
          </a:pPr>
          <a:r>
            <a:rPr lang="en-US" sz="700" b="0" kern="1200" dirty="0">
              <a:solidFill>
                <a:srgbClr val="444444"/>
              </a:solidFill>
              <a:latin typeface="Calibri"/>
              <a:ea typeface="Calibri"/>
              <a:cs typeface="Calibri"/>
            </a:rPr>
            <a:t>-&gt; Use of a designed PCB instead of a breadboard for neater, more stable and professional looking connections.</a:t>
          </a:r>
        </a:p>
        <a:p>
          <a:pPr marL="0" lvl="0" indent="0" algn="l" defTabSz="311150" rtl="0">
            <a:lnSpc>
              <a:spcPct val="90000"/>
            </a:lnSpc>
            <a:spcBef>
              <a:spcPct val="0"/>
            </a:spcBef>
            <a:spcAft>
              <a:spcPct val="35000"/>
            </a:spcAft>
            <a:buNone/>
          </a:pPr>
          <a:r>
            <a:rPr lang="en-US" sz="700" b="0" kern="1200" dirty="0">
              <a:solidFill>
                <a:srgbClr val="000000"/>
              </a:solidFill>
              <a:latin typeface="Calibri"/>
              <a:ea typeface="Calibri"/>
              <a:cs typeface="Calibri"/>
            </a:rPr>
            <a:t>-&gt;</a:t>
          </a:r>
          <a:r>
            <a:rPr lang="en-US" sz="700" b="0" kern="1200" dirty="0">
              <a:latin typeface="Calibri"/>
              <a:ea typeface="Calibri"/>
              <a:cs typeface="Calibri"/>
            </a:rPr>
            <a:t> Make use of a 3.3V regulator to limit noise and increase output stability.</a:t>
          </a:r>
          <a:br>
            <a:rPr lang="en-US" sz="700" b="0" kern="1200" dirty="0">
              <a:solidFill>
                <a:srgbClr val="000000"/>
              </a:solidFill>
              <a:latin typeface="Calibri"/>
              <a:ea typeface="Calibri"/>
              <a:cs typeface="Calibri"/>
            </a:rPr>
          </a:br>
          <a:r>
            <a:rPr lang="en-US" sz="700" b="0" kern="1200" dirty="0">
              <a:latin typeface="Calibri"/>
              <a:ea typeface="Calibri"/>
              <a:cs typeface="Calibri"/>
            </a:rPr>
            <a:t>-&gt; Add extra Status LED's onto the embedded controller itself. </a:t>
          </a:r>
          <a:br>
            <a:rPr lang="en-US" sz="700" kern="1200" dirty="0"/>
          </a:br>
          <a:r>
            <a:rPr lang="en-US" sz="700" b="0" kern="1200" dirty="0">
              <a:latin typeface="Calibri"/>
              <a:ea typeface="Calibri"/>
              <a:cs typeface="Calibri"/>
            </a:rPr>
            <a:t>-&gt; Create a custom mount for the Embedded controller within the on-board enclosure for better space usage.</a:t>
          </a:r>
          <a:endParaRPr lang="en-US" sz="700" kern="1200" dirty="0">
            <a:solidFill>
              <a:srgbClr val="000000"/>
            </a:solidFill>
            <a:latin typeface="Aptos Display" panose="02110004020202020204"/>
            <a:ea typeface="Calibri"/>
            <a:cs typeface="Calibri"/>
          </a:endParaRPr>
        </a:p>
        <a:p>
          <a:pPr marL="0" lvl="0" indent="0" algn="l" defTabSz="311150" rtl="0">
            <a:lnSpc>
              <a:spcPct val="90000"/>
            </a:lnSpc>
            <a:spcBef>
              <a:spcPct val="0"/>
            </a:spcBef>
            <a:spcAft>
              <a:spcPct val="35000"/>
            </a:spcAft>
            <a:buNone/>
          </a:pPr>
          <a:r>
            <a:rPr lang="en-US" sz="700" kern="1200" dirty="0">
              <a:solidFill>
                <a:srgbClr val="000000"/>
              </a:solidFill>
              <a:latin typeface="Calibri"/>
              <a:ea typeface="Calibri"/>
              <a:cs typeface="Calibri"/>
            </a:rPr>
            <a:t>-&gt; </a:t>
          </a:r>
          <a:r>
            <a:rPr lang="en-US" sz="700" kern="1200" dirty="0">
              <a:latin typeface="Calibri"/>
              <a:ea typeface="Calibri"/>
              <a:cs typeface="Calibri"/>
            </a:rPr>
            <a:t>Code slower ramp times and make use of a less sensitive analogue stick for easier and more stable control.</a:t>
          </a:r>
          <a:endParaRPr lang="en-US" sz="700" kern="1200" dirty="0"/>
        </a:p>
        <a:p>
          <a:pPr marL="0" lvl="0" indent="0" algn="l" defTabSz="311150" rtl="0">
            <a:lnSpc>
              <a:spcPct val="90000"/>
            </a:lnSpc>
            <a:spcBef>
              <a:spcPct val="0"/>
            </a:spcBef>
            <a:spcAft>
              <a:spcPct val="35000"/>
            </a:spcAft>
            <a:buNone/>
          </a:pPr>
          <a:endParaRPr lang="en-US" sz="700" kern="1200" dirty="0">
            <a:solidFill>
              <a:srgbClr val="000000"/>
            </a:solidFill>
            <a:latin typeface="Calibri"/>
            <a:ea typeface="Calibri"/>
            <a:cs typeface="Calibri"/>
          </a:endParaRPr>
        </a:p>
        <a:p>
          <a:pPr marL="0" lvl="0" indent="0" algn="l" defTabSz="311150" rtl="0">
            <a:lnSpc>
              <a:spcPct val="90000"/>
            </a:lnSpc>
            <a:spcBef>
              <a:spcPct val="0"/>
            </a:spcBef>
            <a:spcAft>
              <a:spcPct val="35000"/>
            </a:spcAft>
            <a:buNone/>
          </a:pPr>
          <a:endParaRPr lang="en-US" sz="700" kern="1200" dirty="0">
            <a:solidFill>
              <a:srgbClr val="444444"/>
            </a:solidFill>
            <a:latin typeface="Calibri"/>
            <a:ea typeface="Calibri"/>
            <a:cs typeface="Calibri"/>
          </a:endParaRPr>
        </a:p>
        <a:p>
          <a:pPr marL="0" lvl="0" indent="0" algn="l" defTabSz="311150" rtl="0">
            <a:lnSpc>
              <a:spcPct val="90000"/>
            </a:lnSpc>
            <a:spcBef>
              <a:spcPct val="0"/>
            </a:spcBef>
            <a:spcAft>
              <a:spcPct val="35000"/>
            </a:spcAft>
            <a:buNone/>
          </a:pPr>
          <a:endParaRPr lang="en-US" sz="700" kern="1200" dirty="0">
            <a:latin typeface="Aptos Display" panose="02110004020202020204"/>
          </a:endParaRPr>
        </a:p>
      </dsp:txBody>
      <dsp:txXfrm>
        <a:off x="0" y="5187923"/>
        <a:ext cx="7374025" cy="12967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BAF6FB-E25C-43E0-8212-713C2D22BD2D}">
      <dsp:nvSpPr>
        <dsp:cNvPr id="0" name=""/>
        <dsp:cNvSpPr/>
      </dsp:nvSpPr>
      <dsp:spPr>
        <a:xfrm>
          <a:off x="0" y="3795"/>
          <a:ext cx="6245265" cy="14483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46DAEB-128F-4257-A345-AA012EA9DF04}">
      <dsp:nvSpPr>
        <dsp:cNvPr id="0" name=""/>
        <dsp:cNvSpPr/>
      </dsp:nvSpPr>
      <dsp:spPr>
        <a:xfrm>
          <a:off x="438120" y="329670"/>
          <a:ext cx="797361" cy="7965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alpha val="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32EBE06D-2A87-4738-88BA-084DCD6D298C}">
      <dsp:nvSpPr>
        <dsp:cNvPr id="0" name=""/>
        <dsp:cNvSpPr/>
      </dsp:nvSpPr>
      <dsp:spPr>
        <a:xfrm>
          <a:off x="1673602" y="3795"/>
          <a:ext cx="4040960" cy="18104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1602" tIns="191602" rIns="191602" bIns="191602" numCol="1" spcCol="1270" anchor="ctr" anchorCtr="0">
          <a:noAutofit/>
        </a:bodyPr>
        <a:lstStyle/>
        <a:p>
          <a:pPr marL="0" lvl="0" indent="0" algn="l" defTabSz="622300">
            <a:lnSpc>
              <a:spcPct val="100000"/>
            </a:lnSpc>
            <a:spcBef>
              <a:spcPct val="0"/>
            </a:spcBef>
            <a:spcAft>
              <a:spcPct val="35000"/>
            </a:spcAft>
            <a:buNone/>
          </a:pPr>
          <a:r>
            <a:rPr lang="en-GB" sz="1400" kern="1200" dirty="0"/>
            <a:t>The design process is important for customer requirements to reach it and the design is also important to minimize risk </a:t>
          </a:r>
        </a:p>
        <a:p>
          <a:pPr marL="0" lvl="0" indent="0" algn="l" defTabSz="622300">
            <a:lnSpc>
              <a:spcPct val="100000"/>
            </a:lnSpc>
            <a:spcBef>
              <a:spcPct val="0"/>
            </a:spcBef>
            <a:spcAft>
              <a:spcPct val="35000"/>
            </a:spcAft>
            <a:buNone/>
          </a:pPr>
          <a:r>
            <a:rPr lang="en-GB" sz="1400" kern="1200" dirty="0"/>
            <a:t>A structured design process also promotes efficient-decision making, helping the team justify design choices and maintain throughout development</a:t>
          </a:r>
        </a:p>
        <a:p>
          <a:pPr marL="0" lvl="0" indent="0" algn="l" defTabSz="622300">
            <a:spcBef>
              <a:spcPct val="0"/>
            </a:spcBef>
            <a:spcAft>
              <a:spcPct val="35000"/>
            </a:spcAft>
            <a:buNone/>
          </a:pPr>
          <a:endParaRPr lang="en-US" sz="1400" kern="1200" dirty="0"/>
        </a:p>
      </dsp:txBody>
      <dsp:txXfrm>
        <a:off x="1673602" y="3795"/>
        <a:ext cx="4040960" cy="1810415"/>
      </dsp:txXfrm>
    </dsp:sp>
    <dsp:sp modelId="{8B941795-0031-40ED-A2CE-F79A2D607515}">
      <dsp:nvSpPr>
        <dsp:cNvPr id="0" name=""/>
        <dsp:cNvSpPr/>
      </dsp:nvSpPr>
      <dsp:spPr>
        <a:xfrm>
          <a:off x="0" y="2159051"/>
          <a:ext cx="6245265" cy="14483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460201-9BE8-48AC-B282-E6FFAE813CF2}">
      <dsp:nvSpPr>
        <dsp:cNvPr id="0" name=""/>
        <dsp:cNvSpPr/>
      </dsp:nvSpPr>
      <dsp:spPr>
        <a:xfrm>
          <a:off x="438120" y="2484926"/>
          <a:ext cx="797361" cy="7965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alpha val="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E95E772D-AEBB-4E76-A09A-B106F7DC4840}">
      <dsp:nvSpPr>
        <dsp:cNvPr id="0" name=""/>
        <dsp:cNvSpPr/>
      </dsp:nvSpPr>
      <dsp:spPr>
        <a:xfrm>
          <a:off x="1673602" y="2159051"/>
          <a:ext cx="4040960" cy="18104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1602" tIns="191602" rIns="191602" bIns="191602" numCol="1" spcCol="1270" anchor="ctr" anchorCtr="0">
          <a:noAutofit/>
        </a:bodyPr>
        <a:lstStyle/>
        <a:p>
          <a:pPr marL="0" lvl="0" indent="0" algn="l" defTabSz="622300">
            <a:lnSpc>
              <a:spcPct val="100000"/>
            </a:lnSpc>
            <a:spcBef>
              <a:spcPct val="0"/>
            </a:spcBef>
            <a:spcAft>
              <a:spcPct val="35000"/>
            </a:spcAft>
            <a:buNone/>
          </a:pPr>
          <a:r>
            <a:rPr lang="en-GB" sz="1400" kern="1200" dirty="0"/>
            <a:t>Our group was unable to fully integrate the system due because the driver unit could not operate at the required </a:t>
          </a:r>
          <a:r>
            <a:rPr lang="en-GB" sz="1400" kern="1200" dirty="0">
              <a:latin typeface="Aptos Display" panose="02110004020202020204"/>
            </a:rPr>
            <a:t>330V</a:t>
          </a:r>
          <a:r>
            <a:rPr lang="en-GB" sz="1400" kern="1200" dirty="0"/>
            <a:t> Ac</a:t>
          </a:r>
          <a:endParaRPr lang="en-US" sz="1400" kern="1200" dirty="0"/>
        </a:p>
      </dsp:txBody>
      <dsp:txXfrm>
        <a:off x="1673602" y="2159051"/>
        <a:ext cx="4040960" cy="1810415"/>
      </dsp:txXfrm>
    </dsp:sp>
    <dsp:sp modelId="{E6AD6E41-EBDD-42D3-8411-C0C97CEA1FE9}">
      <dsp:nvSpPr>
        <dsp:cNvPr id="0" name=""/>
        <dsp:cNvSpPr/>
      </dsp:nvSpPr>
      <dsp:spPr>
        <a:xfrm>
          <a:off x="0" y="4314308"/>
          <a:ext cx="6245265" cy="14483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78CBCA-399C-401A-85C5-99DC40D762AB}">
      <dsp:nvSpPr>
        <dsp:cNvPr id="0" name=""/>
        <dsp:cNvSpPr/>
      </dsp:nvSpPr>
      <dsp:spPr>
        <a:xfrm>
          <a:off x="438120" y="4640182"/>
          <a:ext cx="797361" cy="7965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alpha val="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2EDDBCF9-1F44-467A-B003-A5382E921DCE}">
      <dsp:nvSpPr>
        <dsp:cNvPr id="0" name=""/>
        <dsp:cNvSpPr/>
      </dsp:nvSpPr>
      <dsp:spPr>
        <a:xfrm>
          <a:off x="1673602" y="4314308"/>
          <a:ext cx="4040960" cy="18104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1602" tIns="191602" rIns="191602" bIns="191602" numCol="1" spcCol="1270" anchor="ctr" anchorCtr="0">
          <a:noAutofit/>
        </a:bodyPr>
        <a:lstStyle/>
        <a:p>
          <a:pPr marL="0" lvl="0" indent="0" algn="l" defTabSz="622300">
            <a:lnSpc>
              <a:spcPct val="100000"/>
            </a:lnSpc>
            <a:spcBef>
              <a:spcPct val="0"/>
            </a:spcBef>
            <a:spcAft>
              <a:spcPct val="35000"/>
            </a:spcAft>
            <a:buNone/>
          </a:pPr>
          <a:r>
            <a:rPr lang="en-GB" sz="1400" kern="1200" dirty="0"/>
            <a:t>Integration can take longer than expected  </a:t>
          </a:r>
          <a:endParaRPr lang="en-US" sz="1400" kern="1200" dirty="0"/>
        </a:p>
      </dsp:txBody>
      <dsp:txXfrm>
        <a:off x="1673602" y="4314308"/>
        <a:ext cx="4040960" cy="18104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C639E9-3132-4213-8C2B-EFF79BFF202C}">
      <dsp:nvSpPr>
        <dsp:cNvPr id="0" name=""/>
        <dsp:cNvSpPr/>
      </dsp:nvSpPr>
      <dsp:spPr>
        <a:xfrm>
          <a:off x="0" y="682"/>
          <a:ext cx="6245265"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448842-CF68-4B4F-A5FD-4CB81E011E2E}">
      <dsp:nvSpPr>
        <dsp:cNvPr id="0" name=""/>
        <dsp:cNvSpPr/>
      </dsp:nvSpPr>
      <dsp:spPr>
        <a:xfrm>
          <a:off x="482961" y="359909"/>
          <a:ext cx="878111" cy="878111"/>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19F98C8-FCB3-4063-AE52-631DB81AFD86}">
      <dsp:nvSpPr>
        <dsp:cNvPr id="0" name=""/>
        <dsp:cNvSpPr/>
      </dsp:nvSpPr>
      <dsp:spPr>
        <a:xfrm>
          <a:off x="1844034" y="682"/>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755650">
            <a:lnSpc>
              <a:spcPct val="100000"/>
            </a:lnSpc>
            <a:spcBef>
              <a:spcPct val="0"/>
            </a:spcBef>
            <a:spcAft>
              <a:spcPct val="35000"/>
            </a:spcAft>
            <a:buNone/>
          </a:pPr>
          <a:r>
            <a:rPr lang="en-GB" sz="1700" kern="1200" dirty="0"/>
            <a:t>We learned the importance of earlier subsystem integration and setting aside time </a:t>
          </a:r>
          <a:r>
            <a:rPr lang="en-GB" sz="1700" kern="1200" dirty="0">
              <a:latin typeface="Aptos Display" panose="02110004020202020204"/>
            </a:rPr>
            <a:t>(time management) </a:t>
          </a:r>
          <a:r>
            <a:rPr lang="en-GB" sz="1700" kern="1200" dirty="0"/>
            <a:t>for debugging and validation in future projects.</a:t>
          </a:r>
          <a:endParaRPr lang="en-US" sz="1700" kern="1200" dirty="0">
            <a:latin typeface="Aptos Display" panose="02110004020202020204"/>
          </a:endParaRPr>
        </a:p>
      </dsp:txBody>
      <dsp:txXfrm>
        <a:off x="1844034" y="682"/>
        <a:ext cx="4401230" cy="1596566"/>
      </dsp:txXfrm>
    </dsp:sp>
    <dsp:sp modelId="{7106FDFC-D861-4486-B410-936C50AA7CCF}">
      <dsp:nvSpPr>
        <dsp:cNvPr id="0" name=""/>
        <dsp:cNvSpPr/>
      </dsp:nvSpPr>
      <dsp:spPr>
        <a:xfrm>
          <a:off x="0" y="1996390"/>
          <a:ext cx="6245265"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4AEFA4-6ABA-4A3B-9671-B41AB0564F07}">
      <dsp:nvSpPr>
        <dsp:cNvPr id="0" name=""/>
        <dsp:cNvSpPr/>
      </dsp:nvSpPr>
      <dsp:spPr>
        <a:xfrm>
          <a:off x="482961" y="2355617"/>
          <a:ext cx="878111" cy="878111"/>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33CB98E-D221-4DD4-A533-625A1DE08F1E}">
      <dsp:nvSpPr>
        <dsp:cNvPr id="0" name=""/>
        <dsp:cNvSpPr/>
      </dsp:nvSpPr>
      <dsp:spPr>
        <a:xfrm>
          <a:off x="1844034" y="1996390"/>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755650">
            <a:lnSpc>
              <a:spcPct val="100000"/>
            </a:lnSpc>
            <a:spcBef>
              <a:spcPct val="0"/>
            </a:spcBef>
            <a:spcAft>
              <a:spcPct val="35000"/>
            </a:spcAft>
            <a:buNone/>
          </a:pPr>
          <a:r>
            <a:rPr lang="en-GB" sz="1700" kern="1200" dirty="0"/>
            <a:t>The division of responsibilities worked well, and teamwork strengthened during integration, with everyone helping across mechanical, electrical, and software tasks.</a:t>
          </a:r>
          <a:endParaRPr lang="en-US" sz="1700" kern="1200" dirty="0"/>
        </a:p>
      </dsp:txBody>
      <dsp:txXfrm>
        <a:off x="1844034" y="1996390"/>
        <a:ext cx="4401230" cy="1596566"/>
      </dsp:txXfrm>
    </dsp:sp>
    <dsp:sp modelId="{66F63A49-B1B0-48C9-9DFB-086CE7047D93}">
      <dsp:nvSpPr>
        <dsp:cNvPr id="0" name=""/>
        <dsp:cNvSpPr/>
      </dsp:nvSpPr>
      <dsp:spPr>
        <a:xfrm>
          <a:off x="0" y="3992098"/>
          <a:ext cx="6245265"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49A2E82-F6AD-4B97-8683-9B909FF1E44E}">
      <dsp:nvSpPr>
        <dsp:cNvPr id="0" name=""/>
        <dsp:cNvSpPr/>
      </dsp:nvSpPr>
      <dsp:spPr>
        <a:xfrm>
          <a:off x="482961" y="4351325"/>
          <a:ext cx="878111" cy="878111"/>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C7BF9D-247E-4F17-900C-76E203B026E7}">
      <dsp:nvSpPr>
        <dsp:cNvPr id="0" name=""/>
        <dsp:cNvSpPr/>
      </dsp:nvSpPr>
      <dsp:spPr>
        <a:xfrm>
          <a:off x="1844034" y="3992098"/>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755650">
            <a:lnSpc>
              <a:spcPct val="100000"/>
            </a:lnSpc>
            <a:spcBef>
              <a:spcPct val="0"/>
            </a:spcBef>
            <a:spcAft>
              <a:spcPct val="35000"/>
            </a:spcAft>
            <a:buNone/>
          </a:pPr>
          <a:r>
            <a:rPr lang="en-GB" sz="1700" kern="1200" dirty="0"/>
            <a:t>The </a:t>
          </a:r>
          <a:r>
            <a:rPr lang="en-GB" sz="1700" kern="1200" dirty="0">
              <a:latin typeface="Aptos Display" panose="02110004020202020204"/>
            </a:rPr>
            <a:t>drive electronics</a:t>
          </a:r>
          <a:r>
            <a:rPr lang="en-GB" sz="1700" kern="1200" dirty="0"/>
            <a:t> caused delays </a:t>
          </a:r>
          <a:r>
            <a:rPr lang="en-GB" sz="1700" kern="1200" dirty="0">
              <a:latin typeface="Aptos Display" panose="02110004020202020204"/>
            </a:rPr>
            <a:t>in project finalization near the end of the deadline. The drive electronics also had a system failure do to faulty connections. </a:t>
          </a:r>
          <a:endParaRPr lang="en-GB" sz="1700" kern="1200" dirty="0"/>
        </a:p>
      </dsp:txBody>
      <dsp:txXfrm>
        <a:off x="1844034" y="3992098"/>
        <a:ext cx="4401230" cy="159656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06940E-7074-4E87-BF5F-EC5D2FBE8795}" type="datetimeFigureOut">
              <a:rPr lang="en-GB" smtClean="0"/>
              <a:t>01/12/2025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82AF6D-0FE9-4F6A-A5F6-F332F3F16FF5}" type="slidenum">
              <a:rPr lang="en-GB" smtClean="0"/>
              <a:t>‹#›</a:t>
            </a:fld>
            <a:endParaRPr lang="en-GB" dirty="0"/>
          </a:p>
        </p:txBody>
      </p:sp>
    </p:spTree>
    <p:extLst>
      <p:ext uri="{BB962C8B-B14F-4D97-AF65-F5344CB8AC3E}">
        <p14:creationId xmlns:p14="http://schemas.microsoft.com/office/powerpoint/2010/main" val="3612553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dirty="0"/>
              <a:t>Creativity is encouraged for the presentation but keep the following in mind:</a:t>
            </a:r>
          </a:p>
          <a:p>
            <a:pPr marL="171450" indent="-171450">
              <a:buFontTx/>
              <a:buChar char="-"/>
            </a:pPr>
            <a:r>
              <a:rPr lang="en-GB" dirty="0"/>
              <a:t>Professionalism </a:t>
            </a:r>
            <a:r>
              <a:rPr lang="en-GB" b="1" dirty="0"/>
              <a:t>always</a:t>
            </a:r>
          </a:p>
          <a:p>
            <a:pPr marL="171450" indent="-171450">
              <a:buFontTx/>
              <a:buChar char="-"/>
            </a:pPr>
            <a:r>
              <a:rPr lang="en-GB" dirty="0"/>
              <a:t>Include all group details on the title slide</a:t>
            </a:r>
          </a:p>
          <a:p>
            <a:pPr marL="171450" indent="-171450">
              <a:buFontTx/>
              <a:buChar char="-"/>
            </a:pPr>
            <a:r>
              <a:rPr lang="en-GB" dirty="0"/>
              <a:t>Although slide limits are not imposed you should complete the presentation in 20min (max)</a:t>
            </a:r>
          </a:p>
        </p:txBody>
      </p:sp>
      <p:sp>
        <p:nvSpPr>
          <p:cNvPr id="4" name="Slide Number Placeholder 3"/>
          <p:cNvSpPr>
            <a:spLocks noGrp="1"/>
          </p:cNvSpPr>
          <p:nvPr>
            <p:ph type="sldNum" sz="quarter" idx="5"/>
          </p:nvPr>
        </p:nvSpPr>
        <p:spPr/>
        <p:txBody>
          <a:bodyPr/>
          <a:lstStyle/>
          <a:p>
            <a:fld id="{0782AF6D-0FE9-4F6A-A5F6-F332F3F16FF5}" type="slidenum">
              <a:rPr lang="en-GB" smtClean="0"/>
              <a:t>1</a:t>
            </a:fld>
            <a:endParaRPr lang="en-GB" dirty="0"/>
          </a:p>
        </p:txBody>
      </p:sp>
    </p:spTree>
    <p:extLst>
      <p:ext uri="{BB962C8B-B14F-4D97-AF65-F5344CB8AC3E}">
        <p14:creationId xmlns:p14="http://schemas.microsoft.com/office/powerpoint/2010/main" val="28828626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0782AF6D-0FE9-4F6A-A5F6-F332F3F16FF5}" type="slidenum">
              <a:rPr lang="en-GB" smtClean="0"/>
              <a:t>19</a:t>
            </a:fld>
            <a:endParaRPr lang="en-GB" dirty="0"/>
          </a:p>
        </p:txBody>
      </p:sp>
    </p:spTree>
    <p:extLst>
      <p:ext uri="{BB962C8B-B14F-4D97-AF65-F5344CB8AC3E}">
        <p14:creationId xmlns:p14="http://schemas.microsoft.com/office/powerpoint/2010/main" val="2561679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0782AF6D-0FE9-4F6A-A5F6-F332F3F16FF5}" type="slidenum">
              <a:rPr lang="en-GB" smtClean="0"/>
              <a:t>22</a:t>
            </a:fld>
            <a:endParaRPr lang="en-GB" dirty="0"/>
          </a:p>
        </p:txBody>
      </p:sp>
    </p:spTree>
    <p:extLst>
      <p:ext uri="{BB962C8B-B14F-4D97-AF65-F5344CB8AC3E}">
        <p14:creationId xmlns:p14="http://schemas.microsoft.com/office/powerpoint/2010/main" val="881643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32F39-52AB-1EC4-F297-7E1931FE75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32DD27-9F9E-7B8F-CDA9-4C2B42BFB64D}"/>
              </a:ext>
            </a:extLst>
          </p:cNvPr>
          <p:cNvSpPr>
            <a:spLocks noGrp="1" noRot="1" noChangeAspect="1"/>
          </p:cNvSpPr>
          <p:nvPr>
            <p:ph type="sldImg"/>
          </p:nvPr>
        </p:nvSpPr>
        <p:spPr/>
        <p:txBody>
          <a:bodyPr/>
          <a:lstStyle/>
          <a:p>
            <a:endParaRPr lang="en-GB" dirty="0"/>
          </a:p>
        </p:txBody>
      </p:sp>
      <p:sp>
        <p:nvSpPr>
          <p:cNvPr id="3" name="Notes Placeholder 2">
            <a:extLst>
              <a:ext uri="{FF2B5EF4-FFF2-40B4-BE49-F238E27FC236}">
                <a16:creationId xmlns:a16="http://schemas.microsoft.com/office/drawing/2014/main" id="{92951363-29F9-C907-F7A9-C44957FAD229}"/>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528D0ADD-58E0-D304-D240-323D6F6F43D1}"/>
              </a:ext>
            </a:extLst>
          </p:cNvPr>
          <p:cNvSpPr>
            <a:spLocks noGrp="1"/>
          </p:cNvSpPr>
          <p:nvPr>
            <p:ph type="sldNum" sz="quarter" idx="5"/>
          </p:nvPr>
        </p:nvSpPr>
        <p:spPr/>
        <p:txBody>
          <a:bodyPr/>
          <a:lstStyle/>
          <a:p>
            <a:fld id="{0782AF6D-0FE9-4F6A-A5F6-F332F3F16FF5}" type="slidenum">
              <a:rPr lang="en-GB" smtClean="0"/>
              <a:t>23</a:t>
            </a:fld>
            <a:endParaRPr lang="en-GB" dirty="0"/>
          </a:p>
        </p:txBody>
      </p:sp>
    </p:spTree>
    <p:extLst>
      <p:ext uri="{BB962C8B-B14F-4D97-AF65-F5344CB8AC3E}">
        <p14:creationId xmlns:p14="http://schemas.microsoft.com/office/powerpoint/2010/main" val="11314867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0782AF6D-0FE9-4F6A-A5F6-F332F3F16FF5}" type="slidenum">
              <a:rPr lang="en-GB" smtClean="0"/>
              <a:t>32</a:t>
            </a:fld>
            <a:endParaRPr lang="en-GB" dirty="0"/>
          </a:p>
        </p:txBody>
      </p:sp>
    </p:spTree>
    <p:extLst>
      <p:ext uri="{BB962C8B-B14F-4D97-AF65-F5344CB8AC3E}">
        <p14:creationId xmlns:p14="http://schemas.microsoft.com/office/powerpoint/2010/main" val="34610107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0782AF6D-0FE9-4F6A-A5F6-F332F3F16FF5}" type="slidenum">
              <a:rPr lang="en-GB" smtClean="0"/>
              <a:t>42</a:t>
            </a:fld>
            <a:endParaRPr lang="en-GB" dirty="0"/>
          </a:p>
        </p:txBody>
      </p:sp>
    </p:spTree>
    <p:extLst>
      <p:ext uri="{BB962C8B-B14F-4D97-AF65-F5344CB8AC3E}">
        <p14:creationId xmlns:p14="http://schemas.microsoft.com/office/powerpoint/2010/main" val="38819795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0782AF6D-0FE9-4F6A-A5F6-F332F3F16FF5}" type="slidenum">
              <a:rPr lang="en-GB" smtClean="0"/>
              <a:t>43</a:t>
            </a:fld>
            <a:endParaRPr lang="en-GB" dirty="0"/>
          </a:p>
        </p:txBody>
      </p:sp>
    </p:spTree>
    <p:extLst>
      <p:ext uri="{BB962C8B-B14F-4D97-AF65-F5344CB8AC3E}">
        <p14:creationId xmlns:p14="http://schemas.microsoft.com/office/powerpoint/2010/main" val="22382035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F7BAD-AFB9-D5D5-9112-61D5C720B4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43913B-57ED-26F9-B01E-1E204F52574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AE823E8-D94A-ADDF-ABCC-E8BEF258CF7C}"/>
              </a:ext>
            </a:extLst>
          </p:cNvPr>
          <p:cNvSpPr>
            <a:spLocks noGrp="1"/>
          </p:cNvSpPr>
          <p:nvPr>
            <p:ph type="body" idx="1"/>
          </p:nvPr>
        </p:nvSpPr>
        <p:spPr/>
        <p:txBody>
          <a:bodyPr/>
          <a:lstStyle/>
          <a:p>
            <a:endParaRPr lang="en-ZA" dirty="0"/>
          </a:p>
        </p:txBody>
      </p:sp>
      <p:sp>
        <p:nvSpPr>
          <p:cNvPr id="4" name="Slide Number Placeholder 3">
            <a:extLst>
              <a:ext uri="{FF2B5EF4-FFF2-40B4-BE49-F238E27FC236}">
                <a16:creationId xmlns:a16="http://schemas.microsoft.com/office/drawing/2014/main" id="{A0D86E3E-C27A-4CF9-B120-870953CC30E6}"/>
              </a:ext>
            </a:extLst>
          </p:cNvPr>
          <p:cNvSpPr>
            <a:spLocks noGrp="1"/>
          </p:cNvSpPr>
          <p:nvPr>
            <p:ph type="sldNum" sz="quarter" idx="5"/>
          </p:nvPr>
        </p:nvSpPr>
        <p:spPr/>
        <p:txBody>
          <a:bodyPr/>
          <a:lstStyle/>
          <a:p>
            <a:fld id="{0782AF6D-0FE9-4F6A-A5F6-F332F3F16FF5}" type="slidenum">
              <a:rPr lang="en-GB" smtClean="0"/>
              <a:t>45</a:t>
            </a:fld>
            <a:endParaRPr lang="en-GB" dirty="0"/>
          </a:p>
        </p:txBody>
      </p:sp>
    </p:spTree>
    <p:extLst>
      <p:ext uri="{BB962C8B-B14F-4D97-AF65-F5344CB8AC3E}">
        <p14:creationId xmlns:p14="http://schemas.microsoft.com/office/powerpoint/2010/main" val="42942334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D36EC-4824-F57A-0849-0C2AEA06F0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43586FE-6EF4-7066-81A5-02E839ED17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2120B9B-E207-13D6-6868-7B5DF6045F55}"/>
              </a:ext>
            </a:extLst>
          </p:cNvPr>
          <p:cNvSpPr>
            <a:spLocks noGrp="1"/>
          </p:cNvSpPr>
          <p:nvPr>
            <p:ph type="dt" sz="half" idx="10"/>
          </p:nvPr>
        </p:nvSpPr>
        <p:spPr/>
        <p:txBody>
          <a:bodyPr/>
          <a:lstStyle/>
          <a:p>
            <a:fld id="{A28AA8D5-D462-402E-A693-E67B9C5D14B8}" type="datetimeFigureOut">
              <a:rPr lang="en-GB" smtClean="0"/>
              <a:t>01/12/2025</a:t>
            </a:fld>
            <a:endParaRPr lang="en-GB" dirty="0"/>
          </a:p>
        </p:txBody>
      </p:sp>
      <p:sp>
        <p:nvSpPr>
          <p:cNvPr id="5" name="Footer Placeholder 4">
            <a:extLst>
              <a:ext uri="{FF2B5EF4-FFF2-40B4-BE49-F238E27FC236}">
                <a16:creationId xmlns:a16="http://schemas.microsoft.com/office/drawing/2014/main" id="{AFBD1FD9-89D5-F2A5-9453-53B26EA9864A}"/>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ED306A2-0F23-738B-F9AE-7E666D61E8F5}"/>
              </a:ext>
            </a:extLst>
          </p:cNvPr>
          <p:cNvSpPr>
            <a:spLocks noGrp="1"/>
          </p:cNvSpPr>
          <p:nvPr>
            <p:ph type="sldNum" sz="quarter" idx="12"/>
          </p:nvPr>
        </p:nvSpPr>
        <p:spPr/>
        <p:txBody>
          <a:bodyPr/>
          <a:lstStyle/>
          <a:p>
            <a:fld id="{7A73B167-AF46-465E-9E48-00BD63D347E4}" type="slidenum">
              <a:rPr lang="en-GB" smtClean="0"/>
              <a:t>‹#›</a:t>
            </a:fld>
            <a:endParaRPr lang="en-GB" dirty="0"/>
          </a:p>
        </p:txBody>
      </p:sp>
    </p:spTree>
    <p:extLst>
      <p:ext uri="{BB962C8B-B14F-4D97-AF65-F5344CB8AC3E}">
        <p14:creationId xmlns:p14="http://schemas.microsoft.com/office/powerpoint/2010/main" val="3849397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D2ADA-3C8B-303B-8899-8F0878E94C2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B47C649-C35A-5DD6-64F4-0377BF6180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E66844C-2018-B8D2-0E97-574F717C2386}"/>
              </a:ext>
            </a:extLst>
          </p:cNvPr>
          <p:cNvSpPr>
            <a:spLocks noGrp="1"/>
          </p:cNvSpPr>
          <p:nvPr>
            <p:ph type="dt" sz="half" idx="10"/>
          </p:nvPr>
        </p:nvSpPr>
        <p:spPr/>
        <p:txBody>
          <a:bodyPr/>
          <a:lstStyle/>
          <a:p>
            <a:fld id="{A28AA8D5-D462-402E-A693-E67B9C5D14B8}" type="datetimeFigureOut">
              <a:rPr lang="en-GB" smtClean="0"/>
              <a:t>01/12/2025</a:t>
            </a:fld>
            <a:endParaRPr lang="en-GB" dirty="0"/>
          </a:p>
        </p:txBody>
      </p:sp>
      <p:sp>
        <p:nvSpPr>
          <p:cNvPr id="5" name="Footer Placeholder 4">
            <a:extLst>
              <a:ext uri="{FF2B5EF4-FFF2-40B4-BE49-F238E27FC236}">
                <a16:creationId xmlns:a16="http://schemas.microsoft.com/office/drawing/2014/main" id="{CC0C1D3E-EA1C-35C1-C0FA-89E9FB861505}"/>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7EE63554-AAF8-11B9-CEF5-1B963DD2C2C4}"/>
              </a:ext>
            </a:extLst>
          </p:cNvPr>
          <p:cNvSpPr>
            <a:spLocks noGrp="1"/>
          </p:cNvSpPr>
          <p:nvPr>
            <p:ph type="sldNum" sz="quarter" idx="12"/>
          </p:nvPr>
        </p:nvSpPr>
        <p:spPr/>
        <p:txBody>
          <a:bodyPr/>
          <a:lstStyle/>
          <a:p>
            <a:fld id="{7A73B167-AF46-465E-9E48-00BD63D347E4}" type="slidenum">
              <a:rPr lang="en-GB" smtClean="0"/>
              <a:t>‹#›</a:t>
            </a:fld>
            <a:endParaRPr lang="en-GB" dirty="0"/>
          </a:p>
        </p:txBody>
      </p:sp>
    </p:spTree>
    <p:extLst>
      <p:ext uri="{BB962C8B-B14F-4D97-AF65-F5344CB8AC3E}">
        <p14:creationId xmlns:p14="http://schemas.microsoft.com/office/powerpoint/2010/main" val="1917339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9DEB2-22E6-57D2-FD82-645C011EE4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93BA0073-ABA8-2030-80B8-9467D57002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D1EAAE-5C05-F931-2FFE-E31FE3B66988}"/>
              </a:ext>
            </a:extLst>
          </p:cNvPr>
          <p:cNvSpPr>
            <a:spLocks noGrp="1"/>
          </p:cNvSpPr>
          <p:nvPr>
            <p:ph type="dt" sz="half" idx="10"/>
          </p:nvPr>
        </p:nvSpPr>
        <p:spPr/>
        <p:txBody>
          <a:bodyPr/>
          <a:lstStyle/>
          <a:p>
            <a:fld id="{A28AA8D5-D462-402E-A693-E67B9C5D14B8}" type="datetimeFigureOut">
              <a:rPr lang="en-GB" smtClean="0"/>
              <a:t>01/12/2025</a:t>
            </a:fld>
            <a:endParaRPr lang="en-GB" dirty="0"/>
          </a:p>
        </p:txBody>
      </p:sp>
      <p:sp>
        <p:nvSpPr>
          <p:cNvPr id="5" name="Footer Placeholder 4">
            <a:extLst>
              <a:ext uri="{FF2B5EF4-FFF2-40B4-BE49-F238E27FC236}">
                <a16:creationId xmlns:a16="http://schemas.microsoft.com/office/drawing/2014/main" id="{518B0CA5-62CD-B4AE-2199-F4579A514B05}"/>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4CC9C6D-9161-75C0-258D-FF78F61A5F8F}"/>
              </a:ext>
            </a:extLst>
          </p:cNvPr>
          <p:cNvSpPr>
            <a:spLocks noGrp="1"/>
          </p:cNvSpPr>
          <p:nvPr>
            <p:ph type="sldNum" sz="quarter" idx="12"/>
          </p:nvPr>
        </p:nvSpPr>
        <p:spPr/>
        <p:txBody>
          <a:bodyPr/>
          <a:lstStyle/>
          <a:p>
            <a:fld id="{7A73B167-AF46-465E-9E48-00BD63D347E4}" type="slidenum">
              <a:rPr lang="en-GB" smtClean="0"/>
              <a:t>‹#›</a:t>
            </a:fld>
            <a:endParaRPr lang="en-GB" dirty="0"/>
          </a:p>
        </p:txBody>
      </p:sp>
    </p:spTree>
    <p:extLst>
      <p:ext uri="{BB962C8B-B14F-4D97-AF65-F5344CB8AC3E}">
        <p14:creationId xmlns:p14="http://schemas.microsoft.com/office/powerpoint/2010/main" val="3629766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326BD-AD36-A948-9E35-6B414AE1FC7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F0ACBF4-22CB-72AB-3010-F35A87F069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6203CB7-813C-F168-9D4F-AA80591422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D2FBE65-37FC-18AD-EEED-CF809C1F8FB2}"/>
              </a:ext>
            </a:extLst>
          </p:cNvPr>
          <p:cNvSpPr>
            <a:spLocks noGrp="1"/>
          </p:cNvSpPr>
          <p:nvPr>
            <p:ph type="dt" sz="half" idx="10"/>
          </p:nvPr>
        </p:nvSpPr>
        <p:spPr/>
        <p:txBody>
          <a:bodyPr/>
          <a:lstStyle/>
          <a:p>
            <a:fld id="{A28AA8D5-D462-402E-A693-E67B9C5D14B8}" type="datetimeFigureOut">
              <a:rPr lang="en-GB" smtClean="0"/>
              <a:t>01/12/2025</a:t>
            </a:fld>
            <a:endParaRPr lang="en-GB" dirty="0"/>
          </a:p>
        </p:txBody>
      </p:sp>
      <p:sp>
        <p:nvSpPr>
          <p:cNvPr id="6" name="Footer Placeholder 5">
            <a:extLst>
              <a:ext uri="{FF2B5EF4-FFF2-40B4-BE49-F238E27FC236}">
                <a16:creationId xmlns:a16="http://schemas.microsoft.com/office/drawing/2014/main" id="{3BD42C5F-3661-A381-E70F-031643A0629D}"/>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1C9566AB-38D1-A604-C67F-CEBEDAAB6824}"/>
              </a:ext>
            </a:extLst>
          </p:cNvPr>
          <p:cNvSpPr>
            <a:spLocks noGrp="1"/>
          </p:cNvSpPr>
          <p:nvPr>
            <p:ph type="sldNum" sz="quarter" idx="12"/>
          </p:nvPr>
        </p:nvSpPr>
        <p:spPr/>
        <p:txBody>
          <a:bodyPr/>
          <a:lstStyle/>
          <a:p>
            <a:fld id="{7A73B167-AF46-465E-9E48-00BD63D347E4}" type="slidenum">
              <a:rPr lang="en-GB" smtClean="0"/>
              <a:t>‹#›</a:t>
            </a:fld>
            <a:endParaRPr lang="en-GB" dirty="0"/>
          </a:p>
        </p:txBody>
      </p:sp>
    </p:spTree>
    <p:extLst>
      <p:ext uri="{BB962C8B-B14F-4D97-AF65-F5344CB8AC3E}">
        <p14:creationId xmlns:p14="http://schemas.microsoft.com/office/powerpoint/2010/main" val="730904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28638-7E6F-6C3C-23CB-B9A793EBCA4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35206F9-D50E-84E4-B0D7-2B30D98502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58F9DC-F364-40AB-7B2E-71FE82DCB6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B554119D-899D-5E74-7D36-2E0F93955E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2BD93C-38EE-45E1-A2C3-8DA3E2F035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C4E83CE-69AA-1589-8181-33A225BB40B0}"/>
              </a:ext>
            </a:extLst>
          </p:cNvPr>
          <p:cNvSpPr>
            <a:spLocks noGrp="1"/>
          </p:cNvSpPr>
          <p:nvPr>
            <p:ph type="dt" sz="half" idx="10"/>
          </p:nvPr>
        </p:nvSpPr>
        <p:spPr/>
        <p:txBody>
          <a:bodyPr/>
          <a:lstStyle/>
          <a:p>
            <a:fld id="{A28AA8D5-D462-402E-A693-E67B9C5D14B8}" type="datetimeFigureOut">
              <a:rPr lang="en-GB" smtClean="0"/>
              <a:t>01/12/2025</a:t>
            </a:fld>
            <a:endParaRPr lang="en-GB" dirty="0"/>
          </a:p>
        </p:txBody>
      </p:sp>
      <p:sp>
        <p:nvSpPr>
          <p:cNvPr id="8" name="Footer Placeholder 7">
            <a:extLst>
              <a:ext uri="{FF2B5EF4-FFF2-40B4-BE49-F238E27FC236}">
                <a16:creationId xmlns:a16="http://schemas.microsoft.com/office/drawing/2014/main" id="{22C25DA6-FE6B-A2F4-4DA9-58EA18A7E849}"/>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D111EE90-F4D7-EC55-737B-40A54F793DE1}"/>
              </a:ext>
            </a:extLst>
          </p:cNvPr>
          <p:cNvSpPr>
            <a:spLocks noGrp="1"/>
          </p:cNvSpPr>
          <p:nvPr>
            <p:ph type="sldNum" sz="quarter" idx="12"/>
          </p:nvPr>
        </p:nvSpPr>
        <p:spPr/>
        <p:txBody>
          <a:bodyPr/>
          <a:lstStyle/>
          <a:p>
            <a:fld id="{7A73B167-AF46-465E-9E48-00BD63D347E4}" type="slidenum">
              <a:rPr lang="en-GB" smtClean="0"/>
              <a:t>‹#›</a:t>
            </a:fld>
            <a:endParaRPr lang="en-GB" dirty="0"/>
          </a:p>
        </p:txBody>
      </p:sp>
    </p:spTree>
    <p:extLst>
      <p:ext uri="{BB962C8B-B14F-4D97-AF65-F5344CB8AC3E}">
        <p14:creationId xmlns:p14="http://schemas.microsoft.com/office/powerpoint/2010/main" val="4099822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04A92-84AE-B9E0-9896-FAB439E74B3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6A0B2CC-12E6-DB35-27BC-10F2E8EC763A}"/>
              </a:ext>
            </a:extLst>
          </p:cNvPr>
          <p:cNvSpPr>
            <a:spLocks noGrp="1"/>
          </p:cNvSpPr>
          <p:nvPr>
            <p:ph type="dt" sz="half" idx="10"/>
          </p:nvPr>
        </p:nvSpPr>
        <p:spPr/>
        <p:txBody>
          <a:bodyPr/>
          <a:lstStyle/>
          <a:p>
            <a:fld id="{A28AA8D5-D462-402E-A693-E67B9C5D14B8}" type="datetimeFigureOut">
              <a:rPr lang="en-GB" smtClean="0"/>
              <a:t>01/12/2025</a:t>
            </a:fld>
            <a:endParaRPr lang="en-GB" dirty="0"/>
          </a:p>
        </p:txBody>
      </p:sp>
      <p:sp>
        <p:nvSpPr>
          <p:cNvPr id="4" name="Footer Placeholder 3">
            <a:extLst>
              <a:ext uri="{FF2B5EF4-FFF2-40B4-BE49-F238E27FC236}">
                <a16:creationId xmlns:a16="http://schemas.microsoft.com/office/drawing/2014/main" id="{7268AEAE-AB3A-9EAA-B957-981A081BFDD8}"/>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53A6CE44-FC31-955E-680B-7C69ADA37969}"/>
              </a:ext>
            </a:extLst>
          </p:cNvPr>
          <p:cNvSpPr>
            <a:spLocks noGrp="1"/>
          </p:cNvSpPr>
          <p:nvPr>
            <p:ph type="sldNum" sz="quarter" idx="12"/>
          </p:nvPr>
        </p:nvSpPr>
        <p:spPr/>
        <p:txBody>
          <a:bodyPr/>
          <a:lstStyle/>
          <a:p>
            <a:fld id="{7A73B167-AF46-465E-9E48-00BD63D347E4}" type="slidenum">
              <a:rPr lang="en-GB" smtClean="0"/>
              <a:t>‹#›</a:t>
            </a:fld>
            <a:endParaRPr lang="en-GB" dirty="0"/>
          </a:p>
        </p:txBody>
      </p:sp>
    </p:spTree>
    <p:extLst>
      <p:ext uri="{BB962C8B-B14F-4D97-AF65-F5344CB8AC3E}">
        <p14:creationId xmlns:p14="http://schemas.microsoft.com/office/powerpoint/2010/main" val="3052936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A5A65C-3FC8-9E2C-A0CE-0184824EF48F}"/>
              </a:ext>
            </a:extLst>
          </p:cNvPr>
          <p:cNvSpPr>
            <a:spLocks noGrp="1"/>
          </p:cNvSpPr>
          <p:nvPr>
            <p:ph type="dt" sz="half" idx="10"/>
          </p:nvPr>
        </p:nvSpPr>
        <p:spPr/>
        <p:txBody>
          <a:bodyPr/>
          <a:lstStyle/>
          <a:p>
            <a:fld id="{A28AA8D5-D462-402E-A693-E67B9C5D14B8}" type="datetimeFigureOut">
              <a:rPr lang="en-GB" smtClean="0"/>
              <a:t>01/12/2025</a:t>
            </a:fld>
            <a:endParaRPr lang="en-GB" dirty="0"/>
          </a:p>
        </p:txBody>
      </p:sp>
      <p:sp>
        <p:nvSpPr>
          <p:cNvPr id="3" name="Footer Placeholder 2">
            <a:extLst>
              <a:ext uri="{FF2B5EF4-FFF2-40B4-BE49-F238E27FC236}">
                <a16:creationId xmlns:a16="http://schemas.microsoft.com/office/drawing/2014/main" id="{3922396E-5F11-91E9-FD0A-359E2E5097DF}"/>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C957896C-F863-AA8E-DD1B-1B35FB273D97}"/>
              </a:ext>
            </a:extLst>
          </p:cNvPr>
          <p:cNvSpPr>
            <a:spLocks noGrp="1"/>
          </p:cNvSpPr>
          <p:nvPr>
            <p:ph type="sldNum" sz="quarter" idx="12"/>
          </p:nvPr>
        </p:nvSpPr>
        <p:spPr/>
        <p:txBody>
          <a:bodyPr/>
          <a:lstStyle/>
          <a:p>
            <a:fld id="{7A73B167-AF46-465E-9E48-00BD63D347E4}" type="slidenum">
              <a:rPr lang="en-GB" smtClean="0"/>
              <a:t>‹#›</a:t>
            </a:fld>
            <a:endParaRPr lang="en-GB" dirty="0"/>
          </a:p>
        </p:txBody>
      </p:sp>
    </p:spTree>
    <p:extLst>
      <p:ext uri="{BB962C8B-B14F-4D97-AF65-F5344CB8AC3E}">
        <p14:creationId xmlns:p14="http://schemas.microsoft.com/office/powerpoint/2010/main" val="3344659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7F5DA-482A-29A1-8E47-F44F512570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B8348FE-162B-F76A-69D1-8CE11C6D07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B6E2929-F4DD-6B16-7E57-C4BCECF255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2E1C50-F330-7448-5D2E-54373AFA2F07}"/>
              </a:ext>
            </a:extLst>
          </p:cNvPr>
          <p:cNvSpPr>
            <a:spLocks noGrp="1"/>
          </p:cNvSpPr>
          <p:nvPr>
            <p:ph type="dt" sz="half" idx="10"/>
          </p:nvPr>
        </p:nvSpPr>
        <p:spPr/>
        <p:txBody>
          <a:bodyPr/>
          <a:lstStyle/>
          <a:p>
            <a:fld id="{A28AA8D5-D462-402E-A693-E67B9C5D14B8}" type="datetimeFigureOut">
              <a:rPr lang="en-GB" smtClean="0"/>
              <a:t>01/12/2025</a:t>
            </a:fld>
            <a:endParaRPr lang="en-GB" dirty="0"/>
          </a:p>
        </p:txBody>
      </p:sp>
      <p:sp>
        <p:nvSpPr>
          <p:cNvPr id="6" name="Footer Placeholder 5">
            <a:extLst>
              <a:ext uri="{FF2B5EF4-FFF2-40B4-BE49-F238E27FC236}">
                <a16:creationId xmlns:a16="http://schemas.microsoft.com/office/drawing/2014/main" id="{16791E99-221E-F7EC-A7E5-B88CCCA0BE89}"/>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0A871E81-3352-6089-2D34-BC19208DD4EC}"/>
              </a:ext>
            </a:extLst>
          </p:cNvPr>
          <p:cNvSpPr>
            <a:spLocks noGrp="1"/>
          </p:cNvSpPr>
          <p:nvPr>
            <p:ph type="sldNum" sz="quarter" idx="12"/>
          </p:nvPr>
        </p:nvSpPr>
        <p:spPr/>
        <p:txBody>
          <a:bodyPr/>
          <a:lstStyle/>
          <a:p>
            <a:fld id="{7A73B167-AF46-465E-9E48-00BD63D347E4}" type="slidenum">
              <a:rPr lang="en-GB" smtClean="0"/>
              <a:t>‹#›</a:t>
            </a:fld>
            <a:endParaRPr lang="en-GB" dirty="0"/>
          </a:p>
        </p:txBody>
      </p:sp>
    </p:spTree>
    <p:extLst>
      <p:ext uri="{BB962C8B-B14F-4D97-AF65-F5344CB8AC3E}">
        <p14:creationId xmlns:p14="http://schemas.microsoft.com/office/powerpoint/2010/main" val="1458085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09DD8-5373-1D51-804F-8891974DC7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D759310-F480-0BC8-8589-003368DE29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38608EC9-169B-4B61-E8F3-23613891DA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B580F3-3061-F475-3038-89AFCDFBBC17}"/>
              </a:ext>
            </a:extLst>
          </p:cNvPr>
          <p:cNvSpPr>
            <a:spLocks noGrp="1"/>
          </p:cNvSpPr>
          <p:nvPr>
            <p:ph type="dt" sz="half" idx="10"/>
          </p:nvPr>
        </p:nvSpPr>
        <p:spPr/>
        <p:txBody>
          <a:bodyPr/>
          <a:lstStyle/>
          <a:p>
            <a:fld id="{A28AA8D5-D462-402E-A693-E67B9C5D14B8}" type="datetimeFigureOut">
              <a:rPr lang="en-GB" smtClean="0"/>
              <a:t>01/12/2025</a:t>
            </a:fld>
            <a:endParaRPr lang="en-GB" dirty="0"/>
          </a:p>
        </p:txBody>
      </p:sp>
      <p:sp>
        <p:nvSpPr>
          <p:cNvPr id="6" name="Footer Placeholder 5">
            <a:extLst>
              <a:ext uri="{FF2B5EF4-FFF2-40B4-BE49-F238E27FC236}">
                <a16:creationId xmlns:a16="http://schemas.microsoft.com/office/drawing/2014/main" id="{C6754047-5727-B2BC-99B4-7CF6D0B41156}"/>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67F8C38B-8983-AE15-28D1-AAE82504ED84}"/>
              </a:ext>
            </a:extLst>
          </p:cNvPr>
          <p:cNvSpPr>
            <a:spLocks noGrp="1"/>
          </p:cNvSpPr>
          <p:nvPr>
            <p:ph type="sldNum" sz="quarter" idx="12"/>
          </p:nvPr>
        </p:nvSpPr>
        <p:spPr/>
        <p:txBody>
          <a:bodyPr/>
          <a:lstStyle/>
          <a:p>
            <a:fld id="{7A73B167-AF46-465E-9E48-00BD63D347E4}" type="slidenum">
              <a:rPr lang="en-GB" smtClean="0"/>
              <a:t>‹#›</a:t>
            </a:fld>
            <a:endParaRPr lang="en-GB" dirty="0"/>
          </a:p>
        </p:txBody>
      </p:sp>
    </p:spTree>
    <p:extLst>
      <p:ext uri="{BB962C8B-B14F-4D97-AF65-F5344CB8AC3E}">
        <p14:creationId xmlns:p14="http://schemas.microsoft.com/office/powerpoint/2010/main" val="41825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77652-9362-CA63-D087-0D774EC1FEC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33263B8-4075-6733-C775-DE9D42DC80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C8E8269-767C-07A2-10EB-3B7BF366DB5A}"/>
              </a:ext>
            </a:extLst>
          </p:cNvPr>
          <p:cNvSpPr>
            <a:spLocks noGrp="1"/>
          </p:cNvSpPr>
          <p:nvPr>
            <p:ph type="dt" sz="half" idx="10"/>
          </p:nvPr>
        </p:nvSpPr>
        <p:spPr/>
        <p:txBody>
          <a:bodyPr/>
          <a:lstStyle/>
          <a:p>
            <a:fld id="{A28AA8D5-D462-402E-A693-E67B9C5D14B8}" type="datetimeFigureOut">
              <a:rPr lang="en-GB" smtClean="0"/>
              <a:t>01/12/2025</a:t>
            </a:fld>
            <a:endParaRPr lang="en-GB" dirty="0"/>
          </a:p>
        </p:txBody>
      </p:sp>
      <p:sp>
        <p:nvSpPr>
          <p:cNvPr id="5" name="Footer Placeholder 4">
            <a:extLst>
              <a:ext uri="{FF2B5EF4-FFF2-40B4-BE49-F238E27FC236}">
                <a16:creationId xmlns:a16="http://schemas.microsoft.com/office/drawing/2014/main" id="{6E495933-9948-6C46-A133-A3C6DE4D388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198DBBE8-2064-B935-E86C-5BE4ED18E352}"/>
              </a:ext>
            </a:extLst>
          </p:cNvPr>
          <p:cNvSpPr>
            <a:spLocks noGrp="1"/>
          </p:cNvSpPr>
          <p:nvPr>
            <p:ph type="sldNum" sz="quarter" idx="12"/>
          </p:nvPr>
        </p:nvSpPr>
        <p:spPr/>
        <p:txBody>
          <a:bodyPr/>
          <a:lstStyle/>
          <a:p>
            <a:fld id="{7A73B167-AF46-465E-9E48-00BD63D347E4}" type="slidenum">
              <a:rPr lang="en-GB" smtClean="0"/>
              <a:t>‹#›</a:t>
            </a:fld>
            <a:endParaRPr lang="en-GB" dirty="0"/>
          </a:p>
        </p:txBody>
      </p:sp>
    </p:spTree>
    <p:extLst>
      <p:ext uri="{BB962C8B-B14F-4D97-AF65-F5344CB8AC3E}">
        <p14:creationId xmlns:p14="http://schemas.microsoft.com/office/powerpoint/2010/main" val="5322000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5464DC-BD4D-D945-2AF7-CC683B0653C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46AB5EC-A1A4-4EFA-1E48-59FAE5E410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7CE6751-8B21-1816-B625-B179F1621734}"/>
              </a:ext>
            </a:extLst>
          </p:cNvPr>
          <p:cNvSpPr>
            <a:spLocks noGrp="1"/>
          </p:cNvSpPr>
          <p:nvPr>
            <p:ph type="dt" sz="half" idx="10"/>
          </p:nvPr>
        </p:nvSpPr>
        <p:spPr/>
        <p:txBody>
          <a:bodyPr/>
          <a:lstStyle/>
          <a:p>
            <a:fld id="{A28AA8D5-D462-402E-A693-E67B9C5D14B8}" type="datetimeFigureOut">
              <a:rPr lang="en-GB" smtClean="0"/>
              <a:t>01/12/2025</a:t>
            </a:fld>
            <a:endParaRPr lang="en-GB" dirty="0"/>
          </a:p>
        </p:txBody>
      </p:sp>
      <p:sp>
        <p:nvSpPr>
          <p:cNvPr id="5" name="Footer Placeholder 4">
            <a:extLst>
              <a:ext uri="{FF2B5EF4-FFF2-40B4-BE49-F238E27FC236}">
                <a16:creationId xmlns:a16="http://schemas.microsoft.com/office/drawing/2014/main" id="{897EBFEA-BB9B-49D9-1C4C-640A361F64A6}"/>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B7F031AF-A389-C6DB-B656-A2147D702B16}"/>
              </a:ext>
            </a:extLst>
          </p:cNvPr>
          <p:cNvSpPr>
            <a:spLocks noGrp="1"/>
          </p:cNvSpPr>
          <p:nvPr>
            <p:ph type="sldNum" sz="quarter" idx="12"/>
          </p:nvPr>
        </p:nvSpPr>
        <p:spPr/>
        <p:txBody>
          <a:bodyPr/>
          <a:lstStyle/>
          <a:p>
            <a:fld id="{7A73B167-AF46-465E-9E48-00BD63D347E4}" type="slidenum">
              <a:rPr lang="en-GB" smtClean="0"/>
              <a:t>‹#›</a:t>
            </a:fld>
            <a:endParaRPr lang="en-GB" dirty="0"/>
          </a:p>
        </p:txBody>
      </p:sp>
    </p:spTree>
    <p:extLst>
      <p:ext uri="{BB962C8B-B14F-4D97-AF65-F5344CB8AC3E}">
        <p14:creationId xmlns:p14="http://schemas.microsoft.com/office/powerpoint/2010/main" val="1554303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87B17D-1DB1-388F-88EA-86D240E66F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17C5E69-57D4-AA43-A3CE-6C1600EF98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E924039-5B7F-811D-4146-0C4E49CDF8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28AA8D5-D462-402E-A693-E67B9C5D14B8}" type="datetimeFigureOut">
              <a:rPr lang="en-GB" smtClean="0"/>
              <a:t>01/12/2025</a:t>
            </a:fld>
            <a:endParaRPr lang="en-GB" dirty="0"/>
          </a:p>
        </p:txBody>
      </p:sp>
      <p:sp>
        <p:nvSpPr>
          <p:cNvPr id="5" name="Footer Placeholder 4">
            <a:extLst>
              <a:ext uri="{FF2B5EF4-FFF2-40B4-BE49-F238E27FC236}">
                <a16:creationId xmlns:a16="http://schemas.microsoft.com/office/drawing/2014/main" id="{C7E0680D-B26D-8314-416F-B06DD648E2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dirty="0"/>
          </a:p>
        </p:txBody>
      </p:sp>
      <p:sp>
        <p:nvSpPr>
          <p:cNvPr id="6" name="Slide Number Placeholder 5">
            <a:extLst>
              <a:ext uri="{FF2B5EF4-FFF2-40B4-BE49-F238E27FC236}">
                <a16:creationId xmlns:a16="http://schemas.microsoft.com/office/drawing/2014/main" id="{CEE6AD6C-E726-A794-C45F-795347385D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A73B167-AF46-465E-9E48-00BD63D347E4}" type="slidenum">
              <a:rPr lang="en-GB" smtClean="0"/>
              <a:t>‹#›</a:t>
            </a:fld>
            <a:endParaRPr lang="en-GB" dirty="0"/>
          </a:p>
        </p:txBody>
      </p:sp>
    </p:spTree>
    <p:extLst>
      <p:ext uri="{BB962C8B-B14F-4D97-AF65-F5344CB8AC3E}">
        <p14:creationId xmlns:p14="http://schemas.microsoft.com/office/powerpoint/2010/main" val="30815131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youtu.be/gM-aiSlf644" TargetMode="Externa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hyperlink" Target="https://1drv.ms/v/c/7371d90cbe46b1d3/IQBH_mN-vypFSp_lr6VLjq0sAfPEzLEJ_d7hF_gCdEHkUbA?e=KLFQ6L" TargetMode="Externa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hyperlink" Target="https://youtube.com/shorts/8iOUVHw6SN4?si=gh9_9giAJZZgFc2U" TargetMode="Externa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hyperlink" Target="https://youtube.com/shorts/GiuNbUcU1tI?si=g98gQNOW_XRaXSY4" TargetMode="External"/><Relationship Id="rId5" Type="http://schemas.openxmlformats.org/officeDocument/2006/relationships/hyperlink" Target="https://youtu.be/B9fsbKZ2n8I?si=ttUy9z3HcEQHzto8" TargetMode="External"/><Relationship Id="rId4" Type="http://schemas.openxmlformats.org/officeDocument/2006/relationships/hyperlink" Target="https://youtu.be/o6YtptXUakM?si=Tz7EXiTFnEbT5l4_"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hyperlink" Target="https://youtu.be/gM-aiSlf644" TargetMode="Externa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hyperlink" Target="https://1drv.ms/v/c/7371d90cbe46b1d3/IQBais90sUI2Qo4PGiWdDrPJAQN4ypDV4XcmI1D8PdYU2LA?e=Uh6L5E"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8.svg"/></Relationships>
</file>

<file path=ppt/slides/_rels/slide47.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5FEF463D-EE6B-46FF-B7C7-74B09A96C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0" name="Group 19">
            <a:extLst>
              <a:ext uri="{FF2B5EF4-FFF2-40B4-BE49-F238E27FC236}">
                <a16:creationId xmlns:a16="http://schemas.microsoft.com/office/drawing/2014/main" id="{11A27B3A-460C-4100-99B5-817F25979F6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7089" y="1498602"/>
            <a:ext cx="4403345" cy="3940174"/>
            <a:chOff x="827089" y="1498602"/>
            <a:chExt cx="4403345" cy="3940174"/>
          </a:xfrm>
          <a:effectLst>
            <a:outerShdw blurRad="381000" dist="152400" dir="5400000" algn="ctr" rotWithShape="0">
              <a:srgbClr val="000000">
                <a:alpha val="10000"/>
              </a:srgbClr>
            </a:outerShdw>
          </a:effectLst>
        </p:grpSpPr>
        <p:sp>
          <p:nvSpPr>
            <p:cNvPr id="21" name="Freeform: Shape 20">
              <a:extLst>
                <a:ext uri="{FF2B5EF4-FFF2-40B4-BE49-F238E27FC236}">
                  <a16:creationId xmlns:a16="http://schemas.microsoft.com/office/drawing/2014/main" id="{35450488-7F33-43E4-B4DA-CAB50A1CC3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7089" y="1498602"/>
              <a:ext cx="4403345" cy="3940174"/>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4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4 w 5260975"/>
                <a:gd name="connsiteY10" fmla="*/ 3775382 h 4707593"/>
                <a:gd name="connsiteX11" fmla="*/ 4897844 w 5260975"/>
                <a:gd name="connsiteY11" fmla="*/ 3792472 h 4707593"/>
                <a:gd name="connsiteX12" fmla="*/ 4870767 w 5260975"/>
                <a:gd name="connsiteY12" fmla="*/ 3811388 h 4707593"/>
                <a:gd name="connsiteX13" fmla="*/ 4847917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50 w 5260975"/>
                <a:gd name="connsiteY22" fmla="*/ 4089832 h 4707593"/>
                <a:gd name="connsiteX23" fmla="*/ 4468944 w 5260975"/>
                <a:gd name="connsiteY23" fmla="*/ 4113356 h 4707593"/>
                <a:gd name="connsiteX24" fmla="*/ 4452623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4"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4" y="3748498"/>
                    <a:pt x="4977440" y="3752627"/>
                  </a:cubicBezTo>
                  <a:cubicBezTo>
                    <a:pt x="4964094" y="3761268"/>
                    <a:pt x="4949500" y="3768277"/>
                    <a:pt x="4935194" y="3775382"/>
                  </a:cubicBezTo>
                  <a:cubicBezTo>
                    <a:pt x="4922903" y="3781431"/>
                    <a:pt x="4909846" y="3785943"/>
                    <a:pt x="4897844" y="3792472"/>
                  </a:cubicBezTo>
                  <a:cubicBezTo>
                    <a:pt x="4888243" y="3797658"/>
                    <a:pt x="4879697" y="3804859"/>
                    <a:pt x="4870767" y="3811388"/>
                  </a:cubicBezTo>
                  <a:cubicBezTo>
                    <a:pt x="4862990" y="3817052"/>
                    <a:pt x="4854445" y="3821949"/>
                    <a:pt x="4847917"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2" y="4077254"/>
                    <a:pt x="4512727" y="4081479"/>
                    <a:pt x="4502550" y="4089832"/>
                  </a:cubicBezTo>
                  <a:cubicBezTo>
                    <a:pt x="4491987" y="4098473"/>
                    <a:pt x="4479986" y="4105290"/>
                    <a:pt x="4468944" y="4113356"/>
                  </a:cubicBezTo>
                  <a:cubicBezTo>
                    <a:pt x="4463087" y="4117676"/>
                    <a:pt x="4458286" y="4123341"/>
                    <a:pt x="4452623"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alpha val="14000"/>
                  </a:schemeClr>
                </a:solidFill>
              </a:endParaRPr>
            </a:p>
          </p:txBody>
        </p:sp>
        <p:sp>
          <p:nvSpPr>
            <p:cNvPr id="22" name="Freeform: Shape 21">
              <a:extLst>
                <a:ext uri="{FF2B5EF4-FFF2-40B4-BE49-F238E27FC236}">
                  <a16:creationId xmlns:a16="http://schemas.microsoft.com/office/drawing/2014/main" id="{EE5154B2-BEF9-4C08-B6B1-9DED9F17C4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7089" y="1498602"/>
              <a:ext cx="4403345" cy="3940174"/>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4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4 w 5260975"/>
                <a:gd name="connsiteY10" fmla="*/ 3775382 h 4707593"/>
                <a:gd name="connsiteX11" fmla="*/ 4897844 w 5260975"/>
                <a:gd name="connsiteY11" fmla="*/ 3792472 h 4707593"/>
                <a:gd name="connsiteX12" fmla="*/ 4870767 w 5260975"/>
                <a:gd name="connsiteY12" fmla="*/ 3811388 h 4707593"/>
                <a:gd name="connsiteX13" fmla="*/ 4847917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50 w 5260975"/>
                <a:gd name="connsiteY22" fmla="*/ 4089832 h 4707593"/>
                <a:gd name="connsiteX23" fmla="*/ 4468944 w 5260975"/>
                <a:gd name="connsiteY23" fmla="*/ 4113356 h 4707593"/>
                <a:gd name="connsiteX24" fmla="*/ 4452623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4"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4" y="3748498"/>
                    <a:pt x="4977440" y="3752627"/>
                  </a:cubicBezTo>
                  <a:cubicBezTo>
                    <a:pt x="4964094" y="3761268"/>
                    <a:pt x="4949500" y="3768277"/>
                    <a:pt x="4935194" y="3775382"/>
                  </a:cubicBezTo>
                  <a:cubicBezTo>
                    <a:pt x="4922903" y="3781431"/>
                    <a:pt x="4909846" y="3785943"/>
                    <a:pt x="4897844" y="3792472"/>
                  </a:cubicBezTo>
                  <a:cubicBezTo>
                    <a:pt x="4888243" y="3797658"/>
                    <a:pt x="4879697" y="3804859"/>
                    <a:pt x="4870767" y="3811388"/>
                  </a:cubicBezTo>
                  <a:cubicBezTo>
                    <a:pt x="4862990" y="3817052"/>
                    <a:pt x="4854445" y="3821949"/>
                    <a:pt x="4847917"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2" y="4077254"/>
                    <a:pt x="4512727" y="4081479"/>
                    <a:pt x="4502550" y="4089832"/>
                  </a:cubicBezTo>
                  <a:cubicBezTo>
                    <a:pt x="4491987" y="4098473"/>
                    <a:pt x="4479986" y="4105290"/>
                    <a:pt x="4468944" y="4113356"/>
                  </a:cubicBezTo>
                  <a:cubicBezTo>
                    <a:pt x="4463087" y="4117676"/>
                    <a:pt x="4458286" y="4123341"/>
                    <a:pt x="4452623"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bg1">
                <a:alpha val="86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alpha val="14000"/>
                  </a:schemeClr>
                </a:solidFill>
              </a:endParaRPr>
            </a:p>
          </p:txBody>
        </p:sp>
      </p:grpSp>
      <p:sp>
        <p:nvSpPr>
          <p:cNvPr id="2" name="Title 1">
            <a:extLst>
              <a:ext uri="{FF2B5EF4-FFF2-40B4-BE49-F238E27FC236}">
                <a16:creationId xmlns:a16="http://schemas.microsoft.com/office/drawing/2014/main" id="{C5AEF874-E31C-3293-CF9F-8D995EEBE489}"/>
              </a:ext>
            </a:extLst>
          </p:cNvPr>
          <p:cNvSpPr>
            <a:spLocks noGrp="1"/>
          </p:cNvSpPr>
          <p:nvPr>
            <p:ph type="ctrTitle"/>
          </p:nvPr>
        </p:nvSpPr>
        <p:spPr>
          <a:xfrm>
            <a:off x="1268127" y="1626781"/>
            <a:ext cx="3686645" cy="3104707"/>
          </a:xfrm>
        </p:spPr>
        <p:txBody>
          <a:bodyPr vert="horz" lIns="91440" tIns="45720" rIns="91440" bIns="45720" rtlCol="0" anchor="t">
            <a:normAutofit/>
          </a:bodyPr>
          <a:lstStyle/>
          <a:p>
            <a:pPr algn="l"/>
            <a:r>
              <a:rPr lang="en-US" sz="4000" kern="1200" dirty="0">
                <a:solidFill>
                  <a:schemeClr val="tx1"/>
                </a:solidFill>
                <a:latin typeface="+mj-lt"/>
                <a:ea typeface="+mj-ea"/>
                <a:cs typeface="+mj-cs"/>
              </a:rPr>
              <a:t>Engineering Design</a:t>
            </a:r>
            <a:br>
              <a:rPr lang="en-US" sz="4000" kern="1200" dirty="0">
                <a:solidFill>
                  <a:schemeClr val="tx1"/>
                </a:solidFill>
                <a:latin typeface="+mj-lt"/>
                <a:ea typeface="+mj-ea"/>
                <a:cs typeface="+mj-cs"/>
              </a:rPr>
            </a:br>
            <a:r>
              <a:rPr lang="en-US" sz="4000" kern="1200" dirty="0">
                <a:solidFill>
                  <a:schemeClr val="tx1"/>
                </a:solidFill>
                <a:latin typeface="+mj-lt"/>
                <a:ea typeface="+mj-ea"/>
                <a:cs typeface="+mj-cs"/>
              </a:rPr>
              <a:t>(EEII327 | MCTR 327 | REII327)</a:t>
            </a:r>
          </a:p>
        </p:txBody>
      </p:sp>
      <p:sp>
        <p:nvSpPr>
          <p:cNvPr id="24" name="Freeform: Shape 23">
            <a:extLst>
              <a:ext uri="{FF2B5EF4-FFF2-40B4-BE49-F238E27FC236}">
                <a16:creationId xmlns:a16="http://schemas.microsoft.com/office/drawing/2014/main" id="{30B5ED20-499B-41E7-95BE-8BBD31314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7088" y="4258080"/>
            <a:ext cx="4403345" cy="1180695"/>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Shape 25">
            <a:extLst>
              <a:ext uri="{FF2B5EF4-FFF2-40B4-BE49-F238E27FC236}">
                <a16:creationId xmlns:a16="http://schemas.microsoft.com/office/drawing/2014/main" id="{35A51D22-76EA-4C70-B5C9-ED3946924C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7088" y="4258080"/>
            <a:ext cx="4403345" cy="1180695"/>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extBox 3">
            <a:extLst>
              <a:ext uri="{FF2B5EF4-FFF2-40B4-BE49-F238E27FC236}">
                <a16:creationId xmlns:a16="http://schemas.microsoft.com/office/drawing/2014/main" id="{073A2A62-50E3-2872-3A3A-4AF460A573CB}"/>
              </a:ext>
            </a:extLst>
          </p:cNvPr>
          <p:cNvSpPr txBox="1"/>
          <p:nvPr/>
        </p:nvSpPr>
        <p:spPr>
          <a:xfrm>
            <a:off x="5230433" y="1311088"/>
            <a:ext cx="6826888" cy="4327261"/>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400" dirty="0"/>
              <a:t>Group 10</a:t>
            </a:r>
          </a:p>
          <a:p>
            <a:pPr indent="-228600">
              <a:lnSpc>
                <a:spcPct val="90000"/>
              </a:lnSpc>
              <a:spcAft>
                <a:spcPts val="600"/>
              </a:spcAft>
              <a:buFont typeface="Arial" panose="020B0604020202020204" pitchFamily="34" charset="0"/>
              <a:buChar char="•"/>
            </a:pPr>
            <a:r>
              <a:rPr lang="en-US" sz="2400" dirty="0"/>
              <a:t>Group: Power Lifters</a:t>
            </a:r>
          </a:p>
          <a:p>
            <a:pPr indent="-228600">
              <a:lnSpc>
                <a:spcPct val="90000"/>
              </a:lnSpc>
              <a:spcAft>
                <a:spcPts val="600"/>
              </a:spcAft>
              <a:buFont typeface="Arial" panose="020B0604020202020204" pitchFamily="34" charset="0"/>
              <a:buChar char="•"/>
            </a:pPr>
            <a:r>
              <a:rPr lang="en-US" sz="2400" dirty="0"/>
              <a:t>Harm Fourie: Lateral Movement</a:t>
            </a:r>
          </a:p>
          <a:p>
            <a:pPr indent="-228600">
              <a:lnSpc>
                <a:spcPct val="90000"/>
              </a:lnSpc>
              <a:spcAft>
                <a:spcPts val="600"/>
              </a:spcAft>
              <a:buFont typeface="Arial" panose="020B0604020202020204" pitchFamily="34" charset="0"/>
              <a:buChar char="•"/>
            </a:pPr>
            <a:r>
              <a:rPr lang="en-US" sz="2400" dirty="0"/>
              <a:t>Jonathan Robberts: Hoisting Mechanism</a:t>
            </a:r>
          </a:p>
          <a:p>
            <a:pPr indent="-228600">
              <a:lnSpc>
                <a:spcPct val="90000"/>
              </a:lnSpc>
              <a:spcAft>
                <a:spcPts val="600"/>
              </a:spcAft>
              <a:buFont typeface="Arial" panose="020B0604020202020204" pitchFamily="34" charset="0"/>
              <a:buChar char="•"/>
            </a:pPr>
            <a:r>
              <a:rPr lang="en-US" sz="2400" dirty="0"/>
              <a:t>Muhammed Saidoo: Embedded/Main Controller</a:t>
            </a:r>
          </a:p>
          <a:p>
            <a:pPr indent="-228600">
              <a:lnSpc>
                <a:spcPct val="90000"/>
              </a:lnSpc>
              <a:spcAft>
                <a:spcPts val="600"/>
              </a:spcAft>
              <a:buFont typeface="Arial" panose="020B0604020202020204" pitchFamily="34" charset="0"/>
              <a:buChar char="•"/>
            </a:pPr>
            <a:r>
              <a:rPr lang="en-US" sz="2400" dirty="0"/>
              <a:t>Erik De Klerk: Wireless pendant </a:t>
            </a:r>
          </a:p>
          <a:p>
            <a:pPr indent="-228600">
              <a:lnSpc>
                <a:spcPct val="90000"/>
              </a:lnSpc>
              <a:spcAft>
                <a:spcPts val="600"/>
              </a:spcAft>
              <a:buFont typeface="Arial" panose="020B0604020202020204" pitchFamily="34" charset="0"/>
              <a:buChar char="•"/>
            </a:pPr>
            <a:r>
              <a:rPr lang="en-US" sz="2400" dirty="0"/>
              <a:t>Davin Groenewald: Drive Electronics</a:t>
            </a:r>
            <a:br>
              <a:rPr lang="en-US" sz="2400" dirty="0"/>
            </a:br>
            <a:endParaRPr lang="en-US" sz="2400" dirty="0">
              <a:solidFill>
                <a:srgbClr val="FFFFFF">
                  <a:alpha val="80000"/>
                </a:srgbClr>
              </a:solidFill>
            </a:endParaRPr>
          </a:p>
          <a:p>
            <a:pPr>
              <a:lnSpc>
                <a:spcPct val="90000"/>
              </a:lnSpc>
              <a:spcAft>
                <a:spcPts val="600"/>
              </a:spcAft>
            </a:pPr>
            <a:endParaRPr lang="en-US" sz="2400" dirty="0">
              <a:solidFill>
                <a:schemeClr val="tx1">
                  <a:alpha val="80000"/>
                </a:schemeClr>
              </a:solidFill>
            </a:endParaRPr>
          </a:p>
        </p:txBody>
      </p:sp>
    </p:spTree>
    <p:extLst>
      <p:ext uri="{BB962C8B-B14F-4D97-AF65-F5344CB8AC3E}">
        <p14:creationId xmlns:p14="http://schemas.microsoft.com/office/powerpoint/2010/main" val="237497429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5C922F43-1A5B-6781-5517-C0A81FB67F56}"/>
              </a:ext>
            </a:extLst>
          </p:cNvPr>
          <p:cNvPicPr>
            <a:picLocks noChangeAspect="1"/>
          </p:cNvPicPr>
          <p:nvPr/>
        </p:nvPicPr>
        <p:blipFill>
          <a:blip r:embed="rId2">
            <a:alphaModFix amt="40000"/>
          </a:blip>
          <a:srcRect/>
          <a:stretch>
            <a:fillRect/>
          </a:stretch>
        </p:blipFill>
        <p:spPr>
          <a:xfrm>
            <a:off x="20" y="10"/>
            <a:ext cx="12191979" cy="6857990"/>
          </a:xfrm>
          <a:prstGeom prst="rect">
            <a:avLst/>
          </a:prstGeom>
        </p:spPr>
      </p:pic>
      <p:sp>
        <p:nvSpPr>
          <p:cNvPr id="2" name="Title 1">
            <a:extLst>
              <a:ext uri="{FF2B5EF4-FFF2-40B4-BE49-F238E27FC236}">
                <a16:creationId xmlns:a16="http://schemas.microsoft.com/office/drawing/2014/main" id="{617B3B04-89D9-0220-F0C3-785D325F7D27}"/>
              </a:ext>
            </a:extLst>
          </p:cNvPr>
          <p:cNvSpPr>
            <a:spLocks noGrp="1"/>
          </p:cNvSpPr>
          <p:nvPr>
            <p:ph type="title"/>
          </p:nvPr>
        </p:nvSpPr>
        <p:spPr>
          <a:xfrm>
            <a:off x="841249" y="941832"/>
            <a:ext cx="10506456" cy="2057400"/>
          </a:xfrm>
        </p:spPr>
        <p:txBody>
          <a:bodyPr anchor="b">
            <a:normAutofit/>
          </a:bodyPr>
          <a:lstStyle/>
          <a:p>
            <a:r>
              <a:rPr lang="en-GB" sz="5000" dirty="0">
                <a:solidFill>
                  <a:schemeClr val="bg1"/>
                </a:solidFill>
              </a:rPr>
              <a:t>Main System Requirements</a:t>
            </a:r>
          </a:p>
        </p:txBody>
      </p:sp>
      <p:sp>
        <p:nvSpPr>
          <p:cNvPr id="18" name="Rectangle 17">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3" name="Rectangle 1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241202"/>
            <a:ext cx="10506456"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0D403B2B-4706-FCE7-3E63-DEAA14C0F7EF}"/>
              </a:ext>
            </a:extLst>
          </p:cNvPr>
          <p:cNvSpPr>
            <a:spLocks noGrp="1"/>
          </p:cNvSpPr>
          <p:nvPr>
            <p:ph idx="1"/>
          </p:nvPr>
        </p:nvSpPr>
        <p:spPr>
          <a:xfrm>
            <a:off x="841248" y="3502152"/>
            <a:ext cx="10506456" cy="2670048"/>
          </a:xfrm>
        </p:spPr>
        <p:txBody>
          <a:bodyPr>
            <a:normAutofit/>
          </a:bodyPr>
          <a:lstStyle/>
          <a:p>
            <a:r>
              <a:rPr lang="en-US" sz="1600" dirty="0">
                <a:solidFill>
                  <a:schemeClr val="bg1"/>
                </a:solidFill>
              </a:rPr>
              <a:t>The system must safely support and transport a 35 kg load.</a:t>
            </a:r>
          </a:p>
          <a:p>
            <a:r>
              <a:rPr lang="en-US" sz="1600" dirty="0">
                <a:solidFill>
                  <a:schemeClr val="bg1"/>
                </a:solidFill>
              </a:rPr>
              <a:t>It must provide horizontal movement of the trolley.</a:t>
            </a:r>
          </a:p>
          <a:p>
            <a:r>
              <a:rPr lang="en-US" sz="1600" dirty="0">
                <a:solidFill>
                  <a:schemeClr val="bg1"/>
                </a:solidFill>
              </a:rPr>
              <a:t>It must attach to the load and perform vertical lifting (hoisting) reliably.</a:t>
            </a:r>
          </a:p>
          <a:p>
            <a:r>
              <a:rPr lang="en-US" sz="1600" dirty="0">
                <a:solidFill>
                  <a:schemeClr val="bg1"/>
                </a:solidFill>
              </a:rPr>
              <a:t>The system must offer speed control for both horizontal movement (left/right) and vertical movement (up/down).</a:t>
            </a:r>
          </a:p>
          <a:p>
            <a:r>
              <a:rPr lang="en-US" sz="1600" dirty="0">
                <a:solidFill>
                  <a:schemeClr val="bg1"/>
                </a:solidFill>
              </a:rPr>
              <a:t>An emergency stop mechanism must be available and immediately responsive.</a:t>
            </a:r>
          </a:p>
          <a:p>
            <a:r>
              <a:rPr lang="en-US" sz="1600" dirty="0">
                <a:solidFill>
                  <a:schemeClr val="bg1"/>
                </a:solidFill>
              </a:rPr>
              <a:t>The system must be inherently safe, minimizing risk during operation.</a:t>
            </a:r>
          </a:p>
          <a:p>
            <a:r>
              <a:rPr lang="en-US" sz="1600" dirty="0">
                <a:solidFill>
                  <a:schemeClr val="bg1"/>
                </a:solidFill>
              </a:rPr>
              <a:t>It must include effective and reliable wireless communication between the controller and the system.</a:t>
            </a:r>
            <a:endParaRPr lang="en-GB" sz="1600" dirty="0">
              <a:solidFill>
                <a:schemeClr val="bg1"/>
              </a:solidFill>
            </a:endParaRPr>
          </a:p>
        </p:txBody>
      </p:sp>
    </p:spTree>
    <p:extLst>
      <p:ext uri="{BB962C8B-B14F-4D97-AF65-F5344CB8AC3E}">
        <p14:creationId xmlns:p14="http://schemas.microsoft.com/office/powerpoint/2010/main" val="565064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4524344-6823-49EA-89D4-E36A82A9FD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214A7CD-F7C1-74D2-EF93-D5BBAC79F664}"/>
              </a:ext>
            </a:extLst>
          </p:cNvPr>
          <p:cNvSpPr>
            <a:spLocks noGrp="1"/>
          </p:cNvSpPr>
          <p:nvPr>
            <p:ph type="title"/>
          </p:nvPr>
        </p:nvSpPr>
        <p:spPr>
          <a:xfrm>
            <a:off x="397651" y="286726"/>
            <a:ext cx="8748712" cy="1090668"/>
          </a:xfrm>
        </p:spPr>
        <p:txBody>
          <a:bodyPr vert="horz" lIns="91440" tIns="45720" rIns="91440" bIns="45720" rtlCol="0" anchor="b">
            <a:normAutofit/>
          </a:bodyPr>
          <a:lstStyle/>
          <a:p>
            <a:r>
              <a:rPr lang="en-US" sz="7200" kern="1200" dirty="0">
                <a:solidFill>
                  <a:schemeClr val="bg1"/>
                </a:solidFill>
                <a:latin typeface="+mj-lt"/>
                <a:ea typeface="+mj-ea"/>
                <a:cs typeface="+mj-cs"/>
              </a:rPr>
              <a:t>Design Aspects</a:t>
            </a:r>
          </a:p>
        </p:txBody>
      </p:sp>
      <p:sp>
        <p:nvSpPr>
          <p:cNvPr id="3" name="Text Placeholder 2">
            <a:extLst>
              <a:ext uri="{FF2B5EF4-FFF2-40B4-BE49-F238E27FC236}">
                <a16:creationId xmlns:a16="http://schemas.microsoft.com/office/drawing/2014/main" id="{AB526D20-E1DE-7E3A-C539-4C5FEE7D7CDC}"/>
              </a:ext>
            </a:extLst>
          </p:cNvPr>
          <p:cNvSpPr>
            <a:spLocks noGrp="1"/>
          </p:cNvSpPr>
          <p:nvPr>
            <p:ph type="body" idx="1"/>
          </p:nvPr>
        </p:nvSpPr>
        <p:spPr>
          <a:xfrm>
            <a:off x="1712914" y="4105804"/>
            <a:ext cx="7866062" cy="1920136"/>
          </a:xfrm>
        </p:spPr>
        <p:txBody>
          <a:bodyPr vert="horz" wrap="square" lIns="91440" tIns="45720" rIns="91440" bIns="45720" rtlCol="0">
            <a:normAutofit/>
          </a:bodyPr>
          <a:lstStyle/>
          <a:p>
            <a:endParaRPr lang="en-US" kern="1200" dirty="0">
              <a:solidFill>
                <a:schemeClr val="bg1"/>
              </a:solidFill>
              <a:latin typeface="+mn-lt"/>
              <a:ea typeface="+mn-ea"/>
              <a:cs typeface="+mn-cs"/>
            </a:endParaRPr>
          </a:p>
          <a:p>
            <a:endParaRPr lang="en-US" kern="1200" dirty="0">
              <a:solidFill>
                <a:schemeClr val="bg1"/>
              </a:solidFill>
              <a:latin typeface="+mn-lt"/>
              <a:ea typeface="+mn-ea"/>
              <a:cs typeface="+mn-cs"/>
            </a:endParaRPr>
          </a:p>
          <a:p>
            <a:endParaRPr lang="en-US" kern="1200" dirty="0">
              <a:solidFill>
                <a:schemeClr val="bg1"/>
              </a:solidFill>
              <a:latin typeface="+mn-lt"/>
              <a:ea typeface="+mn-ea"/>
              <a:cs typeface="+mn-cs"/>
            </a:endParaRPr>
          </a:p>
          <a:p>
            <a:endParaRPr lang="en-US" kern="1200" dirty="0">
              <a:solidFill>
                <a:schemeClr val="bg1"/>
              </a:solidFill>
              <a:latin typeface="+mn-lt"/>
              <a:ea typeface="+mn-ea"/>
              <a:cs typeface="+mn-cs"/>
            </a:endParaRPr>
          </a:p>
          <a:p>
            <a:endParaRPr lang="en-US" kern="1200" dirty="0">
              <a:solidFill>
                <a:schemeClr val="bg1"/>
              </a:solidFill>
              <a:latin typeface="+mn-lt"/>
              <a:ea typeface="+mn-ea"/>
              <a:cs typeface="+mn-cs"/>
            </a:endParaRPr>
          </a:p>
          <a:p>
            <a:endParaRPr lang="en-US" kern="1200" dirty="0">
              <a:solidFill>
                <a:schemeClr val="bg1"/>
              </a:solidFill>
              <a:latin typeface="+mn-lt"/>
              <a:ea typeface="+mn-ea"/>
              <a:cs typeface="+mn-cs"/>
            </a:endParaRPr>
          </a:p>
        </p:txBody>
      </p:sp>
      <p:grpSp>
        <p:nvGrpSpPr>
          <p:cNvPr id="10" name="Group 9">
            <a:extLst>
              <a:ext uri="{FF2B5EF4-FFF2-40B4-BE49-F238E27FC236}">
                <a16:creationId xmlns:a16="http://schemas.microsoft.com/office/drawing/2014/main" id="{83F0465A-8953-42AC-8F67-7B9A54E660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142518"/>
            <a:ext cx="10455568" cy="715482"/>
            <a:chOff x="0" y="6142518"/>
            <a:chExt cx="10455568" cy="715482"/>
          </a:xfrm>
          <a:effectLst>
            <a:outerShdw blurRad="381000" dist="152400" dir="16200000" algn="ctr" rotWithShape="0">
              <a:srgbClr val="000000">
                <a:alpha val="10000"/>
              </a:srgbClr>
            </a:outerShdw>
          </a:effectLst>
        </p:grpSpPr>
        <p:sp>
          <p:nvSpPr>
            <p:cNvPr id="11" name="Freeform: Shape 10">
              <a:extLst>
                <a:ext uri="{FF2B5EF4-FFF2-40B4-BE49-F238E27FC236}">
                  <a16:creationId xmlns:a16="http://schemas.microsoft.com/office/drawing/2014/main" id="{50CE1BBA-977A-4210-A80D-8A0BAAA18B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17789" y="6848400"/>
              <a:ext cx="153399" cy="9600"/>
            </a:xfrm>
            <a:custGeom>
              <a:avLst/>
              <a:gdLst>
                <a:gd name="connsiteX0" fmla="*/ 92746 w 153399"/>
                <a:gd name="connsiteY0" fmla="*/ 43 h 9600"/>
                <a:gd name="connsiteX1" fmla="*/ 144918 w 153399"/>
                <a:gd name="connsiteY1" fmla="*/ 6433 h 9600"/>
                <a:gd name="connsiteX2" fmla="*/ 153399 w 153399"/>
                <a:gd name="connsiteY2" fmla="*/ 9600 h 9600"/>
                <a:gd name="connsiteX3" fmla="*/ 0 w 153399"/>
                <a:gd name="connsiteY3" fmla="*/ 9600 h 9600"/>
                <a:gd name="connsiteX4" fmla="*/ 26678 w 153399"/>
                <a:gd name="connsiteY4" fmla="*/ 6286 h 9600"/>
                <a:gd name="connsiteX5" fmla="*/ 92746 w 153399"/>
                <a:gd name="connsiteY5" fmla="*/ 43 h 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399" h="9600">
                  <a:moveTo>
                    <a:pt x="92746" y="43"/>
                  </a:moveTo>
                  <a:cubicBezTo>
                    <a:pt x="111004" y="-358"/>
                    <a:pt x="128295" y="2072"/>
                    <a:pt x="144918" y="6433"/>
                  </a:cubicBezTo>
                  <a:lnTo>
                    <a:pt x="153399" y="9600"/>
                  </a:lnTo>
                  <a:lnTo>
                    <a:pt x="0" y="9600"/>
                  </a:lnTo>
                  <a:lnTo>
                    <a:pt x="26678" y="6286"/>
                  </a:lnTo>
                  <a:cubicBezTo>
                    <a:pt x="48667" y="3255"/>
                    <a:pt x="70647" y="552"/>
                    <a:pt x="92746" y="43"/>
                  </a:cubicBez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2" name="Group 11">
              <a:extLst>
                <a:ext uri="{FF2B5EF4-FFF2-40B4-BE49-F238E27FC236}">
                  <a16:creationId xmlns:a16="http://schemas.microsoft.com/office/drawing/2014/main" id="{71E1A328-D621-4993-B11B-011ED169AC9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6142518"/>
              <a:ext cx="10455568" cy="715481"/>
              <a:chOff x="0" y="0"/>
              <a:chExt cx="10455568" cy="715481"/>
            </a:xfrm>
          </p:grpSpPr>
          <p:sp>
            <p:nvSpPr>
              <p:cNvPr id="13" name="Freeform: Shape 12">
                <a:extLst>
                  <a:ext uri="{FF2B5EF4-FFF2-40B4-BE49-F238E27FC236}">
                    <a16:creationId xmlns:a16="http://schemas.microsoft.com/office/drawing/2014/main" id="{41D2543A-0A6F-4980-98CA-658AA8EEAC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
                <a:ext cx="10455568" cy="715479"/>
              </a:xfrm>
              <a:custGeom>
                <a:avLst/>
                <a:gdLst>
                  <a:gd name="connsiteX0" fmla="*/ 0 w 10455568"/>
                  <a:gd name="connsiteY0" fmla="*/ 0 h 715479"/>
                  <a:gd name="connsiteX1" fmla="*/ 10455568 w 10455568"/>
                  <a:gd name="connsiteY1" fmla="*/ 0 h 715479"/>
                  <a:gd name="connsiteX2" fmla="*/ 10434629 w 10455568"/>
                  <a:gd name="connsiteY2" fmla="*/ 8947 h 715479"/>
                  <a:gd name="connsiteX3" fmla="*/ 10249341 w 10455568"/>
                  <a:gd name="connsiteY3" fmla="*/ 73146 h 715479"/>
                  <a:gd name="connsiteX4" fmla="*/ 10172148 w 10455568"/>
                  <a:gd name="connsiteY4" fmla="*/ 103170 h 715479"/>
                  <a:gd name="connsiteX5" fmla="*/ 9994576 w 10455568"/>
                  <a:gd name="connsiteY5" fmla="*/ 156647 h 715479"/>
                  <a:gd name="connsiteX6" fmla="*/ 9894474 w 10455568"/>
                  <a:gd name="connsiteY6" fmla="*/ 192604 h 715479"/>
                  <a:gd name="connsiteX7" fmla="*/ 9647603 w 10455568"/>
                  <a:gd name="connsiteY7" fmla="*/ 242354 h 715479"/>
                  <a:gd name="connsiteX8" fmla="*/ 9392533 w 10455568"/>
                  <a:gd name="connsiteY8" fmla="*/ 291498 h 715479"/>
                  <a:gd name="connsiteX9" fmla="*/ 9252019 w 10455568"/>
                  <a:gd name="connsiteY9" fmla="*/ 311564 h 715479"/>
                  <a:gd name="connsiteX10" fmla="*/ 9129899 w 10455568"/>
                  <a:gd name="connsiteY10" fmla="*/ 336497 h 715479"/>
                  <a:gd name="connsiteX11" fmla="*/ 9023312 w 10455568"/>
                  <a:gd name="connsiteY11" fmla="*/ 354253 h 715479"/>
                  <a:gd name="connsiteX12" fmla="*/ 8853949 w 10455568"/>
                  <a:gd name="connsiteY12" fmla="*/ 387064 h 715479"/>
                  <a:gd name="connsiteX13" fmla="*/ 8783278 w 10455568"/>
                  <a:gd name="connsiteY13" fmla="*/ 397418 h 715479"/>
                  <a:gd name="connsiteX14" fmla="*/ 8615640 w 10455568"/>
                  <a:gd name="connsiteY14" fmla="*/ 408552 h 715479"/>
                  <a:gd name="connsiteX15" fmla="*/ 8557154 w 10455568"/>
                  <a:gd name="connsiteY15" fmla="*/ 409627 h 715479"/>
                  <a:gd name="connsiteX16" fmla="*/ 8442474 w 10455568"/>
                  <a:gd name="connsiteY16" fmla="*/ 381318 h 715479"/>
                  <a:gd name="connsiteX17" fmla="*/ 8428959 w 10455568"/>
                  <a:gd name="connsiteY17" fmla="*/ 379618 h 715479"/>
                  <a:gd name="connsiteX18" fmla="*/ 8354329 w 10455568"/>
                  <a:gd name="connsiteY18" fmla="*/ 370428 h 715479"/>
                  <a:gd name="connsiteX19" fmla="*/ 8313705 w 10455568"/>
                  <a:gd name="connsiteY19" fmla="*/ 368535 h 715479"/>
                  <a:gd name="connsiteX20" fmla="*/ 8158571 w 10455568"/>
                  <a:gd name="connsiteY20" fmla="*/ 349396 h 715479"/>
                  <a:gd name="connsiteX21" fmla="*/ 8069467 w 10455568"/>
                  <a:gd name="connsiteY21" fmla="*/ 341485 h 715479"/>
                  <a:gd name="connsiteX22" fmla="*/ 7998265 w 10455568"/>
                  <a:gd name="connsiteY22" fmla="*/ 348379 h 715479"/>
                  <a:gd name="connsiteX23" fmla="*/ 7873167 w 10455568"/>
                  <a:gd name="connsiteY23" fmla="*/ 359529 h 715479"/>
                  <a:gd name="connsiteX24" fmla="*/ 7833600 w 10455568"/>
                  <a:gd name="connsiteY24" fmla="*/ 368926 h 715479"/>
                  <a:gd name="connsiteX25" fmla="*/ 7651338 w 10455568"/>
                  <a:gd name="connsiteY25" fmla="*/ 362121 h 715479"/>
                  <a:gd name="connsiteX26" fmla="*/ 7548003 w 10455568"/>
                  <a:gd name="connsiteY26" fmla="*/ 367710 h 715479"/>
                  <a:gd name="connsiteX27" fmla="*/ 7430093 w 10455568"/>
                  <a:gd name="connsiteY27" fmla="*/ 351855 h 715479"/>
                  <a:gd name="connsiteX28" fmla="*/ 7396245 w 10455568"/>
                  <a:gd name="connsiteY28" fmla="*/ 355328 h 715479"/>
                  <a:gd name="connsiteX29" fmla="*/ 7358394 w 10455568"/>
                  <a:gd name="connsiteY29" fmla="*/ 359950 h 715479"/>
                  <a:gd name="connsiteX30" fmla="*/ 7241933 w 10455568"/>
                  <a:gd name="connsiteY30" fmla="*/ 369637 h 715479"/>
                  <a:gd name="connsiteX31" fmla="*/ 7171767 w 10455568"/>
                  <a:gd name="connsiteY31" fmla="*/ 383160 h 715479"/>
                  <a:gd name="connsiteX32" fmla="*/ 7036569 w 10455568"/>
                  <a:gd name="connsiteY32" fmla="*/ 387132 h 715479"/>
                  <a:gd name="connsiteX33" fmla="*/ 6987200 w 10455568"/>
                  <a:gd name="connsiteY33" fmla="*/ 398073 h 715479"/>
                  <a:gd name="connsiteX34" fmla="*/ 6861115 w 10455568"/>
                  <a:gd name="connsiteY34" fmla="*/ 407542 h 715479"/>
                  <a:gd name="connsiteX35" fmla="*/ 6747718 w 10455568"/>
                  <a:gd name="connsiteY35" fmla="*/ 410900 h 715479"/>
                  <a:gd name="connsiteX36" fmla="*/ 6638839 w 10455568"/>
                  <a:gd name="connsiteY36" fmla="*/ 420654 h 715479"/>
                  <a:gd name="connsiteX37" fmla="*/ 6561486 w 10455568"/>
                  <a:gd name="connsiteY37" fmla="*/ 435540 h 715479"/>
                  <a:gd name="connsiteX38" fmla="*/ 6477200 w 10455568"/>
                  <a:gd name="connsiteY38" fmla="*/ 447113 h 715479"/>
                  <a:gd name="connsiteX39" fmla="*/ 6246111 w 10455568"/>
                  <a:gd name="connsiteY39" fmla="*/ 497537 h 715479"/>
                  <a:gd name="connsiteX40" fmla="*/ 6202328 w 10455568"/>
                  <a:gd name="connsiteY40" fmla="*/ 492074 h 715479"/>
                  <a:gd name="connsiteX41" fmla="*/ 5956458 w 10455568"/>
                  <a:gd name="connsiteY41" fmla="*/ 500965 h 715479"/>
                  <a:gd name="connsiteX42" fmla="*/ 5903139 w 10455568"/>
                  <a:gd name="connsiteY42" fmla="*/ 505186 h 715479"/>
                  <a:gd name="connsiteX43" fmla="*/ 5757547 w 10455568"/>
                  <a:gd name="connsiteY43" fmla="*/ 480730 h 715479"/>
                  <a:gd name="connsiteX44" fmla="*/ 5540270 w 10455568"/>
                  <a:gd name="connsiteY44" fmla="*/ 550023 h 715479"/>
                  <a:gd name="connsiteX45" fmla="*/ 5338128 w 10455568"/>
                  <a:gd name="connsiteY45" fmla="*/ 631974 h 715479"/>
                  <a:gd name="connsiteX46" fmla="*/ 5312622 w 10455568"/>
                  <a:gd name="connsiteY46" fmla="*/ 642454 h 715479"/>
                  <a:gd name="connsiteX47" fmla="*/ 5239393 w 10455568"/>
                  <a:gd name="connsiteY47" fmla="*/ 662307 h 715479"/>
                  <a:gd name="connsiteX48" fmla="*/ 5147821 w 10455568"/>
                  <a:gd name="connsiteY48" fmla="*/ 673791 h 715479"/>
                  <a:gd name="connsiteX49" fmla="*/ 5032111 w 10455568"/>
                  <a:gd name="connsiteY49" fmla="*/ 694497 h 715479"/>
                  <a:gd name="connsiteX50" fmla="*/ 4937648 w 10455568"/>
                  <a:gd name="connsiteY50" fmla="*/ 684913 h 715479"/>
                  <a:gd name="connsiteX51" fmla="*/ 4805529 w 10455568"/>
                  <a:gd name="connsiteY51" fmla="*/ 670032 h 715479"/>
                  <a:gd name="connsiteX52" fmla="*/ 4681029 w 10455568"/>
                  <a:gd name="connsiteY52" fmla="*/ 655792 h 715479"/>
                  <a:gd name="connsiteX53" fmla="*/ 4643990 w 10455568"/>
                  <a:gd name="connsiteY53" fmla="*/ 685120 h 715479"/>
                  <a:gd name="connsiteX54" fmla="*/ 4585542 w 10455568"/>
                  <a:gd name="connsiteY54" fmla="*/ 712411 h 715479"/>
                  <a:gd name="connsiteX55" fmla="*/ 4516947 w 10455568"/>
                  <a:gd name="connsiteY55" fmla="*/ 689117 h 715479"/>
                  <a:gd name="connsiteX56" fmla="*/ 4356995 w 10455568"/>
                  <a:gd name="connsiteY56" fmla="*/ 642048 h 715479"/>
                  <a:gd name="connsiteX57" fmla="*/ 4258219 w 10455568"/>
                  <a:gd name="connsiteY57" fmla="*/ 646156 h 715479"/>
                  <a:gd name="connsiteX58" fmla="*/ 4042233 w 10455568"/>
                  <a:gd name="connsiteY58" fmla="*/ 636117 h 715479"/>
                  <a:gd name="connsiteX59" fmla="*/ 3899777 w 10455568"/>
                  <a:gd name="connsiteY59" fmla="*/ 610576 h 715479"/>
                  <a:gd name="connsiteX60" fmla="*/ 3796441 w 10455568"/>
                  <a:gd name="connsiteY60" fmla="*/ 577707 h 715479"/>
                  <a:gd name="connsiteX61" fmla="*/ 3648774 w 10455568"/>
                  <a:gd name="connsiteY61" fmla="*/ 535623 h 715479"/>
                  <a:gd name="connsiteX62" fmla="*/ 3502227 w 10455568"/>
                  <a:gd name="connsiteY62" fmla="*/ 518518 h 715479"/>
                  <a:gd name="connsiteX63" fmla="*/ 3395228 w 10455568"/>
                  <a:gd name="connsiteY63" fmla="*/ 491723 h 715479"/>
                  <a:gd name="connsiteX64" fmla="*/ 3265757 w 10455568"/>
                  <a:gd name="connsiteY64" fmla="*/ 477242 h 715479"/>
                  <a:gd name="connsiteX65" fmla="*/ 3158404 w 10455568"/>
                  <a:gd name="connsiteY65" fmla="*/ 483689 h 715479"/>
                  <a:gd name="connsiteX66" fmla="*/ 2990483 w 10455568"/>
                  <a:gd name="connsiteY66" fmla="*/ 499212 h 715479"/>
                  <a:gd name="connsiteX67" fmla="*/ 2779802 w 10455568"/>
                  <a:gd name="connsiteY67" fmla="*/ 443069 h 715479"/>
                  <a:gd name="connsiteX68" fmla="*/ 2695508 w 10455568"/>
                  <a:gd name="connsiteY68" fmla="*/ 433082 h 715479"/>
                  <a:gd name="connsiteX69" fmla="*/ 2616713 w 10455568"/>
                  <a:gd name="connsiteY69" fmla="*/ 431172 h 715479"/>
                  <a:gd name="connsiteX70" fmla="*/ 2447364 w 10455568"/>
                  <a:gd name="connsiteY70" fmla="*/ 395810 h 715479"/>
                  <a:gd name="connsiteX71" fmla="*/ 2378751 w 10455568"/>
                  <a:gd name="connsiteY71" fmla="*/ 385044 h 715479"/>
                  <a:gd name="connsiteX72" fmla="*/ 2284230 w 10455568"/>
                  <a:gd name="connsiteY72" fmla="*/ 391782 h 715479"/>
                  <a:gd name="connsiteX73" fmla="*/ 2110801 w 10455568"/>
                  <a:gd name="connsiteY73" fmla="*/ 382042 h 715479"/>
                  <a:gd name="connsiteX74" fmla="*/ 1934854 w 10455568"/>
                  <a:gd name="connsiteY74" fmla="*/ 331108 h 715479"/>
                  <a:gd name="connsiteX75" fmla="*/ 1862479 w 10455568"/>
                  <a:gd name="connsiteY75" fmla="*/ 342158 h 715479"/>
                  <a:gd name="connsiteX76" fmla="*/ 1836283 w 10455568"/>
                  <a:gd name="connsiteY76" fmla="*/ 342488 h 715479"/>
                  <a:gd name="connsiteX77" fmla="*/ 1599327 w 10455568"/>
                  <a:gd name="connsiteY77" fmla="*/ 323970 h 715479"/>
                  <a:gd name="connsiteX78" fmla="*/ 1575578 w 10455568"/>
                  <a:gd name="connsiteY78" fmla="*/ 321802 h 715479"/>
                  <a:gd name="connsiteX79" fmla="*/ 1463288 w 10455568"/>
                  <a:gd name="connsiteY79" fmla="*/ 298576 h 715479"/>
                  <a:gd name="connsiteX80" fmla="*/ 1184165 w 10455568"/>
                  <a:gd name="connsiteY80" fmla="*/ 298373 h 715479"/>
                  <a:gd name="connsiteX81" fmla="*/ 1166899 w 10455568"/>
                  <a:gd name="connsiteY81" fmla="*/ 297220 h 715479"/>
                  <a:gd name="connsiteX82" fmla="*/ 1074855 w 10455568"/>
                  <a:gd name="connsiteY82" fmla="*/ 318934 h 715479"/>
                  <a:gd name="connsiteX83" fmla="*/ 1030232 w 10455568"/>
                  <a:gd name="connsiteY83" fmla="*/ 343829 h 715479"/>
                  <a:gd name="connsiteX84" fmla="*/ 959854 w 10455568"/>
                  <a:gd name="connsiteY84" fmla="*/ 371351 h 715479"/>
                  <a:gd name="connsiteX85" fmla="*/ 887350 w 10455568"/>
                  <a:gd name="connsiteY85" fmla="*/ 384742 h 715479"/>
                  <a:gd name="connsiteX86" fmla="*/ 762349 w 10455568"/>
                  <a:gd name="connsiteY86" fmla="*/ 358882 h 715479"/>
                  <a:gd name="connsiteX87" fmla="*/ 717454 w 10455568"/>
                  <a:gd name="connsiteY87" fmla="*/ 358448 h 715479"/>
                  <a:gd name="connsiteX88" fmla="*/ 616859 w 10455568"/>
                  <a:gd name="connsiteY88" fmla="*/ 348700 h 715479"/>
                  <a:gd name="connsiteX89" fmla="*/ 529939 w 10455568"/>
                  <a:gd name="connsiteY89" fmla="*/ 355789 h 715479"/>
                  <a:gd name="connsiteX90" fmla="*/ 461851 w 10455568"/>
                  <a:gd name="connsiteY90" fmla="*/ 386945 h 715479"/>
                  <a:gd name="connsiteX91" fmla="*/ 360707 w 10455568"/>
                  <a:gd name="connsiteY91" fmla="*/ 399082 h 715479"/>
                  <a:gd name="connsiteX92" fmla="*/ 293863 w 10455568"/>
                  <a:gd name="connsiteY92" fmla="*/ 384410 h 715479"/>
                  <a:gd name="connsiteX93" fmla="*/ 280347 w 10455568"/>
                  <a:gd name="connsiteY93" fmla="*/ 382711 h 715479"/>
                  <a:gd name="connsiteX94" fmla="*/ 108881 w 10455568"/>
                  <a:gd name="connsiteY94" fmla="*/ 393231 h 715479"/>
                  <a:gd name="connsiteX95" fmla="*/ 53435 w 10455568"/>
                  <a:gd name="connsiteY95" fmla="*/ 397222 h 715479"/>
                  <a:gd name="connsiteX96" fmla="*/ 0 w 10455568"/>
                  <a:gd name="connsiteY96" fmla="*/ 409348 h 7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0455568" h="715479">
                    <a:moveTo>
                      <a:pt x="0" y="0"/>
                    </a:moveTo>
                    <a:lnTo>
                      <a:pt x="10455568" y="0"/>
                    </a:lnTo>
                    <a:lnTo>
                      <a:pt x="10434629" y="8947"/>
                    </a:lnTo>
                    <a:cubicBezTo>
                      <a:pt x="10373917" y="32898"/>
                      <a:pt x="10311087" y="51455"/>
                      <a:pt x="10249341" y="73146"/>
                    </a:cubicBezTo>
                    <a:cubicBezTo>
                      <a:pt x="10223176" y="82504"/>
                      <a:pt x="10198388" y="94974"/>
                      <a:pt x="10172148" y="103170"/>
                    </a:cubicBezTo>
                    <a:cubicBezTo>
                      <a:pt x="10113395" y="121743"/>
                      <a:pt x="10053617" y="138053"/>
                      <a:pt x="9994576" y="156647"/>
                    </a:cubicBezTo>
                    <a:cubicBezTo>
                      <a:pt x="9960929" y="167389"/>
                      <a:pt x="9928899" y="184724"/>
                      <a:pt x="9894474" y="192604"/>
                    </a:cubicBezTo>
                    <a:cubicBezTo>
                      <a:pt x="9812718" y="211289"/>
                      <a:pt x="9730121" y="226242"/>
                      <a:pt x="9647603" y="242354"/>
                    </a:cubicBezTo>
                    <a:cubicBezTo>
                      <a:pt x="9562500" y="258935"/>
                      <a:pt x="9477721" y="276078"/>
                      <a:pt x="9392533" y="291498"/>
                    </a:cubicBezTo>
                    <a:cubicBezTo>
                      <a:pt x="9345891" y="299632"/>
                      <a:pt x="9298681" y="303723"/>
                      <a:pt x="9252019" y="311564"/>
                    </a:cubicBezTo>
                    <a:cubicBezTo>
                      <a:pt x="9211115" y="318433"/>
                      <a:pt x="9170740" y="328758"/>
                      <a:pt x="9129899" y="336497"/>
                    </a:cubicBezTo>
                    <a:cubicBezTo>
                      <a:pt x="9094507" y="342987"/>
                      <a:pt x="9058706" y="347759"/>
                      <a:pt x="9023312" y="354253"/>
                    </a:cubicBezTo>
                    <a:cubicBezTo>
                      <a:pt x="8966639" y="364814"/>
                      <a:pt x="8910315" y="376230"/>
                      <a:pt x="8853949" y="387064"/>
                    </a:cubicBezTo>
                    <a:cubicBezTo>
                      <a:pt x="8830350" y="391295"/>
                      <a:pt x="8805902" y="400245"/>
                      <a:pt x="8783278" y="397418"/>
                    </a:cubicBezTo>
                    <a:cubicBezTo>
                      <a:pt x="8726267" y="390232"/>
                      <a:pt x="8671093" y="397198"/>
                      <a:pt x="8615640" y="408552"/>
                    </a:cubicBezTo>
                    <a:cubicBezTo>
                      <a:pt x="8596680" y="412471"/>
                      <a:pt x="8576049" y="413291"/>
                      <a:pt x="8557154" y="409627"/>
                    </a:cubicBezTo>
                    <a:cubicBezTo>
                      <a:pt x="8518491" y="402356"/>
                      <a:pt x="8480716" y="390947"/>
                      <a:pt x="8442474" y="381318"/>
                    </a:cubicBezTo>
                    <a:cubicBezTo>
                      <a:pt x="8438313" y="380145"/>
                      <a:pt x="8433365" y="380189"/>
                      <a:pt x="8428959" y="379618"/>
                    </a:cubicBezTo>
                    <a:cubicBezTo>
                      <a:pt x="8403970" y="376366"/>
                      <a:pt x="8379279" y="373098"/>
                      <a:pt x="8354329" y="370428"/>
                    </a:cubicBezTo>
                    <a:cubicBezTo>
                      <a:pt x="8340833" y="369017"/>
                      <a:pt x="8327184" y="369657"/>
                      <a:pt x="8313705" y="368535"/>
                    </a:cubicBezTo>
                    <a:cubicBezTo>
                      <a:pt x="8261532" y="363935"/>
                      <a:pt x="8205623" y="381441"/>
                      <a:pt x="8158571" y="349396"/>
                    </a:cubicBezTo>
                    <a:cubicBezTo>
                      <a:pt x="8128030" y="328752"/>
                      <a:pt x="8100257" y="335890"/>
                      <a:pt x="8069467" y="341485"/>
                    </a:cubicBezTo>
                    <a:cubicBezTo>
                      <a:pt x="8046153" y="345696"/>
                      <a:pt x="8022024" y="346466"/>
                      <a:pt x="7998265" y="348379"/>
                    </a:cubicBezTo>
                    <a:cubicBezTo>
                      <a:pt x="7956565" y="352093"/>
                      <a:pt x="7914826" y="355232"/>
                      <a:pt x="7873167" y="359529"/>
                    </a:cubicBezTo>
                    <a:cubicBezTo>
                      <a:pt x="7859864" y="361016"/>
                      <a:pt x="7846730" y="369197"/>
                      <a:pt x="7833600" y="368926"/>
                    </a:cubicBezTo>
                    <a:cubicBezTo>
                      <a:pt x="7772906" y="367528"/>
                      <a:pt x="7711993" y="362939"/>
                      <a:pt x="7651338" y="362121"/>
                    </a:cubicBezTo>
                    <a:cubicBezTo>
                      <a:pt x="7616924" y="361556"/>
                      <a:pt x="7582209" y="369456"/>
                      <a:pt x="7548003" y="367710"/>
                    </a:cubicBezTo>
                    <a:cubicBezTo>
                      <a:pt x="7508539" y="365739"/>
                      <a:pt x="7469448" y="356458"/>
                      <a:pt x="7430093" y="351855"/>
                    </a:cubicBezTo>
                    <a:cubicBezTo>
                      <a:pt x="7419227" y="350559"/>
                      <a:pt x="7407516" y="353979"/>
                      <a:pt x="7396245" y="355328"/>
                    </a:cubicBezTo>
                    <a:cubicBezTo>
                      <a:pt x="7383524" y="356781"/>
                      <a:pt x="7371134" y="358791"/>
                      <a:pt x="7358394" y="359950"/>
                    </a:cubicBezTo>
                    <a:cubicBezTo>
                      <a:pt x="7319573" y="363179"/>
                      <a:pt x="7280655" y="364958"/>
                      <a:pt x="7241933" y="369637"/>
                    </a:cubicBezTo>
                    <a:cubicBezTo>
                      <a:pt x="7218235" y="372418"/>
                      <a:pt x="7194108" y="386008"/>
                      <a:pt x="7171767" y="383160"/>
                    </a:cubicBezTo>
                    <a:cubicBezTo>
                      <a:pt x="7126248" y="377813"/>
                      <a:pt x="7082583" y="399728"/>
                      <a:pt x="7036569" y="387132"/>
                    </a:cubicBezTo>
                    <a:cubicBezTo>
                      <a:pt x="7022328" y="383442"/>
                      <a:pt x="7003983" y="396347"/>
                      <a:pt x="6987200" y="398073"/>
                    </a:cubicBezTo>
                    <a:cubicBezTo>
                      <a:pt x="6945251" y="402388"/>
                      <a:pt x="6903183" y="404965"/>
                      <a:pt x="6861115" y="407542"/>
                    </a:cubicBezTo>
                    <a:cubicBezTo>
                      <a:pt x="6823394" y="409822"/>
                      <a:pt x="6784520" y="416550"/>
                      <a:pt x="6747718" y="410900"/>
                    </a:cubicBezTo>
                    <a:cubicBezTo>
                      <a:pt x="6709137" y="404791"/>
                      <a:pt x="6674999" y="408284"/>
                      <a:pt x="6638839" y="420654"/>
                    </a:cubicBezTo>
                    <a:cubicBezTo>
                      <a:pt x="6614066" y="429044"/>
                      <a:pt x="6587444" y="431733"/>
                      <a:pt x="6561486" y="435540"/>
                    </a:cubicBezTo>
                    <a:cubicBezTo>
                      <a:pt x="6533513" y="439778"/>
                      <a:pt x="6502069" y="435804"/>
                      <a:pt x="6477200" y="447113"/>
                    </a:cubicBezTo>
                    <a:cubicBezTo>
                      <a:pt x="6403159" y="480713"/>
                      <a:pt x="6325566" y="492119"/>
                      <a:pt x="6246111" y="497537"/>
                    </a:cubicBezTo>
                    <a:cubicBezTo>
                      <a:pt x="6231608" y="498524"/>
                      <a:pt x="6216540" y="495475"/>
                      <a:pt x="6202328" y="492074"/>
                    </a:cubicBezTo>
                    <a:cubicBezTo>
                      <a:pt x="6119346" y="471508"/>
                      <a:pt x="6038018" y="479381"/>
                      <a:pt x="5956458" y="500965"/>
                    </a:cubicBezTo>
                    <a:cubicBezTo>
                      <a:pt x="5939584" y="505613"/>
                      <a:pt x="5920486" y="507499"/>
                      <a:pt x="5903139" y="505186"/>
                    </a:cubicBezTo>
                    <a:cubicBezTo>
                      <a:pt x="5854306" y="498315"/>
                      <a:pt x="5806470" y="484677"/>
                      <a:pt x="5757547" y="480730"/>
                    </a:cubicBezTo>
                    <a:cubicBezTo>
                      <a:pt x="5676701" y="474297"/>
                      <a:pt x="5610121" y="519038"/>
                      <a:pt x="5540270" y="550023"/>
                    </a:cubicBezTo>
                    <a:cubicBezTo>
                      <a:pt x="5473801" y="579316"/>
                      <a:pt x="5419599" y="638949"/>
                      <a:pt x="5338128" y="631974"/>
                    </a:cubicBezTo>
                    <a:cubicBezTo>
                      <a:pt x="5329931" y="631367"/>
                      <a:pt x="5321476" y="639812"/>
                      <a:pt x="5312622" y="642454"/>
                    </a:cubicBezTo>
                    <a:cubicBezTo>
                      <a:pt x="5288350" y="649647"/>
                      <a:pt x="5264155" y="657994"/>
                      <a:pt x="5239393" y="662307"/>
                    </a:cubicBezTo>
                    <a:cubicBezTo>
                      <a:pt x="5209181" y="667862"/>
                      <a:pt x="5178072" y="668817"/>
                      <a:pt x="5147821" y="673791"/>
                    </a:cubicBezTo>
                    <a:cubicBezTo>
                      <a:pt x="5108908" y="679940"/>
                      <a:pt x="5070972" y="691848"/>
                      <a:pt x="5032111" y="694497"/>
                    </a:cubicBezTo>
                    <a:cubicBezTo>
                      <a:pt x="5000793" y="696632"/>
                      <a:pt x="4969032" y="688019"/>
                      <a:pt x="4937648" y="684913"/>
                    </a:cubicBezTo>
                    <a:cubicBezTo>
                      <a:pt x="4893363" y="680649"/>
                      <a:pt x="4845361" y="685962"/>
                      <a:pt x="4805529" y="670032"/>
                    </a:cubicBezTo>
                    <a:cubicBezTo>
                      <a:pt x="4763006" y="653119"/>
                      <a:pt x="4723244" y="646796"/>
                      <a:pt x="4681029" y="655792"/>
                    </a:cubicBezTo>
                    <a:cubicBezTo>
                      <a:pt x="4666957" y="658791"/>
                      <a:pt x="4649519" y="672217"/>
                      <a:pt x="4643990" y="685120"/>
                    </a:cubicBezTo>
                    <a:cubicBezTo>
                      <a:pt x="4631676" y="713928"/>
                      <a:pt x="4612585" y="720184"/>
                      <a:pt x="4585542" y="712411"/>
                    </a:cubicBezTo>
                    <a:cubicBezTo>
                      <a:pt x="4562077" y="705853"/>
                      <a:pt x="4533672" y="703713"/>
                      <a:pt x="4516947" y="689117"/>
                    </a:cubicBezTo>
                    <a:cubicBezTo>
                      <a:pt x="4469552" y="647774"/>
                      <a:pt x="4412904" y="650180"/>
                      <a:pt x="4356995" y="642048"/>
                    </a:cubicBezTo>
                    <a:cubicBezTo>
                      <a:pt x="4322867" y="637088"/>
                      <a:pt x="4291523" y="638934"/>
                      <a:pt x="4258219" y="646156"/>
                    </a:cubicBezTo>
                    <a:cubicBezTo>
                      <a:pt x="4185895" y="662159"/>
                      <a:pt x="4113776" y="651342"/>
                      <a:pt x="4042233" y="636117"/>
                    </a:cubicBezTo>
                    <a:cubicBezTo>
                      <a:pt x="3994923" y="625941"/>
                      <a:pt x="3946812" y="621063"/>
                      <a:pt x="3899777" y="610576"/>
                    </a:cubicBezTo>
                    <a:cubicBezTo>
                      <a:pt x="3864554" y="602488"/>
                      <a:pt x="3829196" y="592371"/>
                      <a:pt x="3796441" y="577707"/>
                    </a:cubicBezTo>
                    <a:cubicBezTo>
                      <a:pt x="3748937" y="556178"/>
                      <a:pt x="3706395" y="521788"/>
                      <a:pt x="3648774" y="535623"/>
                    </a:cubicBezTo>
                    <a:cubicBezTo>
                      <a:pt x="3598036" y="547820"/>
                      <a:pt x="3550396" y="532716"/>
                      <a:pt x="3502227" y="518518"/>
                    </a:cubicBezTo>
                    <a:cubicBezTo>
                      <a:pt x="3466848" y="508111"/>
                      <a:pt x="3431455" y="497410"/>
                      <a:pt x="3395228" y="491723"/>
                    </a:cubicBezTo>
                    <a:cubicBezTo>
                      <a:pt x="3352235" y="485040"/>
                      <a:pt x="3304663" y="492363"/>
                      <a:pt x="3265757" y="477242"/>
                    </a:cubicBezTo>
                    <a:cubicBezTo>
                      <a:pt x="3225052" y="461369"/>
                      <a:pt x="3193136" y="476075"/>
                      <a:pt x="3158404" y="483689"/>
                    </a:cubicBezTo>
                    <a:cubicBezTo>
                      <a:pt x="3102986" y="495623"/>
                      <a:pt x="3048333" y="514498"/>
                      <a:pt x="2990483" y="499212"/>
                    </a:cubicBezTo>
                    <a:cubicBezTo>
                      <a:pt x="2920173" y="480697"/>
                      <a:pt x="2850324" y="460405"/>
                      <a:pt x="2779802" y="443069"/>
                    </a:cubicBezTo>
                    <a:cubicBezTo>
                      <a:pt x="2752548" y="436477"/>
                      <a:pt x="2723606" y="434954"/>
                      <a:pt x="2695508" y="433082"/>
                    </a:cubicBezTo>
                    <a:cubicBezTo>
                      <a:pt x="2668903" y="431690"/>
                      <a:pt x="2637847" y="441965"/>
                      <a:pt x="2616713" y="431172"/>
                    </a:cubicBezTo>
                    <a:cubicBezTo>
                      <a:pt x="2562378" y="403411"/>
                      <a:pt x="2507687" y="391698"/>
                      <a:pt x="2447364" y="395810"/>
                    </a:cubicBezTo>
                    <a:cubicBezTo>
                      <a:pt x="2424744" y="397352"/>
                      <a:pt x="2401814" y="385802"/>
                      <a:pt x="2378751" y="385044"/>
                    </a:cubicBezTo>
                    <a:cubicBezTo>
                      <a:pt x="2347229" y="384281"/>
                      <a:pt x="2310735" y="378901"/>
                      <a:pt x="2284230" y="391782"/>
                    </a:cubicBezTo>
                    <a:cubicBezTo>
                      <a:pt x="2221919" y="422248"/>
                      <a:pt x="2168532" y="404037"/>
                      <a:pt x="2110801" y="382042"/>
                    </a:cubicBezTo>
                    <a:cubicBezTo>
                      <a:pt x="2053961" y="360279"/>
                      <a:pt x="1994577" y="343935"/>
                      <a:pt x="1934854" y="331108"/>
                    </a:cubicBezTo>
                    <a:cubicBezTo>
                      <a:pt x="1912400" y="326519"/>
                      <a:pt x="1886705" y="338470"/>
                      <a:pt x="1862479" y="342158"/>
                    </a:cubicBezTo>
                    <a:cubicBezTo>
                      <a:pt x="1853818" y="343333"/>
                      <a:pt x="1844309" y="344855"/>
                      <a:pt x="1836283" y="342488"/>
                    </a:cubicBezTo>
                    <a:cubicBezTo>
                      <a:pt x="1758698" y="319808"/>
                      <a:pt x="1680403" y="303878"/>
                      <a:pt x="1599327" y="323970"/>
                    </a:cubicBezTo>
                    <a:cubicBezTo>
                      <a:pt x="1591888" y="325937"/>
                      <a:pt x="1583257" y="323319"/>
                      <a:pt x="1575578" y="321802"/>
                    </a:cubicBezTo>
                    <a:cubicBezTo>
                      <a:pt x="1538035" y="313873"/>
                      <a:pt x="1500950" y="299795"/>
                      <a:pt x="1463288" y="298576"/>
                    </a:cubicBezTo>
                    <a:cubicBezTo>
                      <a:pt x="1370438" y="295582"/>
                      <a:pt x="1277384" y="298137"/>
                      <a:pt x="1184165" y="298373"/>
                    </a:cubicBezTo>
                    <a:cubicBezTo>
                      <a:pt x="1178344" y="298480"/>
                      <a:pt x="1172255" y="298896"/>
                      <a:pt x="1166899" y="297220"/>
                    </a:cubicBezTo>
                    <a:cubicBezTo>
                      <a:pt x="1131827" y="287082"/>
                      <a:pt x="1102238" y="293180"/>
                      <a:pt x="1074855" y="318934"/>
                    </a:cubicBezTo>
                    <a:cubicBezTo>
                      <a:pt x="1062808" y="330244"/>
                      <a:pt x="1045783" y="336940"/>
                      <a:pt x="1030232" y="343829"/>
                    </a:cubicBezTo>
                    <a:cubicBezTo>
                      <a:pt x="1007334" y="354132"/>
                      <a:pt x="983839" y="364180"/>
                      <a:pt x="959854" y="371351"/>
                    </a:cubicBezTo>
                    <a:cubicBezTo>
                      <a:pt x="936141" y="378210"/>
                      <a:pt x="910825" y="387219"/>
                      <a:pt x="887350" y="384742"/>
                    </a:cubicBezTo>
                    <a:cubicBezTo>
                      <a:pt x="845096" y="380339"/>
                      <a:pt x="804258" y="366810"/>
                      <a:pt x="762349" y="358882"/>
                    </a:cubicBezTo>
                    <a:cubicBezTo>
                      <a:pt x="747884" y="356082"/>
                      <a:pt x="732263" y="357732"/>
                      <a:pt x="717454" y="358448"/>
                    </a:cubicBezTo>
                    <a:cubicBezTo>
                      <a:pt x="683463" y="359893"/>
                      <a:pt x="649238" y="370675"/>
                      <a:pt x="616859" y="348700"/>
                    </a:cubicBezTo>
                    <a:cubicBezTo>
                      <a:pt x="586900" y="328019"/>
                      <a:pt x="558641" y="336644"/>
                      <a:pt x="529939" y="355789"/>
                    </a:cubicBezTo>
                    <a:cubicBezTo>
                      <a:pt x="509309" y="369433"/>
                      <a:pt x="485605" y="380664"/>
                      <a:pt x="461851" y="386945"/>
                    </a:cubicBezTo>
                    <a:cubicBezTo>
                      <a:pt x="429225" y="395576"/>
                      <a:pt x="396634" y="400422"/>
                      <a:pt x="360707" y="399082"/>
                    </a:cubicBezTo>
                    <a:cubicBezTo>
                      <a:pt x="335299" y="398193"/>
                      <a:pt x="314629" y="398437"/>
                      <a:pt x="293863" y="384410"/>
                    </a:cubicBezTo>
                    <a:cubicBezTo>
                      <a:pt x="290517" y="382308"/>
                      <a:pt x="284678" y="382122"/>
                      <a:pt x="280347" y="382711"/>
                    </a:cubicBezTo>
                    <a:cubicBezTo>
                      <a:pt x="223554" y="391535"/>
                      <a:pt x="166827" y="392780"/>
                      <a:pt x="108881" y="393231"/>
                    </a:cubicBezTo>
                    <a:cubicBezTo>
                      <a:pt x="90460" y="393322"/>
                      <a:pt x="71882" y="394571"/>
                      <a:pt x="53435" y="397222"/>
                    </a:cubicBezTo>
                    <a:lnTo>
                      <a:pt x="0" y="409348"/>
                    </a:lnTo>
                    <a:close/>
                  </a:path>
                </a:pathLst>
              </a:custGeom>
              <a:solidFill>
                <a:schemeClr val="l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3D0F2937-CF06-453C-B076-800064AEB4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0455568" cy="715479"/>
              </a:xfrm>
              <a:custGeom>
                <a:avLst/>
                <a:gdLst>
                  <a:gd name="connsiteX0" fmla="*/ 0 w 10455568"/>
                  <a:gd name="connsiteY0" fmla="*/ 0 h 715479"/>
                  <a:gd name="connsiteX1" fmla="*/ 10455568 w 10455568"/>
                  <a:gd name="connsiteY1" fmla="*/ 0 h 715479"/>
                  <a:gd name="connsiteX2" fmla="*/ 10434629 w 10455568"/>
                  <a:gd name="connsiteY2" fmla="*/ 8947 h 715479"/>
                  <a:gd name="connsiteX3" fmla="*/ 10249341 w 10455568"/>
                  <a:gd name="connsiteY3" fmla="*/ 73146 h 715479"/>
                  <a:gd name="connsiteX4" fmla="*/ 10172148 w 10455568"/>
                  <a:gd name="connsiteY4" fmla="*/ 103170 h 715479"/>
                  <a:gd name="connsiteX5" fmla="*/ 9994576 w 10455568"/>
                  <a:gd name="connsiteY5" fmla="*/ 156647 h 715479"/>
                  <a:gd name="connsiteX6" fmla="*/ 9894474 w 10455568"/>
                  <a:gd name="connsiteY6" fmla="*/ 192604 h 715479"/>
                  <a:gd name="connsiteX7" fmla="*/ 9647603 w 10455568"/>
                  <a:gd name="connsiteY7" fmla="*/ 242354 h 715479"/>
                  <a:gd name="connsiteX8" fmla="*/ 9392533 w 10455568"/>
                  <a:gd name="connsiteY8" fmla="*/ 291498 h 715479"/>
                  <a:gd name="connsiteX9" fmla="*/ 9252019 w 10455568"/>
                  <a:gd name="connsiteY9" fmla="*/ 311564 h 715479"/>
                  <a:gd name="connsiteX10" fmla="*/ 9129899 w 10455568"/>
                  <a:gd name="connsiteY10" fmla="*/ 336497 h 715479"/>
                  <a:gd name="connsiteX11" fmla="*/ 9023312 w 10455568"/>
                  <a:gd name="connsiteY11" fmla="*/ 354253 h 715479"/>
                  <a:gd name="connsiteX12" fmla="*/ 8853949 w 10455568"/>
                  <a:gd name="connsiteY12" fmla="*/ 387064 h 715479"/>
                  <a:gd name="connsiteX13" fmla="*/ 8783278 w 10455568"/>
                  <a:gd name="connsiteY13" fmla="*/ 397418 h 715479"/>
                  <a:gd name="connsiteX14" fmla="*/ 8615640 w 10455568"/>
                  <a:gd name="connsiteY14" fmla="*/ 408552 h 715479"/>
                  <a:gd name="connsiteX15" fmla="*/ 8557154 w 10455568"/>
                  <a:gd name="connsiteY15" fmla="*/ 409627 h 715479"/>
                  <a:gd name="connsiteX16" fmla="*/ 8442474 w 10455568"/>
                  <a:gd name="connsiteY16" fmla="*/ 381318 h 715479"/>
                  <a:gd name="connsiteX17" fmla="*/ 8428959 w 10455568"/>
                  <a:gd name="connsiteY17" fmla="*/ 379618 h 715479"/>
                  <a:gd name="connsiteX18" fmla="*/ 8354329 w 10455568"/>
                  <a:gd name="connsiteY18" fmla="*/ 370428 h 715479"/>
                  <a:gd name="connsiteX19" fmla="*/ 8313705 w 10455568"/>
                  <a:gd name="connsiteY19" fmla="*/ 368535 h 715479"/>
                  <a:gd name="connsiteX20" fmla="*/ 8158571 w 10455568"/>
                  <a:gd name="connsiteY20" fmla="*/ 349396 h 715479"/>
                  <a:gd name="connsiteX21" fmla="*/ 8069467 w 10455568"/>
                  <a:gd name="connsiteY21" fmla="*/ 341485 h 715479"/>
                  <a:gd name="connsiteX22" fmla="*/ 7998265 w 10455568"/>
                  <a:gd name="connsiteY22" fmla="*/ 348379 h 715479"/>
                  <a:gd name="connsiteX23" fmla="*/ 7873167 w 10455568"/>
                  <a:gd name="connsiteY23" fmla="*/ 359529 h 715479"/>
                  <a:gd name="connsiteX24" fmla="*/ 7833600 w 10455568"/>
                  <a:gd name="connsiteY24" fmla="*/ 368926 h 715479"/>
                  <a:gd name="connsiteX25" fmla="*/ 7651338 w 10455568"/>
                  <a:gd name="connsiteY25" fmla="*/ 362121 h 715479"/>
                  <a:gd name="connsiteX26" fmla="*/ 7548003 w 10455568"/>
                  <a:gd name="connsiteY26" fmla="*/ 367710 h 715479"/>
                  <a:gd name="connsiteX27" fmla="*/ 7430093 w 10455568"/>
                  <a:gd name="connsiteY27" fmla="*/ 351855 h 715479"/>
                  <a:gd name="connsiteX28" fmla="*/ 7396245 w 10455568"/>
                  <a:gd name="connsiteY28" fmla="*/ 355328 h 715479"/>
                  <a:gd name="connsiteX29" fmla="*/ 7358394 w 10455568"/>
                  <a:gd name="connsiteY29" fmla="*/ 359950 h 715479"/>
                  <a:gd name="connsiteX30" fmla="*/ 7241933 w 10455568"/>
                  <a:gd name="connsiteY30" fmla="*/ 369637 h 715479"/>
                  <a:gd name="connsiteX31" fmla="*/ 7171767 w 10455568"/>
                  <a:gd name="connsiteY31" fmla="*/ 383160 h 715479"/>
                  <a:gd name="connsiteX32" fmla="*/ 7036569 w 10455568"/>
                  <a:gd name="connsiteY32" fmla="*/ 387132 h 715479"/>
                  <a:gd name="connsiteX33" fmla="*/ 6987200 w 10455568"/>
                  <a:gd name="connsiteY33" fmla="*/ 398073 h 715479"/>
                  <a:gd name="connsiteX34" fmla="*/ 6861115 w 10455568"/>
                  <a:gd name="connsiteY34" fmla="*/ 407542 h 715479"/>
                  <a:gd name="connsiteX35" fmla="*/ 6747718 w 10455568"/>
                  <a:gd name="connsiteY35" fmla="*/ 410900 h 715479"/>
                  <a:gd name="connsiteX36" fmla="*/ 6638839 w 10455568"/>
                  <a:gd name="connsiteY36" fmla="*/ 420654 h 715479"/>
                  <a:gd name="connsiteX37" fmla="*/ 6561486 w 10455568"/>
                  <a:gd name="connsiteY37" fmla="*/ 435540 h 715479"/>
                  <a:gd name="connsiteX38" fmla="*/ 6477200 w 10455568"/>
                  <a:gd name="connsiteY38" fmla="*/ 447113 h 715479"/>
                  <a:gd name="connsiteX39" fmla="*/ 6246111 w 10455568"/>
                  <a:gd name="connsiteY39" fmla="*/ 497537 h 715479"/>
                  <a:gd name="connsiteX40" fmla="*/ 6202328 w 10455568"/>
                  <a:gd name="connsiteY40" fmla="*/ 492074 h 715479"/>
                  <a:gd name="connsiteX41" fmla="*/ 5956458 w 10455568"/>
                  <a:gd name="connsiteY41" fmla="*/ 500965 h 715479"/>
                  <a:gd name="connsiteX42" fmla="*/ 5903139 w 10455568"/>
                  <a:gd name="connsiteY42" fmla="*/ 505186 h 715479"/>
                  <a:gd name="connsiteX43" fmla="*/ 5757547 w 10455568"/>
                  <a:gd name="connsiteY43" fmla="*/ 480730 h 715479"/>
                  <a:gd name="connsiteX44" fmla="*/ 5540270 w 10455568"/>
                  <a:gd name="connsiteY44" fmla="*/ 550023 h 715479"/>
                  <a:gd name="connsiteX45" fmla="*/ 5338128 w 10455568"/>
                  <a:gd name="connsiteY45" fmla="*/ 631974 h 715479"/>
                  <a:gd name="connsiteX46" fmla="*/ 5312622 w 10455568"/>
                  <a:gd name="connsiteY46" fmla="*/ 642454 h 715479"/>
                  <a:gd name="connsiteX47" fmla="*/ 5239393 w 10455568"/>
                  <a:gd name="connsiteY47" fmla="*/ 662307 h 715479"/>
                  <a:gd name="connsiteX48" fmla="*/ 5147821 w 10455568"/>
                  <a:gd name="connsiteY48" fmla="*/ 673791 h 715479"/>
                  <a:gd name="connsiteX49" fmla="*/ 5032111 w 10455568"/>
                  <a:gd name="connsiteY49" fmla="*/ 694497 h 715479"/>
                  <a:gd name="connsiteX50" fmla="*/ 4937648 w 10455568"/>
                  <a:gd name="connsiteY50" fmla="*/ 684913 h 715479"/>
                  <a:gd name="connsiteX51" fmla="*/ 4805529 w 10455568"/>
                  <a:gd name="connsiteY51" fmla="*/ 670032 h 715479"/>
                  <a:gd name="connsiteX52" fmla="*/ 4681029 w 10455568"/>
                  <a:gd name="connsiteY52" fmla="*/ 655792 h 715479"/>
                  <a:gd name="connsiteX53" fmla="*/ 4643990 w 10455568"/>
                  <a:gd name="connsiteY53" fmla="*/ 685120 h 715479"/>
                  <a:gd name="connsiteX54" fmla="*/ 4585542 w 10455568"/>
                  <a:gd name="connsiteY54" fmla="*/ 712411 h 715479"/>
                  <a:gd name="connsiteX55" fmla="*/ 4516947 w 10455568"/>
                  <a:gd name="connsiteY55" fmla="*/ 689117 h 715479"/>
                  <a:gd name="connsiteX56" fmla="*/ 4356995 w 10455568"/>
                  <a:gd name="connsiteY56" fmla="*/ 642048 h 715479"/>
                  <a:gd name="connsiteX57" fmla="*/ 4258219 w 10455568"/>
                  <a:gd name="connsiteY57" fmla="*/ 646156 h 715479"/>
                  <a:gd name="connsiteX58" fmla="*/ 4042233 w 10455568"/>
                  <a:gd name="connsiteY58" fmla="*/ 636117 h 715479"/>
                  <a:gd name="connsiteX59" fmla="*/ 3899777 w 10455568"/>
                  <a:gd name="connsiteY59" fmla="*/ 610576 h 715479"/>
                  <a:gd name="connsiteX60" fmla="*/ 3796441 w 10455568"/>
                  <a:gd name="connsiteY60" fmla="*/ 577707 h 715479"/>
                  <a:gd name="connsiteX61" fmla="*/ 3648774 w 10455568"/>
                  <a:gd name="connsiteY61" fmla="*/ 535623 h 715479"/>
                  <a:gd name="connsiteX62" fmla="*/ 3502227 w 10455568"/>
                  <a:gd name="connsiteY62" fmla="*/ 518518 h 715479"/>
                  <a:gd name="connsiteX63" fmla="*/ 3395228 w 10455568"/>
                  <a:gd name="connsiteY63" fmla="*/ 491723 h 715479"/>
                  <a:gd name="connsiteX64" fmla="*/ 3265757 w 10455568"/>
                  <a:gd name="connsiteY64" fmla="*/ 477242 h 715479"/>
                  <a:gd name="connsiteX65" fmla="*/ 3158404 w 10455568"/>
                  <a:gd name="connsiteY65" fmla="*/ 483689 h 715479"/>
                  <a:gd name="connsiteX66" fmla="*/ 2990483 w 10455568"/>
                  <a:gd name="connsiteY66" fmla="*/ 499212 h 715479"/>
                  <a:gd name="connsiteX67" fmla="*/ 2779802 w 10455568"/>
                  <a:gd name="connsiteY67" fmla="*/ 443069 h 715479"/>
                  <a:gd name="connsiteX68" fmla="*/ 2695508 w 10455568"/>
                  <a:gd name="connsiteY68" fmla="*/ 433082 h 715479"/>
                  <a:gd name="connsiteX69" fmla="*/ 2616713 w 10455568"/>
                  <a:gd name="connsiteY69" fmla="*/ 431172 h 715479"/>
                  <a:gd name="connsiteX70" fmla="*/ 2447364 w 10455568"/>
                  <a:gd name="connsiteY70" fmla="*/ 395810 h 715479"/>
                  <a:gd name="connsiteX71" fmla="*/ 2378751 w 10455568"/>
                  <a:gd name="connsiteY71" fmla="*/ 385044 h 715479"/>
                  <a:gd name="connsiteX72" fmla="*/ 2284230 w 10455568"/>
                  <a:gd name="connsiteY72" fmla="*/ 391782 h 715479"/>
                  <a:gd name="connsiteX73" fmla="*/ 2110801 w 10455568"/>
                  <a:gd name="connsiteY73" fmla="*/ 382042 h 715479"/>
                  <a:gd name="connsiteX74" fmla="*/ 1934854 w 10455568"/>
                  <a:gd name="connsiteY74" fmla="*/ 331108 h 715479"/>
                  <a:gd name="connsiteX75" fmla="*/ 1862479 w 10455568"/>
                  <a:gd name="connsiteY75" fmla="*/ 342158 h 715479"/>
                  <a:gd name="connsiteX76" fmla="*/ 1836283 w 10455568"/>
                  <a:gd name="connsiteY76" fmla="*/ 342488 h 715479"/>
                  <a:gd name="connsiteX77" fmla="*/ 1599327 w 10455568"/>
                  <a:gd name="connsiteY77" fmla="*/ 323970 h 715479"/>
                  <a:gd name="connsiteX78" fmla="*/ 1575578 w 10455568"/>
                  <a:gd name="connsiteY78" fmla="*/ 321802 h 715479"/>
                  <a:gd name="connsiteX79" fmla="*/ 1463288 w 10455568"/>
                  <a:gd name="connsiteY79" fmla="*/ 298576 h 715479"/>
                  <a:gd name="connsiteX80" fmla="*/ 1184165 w 10455568"/>
                  <a:gd name="connsiteY80" fmla="*/ 298373 h 715479"/>
                  <a:gd name="connsiteX81" fmla="*/ 1166899 w 10455568"/>
                  <a:gd name="connsiteY81" fmla="*/ 297220 h 715479"/>
                  <a:gd name="connsiteX82" fmla="*/ 1074855 w 10455568"/>
                  <a:gd name="connsiteY82" fmla="*/ 318934 h 715479"/>
                  <a:gd name="connsiteX83" fmla="*/ 1030232 w 10455568"/>
                  <a:gd name="connsiteY83" fmla="*/ 343829 h 715479"/>
                  <a:gd name="connsiteX84" fmla="*/ 959854 w 10455568"/>
                  <a:gd name="connsiteY84" fmla="*/ 371351 h 715479"/>
                  <a:gd name="connsiteX85" fmla="*/ 887350 w 10455568"/>
                  <a:gd name="connsiteY85" fmla="*/ 384742 h 715479"/>
                  <a:gd name="connsiteX86" fmla="*/ 762349 w 10455568"/>
                  <a:gd name="connsiteY86" fmla="*/ 358882 h 715479"/>
                  <a:gd name="connsiteX87" fmla="*/ 717454 w 10455568"/>
                  <a:gd name="connsiteY87" fmla="*/ 358448 h 715479"/>
                  <a:gd name="connsiteX88" fmla="*/ 616859 w 10455568"/>
                  <a:gd name="connsiteY88" fmla="*/ 348700 h 715479"/>
                  <a:gd name="connsiteX89" fmla="*/ 529939 w 10455568"/>
                  <a:gd name="connsiteY89" fmla="*/ 355789 h 715479"/>
                  <a:gd name="connsiteX90" fmla="*/ 461851 w 10455568"/>
                  <a:gd name="connsiteY90" fmla="*/ 386945 h 715479"/>
                  <a:gd name="connsiteX91" fmla="*/ 360707 w 10455568"/>
                  <a:gd name="connsiteY91" fmla="*/ 399082 h 715479"/>
                  <a:gd name="connsiteX92" fmla="*/ 293863 w 10455568"/>
                  <a:gd name="connsiteY92" fmla="*/ 384410 h 715479"/>
                  <a:gd name="connsiteX93" fmla="*/ 280347 w 10455568"/>
                  <a:gd name="connsiteY93" fmla="*/ 382711 h 715479"/>
                  <a:gd name="connsiteX94" fmla="*/ 108881 w 10455568"/>
                  <a:gd name="connsiteY94" fmla="*/ 393231 h 715479"/>
                  <a:gd name="connsiteX95" fmla="*/ 53435 w 10455568"/>
                  <a:gd name="connsiteY95" fmla="*/ 397222 h 715479"/>
                  <a:gd name="connsiteX96" fmla="*/ 0 w 10455568"/>
                  <a:gd name="connsiteY96" fmla="*/ 409348 h 7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0455568" h="715479">
                    <a:moveTo>
                      <a:pt x="0" y="0"/>
                    </a:moveTo>
                    <a:lnTo>
                      <a:pt x="10455568" y="0"/>
                    </a:lnTo>
                    <a:lnTo>
                      <a:pt x="10434629" y="8947"/>
                    </a:lnTo>
                    <a:cubicBezTo>
                      <a:pt x="10373917" y="32898"/>
                      <a:pt x="10311087" y="51455"/>
                      <a:pt x="10249341" y="73146"/>
                    </a:cubicBezTo>
                    <a:cubicBezTo>
                      <a:pt x="10223176" y="82504"/>
                      <a:pt x="10198388" y="94974"/>
                      <a:pt x="10172148" y="103170"/>
                    </a:cubicBezTo>
                    <a:cubicBezTo>
                      <a:pt x="10113395" y="121743"/>
                      <a:pt x="10053617" y="138053"/>
                      <a:pt x="9994576" y="156647"/>
                    </a:cubicBezTo>
                    <a:cubicBezTo>
                      <a:pt x="9960929" y="167389"/>
                      <a:pt x="9928899" y="184724"/>
                      <a:pt x="9894474" y="192604"/>
                    </a:cubicBezTo>
                    <a:cubicBezTo>
                      <a:pt x="9812718" y="211289"/>
                      <a:pt x="9730121" y="226242"/>
                      <a:pt x="9647603" y="242354"/>
                    </a:cubicBezTo>
                    <a:cubicBezTo>
                      <a:pt x="9562500" y="258935"/>
                      <a:pt x="9477721" y="276078"/>
                      <a:pt x="9392533" y="291498"/>
                    </a:cubicBezTo>
                    <a:cubicBezTo>
                      <a:pt x="9345891" y="299632"/>
                      <a:pt x="9298681" y="303723"/>
                      <a:pt x="9252019" y="311564"/>
                    </a:cubicBezTo>
                    <a:cubicBezTo>
                      <a:pt x="9211115" y="318433"/>
                      <a:pt x="9170740" y="328758"/>
                      <a:pt x="9129899" y="336497"/>
                    </a:cubicBezTo>
                    <a:cubicBezTo>
                      <a:pt x="9094507" y="342987"/>
                      <a:pt x="9058706" y="347759"/>
                      <a:pt x="9023312" y="354253"/>
                    </a:cubicBezTo>
                    <a:cubicBezTo>
                      <a:pt x="8966639" y="364814"/>
                      <a:pt x="8910315" y="376230"/>
                      <a:pt x="8853949" y="387064"/>
                    </a:cubicBezTo>
                    <a:cubicBezTo>
                      <a:pt x="8830350" y="391295"/>
                      <a:pt x="8805902" y="400245"/>
                      <a:pt x="8783278" y="397418"/>
                    </a:cubicBezTo>
                    <a:cubicBezTo>
                      <a:pt x="8726267" y="390232"/>
                      <a:pt x="8671093" y="397198"/>
                      <a:pt x="8615640" y="408552"/>
                    </a:cubicBezTo>
                    <a:cubicBezTo>
                      <a:pt x="8596680" y="412471"/>
                      <a:pt x="8576049" y="413291"/>
                      <a:pt x="8557154" y="409627"/>
                    </a:cubicBezTo>
                    <a:cubicBezTo>
                      <a:pt x="8518491" y="402356"/>
                      <a:pt x="8480716" y="390947"/>
                      <a:pt x="8442474" y="381318"/>
                    </a:cubicBezTo>
                    <a:cubicBezTo>
                      <a:pt x="8438313" y="380145"/>
                      <a:pt x="8433365" y="380189"/>
                      <a:pt x="8428959" y="379618"/>
                    </a:cubicBezTo>
                    <a:cubicBezTo>
                      <a:pt x="8403970" y="376366"/>
                      <a:pt x="8379279" y="373098"/>
                      <a:pt x="8354329" y="370428"/>
                    </a:cubicBezTo>
                    <a:cubicBezTo>
                      <a:pt x="8340833" y="369017"/>
                      <a:pt x="8327184" y="369657"/>
                      <a:pt x="8313705" y="368535"/>
                    </a:cubicBezTo>
                    <a:cubicBezTo>
                      <a:pt x="8261532" y="363935"/>
                      <a:pt x="8205623" y="381441"/>
                      <a:pt x="8158571" y="349396"/>
                    </a:cubicBezTo>
                    <a:cubicBezTo>
                      <a:pt x="8128030" y="328752"/>
                      <a:pt x="8100257" y="335890"/>
                      <a:pt x="8069467" y="341485"/>
                    </a:cubicBezTo>
                    <a:cubicBezTo>
                      <a:pt x="8046153" y="345696"/>
                      <a:pt x="8022024" y="346466"/>
                      <a:pt x="7998265" y="348379"/>
                    </a:cubicBezTo>
                    <a:cubicBezTo>
                      <a:pt x="7956565" y="352093"/>
                      <a:pt x="7914826" y="355232"/>
                      <a:pt x="7873167" y="359529"/>
                    </a:cubicBezTo>
                    <a:cubicBezTo>
                      <a:pt x="7859864" y="361016"/>
                      <a:pt x="7846730" y="369197"/>
                      <a:pt x="7833600" y="368926"/>
                    </a:cubicBezTo>
                    <a:cubicBezTo>
                      <a:pt x="7772906" y="367528"/>
                      <a:pt x="7711993" y="362939"/>
                      <a:pt x="7651338" y="362121"/>
                    </a:cubicBezTo>
                    <a:cubicBezTo>
                      <a:pt x="7616924" y="361556"/>
                      <a:pt x="7582209" y="369456"/>
                      <a:pt x="7548003" y="367710"/>
                    </a:cubicBezTo>
                    <a:cubicBezTo>
                      <a:pt x="7508539" y="365739"/>
                      <a:pt x="7469448" y="356458"/>
                      <a:pt x="7430093" y="351855"/>
                    </a:cubicBezTo>
                    <a:cubicBezTo>
                      <a:pt x="7419227" y="350559"/>
                      <a:pt x="7407516" y="353979"/>
                      <a:pt x="7396245" y="355328"/>
                    </a:cubicBezTo>
                    <a:cubicBezTo>
                      <a:pt x="7383524" y="356781"/>
                      <a:pt x="7371134" y="358791"/>
                      <a:pt x="7358394" y="359950"/>
                    </a:cubicBezTo>
                    <a:cubicBezTo>
                      <a:pt x="7319573" y="363179"/>
                      <a:pt x="7280655" y="364958"/>
                      <a:pt x="7241933" y="369637"/>
                    </a:cubicBezTo>
                    <a:cubicBezTo>
                      <a:pt x="7218235" y="372418"/>
                      <a:pt x="7194108" y="386008"/>
                      <a:pt x="7171767" y="383160"/>
                    </a:cubicBezTo>
                    <a:cubicBezTo>
                      <a:pt x="7126248" y="377813"/>
                      <a:pt x="7082583" y="399728"/>
                      <a:pt x="7036569" y="387132"/>
                    </a:cubicBezTo>
                    <a:cubicBezTo>
                      <a:pt x="7022328" y="383442"/>
                      <a:pt x="7003983" y="396347"/>
                      <a:pt x="6987200" y="398073"/>
                    </a:cubicBezTo>
                    <a:cubicBezTo>
                      <a:pt x="6945251" y="402388"/>
                      <a:pt x="6903183" y="404965"/>
                      <a:pt x="6861115" y="407542"/>
                    </a:cubicBezTo>
                    <a:cubicBezTo>
                      <a:pt x="6823394" y="409822"/>
                      <a:pt x="6784520" y="416550"/>
                      <a:pt x="6747718" y="410900"/>
                    </a:cubicBezTo>
                    <a:cubicBezTo>
                      <a:pt x="6709137" y="404791"/>
                      <a:pt x="6674999" y="408284"/>
                      <a:pt x="6638839" y="420654"/>
                    </a:cubicBezTo>
                    <a:cubicBezTo>
                      <a:pt x="6614066" y="429044"/>
                      <a:pt x="6587444" y="431733"/>
                      <a:pt x="6561486" y="435540"/>
                    </a:cubicBezTo>
                    <a:cubicBezTo>
                      <a:pt x="6533513" y="439778"/>
                      <a:pt x="6502069" y="435804"/>
                      <a:pt x="6477200" y="447113"/>
                    </a:cubicBezTo>
                    <a:cubicBezTo>
                      <a:pt x="6403159" y="480713"/>
                      <a:pt x="6325566" y="492119"/>
                      <a:pt x="6246111" y="497537"/>
                    </a:cubicBezTo>
                    <a:cubicBezTo>
                      <a:pt x="6231608" y="498524"/>
                      <a:pt x="6216540" y="495475"/>
                      <a:pt x="6202328" y="492074"/>
                    </a:cubicBezTo>
                    <a:cubicBezTo>
                      <a:pt x="6119346" y="471508"/>
                      <a:pt x="6038018" y="479381"/>
                      <a:pt x="5956458" y="500965"/>
                    </a:cubicBezTo>
                    <a:cubicBezTo>
                      <a:pt x="5939584" y="505613"/>
                      <a:pt x="5920486" y="507499"/>
                      <a:pt x="5903139" y="505186"/>
                    </a:cubicBezTo>
                    <a:cubicBezTo>
                      <a:pt x="5854306" y="498315"/>
                      <a:pt x="5806470" y="484677"/>
                      <a:pt x="5757547" y="480730"/>
                    </a:cubicBezTo>
                    <a:cubicBezTo>
                      <a:pt x="5676701" y="474297"/>
                      <a:pt x="5610121" y="519038"/>
                      <a:pt x="5540270" y="550023"/>
                    </a:cubicBezTo>
                    <a:cubicBezTo>
                      <a:pt x="5473801" y="579316"/>
                      <a:pt x="5419599" y="638949"/>
                      <a:pt x="5338128" y="631974"/>
                    </a:cubicBezTo>
                    <a:cubicBezTo>
                      <a:pt x="5329931" y="631367"/>
                      <a:pt x="5321476" y="639812"/>
                      <a:pt x="5312622" y="642454"/>
                    </a:cubicBezTo>
                    <a:cubicBezTo>
                      <a:pt x="5288350" y="649647"/>
                      <a:pt x="5264155" y="657994"/>
                      <a:pt x="5239393" y="662307"/>
                    </a:cubicBezTo>
                    <a:cubicBezTo>
                      <a:pt x="5209181" y="667862"/>
                      <a:pt x="5178072" y="668817"/>
                      <a:pt x="5147821" y="673791"/>
                    </a:cubicBezTo>
                    <a:cubicBezTo>
                      <a:pt x="5108908" y="679940"/>
                      <a:pt x="5070972" y="691848"/>
                      <a:pt x="5032111" y="694497"/>
                    </a:cubicBezTo>
                    <a:cubicBezTo>
                      <a:pt x="5000793" y="696632"/>
                      <a:pt x="4969032" y="688019"/>
                      <a:pt x="4937648" y="684913"/>
                    </a:cubicBezTo>
                    <a:cubicBezTo>
                      <a:pt x="4893363" y="680649"/>
                      <a:pt x="4845361" y="685962"/>
                      <a:pt x="4805529" y="670032"/>
                    </a:cubicBezTo>
                    <a:cubicBezTo>
                      <a:pt x="4763006" y="653119"/>
                      <a:pt x="4723244" y="646796"/>
                      <a:pt x="4681029" y="655792"/>
                    </a:cubicBezTo>
                    <a:cubicBezTo>
                      <a:pt x="4666957" y="658791"/>
                      <a:pt x="4649519" y="672217"/>
                      <a:pt x="4643990" y="685120"/>
                    </a:cubicBezTo>
                    <a:cubicBezTo>
                      <a:pt x="4631676" y="713928"/>
                      <a:pt x="4612585" y="720184"/>
                      <a:pt x="4585542" y="712411"/>
                    </a:cubicBezTo>
                    <a:cubicBezTo>
                      <a:pt x="4562077" y="705853"/>
                      <a:pt x="4533672" y="703713"/>
                      <a:pt x="4516947" y="689117"/>
                    </a:cubicBezTo>
                    <a:cubicBezTo>
                      <a:pt x="4469552" y="647774"/>
                      <a:pt x="4412904" y="650180"/>
                      <a:pt x="4356995" y="642048"/>
                    </a:cubicBezTo>
                    <a:cubicBezTo>
                      <a:pt x="4322867" y="637088"/>
                      <a:pt x="4291523" y="638934"/>
                      <a:pt x="4258219" y="646156"/>
                    </a:cubicBezTo>
                    <a:cubicBezTo>
                      <a:pt x="4185895" y="662159"/>
                      <a:pt x="4113776" y="651342"/>
                      <a:pt x="4042233" y="636117"/>
                    </a:cubicBezTo>
                    <a:cubicBezTo>
                      <a:pt x="3994923" y="625941"/>
                      <a:pt x="3946812" y="621063"/>
                      <a:pt x="3899777" y="610576"/>
                    </a:cubicBezTo>
                    <a:cubicBezTo>
                      <a:pt x="3864554" y="602488"/>
                      <a:pt x="3829196" y="592371"/>
                      <a:pt x="3796441" y="577707"/>
                    </a:cubicBezTo>
                    <a:cubicBezTo>
                      <a:pt x="3748937" y="556178"/>
                      <a:pt x="3706395" y="521788"/>
                      <a:pt x="3648774" y="535623"/>
                    </a:cubicBezTo>
                    <a:cubicBezTo>
                      <a:pt x="3598036" y="547820"/>
                      <a:pt x="3550396" y="532716"/>
                      <a:pt x="3502227" y="518518"/>
                    </a:cubicBezTo>
                    <a:cubicBezTo>
                      <a:pt x="3466848" y="508111"/>
                      <a:pt x="3431455" y="497410"/>
                      <a:pt x="3395228" y="491723"/>
                    </a:cubicBezTo>
                    <a:cubicBezTo>
                      <a:pt x="3352235" y="485040"/>
                      <a:pt x="3304663" y="492363"/>
                      <a:pt x="3265757" y="477242"/>
                    </a:cubicBezTo>
                    <a:cubicBezTo>
                      <a:pt x="3225052" y="461369"/>
                      <a:pt x="3193136" y="476075"/>
                      <a:pt x="3158404" y="483689"/>
                    </a:cubicBezTo>
                    <a:cubicBezTo>
                      <a:pt x="3102986" y="495623"/>
                      <a:pt x="3048333" y="514498"/>
                      <a:pt x="2990483" y="499212"/>
                    </a:cubicBezTo>
                    <a:cubicBezTo>
                      <a:pt x="2920173" y="480697"/>
                      <a:pt x="2850324" y="460405"/>
                      <a:pt x="2779802" y="443069"/>
                    </a:cubicBezTo>
                    <a:cubicBezTo>
                      <a:pt x="2752548" y="436477"/>
                      <a:pt x="2723606" y="434954"/>
                      <a:pt x="2695508" y="433082"/>
                    </a:cubicBezTo>
                    <a:cubicBezTo>
                      <a:pt x="2668903" y="431690"/>
                      <a:pt x="2637847" y="441965"/>
                      <a:pt x="2616713" y="431172"/>
                    </a:cubicBezTo>
                    <a:cubicBezTo>
                      <a:pt x="2562378" y="403411"/>
                      <a:pt x="2507687" y="391698"/>
                      <a:pt x="2447364" y="395810"/>
                    </a:cubicBezTo>
                    <a:cubicBezTo>
                      <a:pt x="2424744" y="397352"/>
                      <a:pt x="2401814" y="385802"/>
                      <a:pt x="2378751" y="385044"/>
                    </a:cubicBezTo>
                    <a:cubicBezTo>
                      <a:pt x="2347229" y="384281"/>
                      <a:pt x="2310735" y="378901"/>
                      <a:pt x="2284230" y="391782"/>
                    </a:cubicBezTo>
                    <a:cubicBezTo>
                      <a:pt x="2221919" y="422248"/>
                      <a:pt x="2168532" y="404037"/>
                      <a:pt x="2110801" y="382042"/>
                    </a:cubicBezTo>
                    <a:cubicBezTo>
                      <a:pt x="2053961" y="360279"/>
                      <a:pt x="1994577" y="343935"/>
                      <a:pt x="1934854" y="331108"/>
                    </a:cubicBezTo>
                    <a:cubicBezTo>
                      <a:pt x="1912400" y="326519"/>
                      <a:pt x="1886705" y="338470"/>
                      <a:pt x="1862479" y="342158"/>
                    </a:cubicBezTo>
                    <a:cubicBezTo>
                      <a:pt x="1853818" y="343333"/>
                      <a:pt x="1844309" y="344855"/>
                      <a:pt x="1836283" y="342488"/>
                    </a:cubicBezTo>
                    <a:cubicBezTo>
                      <a:pt x="1758698" y="319808"/>
                      <a:pt x="1680403" y="303878"/>
                      <a:pt x="1599327" y="323970"/>
                    </a:cubicBezTo>
                    <a:cubicBezTo>
                      <a:pt x="1591888" y="325937"/>
                      <a:pt x="1583257" y="323319"/>
                      <a:pt x="1575578" y="321802"/>
                    </a:cubicBezTo>
                    <a:cubicBezTo>
                      <a:pt x="1538035" y="313873"/>
                      <a:pt x="1500950" y="299795"/>
                      <a:pt x="1463288" y="298576"/>
                    </a:cubicBezTo>
                    <a:cubicBezTo>
                      <a:pt x="1370438" y="295582"/>
                      <a:pt x="1277384" y="298137"/>
                      <a:pt x="1184165" y="298373"/>
                    </a:cubicBezTo>
                    <a:cubicBezTo>
                      <a:pt x="1178344" y="298480"/>
                      <a:pt x="1172255" y="298896"/>
                      <a:pt x="1166899" y="297220"/>
                    </a:cubicBezTo>
                    <a:cubicBezTo>
                      <a:pt x="1131827" y="287082"/>
                      <a:pt x="1102238" y="293180"/>
                      <a:pt x="1074855" y="318934"/>
                    </a:cubicBezTo>
                    <a:cubicBezTo>
                      <a:pt x="1062808" y="330244"/>
                      <a:pt x="1045783" y="336940"/>
                      <a:pt x="1030232" y="343829"/>
                    </a:cubicBezTo>
                    <a:cubicBezTo>
                      <a:pt x="1007334" y="354132"/>
                      <a:pt x="983839" y="364180"/>
                      <a:pt x="959854" y="371351"/>
                    </a:cubicBezTo>
                    <a:cubicBezTo>
                      <a:pt x="936141" y="378210"/>
                      <a:pt x="910825" y="387219"/>
                      <a:pt x="887350" y="384742"/>
                    </a:cubicBezTo>
                    <a:cubicBezTo>
                      <a:pt x="845096" y="380339"/>
                      <a:pt x="804258" y="366810"/>
                      <a:pt x="762349" y="358882"/>
                    </a:cubicBezTo>
                    <a:cubicBezTo>
                      <a:pt x="747884" y="356082"/>
                      <a:pt x="732263" y="357732"/>
                      <a:pt x="717454" y="358448"/>
                    </a:cubicBezTo>
                    <a:cubicBezTo>
                      <a:pt x="683463" y="359893"/>
                      <a:pt x="649238" y="370675"/>
                      <a:pt x="616859" y="348700"/>
                    </a:cubicBezTo>
                    <a:cubicBezTo>
                      <a:pt x="586900" y="328019"/>
                      <a:pt x="558641" y="336644"/>
                      <a:pt x="529939" y="355789"/>
                    </a:cubicBezTo>
                    <a:cubicBezTo>
                      <a:pt x="509309" y="369433"/>
                      <a:pt x="485605" y="380664"/>
                      <a:pt x="461851" y="386945"/>
                    </a:cubicBezTo>
                    <a:cubicBezTo>
                      <a:pt x="429225" y="395576"/>
                      <a:pt x="396634" y="400422"/>
                      <a:pt x="360707" y="399082"/>
                    </a:cubicBezTo>
                    <a:cubicBezTo>
                      <a:pt x="335299" y="398193"/>
                      <a:pt x="314629" y="398437"/>
                      <a:pt x="293863" y="384410"/>
                    </a:cubicBezTo>
                    <a:cubicBezTo>
                      <a:pt x="290517" y="382308"/>
                      <a:pt x="284678" y="382122"/>
                      <a:pt x="280347" y="382711"/>
                    </a:cubicBezTo>
                    <a:cubicBezTo>
                      <a:pt x="223554" y="391535"/>
                      <a:pt x="166827" y="392780"/>
                      <a:pt x="108881" y="393231"/>
                    </a:cubicBezTo>
                    <a:cubicBezTo>
                      <a:pt x="90460" y="393322"/>
                      <a:pt x="71882" y="394571"/>
                      <a:pt x="53435" y="397222"/>
                    </a:cubicBezTo>
                    <a:lnTo>
                      <a:pt x="0" y="409348"/>
                    </a:lnTo>
                    <a:close/>
                  </a:path>
                </a:pathLst>
              </a:custGeom>
              <a:blipFill>
                <a:blip r:embed="rId2">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4" name="TextBox 3">
            <a:extLst>
              <a:ext uri="{FF2B5EF4-FFF2-40B4-BE49-F238E27FC236}">
                <a16:creationId xmlns:a16="http://schemas.microsoft.com/office/drawing/2014/main" id="{4EE584A8-10CE-8A8D-ECFF-C0866FC639B7}"/>
              </a:ext>
            </a:extLst>
          </p:cNvPr>
          <p:cNvSpPr txBox="1"/>
          <p:nvPr/>
        </p:nvSpPr>
        <p:spPr>
          <a:xfrm>
            <a:off x="225612" y="1289802"/>
            <a:ext cx="10840666" cy="5293757"/>
          </a:xfrm>
          <a:prstGeom prst="rect">
            <a:avLst/>
          </a:prstGeom>
          <a:noFill/>
        </p:spPr>
        <p:txBody>
          <a:bodyPr wrap="square" lIns="91440" tIns="45720" rIns="91440" bIns="45720" rtlCol="0" anchor="t">
            <a:spAutoFit/>
          </a:bodyPr>
          <a:lstStyle/>
          <a:p>
            <a:pPr eaLnBrk="0" fontAlgn="base" hangingPunct="0">
              <a:spcBef>
                <a:spcPct val="0"/>
              </a:spcBef>
              <a:spcAft>
                <a:spcPct val="0"/>
              </a:spcAft>
            </a:pPr>
            <a:r>
              <a:rPr lang="en-US" altLang="en-US" sz="1600" b="1" u="sng" dirty="0">
                <a:solidFill>
                  <a:schemeClr val="bg1"/>
                </a:solidFill>
                <a:latin typeface="Arial"/>
                <a:cs typeface="Arial"/>
              </a:rPr>
              <a:t>Load capacity (35 kg):</a:t>
            </a:r>
            <a:r>
              <a:rPr lang="en-US" altLang="en-US" sz="1600" u="sng" dirty="0">
                <a:solidFill>
                  <a:schemeClr val="bg1"/>
                </a:solidFill>
                <a:latin typeface="Arial"/>
                <a:cs typeface="Arial"/>
              </a:rPr>
              <a:t> </a:t>
            </a:r>
            <a:r>
              <a:rPr lang="en-US" altLang="en-US" sz="1600" dirty="0">
                <a:solidFill>
                  <a:schemeClr val="bg1"/>
                </a:solidFill>
                <a:latin typeface="Arial"/>
                <a:cs typeface="Arial"/>
              </a:rPr>
              <a:t>Drove the selection of structural dimensions, motor torque ratings, and safety factors to ensure the system can handle the required load under all operating conditions.</a:t>
            </a:r>
          </a:p>
          <a:p>
            <a:pPr eaLnBrk="0" fontAlgn="base" hangingPunct="0">
              <a:spcBef>
                <a:spcPct val="0"/>
              </a:spcBef>
              <a:spcAft>
                <a:spcPct val="0"/>
              </a:spcAft>
            </a:pPr>
            <a:br>
              <a:rPr lang="en-US" altLang="en-US" sz="1600" b="1" dirty="0">
                <a:latin typeface="Arial" panose="020B0604020202020204" pitchFamily="34" charset="0"/>
              </a:rPr>
            </a:br>
            <a:r>
              <a:rPr lang="en-US" altLang="en-US" sz="1600" b="1" u="sng" dirty="0">
                <a:solidFill>
                  <a:schemeClr val="bg1"/>
                </a:solidFill>
                <a:latin typeface="Arial"/>
                <a:cs typeface="Arial"/>
              </a:rPr>
              <a:t>Horizontal trolley movement:</a:t>
            </a:r>
            <a:r>
              <a:rPr lang="en-US" altLang="en-US" sz="1600" u="sng" dirty="0">
                <a:solidFill>
                  <a:schemeClr val="bg1"/>
                </a:solidFill>
                <a:latin typeface="Arial"/>
                <a:cs typeface="Arial"/>
              </a:rPr>
              <a:t> </a:t>
            </a:r>
            <a:r>
              <a:rPr lang="en-US" altLang="en-US" sz="1600" dirty="0">
                <a:solidFill>
                  <a:schemeClr val="bg1"/>
                </a:solidFill>
                <a:latin typeface="Arial"/>
                <a:cs typeface="Arial"/>
              </a:rPr>
              <a:t>Led to the development of the lateral movement unit, including the rail design, wheel configuration, and drive mechanism to ensure smooth and controlled travel.</a:t>
            </a:r>
          </a:p>
          <a:p>
            <a:pPr eaLnBrk="0" fontAlgn="base" hangingPunct="0">
              <a:spcBef>
                <a:spcPct val="0"/>
              </a:spcBef>
              <a:spcAft>
                <a:spcPct val="0"/>
              </a:spcAft>
            </a:pPr>
            <a:endParaRPr lang="en-US" altLang="en-US" sz="1600" dirty="0">
              <a:solidFill>
                <a:schemeClr val="bg1"/>
              </a:solidFill>
              <a:latin typeface="Arial" panose="020B0604020202020204" pitchFamily="34" charset="0"/>
            </a:endParaRPr>
          </a:p>
          <a:p>
            <a:pPr lvl="0" eaLnBrk="0" fontAlgn="base" hangingPunct="0">
              <a:spcBef>
                <a:spcPct val="0"/>
              </a:spcBef>
              <a:spcAft>
                <a:spcPct val="0"/>
              </a:spcAft>
            </a:pPr>
            <a:r>
              <a:rPr lang="en-US" altLang="en-US" sz="1600" b="1" u="sng" dirty="0">
                <a:solidFill>
                  <a:schemeClr val="bg1"/>
                </a:solidFill>
                <a:latin typeface="Arial"/>
                <a:cs typeface="Arial"/>
              </a:rPr>
              <a:t>Vertical lifting (hoisting):</a:t>
            </a:r>
            <a:r>
              <a:rPr lang="en-US" altLang="en-US" sz="1600" u="sng" dirty="0">
                <a:solidFill>
                  <a:schemeClr val="bg1"/>
                </a:solidFill>
                <a:latin typeface="Arial"/>
                <a:cs typeface="Arial"/>
              </a:rPr>
              <a:t> </a:t>
            </a:r>
            <a:r>
              <a:rPr lang="en-US" altLang="en-US" sz="1600" dirty="0">
                <a:solidFill>
                  <a:schemeClr val="bg1"/>
                </a:solidFill>
                <a:latin typeface="Arial"/>
                <a:cs typeface="Arial"/>
              </a:rPr>
              <a:t>Determined the motor selection, gearbox ratio, and pulley/hoist mechanism capable of lifting and lowering the load while maintaining stability and control.</a:t>
            </a:r>
          </a:p>
          <a:p>
            <a:pPr lvl="0" eaLnBrk="0" fontAlgn="base" hangingPunct="0">
              <a:spcBef>
                <a:spcPct val="0"/>
              </a:spcBef>
              <a:spcAft>
                <a:spcPct val="0"/>
              </a:spcAft>
            </a:pPr>
            <a:endParaRPr lang="en-US" altLang="en-US" sz="1600" dirty="0">
              <a:solidFill>
                <a:schemeClr val="bg1"/>
              </a:solidFill>
              <a:latin typeface="Arial" panose="020B0604020202020204" pitchFamily="34" charset="0"/>
            </a:endParaRPr>
          </a:p>
          <a:p>
            <a:pPr lvl="0" eaLnBrk="0" fontAlgn="base" hangingPunct="0">
              <a:spcBef>
                <a:spcPct val="0"/>
              </a:spcBef>
              <a:spcAft>
                <a:spcPct val="0"/>
              </a:spcAft>
            </a:pPr>
            <a:r>
              <a:rPr lang="en-US" altLang="en-US" sz="1600" b="1" u="sng" dirty="0">
                <a:solidFill>
                  <a:schemeClr val="bg1"/>
                </a:solidFill>
                <a:latin typeface="Arial"/>
                <a:cs typeface="Arial"/>
              </a:rPr>
              <a:t>Speed control (left/right and up/down):</a:t>
            </a:r>
            <a:r>
              <a:rPr lang="en-US" altLang="en-US" sz="1600" u="sng" dirty="0">
                <a:solidFill>
                  <a:schemeClr val="bg1"/>
                </a:solidFill>
                <a:latin typeface="Arial"/>
                <a:cs typeface="Arial"/>
              </a:rPr>
              <a:t> </a:t>
            </a:r>
            <a:r>
              <a:rPr lang="en-US" altLang="en-US" sz="1600" dirty="0">
                <a:solidFill>
                  <a:schemeClr val="bg1"/>
                </a:solidFill>
                <a:latin typeface="Arial"/>
                <a:cs typeface="Arial"/>
              </a:rPr>
              <a:t>Required the implementation of a motor control strategy (PWM or variable speed drive) and appropriate sensors/feedback loops to achieve precise motion.</a:t>
            </a:r>
          </a:p>
          <a:p>
            <a:pPr lvl="0" eaLnBrk="0" fontAlgn="base" hangingPunct="0">
              <a:spcBef>
                <a:spcPct val="0"/>
              </a:spcBef>
              <a:spcAft>
                <a:spcPct val="0"/>
              </a:spcAft>
            </a:pPr>
            <a:endParaRPr lang="en-US" altLang="en-US" sz="1600" dirty="0">
              <a:solidFill>
                <a:schemeClr val="bg1"/>
              </a:solidFill>
              <a:latin typeface="Arial" panose="020B0604020202020204" pitchFamily="34" charset="0"/>
            </a:endParaRPr>
          </a:p>
          <a:p>
            <a:pPr lvl="0" eaLnBrk="0" fontAlgn="base" hangingPunct="0">
              <a:spcBef>
                <a:spcPct val="0"/>
              </a:spcBef>
              <a:spcAft>
                <a:spcPct val="0"/>
              </a:spcAft>
            </a:pPr>
            <a:r>
              <a:rPr lang="en-US" altLang="en-US" sz="1600" b="1" u="sng" dirty="0">
                <a:solidFill>
                  <a:schemeClr val="bg1"/>
                </a:solidFill>
                <a:latin typeface="Arial"/>
                <a:cs typeface="Arial"/>
              </a:rPr>
              <a:t>Emergency stop:</a:t>
            </a:r>
            <a:r>
              <a:rPr lang="en-US" altLang="en-US" sz="1600" u="sng" dirty="0">
                <a:solidFill>
                  <a:schemeClr val="bg1"/>
                </a:solidFill>
                <a:latin typeface="Arial"/>
                <a:cs typeface="Arial"/>
              </a:rPr>
              <a:t> </a:t>
            </a:r>
            <a:r>
              <a:rPr lang="en-US" altLang="en-US" sz="1600" dirty="0">
                <a:solidFill>
                  <a:schemeClr val="bg1"/>
                </a:solidFill>
                <a:latin typeface="Arial"/>
                <a:cs typeface="Arial"/>
              </a:rPr>
              <a:t>Informed the integration of a dedicated shutdown circuit and fail-safe logic within the control system to ensure immediate stopping capability.</a:t>
            </a:r>
          </a:p>
          <a:p>
            <a:pPr lvl="0" eaLnBrk="0" fontAlgn="base" hangingPunct="0">
              <a:spcBef>
                <a:spcPct val="0"/>
              </a:spcBef>
              <a:spcAft>
                <a:spcPct val="0"/>
              </a:spcAft>
            </a:pPr>
            <a:endParaRPr lang="en-US" altLang="en-US" sz="1600" dirty="0">
              <a:solidFill>
                <a:schemeClr val="bg1"/>
              </a:solidFill>
              <a:latin typeface="Arial" panose="020B0604020202020204" pitchFamily="34" charset="0"/>
            </a:endParaRPr>
          </a:p>
          <a:p>
            <a:pPr lvl="0" eaLnBrk="0" fontAlgn="base" hangingPunct="0">
              <a:spcBef>
                <a:spcPct val="0"/>
              </a:spcBef>
              <a:spcAft>
                <a:spcPct val="0"/>
              </a:spcAft>
            </a:pPr>
            <a:r>
              <a:rPr lang="en-US" altLang="en-US" sz="1600" b="1" u="sng" dirty="0">
                <a:solidFill>
                  <a:schemeClr val="bg1"/>
                </a:solidFill>
                <a:latin typeface="Arial"/>
                <a:cs typeface="Arial"/>
              </a:rPr>
              <a:t>Inherent safety:</a:t>
            </a:r>
            <a:r>
              <a:rPr lang="en-US" altLang="en-US" sz="1600" u="sng" dirty="0">
                <a:solidFill>
                  <a:schemeClr val="bg1"/>
                </a:solidFill>
                <a:latin typeface="Arial"/>
                <a:cs typeface="Arial"/>
              </a:rPr>
              <a:t> </a:t>
            </a:r>
            <a:r>
              <a:rPr lang="en-US" altLang="en-US" sz="1600" dirty="0">
                <a:solidFill>
                  <a:schemeClr val="bg1"/>
                </a:solidFill>
                <a:latin typeface="Arial"/>
                <a:cs typeface="Arial"/>
              </a:rPr>
              <a:t>Influenced design choices such as mechanical limits, overload protection, stable mounting points, and secure attachment of the load.</a:t>
            </a:r>
          </a:p>
          <a:p>
            <a:pPr>
              <a:spcBef>
                <a:spcPct val="0"/>
              </a:spcBef>
              <a:spcAft>
                <a:spcPct val="0"/>
              </a:spcAft>
            </a:pPr>
            <a:endParaRPr lang="en-US" altLang="en-US" sz="1600" dirty="0">
              <a:solidFill>
                <a:schemeClr val="bg1"/>
              </a:solidFill>
              <a:latin typeface="Arial"/>
              <a:cs typeface="Arial"/>
            </a:endParaRPr>
          </a:p>
          <a:p>
            <a:pPr lvl="0" eaLnBrk="0" fontAlgn="base" hangingPunct="0">
              <a:spcBef>
                <a:spcPct val="0"/>
              </a:spcBef>
              <a:spcAft>
                <a:spcPct val="0"/>
              </a:spcAft>
            </a:pPr>
            <a:r>
              <a:rPr lang="en-US" altLang="en-US" sz="1600" b="1" u="sng" dirty="0">
                <a:solidFill>
                  <a:schemeClr val="bg1"/>
                </a:solidFill>
                <a:latin typeface="Arial"/>
                <a:cs typeface="Arial"/>
              </a:rPr>
              <a:t>Wireless communication:</a:t>
            </a:r>
            <a:r>
              <a:rPr lang="en-US" altLang="en-US" sz="1600" dirty="0">
                <a:solidFill>
                  <a:schemeClr val="bg1"/>
                </a:solidFill>
                <a:latin typeface="Arial"/>
                <a:cs typeface="Arial"/>
              </a:rPr>
              <a:t> Guided the inclusion of a reliable radio module/protocol and proper antenna placement to ensure effective remote operation.</a:t>
            </a:r>
          </a:p>
          <a:p>
            <a:endParaRPr lang="en-ZA" dirty="0"/>
          </a:p>
        </p:txBody>
      </p:sp>
    </p:spTree>
    <p:extLst>
      <p:ext uri="{BB962C8B-B14F-4D97-AF65-F5344CB8AC3E}">
        <p14:creationId xmlns:p14="http://schemas.microsoft.com/office/powerpoint/2010/main" val="1405949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C6DB5B7C-1BBD-493A-D783-421993AC97BB}"/>
              </a:ext>
            </a:extLst>
          </p:cNvPr>
          <p:cNvSpPr>
            <a:spLocks noGrp="1"/>
          </p:cNvSpPr>
          <p:nvPr>
            <p:ph type="title"/>
          </p:nvPr>
        </p:nvSpPr>
        <p:spPr>
          <a:xfrm>
            <a:off x="838200" y="669925"/>
            <a:ext cx="4508946" cy="1325563"/>
          </a:xfrm>
        </p:spPr>
        <p:txBody>
          <a:bodyPr anchor="b">
            <a:normAutofit/>
          </a:bodyPr>
          <a:lstStyle/>
          <a:p>
            <a:pPr algn="r"/>
            <a:r>
              <a:rPr lang="en-GB" dirty="0">
                <a:solidFill>
                  <a:schemeClr val="bg1"/>
                </a:solidFill>
              </a:rPr>
              <a:t>Design concept</a:t>
            </a:r>
          </a:p>
        </p:txBody>
      </p:sp>
      <p:cxnSp>
        <p:nvCxnSpPr>
          <p:cNvPr id="32" name="Straight Connector 31">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D486B7A-40C4-D58F-BF5C-6CD8242DCAF9}"/>
              </a:ext>
            </a:extLst>
          </p:cNvPr>
          <p:cNvSpPr>
            <a:spLocks noGrp="1"/>
          </p:cNvSpPr>
          <p:nvPr>
            <p:ph idx="1"/>
          </p:nvPr>
        </p:nvSpPr>
        <p:spPr>
          <a:xfrm>
            <a:off x="1392667" y="2398957"/>
            <a:ext cx="9406666" cy="3526144"/>
          </a:xfrm>
        </p:spPr>
        <p:txBody>
          <a:bodyPr vert="horz" lIns="91440" tIns="45720" rIns="91440" bIns="45720" rtlCol="0" anchor="t">
            <a:normAutofit/>
          </a:bodyPr>
          <a:lstStyle/>
          <a:p>
            <a:pPr marL="0" lvl="0" indent="0" eaLnBrk="0" fontAlgn="base" hangingPunct="0">
              <a:spcBef>
                <a:spcPct val="0"/>
              </a:spcBef>
              <a:spcAft>
                <a:spcPts val="600"/>
              </a:spcAft>
              <a:buNone/>
            </a:pPr>
            <a:r>
              <a:rPr lang="en-US" altLang="en-US" sz="2000" dirty="0">
                <a:solidFill>
                  <a:schemeClr val="bg1"/>
                </a:solidFill>
                <a:latin typeface="Arial"/>
                <a:cs typeface="Arial"/>
              </a:rPr>
              <a:t>Modular system with independent subsystems</a:t>
            </a:r>
          </a:p>
          <a:p>
            <a:pPr marL="0" lvl="0" indent="0" eaLnBrk="0" fontAlgn="base" hangingPunct="0">
              <a:spcBef>
                <a:spcPct val="0"/>
              </a:spcBef>
              <a:spcAft>
                <a:spcPts val="600"/>
              </a:spcAft>
              <a:buNone/>
            </a:pPr>
            <a:endParaRPr lang="en-US" altLang="en-US" sz="2000" dirty="0">
              <a:solidFill>
                <a:schemeClr val="bg1"/>
              </a:solidFill>
              <a:latin typeface="Arial" panose="020B0604020202020204" pitchFamily="34" charset="0"/>
            </a:endParaRPr>
          </a:p>
          <a:p>
            <a:pPr marL="0" lvl="0" indent="0" eaLnBrk="0" fontAlgn="base" hangingPunct="0">
              <a:spcBef>
                <a:spcPct val="0"/>
              </a:spcBef>
              <a:spcAft>
                <a:spcPts val="600"/>
              </a:spcAft>
              <a:buFontTx/>
              <a:buChar char="•"/>
            </a:pPr>
            <a:r>
              <a:rPr lang="en-US" altLang="en-US" sz="2000" dirty="0">
                <a:solidFill>
                  <a:schemeClr val="bg1"/>
                </a:solidFill>
                <a:latin typeface="Arial"/>
                <a:cs typeface="Arial"/>
              </a:rPr>
              <a:t>Focus on </a:t>
            </a:r>
            <a:r>
              <a:rPr lang="en-US" altLang="en-US" sz="2000" b="1" dirty="0">
                <a:solidFill>
                  <a:schemeClr val="bg1"/>
                </a:solidFill>
                <a:latin typeface="Arial"/>
                <a:cs typeface="Arial"/>
              </a:rPr>
              <a:t>precision, speed control, and safety</a:t>
            </a:r>
            <a:endParaRPr lang="en-US" altLang="en-US" sz="2000" dirty="0">
              <a:solidFill>
                <a:schemeClr val="bg1"/>
              </a:solidFill>
              <a:latin typeface="Arial"/>
              <a:cs typeface="Arial"/>
            </a:endParaRPr>
          </a:p>
          <a:p>
            <a:pPr marL="0" lvl="0" indent="0" eaLnBrk="0" fontAlgn="base" hangingPunct="0">
              <a:spcBef>
                <a:spcPct val="0"/>
              </a:spcBef>
              <a:spcAft>
                <a:spcPts val="600"/>
              </a:spcAft>
              <a:buFontTx/>
              <a:buChar char="•"/>
            </a:pPr>
            <a:r>
              <a:rPr lang="en-US" altLang="en-US" sz="2000" dirty="0">
                <a:solidFill>
                  <a:schemeClr val="bg1"/>
                </a:solidFill>
                <a:latin typeface="Arial"/>
                <a:cs typeface="Arial"/>
              </a:rPr>
              <a:t>Key Components:</a:t>
            </a:r>
          </a:p>
          <a:p>
            <a:pPr marL="0" lvl="0" indent="0" eaLnBrk="0" fontAlgn="base" hangingPunct="0">
              <a:spcBef>
                <a:spcPct val="0"/>
              </a:spcBef>
              <a:spcAft>
                <a:spcPts val="600"/>
              </a:spcAft>
              <a:buFontTx/>
              <a:buChar char="•"/>
            </a:pPr>
            <a:r>
              <a:rPr lang="en-US" altLang="en-US" sz="2000" dirty="0">
                <a:solidFill>
                  <a:schemeClr val="bg1"/>
                </a:solidFill>
                <a:latin typeface="Arial"/>
                <a:cs typeface="Arial"/>
              </a:rPr>
              <a:t>Lateral movement (Trolley)</a:t>
            </a:r>
          </a:p>
          <a:p>
            <a:pPr marL="0" lvl="0" indent="0" eaLnBrk="0" fontAlgn="base" hangingPunct="0">
              <a:spcBef>
                <a:spcPct val="0"/>
              </a:spcBef>
              <a:spcAft>
                <a:spcPts val="600"/>
              </a:spcAft>
              <a:buFontTx/>
              <a:buChar char="•"/>
            </a:pPr>
            <a:r>
              <a:rPr lang="en-US" altLang="en-US" sz="2000" dirty="0">
                <a:solidFill>
                  <a:schemeClr val="bg1"/>
                </a:solidFill>
                <a:latin typeface="Arial"/>
                <a:cs typeface="Arial"/>
              </a:rPr>
              <a:t>Hoisting mechanism</a:t>
            </a:r>
          </a:p>
          <a:p>
            <a:pPr marL="0" indent="0" eaLnBrk="0" fontAlgn="base" hangingPunct="0">
              <a:spcBef>
                <a:spcPct val="0"/>
              </a:spcBef>
              <a:spcAft>
                <a:spcPts val="600"/>
              </a:spcAft>
              <a:buFontTx/>
              <a:buChar char="•"/>
            </a:pPr>
            <a:r>
              <a:rPr lang="en-US" altLang="en-US" sz="2000" dirty="0">
                <a:solidFill>
                  <a:schemeClr val="bg1"/>
                </a:solidFill>
                <a:latin typeface="Arial"/>
                <a:cs typeface="Arial"/>
              </a:rPr>
              <a:t>H-Bridge (Drive Electronics)</a:t>
            </a:r>
          </a:p>
          <a:p>
            <a:pPr marL="0" lvl="0" indent="0" eaLnBrk="0" fontAlgn="base" hangingPunct="0">
              <a:spcBef>
                <a:spcPct val="0"/>
              </a:spcBef>
              <a:spcAft>
                <a:spcPts val="600"/>
              </a:spcAft>
              <a:buFontTx/>
              <a:buChar char="•"/>
            </a:pPr>
            <a:r>
              <a:rPr lang="en-US" altLang="en-US" sz="2000" dirty="0">
                <a:solidFill>
                  <a:schemeClr val="bg1"/>
                </a:solidFill>
                <a:latin typeface="Arial"/>
                <a:cs typeface="Arial"/>
              </a:rPr>
              <a:t>Wireless pendant</a:t>
            </a:r>
          </a:p>
          <a:p>
            <a:pPr marL="0" lvl="0" indent="0" eaLnBrk="0" fontAlgn="base" hangingPunct="0">
              <a:spcBef>
                <a:spcPct val="0"/>
              </a:spcBef>
              <a:spcAft>
                <a:spcPts val="600"/>
              </a:spcAft>
              <a:buFontTx/>
              <a:buChar char="•"/>
            </a:pPr>
            <a:r>
              <a:rPr lang="en-US" altLang="en-US" sz="2000" dirty="0">
                <a:solidFill>
                  <a:schemeClr val="bg1"/>
                </a:solidFill>
                <a:latin typeface="Arial"/>
                <a:cs typeface="Arial"/>
              </a:rPr>
              <a:t>Main controller</a:t>
            </a:r>
          </a:p>
          <a:p>
            <a:pPr marL="0" indent="0">
              <a:spcBef>
                <a:spcPct val="0"/>
              </a:spcBef>
              <a:spcAft>
                <a:spcPts val="600"/>
              </a:spcAft>
              <a:buNone/>
            </a:pPr>
            <a:endParaRPr lang="en-US" altLang="en-US" sz="2000" dirty="0">
              <a:solidFill>
                <a:schemeClr val="bg1"/>
              </a:solidFill>
              <a:latin typeface="Arial" panose="020B0604020202020204" pitchFamily="34" charset="0"/>
              <a:cs typeface="Arial"/>
            </a:endParaRPr>
          </a:p>
        </p:txBody>
      </p:sp>
      <p:sp>
        <p:nvSpPr>
          <p:cNvPr id="34" name="Rectangle 33">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56304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1A75659-5A6F-4F77-9679-678A00B9D8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68146F8A-7604-2049-4E8A-197A9003C615}"/>
              </a:ext>
            </a:extLst>
          </p:cNvPr>
          <p:cNvPicPr>
            <a:picLocks noChangeAspect="1"/>
          </p:cNvPicPr>
          <p:nvPr/>
        </p:nvPicPr>
        <p:blipFill>
          <a:blip r:embed="rId2"/>
          <a:srcRect l="28623" r="277"/>
          <a:stretch>
            <a:fillRect/>
          </a:stretch>
        </p:blipFill>
        <p:spPr>
          <a:xfrm>
            <a:off x="20" y="10"/>
            <a:ext cx="8668492" cy="6857990"/>
          </a:xfrm>
          <a:prstGeom prst="rect">
            <a:avLst/>
          </a:prstGeom>
        </p:spPr>
      </p:pic>
      <p:sp>
        <p:nvSpPr>
          <p:cNvPr id="11" name="Rectangle 10">
            <a:extLst>
              <a:ext uri="{FF2B5EF4-FFF2-40B4-BE49-F238E27FC236}">
                <a16:creationId xmlns:a16="http://schemas.microsoft.com/office/drawing/2014/main" id="{E30A3A45-140E-431E-AED0-07EF836310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435399" y="0"/>
            <a:ext cx="9756601" cy="6858000"/>
          </a:xfrm>
          <a:prstGeom prst="rect">
            <a:avLst/>
          </a:prstGeom>
          <a:gradFill>
            <a:gsLst>
              <a:gs pos="53000">
                <a:schemeClr val="tx1"/>
              </a:gs>
              <a:gs pos="35000">
                <a:schemeClr val="tx1">
                  <a:alpha val="76000"/>
                </a:schemeClr>
              </a:gs>
              <a:gs pos="19000">
                <a:schemeClr val="tx1">
                  <a:alpha val="40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8395868" y="1161288"/>
            <a:ext cx="3438144" cy="112471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2800" dirty="0">
                <a:solidFill>
                  <a:schemeClr val="bg1"/>
                </a:solidFill>
                <a:latin typeface="+mj-lt"/>
                <a:ea typeface="+mj-ea"/>
                <a:cs typeface="+mj-cs"/>
              </a:rPr>
              <a:t>Lateral Movement </a:t>
            </a:r>
          </a:p>
        </p:txBody>
      </p:sp>
      <p:sp>
        <p:nvSpPr>
          <p:cNvPr id="13" name="Rectangle 12">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687333"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5" name="Rectangle 1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3018" y="2443480"/>
            <a:ext cx="3218688"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TextBox 2"/>
          <p:cNvSpPr txBox="1"/>
          <p:nvPr/>
        </p:nvSpPr>
        <p:spPr>
          <a:xfrm>
            <a:off x="8395868" y="2718054"/>
            <a:ext cx="3438906" cy="3207258"/>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700" b="1" dirty="0">
                <a:solidFill>
                  <a:schemeClr val="bg1"/>
                </a:solidFill>
              </a:rPr>
              <a:t>Lateral Movement Unit</a:t>
            </a:r>
            <a:endParaRPr lang="en-US" sz="1700" dirty="0">
              <a:solidFill>
                <a:schemeClr val="bg1"/>
              </a:solidFill>
            </a:endParaRPr>
          </a:p>
          <a:p>
            <a:pPr indent="-228600">
              <a:lnSpc>
                <a:spcPct val="90000"/>
              </a:lnSpc>
              <a:spcAft>
                <a:spcPts val="600"/>
              </a:spcAft>
              <a:buFont typeface="Arial" panose="020B0604020202020204" pitchFamily="34" charset="0"/>
              <a:buChar char="•"/>
            </a:pPr>
            <a:r>
              <a:rPr lang="en-US" sz="1700" dirty="0">
                <a:solidFill>
                  <a:schemeClr val="bg1"/>
                </a:solidFill>
              </a:rPr>
              <a:t>Provides controlled horizontal motion of the trolley</a:t>
            </a:r>
          </a:p>
          <a:p>
            <a:pPr indent="-228600">
              <a:lnSpc>
                <a:spcPct val="90000"/>
              </a:lnSpc>
              <a:spcAft>
                <a:spcPts val="600"/>
              </a:spcAft>
              <a:buFont typeface="Arial" panose="020B0604020202020204" pitchFamily="34" charset="0"/>
              <a:buChar char="•"/>
            </a:pPr>
            <a:r>
              <a:rPr lang="en-US" sz="1700" dirty="0">
                <a:solidFill>
                  <a:schemeClr val="bg1"/>
                </a:solidFill>
              </a:rPr>
              <a:t>Driven by </a:t>
            </a:r>
            <a:r>
              <a:rPr lang="en-US" sz="1700" b="1" dirty="0">
                <a:solidFill>
                  <a:schemeClr val="bg1"/>
                </a:solidFill>
              </a:rPr>
              <a:t>motor + gears</a:t>
            </a:r>
            <a:endParaRPr lang="en-US" sz="1700" dirty="0">
              <a:solidFill>
                <a:schemeClr val="bg1"/>
              </a:solidFill>
            </a:endParaRPr>
          </a:p>
          <a:p>
            <a:pPr indent="-228600">
              <a:lnSpc>
                <a:spcPct val="90000"/>
              </a:lnSpc>
              <a:spcAft>
                <a:spcPts val="600"/>
              </a:spcAft>
              <a:buFont typeface="Arial" panose="020B0604020202020204" pitchFamily="34" charset="0"/>
              <a:buChar char="•"/>
            </a:pPr>
            <a:r>
              <a:rPr lang="en-US" sz="1700" dirty="0">
                <a:solidFill>
                  <a:schemeClr val="bg1"/>
                </a:solidFill>
              </a:rPr>
              <a:t>Equipped with </a:t>
            </a:r>
            <a:r>
              <a:rPr lang="en-US" sz="1700" b="1" dirty="0">
                <a:solidFill>
                  <a:schemeClr val="bg1"/>
                </a:solidFill>
              </a:rPr>
              <a:t>position sensors for accurate tracking</a:t>
            </a:r>
            <a:endParaRPr lang="en-US" sz="1700" dirty="0">
              <a:solidFill>
                <a:schemeClr val="bg1"/>
              </a:solidFill>
            </a:endParaRPr>
          </a:p>
          <a:p>
            <a:pPr indent="-228600">
              <a:lnSpc>
                <a:spcPct val="90000"/>
              </a:lnSpc>
              <a:spcAft>
                <a:spcPts val="600"/>
              </a:spcAft>
              <a:buFont typeface="Arial" panose="020B0604020202020204" pitchFamily="34" charset="0"/>
              <a:buChar char="•"/>
            </a:pPr>
            <a:r>
              <a:rPr lang="en-US" sz="1700" dirty="0">
                <a:solidFill>
                  <a:schemeClr val="bg1"/>
                </a:solidFill>
              </a:rPr>
              <a:t>Independent speed control for smooth operation</a:t>
            </a:r>
          </a:p>
          <a:p>
            <a:pPr indent="-228600">
              <a:lnSpc>
                <a:spcPct val="90000"/>
              </a:lnSpc>
              <a:spcAft>
                <a:spcPts val="600"/>
              </a:spcAft>
              <a:buFont typeface="Arial" panose="020B0604020202020204" pitchFamily="34" charset="0"/>
              <a:buChar char="•"/>
            </a:pPr>
            <a:r>
              <a:rPr lang="en-US" sz="1700" dirty="0">
                <a:solidFill>
                  <a:schemeClr val="bg1"/>
                </a:solidFill>
              </a:rPr>
              <a:t>Designed to support </a:t>
            </a:r>
            <a:r>
              <a:rPr lang="en-US" sz="1700" b="1" dirty="0">
                <a:solidFill>
                  <a:schemeClr val="bg1"/>
                </a:solidFill>
              </a:rPr>
              <a:t>35 kg load safely</a:t>
            </a:r>
            <a:endParaRPr lang="en-US" sz="1700" dirty="0">
              <a:solidFill>
                <a:schemeClr val="bg1"/>
              </a:solidFill>
            </a:endParaRPr>
          </a:p>
        </p:txBody>
      </p:sp>
    </p:spTree>
    <p:extLst>
      <p:ext uri="{BB962C8B-B14F-4D97-AF65-F5344CB8AC3E}">
        <p14:creationId xmlns:p14="http://schemas.microsoft.com/office/powerpoint/2010/main" val="1667462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2" name="Group 51">
            <a:extLst>
              <a:ext uri="{FF2B5EF4-FFF2-40B4-BE49-F238E27FC236}">
                <a16:creationId xmlns:a16="http://schemas.microsoft.com/office/drawing/2014/main" id="{4B2AE301-8298-47C2-81FA-781BA50D993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296011"/>
            <a:ext cx="12192000" cy="3561989"/>
            <a:chOff x="0" y="3296011"/>
            <a:chExt cx="12192000" cy="3561989"/>
          </a:xfrm>
          <a:effectLst>
            <a:outerShdw blurRad="254000" dist="152400" dir="16200000" rotWithShape="0">
              <a:prstClr val="black">
                <a:alpha val="10000"/>
              </a:prstClr>
            </a:outerShdw>
          </a:effectLst>
        </p:grpSpPr>
        <p:grpSp>
          <p:nvGrpSpPr>
            <p:cNvPr id="53" name="Group 52">
              <a:extLst>
                <a:ext uri="{FF2B5EF4-FFF2-40B4-BE49-F238E27FC236}">
                  <a16:creationId xmlns:a16="http://schemas.microsoft.com/office/drawing/2014/main" id="{68DBE596-692C-4777-8933-9D5BB8533B3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57" name="Freeform: Shape 56">
                <a:extLst>
                  <a:ext uri="{FF2B5EF4-FFF2-40B4-BE49-F238E27FC236}">
                    <a16:creationId xmlns:a16="http://schemas.microsoft.com/office/drawing/2014/main" id="{9C38783D-8606-4709-8C6F-69DE0EF816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8" name="Freeform: Shape 57">
                <a:extLst>
                  <a:ext uri="{FF2B5EF4-FFF2-40B4-BE49-F238E27FC236}">
                    <a16:creationId xmlns:a16="http://schemas.microsoft.com/office/drawing/2014/main" id="{665A2D8C-561A-4347-88E9-4D84CF7CA9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54" name="Group 53">
              <a:extLst>
                <a:ext uri="{FF2B5EF4-FFF2-40B4-BE49-F238E27FC236}">
                  <a16:creationId xmlns:a16="http://schemas.microsoft.com/office/drawing/2014/main" id="{77CB8EFE-31DC-44A2-A07E-FD84E8DA3E2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55" name="Freeform: Shape 54">
                <a:extLst>
                  <a:ext uri="{FF2B5EF4-FFF2-40B4-BE49-F238E27FC236}">
                    <a16:creationId xmlns:a16="http://schemas.microsoft.com/office/drawing/2014/main" id="{B6473FEC-46FF-4C7E-85BA-344E0365CA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6" name="Freeform: Shape 55">
                <a:extLst>
                  <a:ext uri="{FF2B5EF4-FFF2-40B4-BE49-F238E27FC236}">
                    <a16:creationId xmlns:a16="http://schemas.microsoft.com/office/drawing/2014/main" id="{8C875950-A52D-453F-A602-3E58AD414E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2">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sp>
        <p:nvSpPr>
          <p:cNvPr id="2" name="TextBox 1"/>
          <p:cNvSpPr txBox="1"/>
          <p:nvPr/>
        </p:nvSpPr>
        <p:spPr>
          <a:xfrm>
            <a:off x="6099175" y="1354819"/>
            <a:ext cx="5240881" cy="241101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000" b="1" kern="1200" dirty="0">
                <a:solidFill>
                  <a:schemeClr val="bg1"/>
                </a:solidFill>
                <a:latin typeface="+mj-lt"/>
                <a:ea typeface="+mj-ea"/>
                <a:cs typeface="+mj-cs"/>
              </a:rPr>
              <a:t>Sketch/CAD for lateral movement</a:t>
            </a:r>
            <a:br>
              <a:rPr lang="en-US" sz="4000" b="1" kern="1200" dirty="0">
                <a:solidFill>
                  <a:schemeClr val="bg1"/>
                </a:solidFill>
                <a:latin typeface="+mj-lt"/>
                <a:ea typeface="+mj-ea"/>
                <a:cs typeface="+mj-cs"/>
              </a:rPr>
            </a:br>
            <a:br>
              <a:rPr lang="en-US" sz="4000" b="1" kern="1200" dirty="0">
                <a:solidFill>
                  <a:schemeClr val="bg1"/>
                </a:solidFill>
                <a:latin typeface="+mj-lt"/>
                <a:ea typeface="+mj-ea"/>
                <a:cs typeface="+mj-cs"/>
              </a:rPr>
            </a:br>
            <a:endParaRPr lang="en-US" sz="4000" kern="1200" dirty="0">
              <a:solidFill>
                <a:schemeClr val="bg1"/>
              </a:solidFill>
              <a:latin typeface="+mj-lt"/>
              <a:ea typeface="+mj-ea"/>
              <a:cs typeface="+mj-cs"/>
            </a:endParaRPr>
          </a:p>
        </p:txBody>
      </p:sp>
      <p:pic>
        <p:nvPicPr>
          <p:cNvPr id="4" name="Picture 3">
            <a:extLst>
              <a:ext uri="{FF2B5EF4-FFF2-40B4-BE49-F238E27FC236}">
                <a16:creationId xmlns:a16="http://schemas.microsoft.com/office/drawing/2014/main" id="{4954E8FC-25D6-C136-DF53-3AED78BD7518}"/>
              </a:ext>
            </a:extLst>
          </p:cNvPr>
          <p:cNvPicPr>
            <a:picLocks noChangeAspect="1"/>
          </p:cNvPicPr>
          <p:nvPr/>
        </p:nvPicPr>
        <p:blipFill>
          <a:blip r:embed="rId3"/>
          <a:srcRect l="860" r="4710" b="1"/>
          <a:stretch>
            <a:fillRect/>
          </a:stretch>
        </p:blipFill>
        <p:spPr>
          <a:xfrm>
            <a:off x="835024" y="1429488"/>
            <a:ext cx="4238311" cy="3287655"/>
          </a:xfrm>
          <a:prstGeom prst="rect">
            <a:avLst/>
          </a:prstGeom>
        </p:spPr>
      </p:pic>
    </p:spTree>
    <p:extLst>
      <p:ext uri="{BB962C8B-B14F-4D97-AF65-F5344CB8AC3E}">
        <p14:creationId xmlns:p14="http://schemas.microsoft.com/office/powerpoint/2010/main" val="2479038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21A75659-5A6F-4F77-9679-678A00B9D8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a:extLst>
              <a:ext uri="{FF2B5EF4-FFF2-40B4-BE49-F238E27FC236}">
                <a16:creationId xmlns:a16="http://schemas.microsoft.com/office/drawing/2014/main" id="{2366ED99-A182-8197-90F4-D4F35DC2C2CB}"/>
              </a:ext>
            </a:extLst>
          </p:cNvPr>
          <p:cNvPicPr>
            <a:picLocks noChangeAspect="1"/>
          </p:cNvPicPr>
          <p:nvPr/>
        </p:nvPicPr>
        <p:blipFill>
          <a:blip r:embed="rId2"/>
          <a:srcRect t="19088" r="-1" b="-1"/>
          <a:stretch>
            <a:fillRect/>
          </a:stretch>
        </p:blipFill>
        <p:spPr>
          <a:xfrm>
            <a:off x="20" y="10"/>
            <a:ext cx="8668492" cy="6857990"/>
          </a:xfrm>
          <a:prstGeom prst="rect">
            <a:avLst/>
          </a:prstGeom>
        </p:spPr>
      </p:pic>
      <p:sp>
        <p:nvSpPr>
          <p:cNvPr id="31" name="Rectangle 30">
            <a:extLst>
              <a:ext uri="{FF2B5EF4-FFF2-40B4-BE49-F238E27FC236}">
                <a16:creationId xmlns:a16="http://schemas.microsoft.com/office/drawing/2014/main" id="{E30A3A45-140E-431E-AED0-07EF836310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435399" y="0"/>
            <a:ext cx="9756601" cy="6858000"/>
          </a:xfrm>
          <a:prstGeom prst="rect">
            <a:avLst/>
          </a:prstGeom>
          <a:gradFill>
            <a:gsLst>
              <a:gs pos="53000">
                <a:schemeClr val="tx1"/>
              </a:gs>
              <a:gs pos="35000">
                <a:schemeClr val="tx1">
                  <a:alpha val="76000"/>
                </a:schemeClr>
              </a:gs>
              <a:gs pos="19000">
                <a:schemeClr val="tx1">
                  <a:alpha val="40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687333"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35" name="Rectangle 3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3018" y="2443480"/>
            <a:ext cx="3218688"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5270ABFE-5BB2-117E-A7FF-3926D630AC1C}"/>
              </a:ext>
            </a:extLst>
          </p:cNvPr>
          <p:cNvSpPr txBox="1"/>
          <p:nvPr/>
        </p:nvSpPr>
        <p:spPr>
          <a:xfrm>
            <a:off x="8395868" y="2718054"/>
            <a:ext cx="3438906" cy="3207258"/>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400" b="1" dirty="0">
                <a:solidFill>
                  <a:schemeClr val="bg1"/>
                </a:solidFill>
              </a:rPr>
              <a:t>Hoisting Mechanism</a:t>
            </a:r>
          </a:p>
          <a:p>
            <a:pPr indent="-228600">
              <a:lnSpc>
                <a:spcPct val="90000"/>
              </a:lnSpc>
              <a:spcAft>
                <a:spcPts val="600"/>
              </a:spcAft>
              <a:buFont typeface="Arial" panose="020B0604020202020204" pitchFamily="34" charset="0"/>
              <a:buChar char="•"/>
            </a:pPr>
            <a:endParaRPr lang="en-US" sz="1400" dirty="0">
              <a:solidFill>
                <a:schemeClr val="bg1"/>
              </a:solidFill>
            </a:endParaRPr>
          </a:p>
          <a:p>
            <a:pPr marL="285750" indent="-228600">
              <a:lnSpc>
                <a:spcPct val="90000"/>
              </a:lnSpc>
              <a:spcAft>
                <a:spcPts val="600"/>
              </a:spcAft>
              <a:buFont typeface="Arial" panose="020B0604020202020204" pitchFamily="34" charset="0"/>
              <a:buChar char="•"/>
            </a:pPr>
            <a:r>
              <a:rPr lang="en-US" sz="1400" dirty="0">
                <a:solidFill>
                  <a:schemeClr val="bg1"/>
                </a:solidFill>
              </a:rPr>
              <a:t>Provides lifting and lowering of load</a:t>
            </a:r>
          </a:p>
          <a:p>
            <a:pPr marL="285750" indent="-228600">
              <a:lnSpc>
                <a:spcPct val="90000"/>
              </a:lnSpc>
              <a:spcAft>
                <a:spcPts val="600"/>
              </a:spcAft>
              <a:buFont typeface="Arial" panose="020B0604020202020204" pitchFamily="34" charset="0"/>
              <a:buChar char="•"/>
            </a:pPr>
            <a:r>
              <a:rPr lang="en-US" sz="1400" dirty="0">
                <a:solidFill>
                  <a:schemeClr val="bg1"/>
                </a:solidFill>
              </a:rPr>
              <a:t>Equipped with sensors to measure length of released cable</a:t>
            </a:r>
          </a:p>
          <a:p>
            <a:pPr marL="285750" indent="-228600">
              <a:lnSpc>
                <a:spcPct val="90000"/>
              </a:lnSpc>
              <a:spcAft>
                <a:spcPts val="600"/>
              </a:spcAft>
              <a:buFont typeface="Arial" panose="020B0604020202020204" pitchFamily="34" charset="0"/>
              <a:buChar char="•"/>
            </a:pPr>
            <a:r>
              <a:rPr lang="en-US" sz="1400" dirty="0">
                <a:solidFill>
                  <a:schemeClr val="bg1"/>
                </a:solidFill>
              </a:rPr>
              <a:t>Driven by a 3-phase induction motor</a:t>
            </a:r>
          </a:p>
          <a:p>
            <a:pPr marL="285750" indent="-228600">
              <a:lnSpc>
                <a:spcPct val="90000"/>
              </a:lnSpc>
              <a:spcAft>
                <a:spcPts val="600"/>
              </a:spcAft>
              <a:buFont typeface="Arial" panose="020B0604020202020204" pitchFamily="34" charset="0"/>
              <a:buChar char="•"/>
            </a:pPr>
            <a:r>
              <a:rPr lang="en-US" sz="1400" dirty="0">
                <a:solidFill>
                  <a:schemeClr val="bg1"/>
                </a:solidFill>
              </a:rPr>
              <a:t>Planetary gearbox and worm gear used for high torque conversion and to prevent back drive</a:t>
            </a:r>
          </a:p>
          <a:p>
            <a:pPr marL="285750" indent="-228600">
              <a:lnSpc>
                <a:spcPct val="90000"/>
              </a:lnSpc>
              <a:spcAft>
                <a:spcPts val="600"/>
              </a:spcAft>
              <a:buFont typeface="Arial" panose="020B0604020202020204" pitchFamily="34" charset="0"/>
              <a:buChar char="•"/>
            </a:pPr>
            <a:r>
              <a:rPr lang="en-US" sz="1400" dirty="0">
                <a:solidFill>
                  <a:schemeClr val="bg1"/>
                </a:solidFill>
              </a:rPr>
              <a:t>Designed to a handle 35kg load</a:t>
            </a:r>
          </a:p>
          <a:p>
            <a:pPr marL="285750" indent="-228600">
              <a:lnSpc>
                <a:spcPct val="90000"/>
              </a:lnSpc>
              <a:spcAft>
                <a:spcPts val="600"/>
              </a:spcAft>
              <a:buFont typeface="Arial" panose="020B0604020202020204" pitchFamily="34" charset="0"/>
              <a:buChar char="•"/>
            </a:pPr>
            <a:endParaRPr lang="en-US" sz="1400" dirty="0">
              <a:solidFill>
                <a:schemeClr val="bg1"/>
              </a:solidFill>
            </a:endParaRPr>
          </a:p>
        </p:txBody>
      </p:sp>
    </p:spTree>
    <p:extLst>
      <p:ext uri="{BB962C8B-B14F-4D97-AF65-F5344CB8AC3E}">
        <p14:creationId xmlns:p14="http://schemas.microsoft.com/office/powerpoint/2010/main" val="28444542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374831F1-6547-58BD-3047-DB189E601942}"/>
              </a:ext>
            </a:extLst>
          </p:cNvPr>
          <p:cNvPicPr>
            <a:picLocks noChangeAspect="1"/>
          </p:cNvPicPr>
          <p:nvPr/>
        </p:nvPicPr>
        <p:blipFill>
          <a:blip r:embed="rId2"/>
          <a:stretch>
            <a:fillRect/>
          </a:stretch>
        </p:blipFill>
        <p:spPr>
          <a:xfrm rot="5400000">
            <a:off x="6136313" y="-434562"/>
            <a:ext cx="3365691" cy="6037117"/>
          </a:xfrm>
          <a:prstGeom prst="rect">
            <a:avLst/>
          </a:prstGeom>
        </p:spPr>
      </p:pic>
      <p:grpSp>
        <p:nvGrpSpPr>
          <p:cNvPr id="11" name="Group 10">
            <a:extLst>
              <a:ext uri="{FF2B5EF4-FFF2-40B4-BE49-F238E27FC236}">
                <a16:creationId xmlns:a16="http://schemas.microsoft.com/office/drawing/2014/main" id="{59A59B10-9D94-4C5B-8BF0-95928DCE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296011"/>
            <a:ext cx="12192000" cy="3561989"/>
            <a:chOff x="0" y="3296011"/>
            <a:chExt cx="12192000" cy="3561989"/>
          </a:xfrm>
          <a:effectLst>
            <a:outerShdw blurRad="254000" dist="152400" dir="16200000" rotWithShape="0">
              <a:prstClr val="black">
                <a:alpha val="10000"/>
              </a:prstClr>
            </a:outerShdw>
          </a:effectLst>
        </p:grpSpPr>
        <p:grpSp>
          <p:nvGrpSpPr>
            <p:cNvPr id="12" name="Group 11">
              <a:extLst>
                <a:ext uri="{FF2B5EF4-FFF2-40B4-BE49-F238E27FC236}">
                  <a16:creationId xmlns:a16="http://schemas.microsoft.com/office/drawing/2014/main" id="{354E31B9-72DD-4DE4-B3E3-4395530BEC1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16" name="Freeform: Shape 15">
                <a:extLst>
                  <a:ext uri="{FF2B5EF4-FFF2-40B4-BE49-F238E27FC236}">
                    <a16:creationId xmlns:a16="http://schemas.microsoft.com/office/drawing/2014/main" id="{68738192-1FEA-49E1-BFF3-6D1C324A5C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F3C51644-0F34-453B-92B8-9FF33932E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13" name="Group 12">
              <a:extLst>
                <a:ext uri="{FF2B5EF4-FFF2-40B4-BE49-F238E27FC236}">
                  <a16:creationId xmlns:a16="http://schemas.microsoft.com/office/drawing/2014/main" id="{8ADB9AB8-2EB4-4B5E-9A1E-84F2E44D918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14" name="Freeform: Shape 13">
                <a:extLst>
                  <a:ext uri="{FF2B5EF4-FFF2-40B4-BE49-F238E27FC236}">
                    <a16:creationId xmlns:a16="http://schemas.microsoft.com/office/drawing/2014/main" id="{95F439B0-E080-4B01-85AF-D226A85BA4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EDEC643B-AA3F-4913-B411-1458BCEF26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3">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sp>
        <p:nvSpPr>
          <p:cNvPr id="2" name="TextBox 1">
            <a:extLst>
              <a:ext uri="{FF2B5EF4-FFF2-40B4-BE49-F238E27FC236}">
                <a16:creationId xmlns:a16="http://schemas.microsoft.com/office/drawing/2014/main" id="{0BFAB645-9691-1B2D-DFB3-1F5C68F41000}"/>
              </a:ext>
            </a:extLst>
          </p:cNvPr>
          <p:cNvSpPr txBox="1"/>
          <p:nvPr/>
        </p:nvSpPr>
        <p:spPr>
          <a:xfrm>
            <a:off x="762001" y="1373378"/>
            <a:ext cx="4339936" cy="230832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000" kern="1200" dirty="0">
                <a:solidFill>
                  <a:schemeClr val="bg1"/>
                </a:solidFill>
                <a:latin typeface="+mj-lt"/>
                <a:ea typeface="+mj-ea"/>
                <a:cs typeface="+mj-cs"/>
              </a:rPr>
              <a:t>Hoisting mechanism CAD drawing</a:t>
            </a:r>
          </a:p>
        </p:txBody>
      </p:sp>
    </p:spTree>
    <p:extLst>
      <p:ext uri="{BB962C8B-B14F-4D97-AF65-F5344CB8AC3E}">
        <p14:creationId xmlns:p14="http://schemas.microsoft.com/office/powerpoint/2010/main" val="3428690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6072B3-9426-8AE3-F21C-32A5A392A32D}"/>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1A75659-5A6F-4F77-9679-678A00B9D8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A close up of a computer chip&#10;&#10;AI-generated content may be incorrect.">
            <a:extLst>
              <a:ext uri="{FF2B5EF4-FFF2-40B4-BE49-F238E27FC236}">
                <a16:creationId xmlns:a16="http://schemas.microsoft.com/office/drawing/2014/main" id="{BBE83652-69D1-B0E2-79CA-C799D886E918}"/>
              </a:ext>
            </a:extLst>
          </p:cNvPr>
          <p:cNvPicPr>
            <a:picLocks noChangeAspect="1"/>
          </p:cNvPicPr>
          <p:nvPr/>
        </p:nvPicPr>
        <p:blipFill>
          <a:blip r:embed="rId2"/>
          <a:srcRect l="34343" t="2235" r="1" b="3322"/>
          <a:stretch>
            <a:fillRect/>
          </a:stretch>
        </p:blipFill>
        <p:spPr>
          <a:xfrm>
            <a:off x="20" y="10"/>
            <a:ext cx="8668492" cy="6857990"/>
          </a:xfrm>
          <a:prstGeom prst="rect">
            <a:avLst/>
          </a:prstGeom>
        </p:spPr>
      </p:pic>
      <p:sp>
        <p:nvSpPr>
          <p:cNvPr id="18" name="Rectangle 17">
            <a:extLst>
              <a:ext uri="{FF2B5EF4-FFF2-40B4-BE49-F238E27FC236}">
                <a16:creationId xmlns:a16="http://schemas.microsoft.com/office/drawing/2014/main" id="{E30A3A45-140E-431E-AED0-07EF836310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435399" y="0"/>
            <a:ext cx="9756601" cy="6858000"/>
          </a:xfrm>
          <a:prstGeom prst="rect">
            <a:avLst/>
          </a:prstGeom>
          <a:gradFill>
            <a:gsLst>
              <a:gs pos="53000">
                <a:schemeClr val="tx1"/>
              </a:gs>
              <a:gs pos="35000">
                <a:schemeClr val="tx1">
                  <a:alpha val="76000"/>
                </a:schemeClr>
              </a:gs>
              <a:gs pos="19000">
                <a:schemeClr val="tx1">
                  <a:alpha val="40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2418BDB8-F11A-7967-377B-1F075781D1FD}"/>
              </a:ext>
            </a:extLst>
          </p:cNvPr>
          <p:cNvSpPr txBox="1"/>
          <p:nvPr/>
        </p:nvSpPr>
        <p:spPr>
          <a:xfrm>
            <a:off x="8395868" y="1161288"/>
            <a:ext cx="3438144" cy="112471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2800" dirty="0">
                <a:solidFill>
                  <a:schemeClr val="bg1"/>
                </a:solidFill>
                <a:latin typeface="+mj-lt"/>
                <a:ea typeface="+mj-ea"/>
                <a:cs typeface="+mj-cs"/>
              </a:rPr>
              <a:t>H-Bridge (Drive-Electronics)</a:t>
            </a:r>
          </a:p>
        </p:txBody>
      </p:sp>
      <p:sp>
        <p:nvSpPr>
          <p:cNvPr id="19" name="Rectangle 18">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687333"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1" name="Rectangle 20">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3018" y="2443480"/>
            <a:ext cx="3218688"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4CBDC050-CC03-6624-1CFB-C08C856D12C4}"/>
              </a:ext>
            </a:extLst>
          </p:cNvPr>
          <p:cNvSpPr txBox="1"/>
          <p:nvPr/>
        </p:nvSpPr>
        <p:spPr>
          <a:xfrm>
            <a:off x="8395868" y="2718054"/>
            <a:ext cx="3438906" cy="3207258"/>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700" b="1" dirty="0">
                <a:solidFill>
                  <a:schemeClr val="bg1"/>
                </a:solidFill>
              </a:rPr>
              <a:t>H-Bridge Unit</a:t>
            </a:r>
            <a:endParaRPr lang="en-US" sz="1700" dirty="0">
              <a:solidFill>
                <a:schemeClr val="bg1"/>
              </a:solidFill>
            </a:endParaRPr>
          </a:p>
          <a:p>
            <a:pPr indent="-228600">
              <a:lnSpc>
                <a:spcPct val="90000"/>
              </a:lnSpc>
              <a:spcAft>
                <a:spcPts val="600"/>
              </a:spcAft>
              <a:buFont typeface="Arial" panose="020B0604020202020204" pitchFamily="34" charset="0"/>
              <a:buChar char="•"/>
            </a:pPr>
            <a:r>
              <a:rPr lang="en-US" sz="1700" dirty="0">
                <a:solidFill>
                  <a:schemeClr val="bg1"/>
                </a:solidFill>
              </a:rPr>
              <a:t>Provides controlled vertical movement of the spooling system.</a:t>
            </a:r>
          </a:p>
          <a:p>
            <a:pPr indent="-228600">
              <a:lnSpc>
                <a:spcPct val="90000"/>
              </a:lnSpc>
              <a:spcAft>
                <a:spcPts val="600"/>
              </a:spcAft>
              <a:buFont typeface="Arial" panose="020B0604020202020204" pitchFamily="34" charset="0"/>
              <a:buChar char="•"/>
            </a:pPr>
            <a:r>
              <a:rPr lang="en-US" sz="1700" dirty="0">
                <a:solidFill>
                  <a:schemeClr val="bg1"/>
                </a:solidFill>
              </a:rPr>
              <a:t>Driven by external power supply and PWM from MCU.</a:t>
            </a:r>
            <a:endParaRPr lang="en-US" sz="1700" b="1" dirty="0">
              <a:solidFill>
                <a:schemeClr val="bg1"/>
              </a:solidFill>
            </a:endParaRPr>
          </a:p>
          <a:p>
            <a:pPr indent="-228600">
              <a:lnSpc>
                <a:spcPct val="90000"/>
              </a:lnSpc>
              <a:spcAft>
                <a:spcPts val="600"/>
              </a:spcAft>
              <a:buFont typeface="Arial" panose="020B0604020202020204" pitchFamily="34" charset="0"/>
              <a:buChar char="•"/>
            </a:pPr>
            <a:r>
              <a:rPr lang="en-US" sz="1700" dirty="0">
                <a:solidFill>
                  <a:schemeClr val="bg1"/>
                </a:solidFill>
              </a:rPr>
              <a:t>Equipped with various components such as MOSFETS and Gate Drivers.</a:t>
            </a:r>
          </a:p>
          <a:p>
            <a:pPr indent="-228600">
              <a:lnSpc>
                <a:spcPct val="90000"/>
              </a:lnSpc>
              <a:spcAft>
                <a:spcPts val="600"/>
              </a:spcAft>
              <a:buFont typeface="Arial" panose="020B0604020202020204" pitchFamily="34" charset="0"/>
              <a:buChar char="•"/>
            </a:pPr>
            <a:r>
              <a:rPr lang="en-US" sz="1700" dirty="0">
                <a:solidFill>
                  <a:schemeClr val="bg1"/>
                </a:solidFill>
              </a:rPr>
              <a:t>Designed to handle various loads.</a:t>
            </a:r>
            <a:endParaRPr lang="en-US" sz="1700" b="1" dirty="0">
              <a:solidFill>
                <a:schemeClr val="bg1"/>
              </a:solidFill>
            </a:endParaRPr>
          </a:p>
        </p:txBody>
      </p:sp>
    </p:spTree>
    <p:extLst>
      <p:ext uri="{BB962C8B-B14F-4D97-AF65-F5344CB8AC3E}">
        <p14:creationId xmlns:p14="http://schemas.microsoft.com/office/powerpoint/2010/main" val="2859772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EB9E7E-CC99-CACC-5BA2-C27AEACF696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2EB857C-4B2D-DD95-C5F5-BB74FAD89F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computer generated image of a circuit board&#10;&#10;AI-generated content may be incorrect.">
            <a:extLst>
              <a:ext uri="{FF2B5EF4-FFF2-40B4-BE49-F238E27FC236}">
                <a16:creationId xmlns:a16="http://schemas.microsoft.com/office/drawing/2014/main" id="{086694D2-6F49-7396-47F6-7C42BC06B42D}"/>
              </a:ext>
            </a:extLst>
          </p:cNvPr>
          <p:cNvPicPr>
            <a:picLocks noChangeAspect="1"/>
          </p:cNvPicPr>
          <p:nvPr/>
        </p:nvPicPr>
        <p:blipFill>
          <a:blip r:embed="rId2"/>
          <a:stretch>
            <a:fillRect/>
          </a:stretch>
        </p:blipFill>
        <p:spPr>
          <a:xfrm>
            <a:off x="5252836" y="390610"/>
            <a:ext cx="5994037" cy="3679989"/>
          </a:xfrm>
          <a:prstGeom prst="rect">
            <a:avLst/>
          </a:prstGeom>
        </p:spPr>
      </p:pic>
      <p:grpSp>
        <p:nvGrpSpPr>
          <p:cNvPr id="11" name="Group 10">
            <a:extLst>
              <a:ext uri="{FF2B5EF4-FFF2-40B4-BE49-F238E27FC236}">
                <a16:creationId xmlns:a16="http://schemas.microsoft.com/office/drawing/2014/main" id="{4288AF13-0F70-3992-5148-A86A9C9B5A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296011"/>
            <a:ext cx="12192000" cy="3561989"/>
            <a:chOff x="0" y="3296011"/>
            <a:chExt cx="12192000" cy="3561989"/>
          </a:xfrm>
          <a:effectLst>
            <a:outerShdw blurRad="254000" dist="152400" dir="16200000" rotWithShape="0">
              <a:prstClr val="black">
                <a:alpha val="10000"/>
              </a:prstClr>
            </a:outerShdw>
          </a:effectLst>
        </p:grpSpPr>
        <p:grpSp>
          <p:nvGrpSpPr>
            <p:cNvPr id="12" name="Group 11">
              <a:extLst>
                <a:ext uri="{FF2B5EF4-FFF2-40B4-BE49-F238E27FC236}">
                  <a16:creationId xmlns:a16="http://schemas.microsoft.com/office/drawing/2014/main" id="{BCCA4482-5CA2-2ADA-C4CE-FFD8AC3E310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16" name="Freeform: Shape 15">
                <a:extLst>
                  <a:ext uri="{FF2B5EF4-FFF2-40B4-BE49-F238E27FC236}">
                    <a16:creationId xmlns:a16="http://schemas.microsoft.com/office/drawing/2014/main" id="{30B3D89C-C203-A919-89F6-25132DE582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8D41AEB9-05AD-D188-B913-0117E3A577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13" name="Group 12">
              <a:extLst>
                <a:ext uri="{FF2B5EF4-FFF2-40B4-BE49-F238E27FC236}">
                  <a16:creationId xmlns:a16="http://schemas.microsoft.com/office/drawing/2014/main" id="{5D9BCD8A-50B9-AECA-8279-A2493B0D0E1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14" name="Freeform: Shape 13">
                <a:extLst>
                  <a:ext uri="{FF2B5EF4-FFF2-40B4-BE49-F238E27FC236}">
                    <a16:creationId xmlns:a16="http://schemas.microsoft.com/office/drawing/2014/main" id="{153FA158-B9B9-3FC8-AE24-7E949C6388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5261AA48-614B-153D-80B9-F425CDD3E8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3">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sp>
        <p:nvSpPr>
          <p:cNvPr id="2" name="TextBox 1">
            <a:extLst>
              <a:ext uri="{FF2B5EF4-FFF2-40B4-BE49-F238E27FC236}">
                <a16:creationId xmlns:a16="http://schemas.microsoft.com/office/drawing/2014/main" id="{D6895EC0-2F73-4B91-96CD-A65B19A8A58A}"/>
              </a:ext>
            </a:extLst>
          </p:cNvPr>
          <p:cNvSpPr txBox="1"/>
          <p:nvPr/>
        </p:nvSpPr>
        <p:spPr>
          <a:xfrm>
            <a:off x="220871" y="1384421"/>
            <a:ext cx="5234456" cy="1700933"/>
          </a:xfrm>
          <a:prstGeom prst="rect">
            <a:avLst/>
          </a:prstGeom>
        </p:spPr>
        <p:txBody>
          <a:bodyPr vert="horz" lIns="91440" tIns="45720" rIns="91440" bIns="45720" rtlCol="0" anchor="b">
            <a:normAutofit/>
          </a:bodyPr>
          <a:lstStyle/>
          <a:p>
            <a:pPr>
              <a:lnSpc>
                <a:spcPct val="90000"/>
              </a:lnSpc>
              <a:spcBef>
                <a:spcPct val="0"/>
              </a:spcBef>
              <a:spcAft>
                <a:spcPts val="600"/>
              </a:spcAft>
            </a:pPr>
            <a:r>
              <a:rPr lang="en-GB" sz="4400" dirty="0">
                <a:solidFill>
                  <a:schemeClr val="bg1"/>
                </a:solidFill>
                <a:latin typeface="+mj-lt"/>
                <a:ea typeface="+mj-ea"/>
                <a:cs typeface="+mj-cs"/>
              </a:rPr>
              <a:t>3D </a:t>
            </a:r>
            <a:r>
              <a:rPr lang="en-GB" sz="4400" kern="1200" dirty="0">
                <a:solidFill>
                  <a:schemeClr val="bg1"/>
                </a:solidFill>
                <a:latin typeface="+mj-lt"/>
                <a:ea typeface="+mj-ea"/>
                <a:cs typeface="+mj-cs"/>
              </a:rPr>
              <a:t>CAD </a:t>
            </a:r>
            <a:r>
              <a:rPr lang="en-GB" sz="4400" dirty="0">
                <a:solidFill>
                  <a:schemeClr val="bg1"/>
                </a:solidFill>
                <a:latin typeface="+mj-lt"/>
                <a:ea typeface="+mj-ea"/>
                <a:cs typeface="+mj-cs"/>
              </a:rPr>
              <a:t>View of Final </a:t>
            </a:r>
            <a:r>
              <a:rPr lang="en-GB" sz="4000" dirty="0">
                <a:solidFill>
                  <a:schemeClr val="bg1"/>
                </a:solidFill>
                <a:latin typeface="+mj-lt"/>
                <a:ea typeface="+mj-ea"/>
                <a:cs typeface="+mj-cs"/>
              </a:rPr>
              <a:t>H-Bridge</a:t>
            </a:r>
            <a:r>
              <a:rPr lang="en-GB" sz="4400" dirty="0">
                <a:solidFill>
                  <a:schemeClr val="bg1"/>
                </a:solidFill>
                <a:latin typeface="+mj-lt"/>
                <a:ea typeface="+mj-ea"/>
                <a:cs typeface="+mj-cs"/>
              </a:rPr>
              <a:t> Design</a:t>
            </a:r>
            <a:endParaRPr lang="en-GB" sz="4400" dirty="0">
              <a:solidFill>
                <a:schemeClr val="bg1"/>
              </a:solidFill>
              <a:latin typeface="Aptos Display"/>
              <a:ea typeface="+mj-ea"/>
              <a:cs typeface="+mj-cs"/>
            </a:endParaRPr>
          </a:p>
        </p:txBody>
      </p:sp>
    </p:spTree>
    <p:extLst>
      <p:ext uri="{BB962C8B-B14F-4D97-AF65-F5344CB8AC3E}">
        <p14:creationId xmlns:p14="http://schemas.microsoft.com/office/powerpoint/2010/main" val="911152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EAE2024-F6C0-1849-AC1D-CA2AAEBFF721}"/>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826431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8">
            <a:extLst>
              <a:ext uri="{FF2B5EF4-FFF2-40B4-BE49-F238E27FC236}">
                <a16:creationId xmlns:a16="http://schemas.microsoft.com/office/drawing/2014/main" id="{6615DD1D-C15E-4EB8-8520-D04D9540E2DB}"/>
              </a:ext>
            </a:extLst>
          </p:cNvPr>
          <p:cNvSpPr txBox="1"/>
          <p:nvPr/>
        </p:nvSpPr>
        <p:spPr>
          <a:xfrm>
            <a:off x="3851531" y="-139811"/>
            <a:ext cx="4785755" cy="1134481"/>
          </a:xfrm>
          <a:prstGeom prst="rect">
            <a:avLst/>
          </a:prstGeom>
        </p:spPr>
        <p:txBody>
          <a:bodyPr vert="horz" lIns="91440" tIns="45720" rIns="91440" bIns="45720" rtlCol="0" anchor="b">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Bef>
                <a:spcPct val="0"/>
              </a:spcBef>
              <a:spcAft>
                <a:spcPts val="600"/>
              </a:spcAft>
            </a:pPr>
            <a:r>
              <a:rPr lang="en-US" sz="2800" dirty="0">
                <a:solidFill>
                  <a:srgbClr val="FFFFFF"/>
                </a:solidFill>
                <a:latin typeface="+mj-lt"/>
                <a:ea typeface="+mj-ea"/>
                <a:cs typeface="+mj-cs"/>
              </a:rPr>
              <a:t>Wireless Pendent Schematic:</a:t>
            </a:r>
          </a:p>
        </p:txBody>
      </p:sp>
      <p:cxnSp>
        <p:nvCxnSpPr>
          <p:cNvPr id="3" name="Straight Arrow Connector 2">
            <a:extLst>
              <a:ext uri="{FF2B5EF4-FFF2-40B4-BE49-F238E27FC236}">
                <a16:creationId xmlns:a16="http://schemas.microsoft.com/office/drawing/2014/main" id="{0F1AB76C-90EB-A0F6-31D5-89906CE6AAD9}"/>
              </a:ext>
            </a:extLst>
          </p:cNvPr>
          <p:cNvCxnSpPr/>
          <p:nvPr/>
        </p:nvCxnSpPr>
        <p:spPr>
          <a:xfrm>
            <a:off x="4206875" y="993856"/>
            <a:ext cx="3778249" cy="814"/>
          </a:xfrm>
          <a:prstGeom prst="straightConnector1">
            <a:avLst/>
          </a:prstGeom>
          <a:ln>
            <a:solidFill>
              <a:schemeClr val="bg1"/>
            </a:solidFill>
          </a:ln>
        </p:spPr>
        <p:style>
          <a:lnRef idx="2">
            <a:schemeClr val="accent1"/>
          </a:lnRef>
          <a:fillRef idx="0">
            <a:schemeClr val="accent1"/>
          </a:fillRef>
          <a:effectRef idx="1">
            <a:schemeClr val="accent1"/>
          </a:effectRef>
          <a:fontRef idx="minor">
            <a:schemeClr val="tx1"/>
          </a:fontRef>
        </p:style>
      </p:cxnSp>
      <p:pic>
        <p:nvPicPr>
          <p:cNvPr id="9" name="Picture 8" descr="A computer circuit board with many different components&#10;&#10;AI-generated content may be incorrect.">
            <a:extLst>
              <a:ext uri="{FF2B5EF4-FFF2-40B4-BE49-F238E27FC236}">
                <a16:creationId xmlns:a16="http://schemas.microsoft.com/office/drawing/2014/main" id="{634B36A9-2AF0-9C7D-768D-88B845EE9C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6000" y="1239063"/>
            <a:ext cx="9944100" cy="5060051"/>
          </a:xfrm>
          <a:prstGeom prst="rect">
            <a:avLst/>
          </a:prstGeom>
        </p:spPr>
      </p:pic>
    </p:spTree>
    <p:extLst>
      <p:ext uri="{BB962C8B-B14F-4D97-AF65-F5344CB8AC3E}">
        <p14:creationId xmlns:p14="http://schemas.microsoft.com/office/powerpoint/2010/main" val="3040695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8" name="Picture 17" descr="Close-up of circuit board">
            <a:extLst>
              <a:ext uri="{FF2B5EF4-FFF2-40B4-BE49-F238E27FC236}">
                <a16:creationId xmlns:a16="http://schemas.microsoft.com/office/drawing/2014/main" id="{30D0AB15-AF32-433D-D546-83E7013C80F1}"/>
              </a:ext>
            </a:extLst>
          </p:cNvPr>
          <p:cNvPicPr>
            <a:picLocks noChangeAspect="1"/>
          </p:cNvPicPr>
          <p:nvPr/>
        </p:nvPicPr>
        <p:blipFill>
          <a:blip r:embed="rId2"/>
          <a:srcRect l="35969" t="7823" r="869" b="7692"/>
          <a:stretch>
            <a:fillRect/>
          </a:stretch>
        </p:blipFill>
        <p:spPr>
          <a:xfrm>
            <a:off x="3" y="9"/>
            <a:ext cx="7700564" cy="6854588"/>
          </a:xfrm>
          <a:prstGeom prst="rect">
            <a:avLst/>
          </a:prstGeom>
          <a:ln>
            <a:noFill/>
          </a:ln>
          <a:effectLst>
            <a:softEdge rad="112500"/>
          </a:effectLst>
        </p:spPr>
      </p:pic>
      <p:sp>
        <p:nvSpPr>
          <p:cNvPr id="12" name="TextBox 8">
            <a:extLst>
              <a:ext uri="{FF2B5EF4-FFF2-40B4-BE49-F238E27FC236}">
                <a16:creationId xmlns:a16="http://schemas.microsoft.com/office/drawing/2014/main" id="{43408F68-717A-0033-8C0D-2F3074531B5C}"/>
              </a:ext>
            </a:extLst>
          </p:cNvPr>
          <p:cNvSpPr txBox="1"/>
          <p:nvPr/>
        </p:nvSpPr>
        <p:spPr>
          <a:xfrm>
            <a:off x="7799945" y="409058"/>
            <a:ext cx="4297835" cy="1134481"/>
          </a:xfrm>
          <a:prstGeom prst="rect">
            <a:avLst/>
          </a:prstGeom>
        </p:spPr>
        <p:txBody>
          <a:bodyPr vert="horz" lIns="91440" tIns="45720" rIns="91440" bIns="45720" rtlCol="0" anchor="b">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Bef>
                <a:spcPct val="0"/>
              </a:spcBef>
              <a:spcAft>
                <a:spcPts val="600"/>
              </a:spcAft>
            </a:pPr>
            <a:r>
              <a:rPr lang="en-US" sz="2800" dirty="0">
                <a:solidFill>
                  <a:srgbClr val="FFFFFF"/>
                </a:solidFill>
                <a:latin typeface="+mj-lt"/>
                <a:ea typeface="+mj-ea"/>
                <a:cs typeface="+mj-cs"/>
              </a:rPr>
              <a:t>Embedded/Main Controller:</a:t>
            </a:r>
          </a:p>
        </p:txBody>
      </p:sp>
      <p:sp>
        <p:nvSpPr>
          <p:cNvPr id="15" name="TextBox 12">
            <a:extLst>
              <a:ext uri="{FF2B5EF4-FFF2-40B4-BE49-F238E27FC236}">
                <a16:creationId xmlns:a16="http://schemas.microsoft.com/office/drawing/2014/main" id="{F4ACB378-B663-BC92-0B08-DB4933FEA876}"/>
              </a:ext>
            </a:extLst>
          </p:cNvPr>
          <p:cNvSpPr txBox="1"/>
          <p:nvPr/>
        </p:nvSpPr>
        <p:spPr>
          <a:xfrm>
            <a:off x="8063713" y="1936516"/>
            <a:ext cx="3438906" cy="3988795"/>
          </a:xfrm>
          <a:prstGeom prst="rect">
            <a:avLst/>
          </a:prstGeom>
        </p:spPr>
        <p:txBody>
          <a:bodyPr vert="horz" lIns="91440" tIns="45720" rIns="91440" bIns="45720" rtlCol="0" anchor="t">
            <a:normAutofit fontScale="85000" lnSpcReduction="1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228600">
              <a:lnSpc>
                <a:spcPct val="90000"/>
              </a:lnSpc>
              <a:spcAft>
                <a:spcPts val="600"/>
              </a:spcAft>
              <a:buFont typeface="Arial" panose="020B0604020202020204" pitchFamily="34" charset="0"/>
              <a:buChar char="•"/>
            </a:pPr>
            <a:r>
              <a:rPr lang="en-US" sz="1700" b="1" dirty="0">
                <a:solidFill>
                  <a:srgbClr val="FFFFFF"/>
                </a:solidFill>
              </a:rPr>
              <a:t>Main Controller which makes use of an STM32 "Blackpill" Microcontroller</a:t>
            </a:r>
          </a:p>
          <a:p>
            <a:pPr indent="-228600">
              <a:lnSpc>
                <a:spcPct val="90000"/>
              </a:lnSpc>
              <a:spcAft>
                <a:spcPts val="600"/>
              </a:spcAft>
              <a:buFont typeface="Arial" panose="020B0604020202020204" pitchFamily="34" charset="0"/>
              <a:buChar char="•"/>
            </a:pPr>
            <a:r>
              <a:rPr lang="en-US" sz="1700" dirty="0">
                <a:solidFill>
                  <a:srgbClr val="FFFFFF"/>
                </a:solidFill>
              </a:rPr>
              <a:t>Provides controlled vertical lateral movement of the hoisting system by outputting controlled PWM and SPWM signals.</a:t>
            </a:r>
          </a:p>
          <a:p>
            <a:pPr indent="-228600">
              <a:lnSpc>
                <a:spcPct val="90000"/>
              </a:lnSpc>
              <a:spcAft>
                <a:spcPts val="600"/>
              </a:spcAft>
              <a:buFont typeface="Arial" panose="020B0604020202020204" pitchFamily="34" charset="0"/>
              <a:buChar char="•"/>
            </a:pPr>
            <a:r>
              <a:rPr lang="en-US" sz="1700" dirty="0">
                <a:solidFill>
                  <a:srgbClr val="FFFFFF"/>
                </a:solidFill>
              </a:rPr>
              <a:t>Powered by 5V output from the Power supply unit and produces outputs based on Remote Pendant's transmission packets which are processed by the embedded controller.</a:t>
            </a:r>
          </a:p>
          <a:p>
            <a:pPr indent="-228600">
              <a:lnSpc>
                <a:spcPct val="90000"/>
              </a:lnSpc>
              <a:spcAft>
                <a:spcPts val="600"/>
              </a:spcAft>
              <a:buFont typeface="Arial" panose="020B0604020202020204" pitchFamily="34" charset="0"/>
              <a:buChar char="•"/>
            </a:pPr>
            <a:r>
              <a:rPr lang="en-US" sz="1700" dirty="0">
                <a:solidFill>
                  <a:srgbClr val="FFFFFF"/>
                </a:solidFill>
              </a:rPr>
              <a:t>Consists of all necessary wiring and connections needed for receiving packets from the remote pendent via an nRF24L01, as well as connections for the drive electronics SPWM signals and the Lateral movement signals.</a:t>
            </a:r>
          </a:p>
          <a:p>
            <a:pPr indent="-228600">
              <a:lnSpc>
                <a:spcPct val="90000"/>
              </a:lnSpc>
              <a:spcAft>
                <a:spcPts val="600"/>
              </a:spcAft>
              <a:buFont typeface="Arial" panose="020B0604020202020204" pitchFamily="34" charset="0"/>
              <a:buChar char="•"/>
            </a:pPr>
            <a:r>
              <a:rPr lang="en-US" sz="1700" dirty="0">
                <a:solidFill>
                  <a:srgbClr val="FFFFFF"/>
                </a:solidFill>
              </a:rPr>
              <a:t>Designed to work on a 16MHz system clock to reduce power consumption and unnecessary system strain.</a:t>
            </a:r>
            <a:endParaRPr lang="en-US" sz="1700" b="1" dirty="0">
              <a:solidFill>
                <a:srgbClr val="FFFFFF"/>
              </a:solidFill>
            </a:endParaRPr>
          </a:p>
        </p:txBody>
      </p:sp>
      <p:cxnSp>
        <p:nvCxnSpPr>
          <p:cNvPr id="16" name="Straight Arrow Connector 15">
            <a:extLst>
              <a:ext uri="{FF2B5EF4-FFF2-40B4-BE49-F238E27FC236}">
                <a16:creationId xmlns:a16="http://schemas.microsoft.com/office/drawing/2014/main" id="{AE3A3220-495A-769E-9B94-4CF600409B1A}"/>
              </a:ext>
            </a:extLst>
          </p:cNvPr>
          <p:cNvCxnSpPr/>
          <p:nvPr/>
        </p:nvCxnSpPr>
        <p:spPr>
          <a:xfrm>
            <a:off x="8063685" y="1782070"/>
            <a:ext cx="3778249" cy="814"/>
          </a:xfrm>
          <a:prstGeom prst="straightConnector1">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5936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BCB3CE99-416F-147F-0485-20B09C6EF21B}"/>
              </a:ext>
            </a:extLst>
          </p:cNvPr>
          <p:cNvSpPr txBox="1"/>
          <p:nvPr/>
        </p:nvSpPr>
        <p:spPr>
          <a:xfrm>
            <a:off x="7729932" y="680968"/>
            <a:ext cx="4297835" cy="1134481"/>
          </a:xfrm>
          <a:prstGeom prst="rect">
            <a:avLst/>
          </a:prstGeom>
        </p:spPr>
        <p:txBody>
          <a:bodyPr vert="horz" lIns="91440" tIns="45720" rIns="91440" bIns="45720" rtlCol="0" anchor="b">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Bef>
                <a:spcPct val="0"/>
              </a:spcBef>
              <a:spcAft>
                <a:spcPts val="600"/>
              </a:spcAft>
            </a:pPr>
            <a:r>
              <a:rPr lang="en-US" sz="2800" dirty="0">
                <a:solidFill>
                  <a:srgbClr val="FFFFFF"/>
                </a:solidFill>
                <a:latin typeface="+mj-lt"/>
                <a:ea typeface="+mj-ea"/>
                <a:cs typeface="+mj-cs"/>
              </a:rPr>
              <a:t>Embedded Controller Schematic:</a:t>
            </a:r>
            <a:endParaRPr lang="en-US" sz="2800" dirty="0">
              <a:latin typeface="+mj-lt"/>
              <a:ea typeface="+mj-ea"/>
              <a:cs typeface="+mj-cs"/>
            </a:endParaRPr>
          </a:p>
        </p:txBody>
      </p:sp>
      <p:pic>
        <p:nvPicPr>
          <p:cNvPr id="6" name="Picture 5">
            <a:extLst>
              <a:ext uri="{FF2B5EF4-FFF2-40B4-BE49-F238E27FC236}">
                <a16:creationId xmlns:a16="http://schemas.microsoft.com/office/drawing/2014/main" id="{0A003D4C-8ECF-8BBC-E60D-8AF623C1F9F1}"/>
              </a:ext>
            </a:extLst>
          </p:cNvPr>
          <p:cNvPicPr>
            <a:picLocks noChangeAspect="1"/>
          </p:cNvPicPr>
          <p:nvPr/>
        </p:nvPicPr>
        <p:blipFill>
          <a:blip r:embed="rId2"/>
          <a:stretch>
            <a:fillRect/>
          </a:stretch>
        </p:blipFill>
        <p:spPr>
          <a:xfrm>
            <a:off x="43961" y="244230"/>
            <a:ext cx="7151078" cy="6379309"/>
          </a:xfrm>
          <a:prstGeom prst="rect">
            <a:avLst/>
          </a:prstGeom>
        </p:spPr>
      </p:pic>
      <p:sp>
        <p:nvSpPr>
          <p:cNvPr id="9" name="TextBox 12">
            <a:extLst>
              <a:ext uri="{FF2B5EF4-FFF2-40B4-BE49-F238E27FC236}">
                <a16:creationId xmlns:a16="http://schemas.microsoft.com/office/drawing/2014/main" id="{CE229838-9DF1-F187-C8B8-ACD817B8E1D0}"/>
              </a:ext>
            </a:extLst>
          </p:cNvPr>
          <p:cNvSpPr txBox="1"/>
          <p:nvPr/>
        </p:nvSpPr>
        <p:spPr>
          <a:xfrm>
            <a:off x="7653405" y="1956054"/>
            <a:ext cx="3438906" cy="3988795"/>
          </a:xfrm>
          <a:prstGeom prst="rect">
            <a:avLst/>
          </a:prstGeom>
        </p:spPr>
        <p:txBody>
          <a:bodyPr vert="horz" lIns="91440" tIns="45720" rIns="91440" bIns="45720"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Aft>
                <a:spcPts val="600"/>
              </a:spcAft>
            </a:pPr>
            <a:r>
              <a:rPr lang="en-US" sz="1700" b="1" dirty="0">
                <a:solidFill>
                  <a:srgbClr val="FFFFFF"/>
                </a:solidFill>
              </a:rPr>
              <a:t> </a:t>
            </a:r>
            <a:r>
              <a:rPr lang="en-US" sz="1700" dirty="0">
                <a:solidFill>
                  <a:srgbClr val="FFFFFF"/>
                </a:solidFill>
              </a:rPr>
              <a:t>The on-screen schematic is used to show all the necessary connections that are made to the integrated parts of the system that make use of the embedded controller. </a:t>
            </a:r>
            <a:endParaRPr lang="en-US" dirty="0">
              <a:solidFill>
                <a:srgbClr val="000000"/>
              </a:solidFill>
            </a:endParaRPr>
          </a:p>
        </p:txBody>
      </p:sp>
      <p:cxnSp>
        <p:nvCxnSpPr>
          <p:cNvPr id="10" name="Straight Arrow Connector 9">
            <a:extLst>
              <a:ext uri="{FF2B5EF4-FFF2-40B4-BE49-F238E27FC236}">
                <a16:creationId xmlns:a16="http://schemas.microsoft.com/office/drawing/2014/main" id="{3B6DC21F-3299-D44F-EDD9-317A7598A7B2}"/>
              </a:ext>
            </a:extLst>
          </p:cNvPr>
          <p:cNvCxnSpPr>
            <a:cxnSpLocks/>
          </p:cNvCxnSpPr>
          <p:nvPr/>
        </p:nvCxnSpPr>
        <p:spPr>
          <a:xfrm flipH="1" flipV="1">
            <a:off x="7727458" y="1810563"/>
            <a:ext cx="4007827" cy="8954"/>
          </a:xfrm>
          <a:prstGeom prst="straightConnector1">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27C10C93-C010-757E-ECF3-C15CABC1950C}"/>
              </a:ext>
            </a:extLst>
          </p:cNvPr>
          <p:cNvSpPr/>
          <p:nvPr/>
        </p:nvSpPr>
        <p:spPr>
          <a:xfrm>
            <a:off x="7280188" y="-41189"/>
            <a:ext cx="72081" cy="6960972"/>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62847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5EA9A3-F7EC-1208-F7C7-BBD9FA2CFE8B}"/>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dirty="0">
                <a:solidFill>
                  <a:srgbClr val="FFFFFF"/>
                </a:solidFill>
                <a:latin typeface="+mj-lt"/>
                <a:ea typeface="+mj-ea"/>
                <a:cs typeface="+mj-cs"/>
              </a:rPr>
              <a:t>System Architecture</a:t>
            </a:r>
          </a:p>
        </p:txBody>
      </p:sp>
      <p:pic>
        <p:nvPicPr>
          <p:cNvPr id="4" name="Picture 3"/>
          <p:cNvPicPr>
            <a:picLocks noChangeAspect="1"/>
          </p:cNvPicPr>
          <p:nvPr/>
        </p:nvPicPr>
        <p:blipFill>
          <a:blip r:embed="rId2"/>
          <a:stretch>
            <a:fillRect/>
          </a:stretch>
        </p:blipFill>
        <p:spPr>
          <a:xfrm>
            <a:off x="4527805" y="643466"/>
            <a:ext cx="7518884" cy="5568739"/>
          </a:xfrm>
          <a:prstGeom prst="rect">
            <a:avLst/>
          </a:prstGeom>
        </p:spPr>
      </p:pic>
    </p:spTree>
    <p:extLst>
      <p:ext uri="{BB962C8B-B14F-4D97-AF65-F5344CB8AC3E}">
        <p14:creationId xmlns:p14="http://schemas.microsoft.com/office/powerpoint/2010/main" val="1963288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1056132" y="1967266"/>
            <a:ext cx="2628900" cy="2547257"/>
          </a:xfrm>
          <a:prstGeom prst="rect">
            <a:avLst/>
          </a:prstGeom>
          <a:noFill/>
        </p:spPr>
        <p:txBody>
          <a:bodyPr vert="horz" lIns="91440" tIns="45720" rIns="91440" bIns="45720" rtlCol="0" anchor="ctr">
            <a:normAutofit/>
          </a:bodyPr>
          <a:lstStyle/>
          <a:p>
            <a:pPr algn="ctr">
              <a:lnSpc>
                <a:spcPct val="90000"/>
              </a:lnSpc>
              <a:spcBef>
                <a:spcPct val="0"/>
              </a:spcBef>
              <a:spcAft>
                <a:spcPts val="600"/>
              </a:spcAft>
            </a:pPr>
            <a:r>
              <a:rPr lang="en-US" sz="3600" kern="1200" dirty="0">
                <a:solidFill>
                  <a:srgbClr val="FFFFFF"/>
                </a:solidFill>
                <a:latin typeface="+mj-lt"/>
                <a:ea typeface="+mj-ea"/>
                <a:cs typeface="+mj-cs"/>
              </a:rPr>
              <a:t>Requirement allocation</a:t>
            </a:r>
          </a:p>
        </p:txBody>
      </p:sp>
      <p:graphicFrame>
        <p:nvGraphicFramePr>
          <p:cNvPr id="3" name="Table 2"/>
          <p:cNvGraphicFramePr>
            <a:graphicFrameLocks noGrp="1"/>
          </p:cNvGraphicFramePr>
          <p:nvPr>
            <p:extLst>
              <p:ext uri="{D42A27DB-BD31-4B8C-83A1-F6EECF244321}">
                <p14:modId xmlns:p14="http://schemas.microsoft.com/office/powerpoint/2010/main" val="595256373"/>
              </p:ext>
            </p:extLst>
          </p:nvPr>
        </p:nvGraphicFramePr>
        <p:xfrm>
          <a:off x="4777316" y="1187283"/>
          <a:ext cx="6780700" cy="5229931"/>
        </p:xfrm>
        <a:graphic>
          <a:graphicData uri="http://schemas.openxmlformats.org/drawingml/2006/table">
            <a:tbl>
              <a:tblPr firstRow="1" bandRow="1">
                <a:noFill/>
                <a:tableStyleId>{5C22544A-7EE6-4342-B048-85BDC9FD1C3A}</a:tableStyleId>
              </a:tblPr>
              <a:tblGrid>
                <a:gridCol w="2194838">
                  <a:extLst>
                    <a:ext uri="{9D8B030D-6E8A-4147-A177-3AD203B41FA5}">
                      <a16:colId xmlns:a16="http://schemas.microsoft.com/office/drawing/2014/main" val="56078153"/>
                    </a:ext>
                  </a:extLst>
                </a:gridCol>
                <a:gridCol w="1947401">
                  <a:extLst>
                    <a:ext uri="{9D8B030D-6E8A-4147-A177-3AD203B41FA5}">
                      <a16:colId xmlns:a16="http://schemas.microsoft.com/office/drawing/2014/main" val="2810380696"/>
                    </a:ext>
                  </a:extLst>
                </a:gridCol>
                <a:gridCol w="2638461">
                  <a:extLst>
                    <a:ext uri="{9D8B030D-6E8A-4147-A177-3AD203B41FA5}">
                      <a16:colId xmlns:a16="http://schemas.microsoft.com/office/drawing/2014/main" val="1101870758"/>
                    </a:ext>
                  </a:extLst>
                </a:gridCol>
              </a:tblGrid>
              <a:tr h="381004">
                <a:tc>
                  <a:txBody>
                    <a:bodyPr/>
                    <a:lstStyle/>
                    <a:p>
                      <a:pPr algn="ctr"/>
                      <a:r>
                        <a:rPr lang="en-ZA" sz="1400" b="1" dirty="0">
                          <a:solidFill>
                            <a:schemeClr val="tx1">
                              <a:lumMod val="75000"/>
                              <a:lumOff val="25000"/>
                            </a:schemeClr>
                          </a:solidFill>
                        </a:rPr>
                        <a:t>Requirement</a:t>
                      </a:r>
                    </a:p>
                  </a:txBody>
                  <a:tcPr marL="141112" marR="105834" marT="70556" marB="70556">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tc>
                  <a:txBody>
                    <a:bodyPr/>
                    <a:lstStyle/>
                    <a:p>
                      <a:pPr algn="ctr"/>
                      <a:r>
                        <a:rPr lang="en-ZA" sz="1400" b="1" dirty="0">
                          <a:solidFill>
                            <a:schemeClr val="tx1">
                              <a:lumMod val="75000"/>
                              <a:lumOff val="25000"/>
                            </a:schemeClr>
                          </a:solidFill>
                        </a:rPr>
                        <a:t>Functional unit</a:t>
                      </a:r>
                    </a:p>
                  </a:txBody>
                  <a:tcPr marL="141112" marR="105834" marT="70556" marB="70556">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tc>
                  <a:txBody>
                    <a:bodyPr/>
                    <a:lstStyle/>
                    <a:p>
                      <a:pPr algn="ctr"/>
                      <a:r>
                        <a:rPr lang="en-ZA" sz="1400" b="1" dirty="0">
                          <a:solidFill>
                            <a:schemeClr val="tx1">
                              <a:lumMod val="75000"/>
                              <a:lumOff val="25000"/>
                            </a:schemeClr>
                          </a:solidFill>
                        </a:rPr>
                        <a:t>Description</a:t>
                      </a:r>
                    </a:p>
                  </a:txBody>
                  <a:tcPr marL="141112" marR="105834" marT="70556" marB="70556">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extLst>
                  <a:ext uri="{0D108BD9-81ED-4DB2-BD59-A6C34878D82A}">
                    <a16:rowId xmlns:a16="http://schemas.microsoft.com/office/drawing/2014/main" val="3777783625"/>
                  </a:ext>
                </a:extLst>
              </a:tr>
              <a:tr h="322207">
                <a:tc>
                  <a:txBody>
                    <a:bodyPr/>
                    <a:lstStyle/>
                    <a:p>
                      <a:pPr algn="ctr"/>
                      <a:r>
                        <a:rPr lang="af-ZA" sz="1000" b="1" kern="1200">
                          <a:solidFill>
                            <a:schemeClr val="tx1">
                              <a:lumMod val="75000"/>
                              <a:lumOff val="25000"/>
                            </a:schemeClr>
                          </a:solidFill>
                          <a:effectLst/>
                          <a:latin typeface="+mn-lt"/>
                          <a:ea typeface="+mn-ea"/>
                          <a:cs typeface="+mn-cs"/>
                        </a:rPr>
                        <a:t>Payload Capacity</a:t>
                      </a:r>
                      <a:endParaRPr lang="en-ZA" sz="1000" dirty="0">
                        <a:solidFill>
                          <a:schemeClr val="tx1">
                            <a:lumMod val="75000"/>
                            <a:lumOff val="25000"/>
                          </a:schemeClr>
                        </a:solidFill>
                      </a:endParaRP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a:r>
                        <a:rPr lang="en-ZA" sz="1000" dirty="0">
                          <a:solidFill>
                            <a:schemeClr val="tx1">
                              <a:lumMod val="75000"/>
                              <a:lumOff val="25000"/>
                            </a:schemeClr>
                          </a:solidFill>
                        </a:rPr>
                        <a:t>F/U 4 Lateral movement unit</a:t>
                      </a: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a:r>
                        <a:rPr lang="en-ZA" sz="1000" dirty="0">
                          <a:solidFill>
                            <a:schemeClr val="tx1">
                              <a:lumMod val="75000"/>
                              <a:lumOff val="25000"/>
                            </a:schemeClr>
                          </a:solidFill>
                        </a:rPr>
                        <a:t>Carry load of 35kg</a:t>
                      </a: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2251850920"/>
                  </a:ext>
                </a:extLst>
              </a:tr>
              <a:tr h="475079">
                <a:tc>
                  <a:txBody>
                    <a:bodyPr/>
                    <a:lstStyle/>
                    <a:p>
                      <a:pPr algn="ctr"/>
                      <a:r>
                        <a:rPr lang="af-ZA" sz="1000" b="1" kern="1200">
                          <a:solidFill>
                            <a:schemeClr val="tx1">
                              <a:lumMod val="75000"/>
                              <a:lumOff val="25000"/>
                            </a:schemeClr>
                          </a:solidFill>
                          <a:effectLst/>
                          <a:latin typeface="+mn-lt"/>
                          <a:ea typeface="+mn-ea"/>
                          <a:cs typeface="+mn-cs"/>
                        </a:rPr>
                        <a:t>Horizontal</a:t>
                      </a:r>
                      <a:r>
                        <a:rPr lang="af-ZA" sz="1000" b="1" kern="1200" baseline="0">
                          <a:solidFill>
                            <a:schemeClr val="tx1">
                              <a:lumMod val="75000"/>
                              <a:lumOff val="25000"/>
                            </a:schemeClr>
                          </a:solidFill>
                          <a:effectLst/>
                          <a:latin typeface="+mn-lt"/>
                          <a:ea typeface="+mn-ea"/>
                          <a:cs typeface="+mn-cs"/>
                        </a:rPr>
                        <a:t> </a:t>
                      </a:r>
                      <a:r>
                        <a:rPr lang="af-ZA" sz="1000" b="1" kern="1200">
                          <a:solidFill>
                            <a:schemeClr val="tx1">
                              <a:lumMod val="75000"/>
                              <a:lumOff val="25000"/>
                            </a:schemeClr>
                          </a:solidFill>
                          <a:effectLst/>
                          <a:latin typeface="+mn-lt"/>
                          <a:ea typeface="+mn-ea"/>
                          <a:cs typeface="+mn-cs"/>
                        </a:rPr>
                        <a:t>Speed Requirement</a:t>
                      </a:r>
                      <a:br>
                        <a:rPr lang="af-ZA" sz="1000" kern="1200">
                          <a:solidFill>
                            <a:srgbClr val="404040"/>
                          </a:solidFill>
                          <a:effectLst/>
                          <a:latin typeface="+mn-lt"/>
                          <a:ea typeface="+mn-ea"/>
                          <a:cs typeface="+mn-cs"/>
                        </a:rPr>
                      </a:br>
                      <a:endParaRPr lang="en-ZA" sz="1000" dirty="0">
                        <a:solidFill>
                          <a:srgbClr val="404040"/>
                        </a:solidFill>
                      </a:endParaRP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000" dirty="0">
                          <a:solidFill>
                            <a:schemeClr val="tx1">
                              <a:lumMod val="75000"/>
                              <a:lumOff val="25000"/>
                            </a:schemeClr>
                          </a:solidFill>
                        </a:rPr>
                        <a:t>F/U 4 Lateral movement unit</a:t>
                      </a:r>
                    </a:p>
                    <a:p>
                      <a:pPr algn="ctr"/>
                      <a:endParaRPr lang="en-ZA" sz="1000" dirty="0">
                        <a:solidFill>
                          <a:schemeClr val="tx1">
                            <a:lumMod val="75000"/>
                            <a:lumOff val="25000"/>
                          </a:schemeClr>
                        </a:solidFill>
                      </a:endParaRP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a:r>
                        <a:rPr lang="en-ZA" sz="1000" dirty="0">
                          <a:solidFill>
                            <a:schemeClr val="tx1">
                              <a:lumMod val="75000"/>
                              <a:lumOff val="25000"/>
                            </a:schemeClr>
                          </a:solidFill>
                        </a:rPr>
                        <a:t>Be</a:t>
                      </a:r>
                      <a:r>
                        <a:rPr lang="en-ZA" sz="1000" baseline="0" dirty="0">
                          <a:solidFill>
                            <a:schemeClr val="tx1">
                              <a:lumMod val="75000"/>
                              <a:lumOff val="25000"/>
                            </a:schemeClr>
                          </a:solidFill>
                        </a:rPr>
                        <a:t> able to reach a maximum speed of 0.25 m/s</a:t>
                      </a:r>
                      <a:endParaRPr lang="en-ZA" sz="1000" dirty="0">
                        <a:solidFill>
                          <a:schemeClr val="tx1">
                            <a:lumMod val="75000"/>
                            <a:lumOff val="25000"/>
                          </a:schemeClr>
                        </a:solidFill>
                      </a:endParaRP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3635850989"/>
                  </a:ext>
                </a:extLst>
              </a:tr>
              <a:tr h="475079">
                <a:tc>
                  <a:txBody>
                    <a:bodyPr/>
                    <a:lstStyle/>
                    <a:p>
                      <a:pPr algn="ctr"/>
                      <a:r>
                        <a:rPr lang="af-ZA" sz="1000" b="1" kern="1200">
                          <a:solidFill>
                            <a:schemeClr val="tx1">
                              <a:lumMod val="75000"/>
                              <a:lumOff val="25000"/>
                            </a:schemeClr>
                          </a:solidFill>
                          <a:effectLst/>
                          <a:latin typeface="+mn-lt"/>
                          <a:ea typeface="+mn-ea"/>
                          <a:cs typeface="+mn-cs"/>
                        </a:rPr>
                        <a:t>Travel Path and Range</a:t>
                      </a:r>
                      <a:endParaRPr lang="en-ZA" sz="1000" dirty="0">
                        <a:solidFill>
                          <a:schemeClr val="tx1">
                            <a:lumMod val="75000"/>
                            <a:lumOff val="25000"/>
                          </a:schemeClr>
                        </a:solidFill>
                      </a:endParaRP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000" dirty="0">
                          <a:solidFill>
                            <a:schemeClr val="tx1">
                              <a:lumMod val="75000"/>
                              <a:lumOff val="25000"/>
                            </a:schemeClr>
                          </a:solidFill>
                        </a:rPr>
                        <a:t>F/U 4 Lateral movement unit</a:t>
                      </a:r>
                    </a:p>
                    <a:p>
                      <a:pPr algn="ctr"/>
                      <a:endParaRPr lang="en-ZA" sz="1000" dirty="0">
                        <a:solidFill>
                          <a:schemeClr val="tx1">
                            <a:lumMod val="75000"/>
                            <a:lumOff val="25000"/>
                          </a:schemeClr>
                        </a:solidFill>
                      </a:endParaRP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a:r>
                        <a:rPr lang="af-ZA" sz="1000" b="0" kern="1200">
                          <a:solidFill>
                            <a:schemeClr val="tx1">
                              <a:lumMod val="75000"/>
                              <a:lumOff val="25000"/>
                            </a:schemeClr>
                          </a:solidFill>
                          <a:effectLst/>
                          <a:latin typeface="+mn-lt"/>
                          <a:ea typeface="+mn-ea"/>
                          <a:cs typeface="+mn-cs"/>
                        </a:rPr>
                        <a:t>Trolley shall traverse a U-shaped I-beam track </a:t>
                      </a:r>
                      <a:endParaRPr lang="en-ZA" sz="1000" b="0" dirty="0">
                        <a:solidFill>
                          <a:schemeClr val="tx1">
                            <a:lumMod val="75000"/>
                            <a:lumOff val="25000"/>
                          </a:schemeClr>
                        </a:solidFill>
                      </a:endParaRP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1049642540"/>
                  </a:ext>
                </a:extLst>
              </a:tr>
              <a:tr h="475079">
                <a:tc>
                  <a:txBody>
                    <a:bodyPr/>
                    <a:lstStyle/>
                    <a:p>
                      <a:pPr algn="ctr"/>
                      <a:r>
                        <a:rPr lang="af-ZA" sz="1000" b="1" kern="1200">
                          <a:solidFill>
                            <a:schemeClr val="tx1">
                              <a:lumMod val="75000"/>
                              <a:lumOff val="25000"/>
                            </a:schemeClr>
                          </a:solidFill>
                          <a:effectLst/>
                          <a:latin typeface="+mn-lt"/>
                          <a:ea typeface="+mn-ea"/>
                          <a:cs typeface="+mn-cs"/>
                        </a:rPr>
                        <a:t>Contact and Stability</a:t>
                      </a:r>
                      <a:endParaRPr lang="en-ZA" sz="1000" dirty="0">
                        <a:solidFill>
                          <a:schemeClr val="tx1">
                            <a:lumMod val="75000"/>
                            <a:lumOff val="25000"/>
                          </a:schemeClr>
                        </a:solidFill>
                      </a:endParaRP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000" dirty="0">
                          <a:solidFill>
                            <a:schemeClr val="tx1">
                              <a:lumMod val="75000"/>
                              <a:lumOff val="25000"/>
                            </a:schemeClr>
                          </a:solidFill>
                        </a:rPr>
                        <a:t>F/U 4 Lateral movement unit</a:t>
                      </a:r>
                    </a:p>
                    <a:p>
                      <a:pPr algn="ctr"/>
                      <a:endParaRPr lang="en-ZA" sz="1000" dirty="0">
                        <a:solidFill>
                          <a:schemeClr val="tx1">
                            <a:lumMod val="75000"/>
                            <a:lumOff val="25000"/>
                          </a:schemeClr>
                        </a:solidFill>
                      </a:endParaRP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a:r>
                        <a:rPr lang="af-ZA" sz="1000" b="0" kern="1200">
                          <a:solidFill>
                            <a:schemeClr val="tx1">
                              <a:lumMod val="75000"/>
                              <a:lumOff val="25000"/>
                            </a:schemeClr>
                          </a:solidFill>
                          <a:effectLst/>
                          <a:latin typeface="+mn-lt"/>
                          <a:ea typeface="+mn-ea"/>
                          <a:cs typeface="+mn-cs"/>
                        </a:rPr>
                        <a:t>Continuous wheel-to-rail contact </a:t>
                      </a:r>
                      <a:endParaRPr lang="en-ZA" sz="1000" b="0" dirty="0">
                        <a:solidFill>
                          <a:schemeClr val="tx1">
                            <a:lumMod val="75000"/>
                            <a:lumOff val="25000"/>
                          </a:schemeClr>
                        </a:solidFill>
                      </a:endParaRP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2011985640"/>
                  </a:ext>
                </a:extLst>
              </a:tr>
              <a:tr h="627951">
                <a:tc>
                  <a:txBody>
                    <a:bodyPr/>
                    <a:lstStyle/>
                    <a:p>
                      <a:pPr algn="ctr"/>
                      <a:r>
                        <a:rPr lang="af-ZA" sz="1000" b="1" kern="1200" dirty="0">
                          <a:solidFill>
                            <a:schemeClr val="tx1">
                              <a:lumMod val="75000"/>
                              <a:lumOff val="25000"/>
                            </a:schemeClr>
                          </a:solidFill>
                          <a:effectLst/>
                          <a:latin typeface="+mn-lt"/>
                          <a:ea typeface="+mn-ea"/>
                          <a:cs typeface="+mn-cs"/>
                        </a:rPr>
                        <a:t>Derailment Prevention</a:t>
                      </a:r>
                      <a:br>
                        <a:rPr lang="af-ZA" sz="1000" kern="1200" dirty="0">
                          <a:solidFill>
                            <a:srgbClr val="404040"/>
                          </a:solidFill>
                          <a:effectLst/>
                          <a:latin typeface="+mn-lt"/>
                          <a:ea typeface="+mn-ea"/>
                          <a:cs typeface="+mn-cs"/>
                        </a:rPr>
                      </a:br>
                      <a:endParaRPr lang="en-ZA" sz="1000" dirty="0">
                        <a:solidFill>
                          <a:srgbClr val="404040"/>
                        </a:solidFill>
                      </a:endParaRP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000" dirty="0">
                          <a:solidFill>
                            <a:schemeClr val="tx1">
                              <a:lumMod val="75000"/>
                              <a:lumOff val="25000"/>
                            </a:schemeClr>
                          </a:solidFill>
                        </a:rPr>
                        <a:t>F/U 4 Lateral movement unit</a:t>
                      </a:r>
                    </a:p>
                    <a:p>
                      <a:pPr algn="ctr"/>
                      <a:endParaRPr lang="en-ZA" sz="1000" dirty="0">
                        <a:solidFill>
                          <a:schemeClr val="tx1">
                            <a:lumMod val="75000"/>
                            <a:lumOff val="25000"/>
                          </a:schemeClr>
                        </a:solidFill>
                      </a:endParaRPr>
                    </a:p>
                    <a:p>
                      <a:pPr algn="ctr"/>
                      <a:endParaRPr lang="en-ZA" sz="1000" dirty="0">
                        <a:solidFill>
                          <a:schemeClr val="tx1">
                            <a:lumMod val="75000"/>
                            <a:lumOff val="25000"/>
                          </a:schemeClr>
                        </a:solidFill>
                      </a:endParaRP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ZA" sz="1000" kern="1200" dirty="0">
                          <a:solidFill>
                            <a:schemeClr val="tx1">
                              <a:lumMod val="75000"/>
                              <a:lumOff val="25000"/>
                            </a:schemeClr>
                          </a:solidFill>
                          <a:effectLst/>
                          <a:latin typeface="+mn-lt"/>
                          <a:ea typeface="+mn-ea"/>
                          <a:cs typeface="+mn-cs"/>
                        </a:rPr>
                        <a:t>Prevent derailment during start-up, deceleration, or lateral loading events.</a:t>
                      </a:r>
                    </a:p>
                    <a:p>
                      <a:pPr algn="ctr"/>
                      <a:endParaRPr lang="en-ZA" sz="1000" dirty="0">
                        <a:solidFill>
                          <a:schemeClr val="tx1">
                            <a:lumMod val="75000"/>
                            <a:lumOff val="25000"/>
                          </a:schemeClr>
                        </a:solidFill>
                      </a:endParaRP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4194832327"/>
                  </a:ext>
                </a:extLst>
              </a:tr>
              <a:tr h="344942">
                <a:tc>
                  <a:txBody>
                    <a:bodyPr/>
                    <a:lstStyle/>
                    <a:p>
                      <a:pPr algn="ctr"/>
                      <a:r>
                        <a:rPr lang="en-US" sz="1000" b="1" dirty="0">
                          <a:solidFill>
                            <a:schemeClr val="tx1">
                              <a:lumMod val="75000"/>
                              <a:lumOff val="25000"/>
                            </a:schemeClr>
                          </a:solidFill>
                        </a:rPr>
                        <a:t>Torque Conversion</a:t>
                      </a:r>
                      <a:endParaRPr lang="en-ZA" sz="1000" b="1" dirty="0">
                        <a:solidFill>
                          <a:schemeClr val="tx1">
                            <a:lumMod val="75000"/>
                            <a:lumOff val="25000"/>
                          </a:schemeClr>
                        </a:solidFill>
                      </a:endParaRP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a:r>
                        <a:rPr lang="en-US" sz="1000" dirty="0">
                          <a:solidFill>
                            <a:schemeClr val="tx1">
                              <a:lumMod val="75000"/>
                              <a:lumOff val="25000"/>
                            </a:schemeClr>
                          </a:solidFill>
                        </a:rPr>
                        <a:t>F/U 2 Hoisting Mechanism</a:t>
                      </a:r>
                      <a:endParaRPr lang="en-ZA" sz="1000" dirty="0">
                        <a:solidFill>
                          <a:schemeClr val="tx1">
                            <a:lumMod val="75000"/>
                            <a:lumOff val="25000"/>
                          </a:schemeClr>
                        </a:solidFill>
                      </a:endParaRP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a:r>
                        <a:rPr lang="en-US" sz="1000" dirty="0">
                          <a:solidFill>
                            <a:schemeClr val="tx1">
                              <a:lumMod val="75000"/>
                              <a:lumOff val="25000"/>
                            </a:schemeClr>
                          </a:solidFill>
                        </a:rPr>
                        <a:t>Design gearbox to increase torque provided by motor</a:t>
                      </a:r>
                      <a:endParaRPr lang="en-ZA" sz="1000" dirty="0">
                        <a:solidFill>
                          <a:schemeClr val="tx1">
                            <a:lumMod val="75000"/>
                            <a:lumOff val="25000"/>
                          </a:schemeClr>
                        </a:solidFill>
                      </a:endParaRP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476640956"/>
                  </a:ext>
                </a:extLst>
              </a:tr>
              <a:tr h="344942">
                <a:tc>
                  <a:txBody>
                    <a:bodyPr/>
                    <a:lstStyle/>
                    <a:p>
                      <a:pPr algn="ctr"/>
                      <a:r>
                        <a:rPr lang="en-US" sz="1000" b="1" dirty="0">
                          <a:solidFill>
                            <a:schemeClr val="tx1">
                              <a:lumMod val="75000"/>
                              <a:lumOff val="25000"/>
                            </a:schemeClr>
                          </a:solidFill>
                        </a:rPr>
                        <a:t>Braking mechanism</a:t>
                      </a:r>
                      <a:endParaRPr lang="en-ZA" sz="1000" b="1" dirty="0">
                        <a:solidFill>
                          <a:schemeClr val="tx1">
                            <a:lumMod val="75000"/>
                            <a:lumOff val="25000"/>
                          </a:schemeClr>
                        </a:solidFill>
                      </a:endParaRP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solidFill>
                            <a:schemeClr val="tx1">
                              <a:lumMod val="75000"/>
                              <a:lumOff val="25000"/>
                            </a:schemeClr>
                          </a:solidFill>
                        </a:rPr>
                        <a:t>F/U 2 Hoisting Mechanism</a:t>
                      </a:r>
                      <a:endParaRPr lang="en-ZA" sz="1000" dirty="0">
                        <a:solidFill>
                          <a:schemeClr val="tx1">
                            <a:lumMod val="75000"/>
                            <a:lumOff val="25000"/>
                          </a:schemeClr>
                        </a:solidFill>
                      </a:endParaRPr>
                    </a:p>
                    <a:p>
                      <a:pPr algn="ctr"/>
                      <a:endParaRPr lang="en-ZA" sz="1000" dirty="0">
                        <a:solidFill>
                          <a:schemeClr val="tx1">
                            <a:lumMod val="75000"/>
                            <a:lumOff val="25000"/>
                          </a:schemeClr>
                        </a:solidFill>
                      </a:endParaRP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a:r>
                        <a:rPr lang="en-US" sz="1000" dirty="0">
                          <a:solidFill>
                            <a:schemeClr val="tx1">
                              <a:lumMod val="75000"/>
                              <a:lumOff val="25000"/>
                            </a:schemeClr>
                          </a:solidFill>
                        </a:rPr>
                        <a:t>Worm gear to prevent back lock when motor is not turning</a:t>
                      </a:r>
                      <a:endParaRPr lang="en-ZA" sz="1000" dirty="0">
                        <a:solidFill>
                          <a:schemeClr val="tx1">
                            <a:lumMod val="75000"/>
                            <a:lumOff val="25000"/>
                          </a:schemeClr>
                        </a:solidFill>
                      </a:endParaRP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652047246"/>
                  </a:ext>
                </a:extLst>
              </a:tr>
              <a:tr h="344942">
                <a:tc>
                  <a:txBody>
                    <a:bodyPr/>
                    <a:lstStyle/>
                    <a:p>
                      <a:pPr algn="ctr"/>
                      <a:r>
                        <a:rPr lang="en-US" sz="1000" b="1" dirty="0">
                          <a:solidFill>
                            <a:schemeClr val="tx1">
                              <a:lumMod val="75000"/>
                              <a:lumOff val="25000"/>
                            </a:schemeClr>
                          </a:solidFill>
                        </a:rPr>
                        <a:t>Vertical speed requirement</a:t>
                      </a:r>
                      <a:endParaRPr lang="en-ZA" sz="1000" b="1" dirty="0">
                        <a:solidFill>
                          <a:schemeClr val="tx1">
                            <a:lumMod val="75000"/>
                            <a:lumOff val="25000"/>
                          </a:schemeClr>
                        </a:solidFill>
                      </a:endParaRP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solidFill>
                            <a:schemeClr val="tx1">
                              <a:lumMod val="75000"/>
                              <a:lumOff val="25000"/>
                            </a:schemeClr>
                          </a:solidFill>
                        </a:rPr>
                        <a:t>F/U 2 Hoisting Mechanism</a:t>
                      </a:r>
                      <a:endParaRPr lang="en-ZA" sz="1000" dirty="0">
                        <a:solidFill>
                          <a:schemeClr val="tx1">
                            <a:lumMod val="75000"/>
                            <a:lumOff val="25000"/>
                          </a:schemeClr>
                        </a:solidFill>
                      </a:endParaRPr>
                    </a:p>
                    <a:p>
                      <a:pPr algn="ctr"/>
                      <a:endParaRPr lang="en-ZA" sz="1000" dirty="0">
                        <a:solidFill>
                          <a:schemeClr val="tx1">
                            <a:lumMod val="75000"/>
                            <a:lumOff val="25000"/>
                          </a:schemeClr>
                        </a:solidFill>
                      </a:endParaRP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a:r>
                        <a:rPr lang="en-US" sz="1000" dirty="0">
                          <a:solidFill>
                            <a:schemeClr val="tx1">
                              <a:lumMod val="75000"/>
                              <a:lumOff val="25000"/>
                            </a:schemeClr>
                          </a:solidFill>
                        </a:rPr>
                        <a:t>Reasonable speed of more than 0.05m/s</a:t>
                      </a:r>
                      <a:endParaRPr lang="en-ZA" sz="1000" dirty="0">
                        <a:solidFill>
                          <a:schemeClr val="tx1">
                            <a:lumMod val="75000"/>
                            <a:lumOff val="25000"/>
                          </a:schemeClr>
                        </a:solidFill>
                      </a:endParaRP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3262898137"/>
                  </a:ext>
                </a:extLst>
              </a:tr>
              <a:tr h="344942">
                <a:tc>
                  <a:txBody>
                    <a:bodyPr/>
                    <a:lstStyle/>
                    <a:p>
                      <a:pPr algn="ctr"/>
                      <a:r>
                        <a:rPr lang="en-US" sz="1000" b="1" dirty="0">
                          <a:solidFill>
                            <a:schemeClr val="tx1">
                              <a:lumMod val="75000"/>
                              <a:lumOff val="25000"/>
                            </a:schemeClr>
                          </a:solidFill>
                        </a:rPr>
                        <a:t>Payload capacity</a:t>
                      </a:r>
                      <a:endParaRPr lang="en-ZA" sz="1000" b="1" dirty="0">
                        <a:solidFill>
                          <a:schemeClr val="tx1">
                            <a:lumMod val="75000"/>
                            <a:lumOff val="25000"/>
                          </a:schemeClr>
                        </a:solidFill>
                      </a:endParaRP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a:r>
                        <a:rPr lang="en-US" sz="1000" dirty="0">
                          <a:solidFill>
                            <a:schemeClr val="tx1">
                              <a:lumMod val="75000"/>
                              <a:lumOff val="25000"/>
                            </a:schemeClr>
                          </a:solidFill>
                        </a:rPr>
                        <a:t>F/U 2 Hoisting Mechanism</a:t>
                      </a:r>
                      <a:endParaRPr lang="en-ZA" sz="1000" dirty="0">
                        <a:solidFill>
                          <a:schemeClr val="tx1">
                            <a:lumMod val="75000"/>
                            <a:lumOff val="25000"/>
                          </a:schemeClr>
                        </a:solidFill>
                      </a:endParaRP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a:r>
                        <a:rPr lang="en-US" sz="1000" dirty="0">
                          <a:solidFill>
                            <a:schemeClr val="tx1">
                              <a:lumMod val="75000"/>
                              <a:lumOff val="25000"/>
                            </a:schemeClr>
                          </a:solidFill>
                        </a:rPr>
                        <a:t>Carry a load of 35kg</a:t>
                      </a:r>
                      <a:endParaRPr lang="en-ZA" sz="1000" dirty="0">
                        <a:solidFill>
                          <a:schemeClr val="tx1">
                            <a:lumMod val="75000"/>
                            <a:lumOff val="25000"/>
                          </a:schemeClr>
                        </a:solidFill>
                      </a:endParaRP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2280525336"/>
                  </a:ext>
                </a:extLst>
              </a:tr>
              <a:tr h="344941">
                <a:tc>
                  <a:txBody>
                    <a:bodyPr/>
                    <a:lstStyle/>
                    <a:p>
                      <a:pPr lvl="0" algn="ctr">
                        <a:buNone/>
                      </a:pPr>
                      <a:r>
                        <a:rPr lang="en-US" sz="1000" b="1" dirty="0">
                          <a:solidFill>
                            <a:schemeClr val="tx1">
                              <a:lumMod val="75000"/>
                              <a:lumOff val="25000"/>
                            </a:schemeClr>
                          </a:solidFill>
                        </a:rPr>
                        <a:t>Control Switching</a:t>
                      </a:r>
                    </a:p>
                  </a:txBody>
                  <a:tcPr marL="141111" marR="105834" marT="70556" marB="70556">
                    <a:lnL w="0">
                      <a:noFill/>
                    </a:lnL>
                    <a:lnR w="0">
                      <a:noFill/>
                    </a:lnR>
                    <a:lnT w="9525" cap="flat" cmpd="sng" algn="ctr">
                      <a:solidFill>
                        <a:srgbClr val="C7C6C1"/>
                      </a:solidFill>
                      <a:prstDash val="solid"/>
                      <a:round/>
                      <a:headEnd type="none" w="med" len="med"/>
                      <a:tailEnd type="none" w="med" len="med"/>
                    </a:lnT>
                    <a:lnB w="9524">
                      <a:solidFill>
                        <a:srgbClr val="C7C6C1"/>
                      </a:solidFill>
                    </a:lnB>
                    <a:noFill/>
                  </a:tcPr>
                </a:tc>
                <a:tc>
                  <a:txBody>
                    <a:bodyPr/>
                    <a:lstStyle/>
                    <a:p>
                      <a:pPr lvl="0" algn="ctr">
                        <a:buNone/>
                      </a:pPr>
                      <a:r>
                        <a:rPr lang="en-US" sz="1000" b="0" i="0" u="none" strike="noStrike" noProof="0" dirty="0">
                          <a:solidFill>
                            <a:schemeClr val="tx1">
                              <a:lumMod val="75000"/>
                              <a:lumOff val="25000"/>
                            </a:schemeClr>
                          </a:solidFill>
                          <a:latin typeface="Aptos"/>
                        </a:rPr>
                        <a:t>F/U 9 Drive Electronics</a:t>
                      </a:r>
                      <a:endParaRPr lang="en-US" dirty="0"/>
                    </a:p>
                  </a:txBody>
                  <a:tcPr marL="141111" marR="105834" marT="70556" marB="70556">
                    <a:lnL w="0">
                      <a:noFill/>
                    </a:lnL>
                    <a:lnR w="0">
                      <a:noFill/>
                    </a:lnR>
                    <a:lnT w="9525" cap="flat" cmpd="sng" algn="ctr">
                      <a:solidFill>
                        <a:srgbClr val="C7C6C1"/>
                      </a:solidFill>
                      <a:prstDash val="solid"/>
                      <a:round/>
                      <a:headEnd type="none" w="med" len="med"/>
                      <a:tailEnd type="none" w="med" len="med"/>
                    </a:lnT>
                    <a:lnB w="9524">
                      <a:solidFill>
                        <a:srgbClr val="C7C6C1"/>
                      </a:solidFill>
                    </a:lnB>
                    <a:noFill/>
                  </a:tcPr>
                </a:tc>
                <a:tc>
                  <a:txBody>
                    <a:bodyPr/>
                    <a:lstStyle/>
                    <a:p>
                      <a:pPr lvl="0" algn="ctr">
                        <a:buNone/>
                      </a:pPr>
                      <a:r>
                        <a:rPr lang="en-US" sz="1000" dirty="0">
                          <a:solidFill>
                            <a:schemeClr val="tx1">
                              <a:lumMod val="75000"/>
                              <a:lumOff val="25000"/>
                            </a:schemeClr>
                          </a:solidFill>
                        </a:rPr>
                        <a:t>This will allow the switching to take place between the MOSFETS on each phase.</a:t>
                      </a:r>
                    </a:p>
                  </a:txBody>
                  <a:tcPr marL="141111" marR="105834" marT="70556" marB="70556">
                    <a:lnL w="0">
                      <a:noFill/>
                    </a:lnL>
                    <a:lnR w="0">
                      <a:noFill/>
                    </a:lnR>
                    <a:lnT w="9525" cap="flat" cmpd="sng" algn="ctr">
                      <a:solidFill>
                        <a:srgbClr val="C7C6C1"/>
                      </a:solidFill>
                      <a:prstDash val="solid"/>
                      <a:round/>
                      <a:headEnd type="none" w="med" len="med"/>
                      <a:tailEnd type="none" w="med" len="med"/>
                    </a:lnT>
                    <a:lnB w="9524">
                      <a:solidFill>
                        <a:srgbClr val="C7C6C1"/>
                      </a:solidFill>
                    </a:lnB>
                    <a:noFill/>
                  </a:tcPr>
                </a:tc>
                <a:extLst>
                  <a:ext uri="{0D108BD9-81ED-4DB2-BD59-A6C34878D82A}">
                    <a16:rowId xmlns:a16="http://schemas.microsoft.com/office/drawing/2014/main" val="835751111"/>
                  </a:ext>
                </a:extLst>
              </a:tr>
              <a:tr h="344942">
                <a:tc>
                  <a:txBody>
                    <a:bodyPr/>
                    <a:lstStyle/>
                    <a:p>
                      <a:pPr algn="ctr"/>
                      <a:endParaRPr lang="en-ZA" sz="1000" dirty="0">
                        <a:solidFill>
                          <a:schemeClr val="tx1">
                            <a:lumMod val="75000"/>
                            <a:lumOff val="25000"/>
                          </a:schemeClr>
                        </a:solidFill>
                      </a:endParaRPr>
                    </a:p>
                  </a:txBody>
                  <a:tcPr marL="141112" marR="105834" marT="70556" marB="70556">
                    <a:lnL w="12700" cmpd="sng">
                      <a:noFill/>
                      <a:prstDash val="solid"/>
                    </a:lnL>
                    <a:lnR w="12700" cmpd="sng">
                      <a:noFill/>
                      <a:prstDash val="solid"/>
                    </a:lnR>
                    <a:lnT w="9524" cap="flat" cmpd="sng" algn="ctr">
                      <a:solidFill>
                        <a:srgbClr val="C7C6C1"/>
                      </a:solidFill>
                      <a:prstDash val="solid"/>
                      <a:round/>
                      <a:headEnd type="none" w="med" len="med"/>
                      <a:tailEnd type="none" w="med" len="med"/>
                    </a:lnT>
                    <a:lnB w="9525" cap="flat" cmpd="sng" algn="ctr">
                      <a:solidFill>
                        <a:srgbClr val="C7C6C1"/>
                      </a:solidFill>
                      <a:prstDash val="solid"/>
                    </a:lnB>
                    <a:noFill/>
                  </a:tcPr>
                </a:tc>
                <a:tc>
                  <a:txBody>
                    <a:bodyPr/>
                    <a:lstStyle/>
                    <a:p>
                      <a:pPr algn="ctr"/>
                      <a:endParaRPr lang="en-ZA" sz="1000" dirty="0">
                        <a:solidFill>
                          <a:schemeClr val="tx1">
                            <a:lumMod val="75000"/>
                            <a:lumOff val="25000"/>
                          </a:schemeClr>
                        </a:solidFill>
                      </a:endParaRPr>
                    </a:p>
                  </a:txBody>
                  <a:tcPr marL="141112" marR="105834" marT="70556" marB="70556">
                    <a:lnL w="12700" cmpd="sng">
                      <a:noFill/>
                      <a:prstDash val="solid"/>
                    </a:lnL>
                    <a:lnR w="12700" cmpd="sng">
                      <a:noFill/>
                      <a:prstDash val="solid"/>
                    </a:lnR>
                    <a:lnT w="9524" cap="flat" cmpd="sng" algn="ctr">
                      <a:solidFill>
                        <a:srgbClr val="C7C6C1"/>
                      </a:solidFill>
                      <a:prstDash val="solid"/>
                      <a:round/>
                      <a:headEnd type="none" w="med" len="med"/>
                      <a:tailEnd type="none" w="med" len="med"/>
                    </a:lnT>
                    <a:lnB w="9525" cap="flat" cmpd="sng" algn="ctr">
                      <a:solidFill>
                        <a:srgbClr val="C7C6C1"/>
                      </a:solidFill>
                      <a:prstDash val="solid"/>
                    </a:lnB>
                    <a:noFill/>
                  </a:tcPr>
                </a:tc>
                <a:tc>
                  <a:txBody>
                    <a:bodyPr/>
                    <a:lstStyle/>
                    <a:p>
                      <a:pPr algn="ctr"/>
                      <a:endParaRPr lang="en-ZA" sz="1000" dirty="0">
                        <a:solidFill>
                          <a:schemeClr val="tx1">
                            <a:lumMod val="75000"/>
                            <a:lumOff val="25000"/>
                          </a:schemeClr>
                        </a:solidFill>
                      </a:endParaRPr>
                    </a:p>
                  </a:txBody>
                  <a:tcPr marL="141112" marR="105834" marT="70556" marB="70556">
                    <a:lnL w="12700" cmpd="sng">
                      <a:noFill/>
                      <a:prstDash val="solid"/>
                    </a:lnL>
                    <a:lnR w="12700" cmpd="sng">
                      <a:noFill/>
                      <a:prstDash val="solid"/>
                    </a:lnR>
                    <a:lnT w="9524" cap="flat" cmpd="sng" algn="ctr">
                      <a:solidFill>
                        <a:srgbClr val="C7C6C1"/>
                      </a:solidFill>
                      <a:prstDash val="solid"/>
                      <a:round/>
                      <a:headEnd type="none" w="med" len="med"/>
                      <a:tailEnd type="none" w="med" len="med"/>
                    </a:lnT>
                    <a:lnB w="9525" cap="flat" cmpd="sng" algn="ctr">
                      <a:solidFill>
                        <a:srgbClr val="C7C6C1"/>
                      </a:solidFill>
                      <a:prstDash val="solid"/>
                    </a:lnB>
                    <a:noFill/>
                  </a:tcPr>
                </a:tc>
                <a:extLst>
                  <a:ext uri="{0D108BD9-81ED-4DB2-BD59-A6C34878D82A}">
                    <a16:rowId xmlns:a16="http://schemas.microsoft.com/office/drawing/2014/main" val="33786541"/>
                  </a:ext>
                </a:extLst>
              </a:tr>
            </a:tbl>
          </a:graphicData>
        </a:graphic>
      </p:graphicFrame>
    </p:spTree>
    <p:extLst>
      <p:ext uri="{BB962C8B-B14F-4D97-AF65-F5344CB8AC3E}">
        <p14:creationId xmlns:p14="http://schemas.microsoft.com/office/powerpoint/2010/main" val="10163557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7786E17-2B1E-B1CD-00CA-3F137C8C26D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149769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29BBC-8AC3-A5B0-4869-713B692A0E7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F0BFE33-6374-C2A0-76BC-2489898228F5}"/>
              </a:ext>
            </a:extLst>
          </p:cNvPr>
          <p:cNvPicPr>
            <a:picLocks noChangeAspect="1"/>
          </p:cNvPicPr>
          <p:nvPr/>
        </p:nvPicPr>
        <p:blipFill>
          <a:blip r:embed="rId2"/>
          <a:stretch>
            <a:fillRect/>
          </a:stretch>
        </p:blipFill>
        <p:spPr>
          <a:xfrm>
            <a:off x="158496" y="1207580"/>
            <a:ext cx="4010585" cy="4001058"/>
          </a:xfrm>
          <a:prstGeom prst="rect">
            <a:avLst/>
          </a:prstGeom>
        </p:spPr>
      </p:pic>
      <p:sp>
        <p:nvSpPr>
          <p:cNvPr id="2" name="TextBox 1">
            <a:extLst>
              <a:ext uri="{FF2B5EF4-FFF2-40B4-BE49-F238E27FC236}">
                <a16:creationId xmlns:a16="http://schemas.microsoft.com/office/drawing/2014/main" id="{1F567FF1-F53D-62C2-61D6-29A6A6B66230}"/>
              </a:ext>
            </a:extLst>
          </p:cNvPr>
          <p:cNvSpPr txBox="1"/>
          <p:nvPr/>
        </p:nvSpPr>
        <p:spPr>
          <a:xfrm>
            <a:off x="736600" y="1934480"/>
            <a:ext cx="2628900" cy="2547257"/>
          </a:xfrm>
          <a:prstGeom prst="rect">
            <a:avLst/>
          </a:prstGeom>
          <a:noFill/>
        </p:spPr>
        <p:txBody>
          <a:bodyPr vert="horz" lIns="91440" tIns="45720" rIns="91440" bIns="45720" rtlCol="0" anchor="ctr">
            <a:normAutofit/>
          </a:bodyPr>
          <a:lstStyle/>
          <a:p>
            <a:pPr algn="ctr">
              <a:lnSpc>
                <a:spcPct val="90000"/>
              </a:lnSpc>
              <a:spcBef>
                <a:spcPct val="0"/>
              </a:spcBef>
              <a:spcAft>
                <a:spcPts val="600"/>
              </a:spcAft>
            </a:pPr>
            <a:r>
              <a:rPr lang="en-US" sz="3600" kern="1200" dirty="0">
                <a:solidFill>
                  <a:srgbClr val="FFFFFF"/>
                </a:solidFill>
                <a:latin typeface="+mj-lt"/>
                <a:ea typeface="+mj-ea"/>
                <a:cs typeface="+mj-cs"/>
              </a:rPr>
              <a:t>Requirement allocation</a:t>
            </a:r>
            <a:br>
              <a:rPr lang="en-US" sz="3600" kern="1200" dirty="0">
                <a:solidFill>
                  <a:srgbClr val="FFFFFF"/>
                </a:solidFill>
                <a:latin typeface="+mj-lt"/>
                <a:ea typeface="+mj-ea"/>
                <a:cs typeface="+mj-cs"/>
              </a:rPr>
            </a:br>
            <a:r>
              <a:rPr lang="en-US" sz="3600" kern="1200" dirty="0">
                <a:solidFill>
                  <a:srgbClr val="FFFFFF"/>
                </a:solidFill>
                <a:latin typeface="+mj-lt"/>
                <a:ea typeface="+mj-ea"/>
                <a:cs typeface="+mj-cs"/>
              </a:rPr>
              <a:t>continued</a:t>
            </a:r>
          </a:p>
        </p:txBody>
      </p:sp>
      <p:graphicFrame>
        <p:nvGraphicFramePr>
          <p:cNvPr id="3" name="Table 2">
            <a:extLst>
              <a:ext uri="{FF2B5EF4-FFF2-40B4-BE49-F238E27FC236}">
                <a16:creationId xmlns:a16="http://schemas.microsoft.com/office/drawing/2014/main" id="{3B0BF2A3-5E57-33C6-1A4E-33D03B2D8848}"/>
              </a:ext>
            </a:extLst>
          </p:cNvPr>
          <p:cNvGraphicFramePr>
            <a:graphicFrameLocks noGrp="1"/>
          </p:cNvGraphicFramePr>
          <p:nvPr>
            <p:extLst>
              <p:ext uri="{D42A27DB-BD31-4B8C-83A1-F6EECF244321}">
                <p14:modId xmlns:p14="http://schemas.microsoft.com/office/powerpoint/2010/main" val="1021237601"/>
              </p:ext>
            </p:extLst>
          </p:nvPr>
        </p:nvGraphicFramePr>
        <p:xfrm>
          <a:off x="4169081" y="318603"/>
          <a:ext cx="7685062" cy="5668176"/>
        </p:xfrm>
        <a:graphic>
          <a:graphicData uri="http://schemas.openxmlformats.org/drawingml/2006/table">
            <a:tbl>
              <a:tblPr firstRow="1" bandRow="1">
                <a:noFill/>
                <a:tableStyleId>{5C22544A-7EE6-4342-B048-85BDC9FD1C3A}</a:tableStyleId>
              </a:tblPr>
              <a:tblGrid>
                <a:gridCol w="2269819">
                  <a:extLst>
                    <a:ext uri="{9D8B030D-6E8A-4147-A177-3AD203B41FA5}">
                      <a16:colId xmlns:a16="http://schemas.microsoft.com/office/drawing/2014/main" val="56078153"/>
                    </a:ext>
                  </a:extLst>
                </a:gridCol>
                <a:gridCol w="1657059">
                  <a:extLst>
                    <a:ext uri="{9D8B030D-6E8A-4147-A177-3AD203B41FA5}">
                      <a16:colId xmlns:a16="http://schemas.microsoft.com/office/drawing/2014/main" val="2810380696"/>
                    </a:ext>
                  </a:extLst>
                </a:gridCol>
                <a:gridCol w="3758184">
                  <a:extLst>
                    <a:ext uri="{9D8B030D-6E8A-4147-A177-3AD203B41FA5}">
                      <a16:colId xmlns:a16="http://schemas.microsoft.com/office/drawing/2014/main" val="1101870758"/>
                    </a:ext>
                  </a:extLst>
                </a:gridCol>
              </a:tblGrid>
              <a:tr h="381004">
                <a:tc>
                  <a:txBody>
                    <a:bodyPr/>
                    <a:lstStyle/>
                    <a:p>
                      <a:pPr algn="ctr"/>
                      <a:r>
                        <a:rPr lang="en-ZA" sz="1100" b="1" dirty="0">
                          <a:solidFill>
                            <a:schemeClr val="tx1">
                              <a:lumMod val="75000"/>
                              <a:lumOff val="25000"/>
                            </a:schemeClr>
                          </a:solidFill>
                        </a:rPr>
                        <a:t>Requirement</a:t>
                      </a:r>
                    </a:p>
                  </a:txBody>
                  <a:tcPr marL="141112" marR="105834" marT="70556" marB="70556">
                    <a:lnL w="12700" cmpd="sng">
                      <a:noFill/>
                      <a:prstDash val="solid"/>
                    </a:lnL>
                    <a:lnR w="12700" cmpd="sng">
                      <a:noFill/>
                      <a:prstDash val="solid"/>
                    </a:lnR>
                    <a:lnT w="9525" cap="flat" cmpd="sng" algn="ctr">
                      <a:noFill/>
                      <a:prstDash val="solid"/>
                    </a:lnT>
                    <a:lnB w="9525" cap="flat" cmpd="sng" algn="ctr">
                      <a:solidFill>
                        <a:srgbClr val="C7C6C1"/>
                      </a:solidFill>
                      <a:prstDash val="solid"/>
                      <a:round/>
                      <a:headEnd type="none" w="med" len="med"/>
                      <a:tailEnd type="none" w="med" len="med"/>
                    </a:lnB>
                    <a:noFill/>
                  </a:tcPr>
                </a:tc>
                <a:tc>
                  <a:txBody>
                    <a:bodyPr/>
                    <a:lstStyle/>
                    <a:p>
                      <a:pPr algn="ctr"/>
                      <a:r>
                        <a:rPr lang="en-ZA" sz="1100" b="1" dirty="0">
                          <a:solidFill>
                            <a:schemeClr val="tx1">
                              <a:lumMod val="75000"/>
                              <a:lumOff val="25000"/>
                            </a:schemeClr>
                          </a:solidFill>
                        </a:rPr>
                        <a:t>Functional unit</a:t>
                      </a:r>
                    </a:p>
                  </a:txBody>
                  <a:tcPr marL="141112" marR="105834" marT="70556" marB="70556">
                    <a:lnL w="12700" cmpd="sng">
                      <a:noFill/>
                      <a:prstDash val="solid"/>
                    </a:lnL>
                    <a:lnR w="12700" cmpd="sng">
                      <a:noFill/>
                      <a:prstDash val="solid"/>
                    </a:lnR>
                    <a:lnT w="9525" cap="flat" cmpd="sng" algn="ctr">
                      <a:noFill/>
                      <a:prstDash val="solid"/>
                    </a:lnT>
                    <a:lnB w="9525" cap="flat" cmpd="sng" algn="ctr">
                      <a:solidFill>
                        <a:srgbClr val="C7C6C1"/>
                      </a:solidFill>
                      <a:prstDash val="solid"/>
                      <a:round/>
                      <a:headEnd type="none" w="med" len="med"/>
                      <a:tailEnd type="none" w="med" len="med"/>
                    </a:lnB>
                    <a:noFill/>
                  </a:tcPr>
                </a:tc>
                <a:tc>
                  <a:txBody>
                    <a:bodyPr/>
                    <a:lstStyle/>
                    <a:p>
                      <a:pPr algn="ctr"/>
                      <a:r>
                        <a:rPr lang="en-ZA" sz="1100" b="1" dirty="0">
                          <a:solidFill>
                            <a:schemeClr val="tx1">
                              <a:lumMod val="75000"/>
                              <a:lumOff val="25000"/>
                            </a:schemeClr>
                          </a:solidFill>
                        </a:rPr>
                        <a:t>Description</a:t>
                      </a:r>
                    </a:p>
                  </a:txBody>
                  <a:tcPr marL="141112" marR="105834" marT="70556" marB="70556">
                    <a:lnL w="12700" cmpd="sng">
                      <a:noFill/>
                      <a:prstDash val="solid"/>
                    </a:lnL>
                    <a:lnR w="12700" cmpd="sng">
                      <a:noFill/>
                      <a:prstDash val="solid"/>
                    </a:lnR>
                    <a:lnT w="9525" cap="flat" cmpd="sng" algn="ctr">
                      <a:noFill/>
                      <a:prstDash val="solid"/>
                    </a:lnT>
                    <a:lnB w="9525" cap="flat" cmpd="sng" algn="ctr">
                      <a:solidFill>
                        <a:srgbClr val="C7C6C1"/>
                      </a:solidFill>
                      <a:prstDash val="solid"/>
                      <a:round/>
                      <a:headEnd type="none" w="med" len="med"/>
                      <a:tailEnd type="none" w="med" len="med"/>
                    </a:lnB>
                    <a:noFill/>
                  </a:tcPr>
                </a:tc>
                <a:extLst>
                  <a:ext uri="{0D108BD9-81ED-4DB2-BD59-A6C34878D82A}">
                    <a16:rowId xmlns:a16="http://schemas.microsoft.com/office/drawing/2014/main" val="3777783625"/>
                  </a:ext>
                </a:extLst>
              </a:tr>
              <a:tr h="322207">
                <a:tc>
                  <a:txBody>
                    <a:bodyPr/>
                    <a:lstStyle/>
                    <a:p>
                      <a:pPr algn="ctr">
                        <a:lnSpc>
                          <a:spcPct val="115000"/>
                        </a:lnSpc>
                        <a:spcAft>
                          <a:spcPts val="600"/>
                        </a:spcAft>
                      </a:pPr>
                      <a:r>
                        <a:rPr lang="en-ZA" sz="1100" dirty="0">
                          <a:effectLst/>
                        </a:rPr>
                        <a:t>Normal 3 phase SPWM for Clockwise motor rotation.</a:t>
                      </a:r>
                    </a:p>
                  </a:txBody>
                  <a:tcPr marL="81418" marR="81418" marT="0" marB="0">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a:r>
                        <a:rPr lang="en-GB" sz="1100" dirty="0"/>
                        <a:t>F/U 8 Hoist Controller</a:t>
                      </a:r>
                    </a:p>
                  </a:txBody>
                  <a:tcPr marL="81418" marR="81418" marT="0" marB="0">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a:lnSpc>
                          <a:spcPct val="115000"/>
                        </a:lnSpc>
                        <a:spcAft>
                          <a:spcPts val="600"/>
                        </a:spcAft>
                      </a:pPr>
                      <a:r>
                        <a:rPr lang="en-ZA" sz="1100" dirty="0">
                          <a:effectLst/>
                        </a:rPr>
                        <a:t>Produce sinusoidal PWM signals that are smoothly ramped up from 0 Hz to 50 Hz with an increasing amplitude and vice versa.</a:t>
                      </a:r>
                      <a:endParaRPr lang="en-US" sz="1400" dirty="0"/>
                    </a:p>
                  </a:txBody>
                  <a:tcPr marL="81418" marR="81418" marT="0" marB="0">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2251850920"/>
                  </a:ext>
                </a:extLst>
              </a:tr>
              <a:tr h="475079">
                <a:tc>
                  <a:txBody>
                    <a:bodyPr/>
                    <a:lstStyle/>
                    <a:p>
                      <a:pPr lvl="0" algn="ctr">
                        <a:lnSpc>
                          <a:spcPct val="114999"/>
                        </a:lnSpc>
                        <a:spcAft>
                          <a:spcPts val="600"/>
                        </a:spcAft>
                        <a:buNone/>
                      </a:pPr>
                      <a:r>
                        <a:rPr lang="en-ZA" sz="1100" b="0" i="0" u="none" strike="noStrike" noProof="0" dirty="0">
                          <a:solidFill>
                            <a:srgbClr val="000000"/>
                          </a:solidFill>
                          <a:effectLst/>
                          <a:latin typeface="Aptos"/>
                        </a:rPr>
                        <a:t>120° Phase shifted 3 phase SPWM for Anti-Clockwise motor rotation.</a:t>
                      </a:r>
                      <a:endParaRPr lang="en-US" sz="1400" dirty="0"/>
                    </a:p>
                  </a:txBody>
                  <a:tcPr marL="81418" marR="81418" marT="0" marB="0">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a:r>
                        <a:rPr lang="en-GB" sz="1100" dirty="0"/>
                        <a:t>F/U 8 Hoist Controller</a:t>
                      </a:r>
                    </a:p>
                    <a:p>
                      <a:pPr algn="ctr"/>
                      <a:endParaRPr lang="en-GB" sz="1100" dirty="0"/>
                    </a:p>
                  </a:txBody>
                  <a:tcPr marL="81418" marR="81418" marT="0" marB="0">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a:lnSpc>
                          <a:spcPct val="115000"/>
                        </a:lnSpc>
                        <a:spcAft>
                          <a:spcPts val="600"/>
                        </a:spcAft>
                      </a:pPr>
                      <a:r>
                        <a:rPr lang="en-ZA" sz="1100" dirty="0">
                          <a:effectLst/>
                        </a:rPr>
                        <a:t>Create a </a:t>
                      </a:r>
                      <a:r>
                        <a:rPr lang="en-ZA" sz="1100" b="0" i="0" u="none" strike="noStrike" noProof="0" dirty="0">
                          <a:solidFill>
                            <a:srgbClr val="000000"/>
                          </a:solidFill>
                          <a:effectLst/>
                          <a:latin typeface="Aptos"/>
                        </a:rPr>
                        <a:t>120° Phase shift switching the last 2 phases of the 3 phase SPWM for reversed motor rotation</a:t>
                      </a:r>
                      <a:r>
                        <a:rPr lang="en-ZA" sz="1100" dirty="0">
                          <a:effectLst/>
                        </a:rPr>
                        <a:t>.</a:t>
                      </a:r>
                    </a:p>
                  </a:txBody>
                  <a:tcPr marL="81418" marR="81418" marT="0" marB="0">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3635850989"/>
                  </a:ext>
                </a:extLst>
              </a:tr>
              <a:tr h="475079">
                <a:tc>
                  <a:txBody>
                    <a:bodyPr/>
                    <a:lstStyle/>
                    <a:p>
                      <a:pPr algn="ctr">
                        <a:lnSpc>
                          <a:spcPct val="115000"/>
                        </a:lnSpc>
                        <a:spcAft>
                          <a:spcPts val="600"/>
                        </a:spcAft>
                      </a:pPr>
                      <a:r>
                        <a:rPr lang="en-ZA" sz="1100" dirty="0">
                          <a:effectLst/>
                        </a:rPr>
                        <a:t>Variable SPWM frequencies with accompanying Varying Amplitudes.</a:t>
                      </a:r>
                    </a:p>
                  </a:txBody>
                  <a:tcPr marL="81418" marR="81418" marT="0" marB="0">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round/>
                      <a:headEnd type="none" w="med" len="med"/>
                      <a:tailEnd type="none" w="med" len="med"/>
                    </a:lnB>
                    <a:noFill/>
                  </a:tcPr>
                </a:tc>
                <a:tc>
                  <a:txBody>
                    <a:bodyPr/>
                    <a:lstStyle/>
                    <a:p>
                      <a:pPr algn="ctr"/>
                      <a:r>
                        <a:rPr lang="en-GB" sz="1100" dirty="0"/>
                        <a:t>F/U 8 Hoist Controller</a:t>
                      </a:r>
                    </a:p>
                    <a:p>
                      <a:pPr algn="ctr"/>
                      <a:endParaRPr lang="en-GB" sz="1100" dirty="0"/>
                    </a:p>
                  </a:txBody>
                  <a:tcPr marL="81418" marR="81418" marT="0" marB="0">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round/>
                      <a:headEnd type="none" w="med" len="med"/>
                      <a:tailEnd type="none" w="med" len="med"/>
                    </a:lnB>
                    <a:noFill/>
                  </a:tcPr>
                </a:tc>
                <a:tc>
                  <a:txBody>
                    <a:bodyPr/>
                    <a:lstStyle/>
                    <a:p>
                      <a:pPr algn="ctr">
                        <a:lnSpc>
                          <a:spcPct val="115000"/>
                        </a:lnSpc>
                        <a:spcAft>
                          <a:spcPts val="600"/>
                        </a:spcAft>
                      </a:pPr>
                      <a:r>
                        <a:rPr lang="en-ZA" sz="1100" dirty="0">
                          <a:effectLst/>
                        </a:rPr>
                        <a:t>Produce Varying SPWM’s that have increasing amplitudes as their frequency increases and vice versa.</a:t>
                      </a:r>
                    </a:p>
                  </a:txBody>
                  <a:tcPr marL="81418" marR="81418" marT="0" marB="0">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round/>
                      <a:headEnd type="none" w="med" len="med"/>
                      <a:tailEnd type="none" w="med" len="med"/>
                    </a:lnB>
                    <a:noFill/>
                  </a:tcPr>
                </a:tc>
                <a:extLst>
                  <a:ext uri="{0D108BD9-81ED-4DB2-BD59-A6C34878D82A}">
                    <a16:rowId xmlns:a16="http://schemas.microsoft.com/office/drawing/2014/main" val="1049642540"/>
                  </a:ext>
                </a:extLst>
              </a:tr>
              <a:tr h="475079">
                <a:tc>
                  <a:txBody>
                    <a:bodyPr/>
                    <a:lstStyle/>
                    <a:p>
                      <a:pPr lvl="0" algn="ctr">
                        <a:lnSpc>
                          <a:spcPct val="114999"/>
                        </a:lnSpc>
                        <a:spcAft>
                          <a:spcPts val="600"/>
                        </a:spcAft>
                        <a:buNone/>
                      </a:pPr>
                      <a:r>
                        <a:rPr lang="en-ZA" sz="1100" dirty="0">
                          <a:effectLst/>
                        </a:rPr>
                        <a:t>Lateral Movement using varying PWM.</a:t>
                      </a:r>
                      <a:endParaRPr lang="en-US" sz="1400" dirty="0"/>
                    </a:p>
                  </a:txBody>
                  <a:tcPr marL="81418" marR="81418" marT="0" marB="0">
                    <a:lnL w="12700" cmpd="sng">
                      <a:noFill/>
                      <a:prstDash val="solid"/>
                    </a:lnL>
                    <a:lnR w="12700" cmpd="sng">
                      <a:noFill/>
                      <a:prstDash val="solid"/>
                    </a:lnR>
                    <a:lnT w="9525" cap="flat" cmpd="sng" algn="ctr">
                      <a:solidFill>
                        <a:srgbClr val="C7C6C1"/>
                      </a:solidFill>
                      <a:prstDash val="solid"/>
                      <a:round/>
                      <a:headEnd type="none" w="med" len="med"/>
                      <a:tailEnd type="none" w="med" len="med"/>
                    </a:lnT>
                    <a:lnB w="9525" cap="flat" cmpd="sng" algn="ctr">
                      <a:solidFill>
                        <a:srgbClr val="C7C6C1"/>
                      </a:solidFill>
                      <a:prstDash val="solid"/>
                    </a:lnB>
                    <a:noFill/>
                  </a:tcPr>
                </a:tc>
                <a:tc>
                  <a:txBody>
                    <a:bodyPr/>
                    <a:lstStyle/>
                    <a:p>
                      <a:pPr algn="ctr"/>
                      <a:r>
                        <a:rPr lang="en-GB" sz="1100" dirty="0"/>
                        <a:t>F/U 8 Hoist Controller</a:t>
                      </a:r>
                    </a:p>
                    <a:p>
                      <a:pPr algn="ctr"/>
                      <a:endParaRPr lang="en-GB" sz="1100" dirty="0"/>
                    </a:p>
                  </a:txBody>
                  <a:tcPr marL="81418" marR="81418" marT="0" marB="0">
                    <a:lnL w="12700" cmpd="sng">
                      <a:noFill/>
                      <a:prstDash val="solid"/>
                    </a:lnL>
                    <a:lnR w="12700" cmpd="sng">
                      <a:noFill/>
                      <a:prstDash val="solid"/>
                    </a:lnR>
                    <a:lnT w="9525" cap="flat" cmpd="sng" algn="ctr">
                      <a:solidFill>
                        <a:srgbClr val="C7C6C1"/>
                      </a:solidFill>
                      <a:prstDash val="solid"/>
                      <a:round/>
                      <a:headEnd type="none" w="med" len="med"/>
                      <a:tailEnd type="none" w="med" len="med"/>
                    </a:lnT>
                    <a:lnB w="9525" cap="flat" cmpd="sng" algn="ctr">
                      <a:solidFill>
                        <a:srgbClr val="C7C6C1"/>
                      </a:solidFill>
                      <a:prstDash val="solid"/>
                    </a:lnB>
                    <a:noFill/>
                  </a:tcPr>
                </a:tc>
                <a:tc>
                  <a:txBody>
                    <a:bodyPr/>
                    <a:lstStyle/>
                    <a:p>
                      <a:pPr lvl="0" algn="ctr">
                        <a:lnSpc>
                          <a:spcPct val="114999"/>
                        </a:lnSpc>
                        <a:spcAft>
                          <a:spcPts val="600"/>
                        </a:spcAft>
                        <a:buNone/>
                      </a:pPr>
                      <a:r>
                        <a:rPr lang="en-ZA" sz="1100" b="0" i="0" u="none" strike="noStrike" noProof="0" dirty="0">
                          <a:solidFill>
                            <a:srgbClr val="000000"/>
                          </a:solidFill>
                          <a:effectLst/>
                          <a:latin typeface="Aptos"/>
                        </a:rPr>
                        <a:t>Produce square PWM's that vary their duty cycle at 1000 Hz based on the position of the wireless pendants analogue stick combined with a smooth ramping process to allow for smooth acceleration and deceleration in both directions.</a:t>
                      </a:r>
                      <a:endParaRPr lang="en-ZA" sz="1100" dirty="0">
                        <a:effectLst/>
                      </a:endParaRPr>
                    </a:p>
                  </a:txBody>
                  <a:tcPr marL="81418" marR="81418" marT="0" marB="0">
                    <a:lnL w="12700" cmpd="sng">
                      <a:noFill/>
                      <a:prstDash val="solid"/>
                    </a:lnL>
                    <a:lnR w="12700" cmpd="sng">
                      <a:noFill/>
                      <a:prstDash val="solid"/>
                    </a:lnR>
                    <a:lnT w="9525" cap="flat" cmpd="sng" algn="ctr">
                      <a:solidFill>
                        <a:srgbClr val="C7C6C1"/>
                      </a:solidFill>
                      <a:prstDash val="solid"/>
                      <a:round/>
                      <a:headEnd type="none" w="med" len="med"/>
                      <a:tailEnd type="none" w="med" len="med"/>
                    </a:lnT>
                    <a:lnB w="9525" cap="flat" cmpd="sng" algn="ctr">
                      <a:solidFill>
                        <a:srgbClr val="C7C6C1"/>
                      </a:solidFill>
                      <a:prstDash val="solid"/>
                    </a:lnB>
                    <a:noFill/>
                  </a:tcPr>
                </a:tc>
                <a:extLst>
                  <a:ext uri="{0D108BD9-81ED-4DB2-BD59-A6C34878D82A}">
                    <a16:rowId xmlns:a16="http://schemas.microsoft.com/office/drawing/2014/main" val="2011985640"/>
                  </a:ext>
                </a:extLst>
              </a:tr>
              <a:tr h="627951">
                <a:tc>
                  <a:txBody>
                    <a:bodyPr/>
                    <a:lstStyle/>
                    <a:p>
                      <a:pPr lvl="0" algn="ctr">
                        <a:lnSpc>
                          <a:spcPct val="114999"/>
                        </a:lnSpc>
                        <a:spcAft>
                          <a:spcPts val="600"/>
                        </a:spcAft>
                        <a:buNone/>
                      </a:pPr>
                      <a:r>
                        <a:rPr lang="en-ZA" sz="1100" dirty="0">
                          <a:effectLst/>
                        </a:rPr>
                        <a:t>Logging</a:t>
                      </a:r>
                    </a:p>
                  </a:txBody>
                  <a:tcPr marL="81418" marR="81418" marT="0" marB="0">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round/>
                      <a:headEnd type="none" w="med" len="med"/>
                      <a:tailEnd type="none" w="med" len="med"/>
                    </a:lnB>
                    <a:noFill/>
                  </a:tcPr>
                </a:tc>
                <a:tc>
                  <a:txBody>
                    <a:bodyPr/>
                    <a:lstStyle/>
                    <a:p>
                      <a:pPr algn="ctr"/>
                      <a:r>
                        <a:rPr lang="en-GB" sz="1100" dirty="0"/>
                        <a:t>F/U 8 Hoist Controller</a:t>
                      </a:r>
                    </a:p>
                    <a:p>
                      <a:pPr algn="ctr"/>
                      <a:endParaRPr lang="en-GB" sz="1100" dirty="0"/>
                    </a:p>
                  </a:txBody>
                  <a:tcPr marL="81418" marR="81418" marT="0" marB="0">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lvl="0" algn="ctr">
                        <a:lnSpc>
                          <a:spcPct val="114999"/>
                        </a:lnSpc>
                        <a:spcAft>
                          <a:spcPts val="600"/>
                        </a:spcAft>
                        <a:buNone/>
                      </a:pPr>
                      <a:r>
                        <a:rPr lang="en-ZA" sz="1100" b="0" i="0" u="none" strike="noStrike" noProof="0" dirty="0">
                          <a:solidFill>
                            <a:srgbClr val="000000"/>
                          </a:solidFill>
                          <a:effectLst/>
                          <a:latin typeface="Aptos"/>
                        </a:rPr>
                        <a:t>Ensure both the rotary encoder and load cell are functional and working correctly to later display the relevant weight and length of rope extended on the wireless pendants LCD.</a:t>
                      </a:r>
                    </a:p>
                  </a:txBody>
                  <a:tcPr marL="81418" marR="81418" marT="0" marB="0">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round/>
                      <a:headEnd type="none" w="med" len="med"/>
                      <a:tailEnd type="none" w="med" len="med"/>
                    </a:lnB>
                    <a:noFill/>
                  </a:tcPr>
                </a:tc>
                <a:extLst>
                  <a:ext uri="{0D108BD9-81ED-4DB2-BD59-A6C34878D82A}">
                    <a16:rowId xmlns:a16="http://schemas.microsoft.com/office/drawing/2014/main" val="4194832327"/>
                  </a:ext>
                </a:extLst>
              </a:tr>
              <a:tr h="344942">
                <a:tc>
                  <a:txBody>
                    <a:bodyPr/>
                    <a:lstStyle/>
                    <a:p>
                      <a:pPr lvl="0" algn="ctr">
                        <a:lnSpc>
                          <a:spcPct val="114999"/>
                        </a:lnSpc>
                        <a:spcAft>
                          <a:spcPts val="600"/>
                        </a:spcAft>
                        <a:buNone/>
                      </a:pPr>
                      <a:r>
                        <a:rPr lang="en-ZA" sz="1100" dirty="0">
                          <a:effectLst/>
                        </a:rPr>
                        <a:t>RTOS Usage</a:t>
                      </a:r>
                      <a:endParaRPr lang="en-US" sz="1400" dirty="0"/>
                    </a:p>
                  </a:txBody>
                  <a:tcPr marL="81418" marR="81418" marT="0" marB="0">
                    <a:lnL w="12700" cmpd="sng">
                      <a:noFill/>
                      <a:prstDash val="solid"/>
                    </a:lnL>
                    <a:lnR w="12700" cmpd="sng">
                      <a:noFill/>
                      <a:prstDash val="solid"/>
                    </a:lnR>
                    <a:lnT w="9525" cap="flat" cmpd="sng" algn="ctr">
                      <a:solidFill>
                        <a:srgbClr val="C7C6C1"/>
                      </a:solidFill>
                      <a:prstDash val="solid"/>
                      <a:round/>
                      <a:headEnd type="none" w="med" len="med"/>
                      <a:tailEnd type="none" w="med" len="med"/>
                    </a:lnT>
                    <a:lnB w="9525" cap="flat" cmpd="sng" algn="ctr">
                      <a:solidFill>
                        <a:srgbClr val="C7C6C1"/>
                      </a:solidFill>
                      <a:prstDash val="solid"/>
                    </a:lnB>
                    <a:noFill/>
                  </a:tcPr>
                </a:tc>
                <a:tc>
                  <a:txBody>
                    <a:bodyPr/>
                    <a:lstStyle/>
                    <a:p>
                      <a:pPr algn="ctr"/>
                      <a:r>
                        <a:rPr lang="en-GB" sz="1100" dirty="0"/>
                        <a:t>F/U 8 Hoist Controller</a:t>
                      </a:r>
                    </a:p>
                  </a:txBody>
                  <a:tcPr marL="141112" marR="105834" marT="70556" marB="70556">
                    <a:lnL w="12700" cmpd="sng">
                      <a:noFill/>
                      <a:prstDash val="solid"/>
                    </a:lnL>
                    <a:lnR w="12700" cmpd="sng">
                      <a:noFill/>
                      <a:prstDash val="solid"/>
                    </a:lnR>
                    <a:lnT w="9525" cap="flat" cmpd="sng" algn="ctr">
                      <a:solidFill>
                        <a:srgbClr val="C7C6C1"/>
                      </a:solidFill>
                      <a:prstDash val="solid"/>
                      <a:round/>
                      <a:headEnd type="none" w="med" len="med"/>
                      <a:tailEnd type="none" w="med" len="med"/>
                    </a:lnT>
                    <a:lnB w="9525" cap="flat" cmpd="sng" algn="ctr">
                      <a:solidFill>
                        <a:srgbClr val="C7C6C1"/>
                      </a:solidFill>
                      <a:prstDash val="solid"/>
                    </a:lnB>
                    <a:noFill/>
                  </a:tcPr>
                </a:tc>
                <a:tc>
                  <a:txBody>
                    <a:bodyPr/>
                    <a:lstStyle/>
                    <a:p>
                      <a:pPr lvl="0" algn="ctr">
                        <a:lnSpc>
                          <a:spcPct val="114999"/>
                        </a:lnSpc>
                        <a:spcAft>
                          <a:spcPts val="600"/>
                        </a:spcAft>
                        <a:buNone/>
                      </a:pPr>
                      <a:r>
                        <a:rPr lang="en-ZA" sz="1100" dirty="0">
                          <a:effectLst/>
                        </a:rPr>
                        <a:t>Create a functional embedded controller that makes use of RTOS for effective task prioritisation and processing efficiency.</a:t>
                      </a:r>
                      <a:endParaRPr lang="en-US" sz="1400" dirty="0"/>
                    </a:p>
                  </a:txBody>
                  <a:tcPr marL="81418" marR="81418" marT="0" marB="0">
                    <a:lnL w="12700" cmpd="sng">
                      <a:noFill/>
                      <a:prstDash val="solid"/>
                    </a:lnL>
                    <a:lnR w="12700" cmpd="sng">
                      <a:noFill/>
                      <a:prstDash val="solid"/>
                    </a:lnR>
                    <a:lnT w="9525" cap="flat" cmpd="sng" algn="ctr">
                      <a:solidFill>
                        <a:srgbClr val="C7C6C1"/>
                      </a:solidFill>
                      <a:prstDash val="solid"/>
                      <a:round/>
                      <a:headEnd type="none" w="med" len="med"/>
                      <a:tailEnd type="none" w="med" len="med"/>
                    </a:lnT>
                    <a:lnB w="9525" cap="flat" cmpd="sng" algn="ctr">
                      <a:solidFill>
                        <a:srgbClr val="C7C6C1"/>
                      </a:solidFill>
                      <a:prstDash val="solid"/>
                    </a:lnB>
                    <a:noFill/>
                  </a:tcPr>
                </a:tc>
                <a:extLst>
                  <a:ext uri="{0D108BD9-81ED-4DB2-BD59-A6C34878D82A}">
                    <a16:rowId xmlns:a16="http://schemas.microsoft.com/office/drawing/2014/main" val="476640956"/>
                  </a:ext>
                </a:extLst>
              </a:tr>
              <a:tr h="344942">
                <a:tc>
                  <a:txBody>
                    <a:bodyPr/>
                    <a:lstStyle/>
                    <a:p>
                      <a:pPr lvl="0" algn="ctr">
                        <a:lnSpc>
                          <a:spcPct val="114999"/>
                        </a:lnSpc>
                        <a:spcAft>
                          <a:spcPts val="600"/>
                        </a:spcAft>
                        <a:buNone/>
                      </a:pPr>
                      <a:r>
                        <a:rPr lang="en-ZA" sz="1100" dirty="0">
                          <a:effectLst/>
                        </a:rPr>
                        <a:t>Emergency Stop</a:t>
                      </a:r>
                    </a:p>
                  </a:txBody>
                  <a:tcPr marL="81418" marR="81418" marT="0" marB="0">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a:r>
                        <a:rPr lang="en-GB" sz="1100" dirty="0"/>
                        <a:t>F/U 8 Hoist Controller</a:t>
                      </a: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lvl="0" algn="ctr">
                        <a:lnSpc>
                          <a:spcPct val="114999"/>
                        </a:lnSpc>
                        <a:spcAft>
                          <a:spcPts val="600"/>
                        </a:spcAft>
                        <a:buNone/>
                      </a:pPr>
                      <a:r>
                        <a:rPr lang="en-ZA" sz="1100" b="0" i="0" u="none" strike="noStrike" noProof="0" dirty="0">
                          <a:solidFill>
                            <a:srgbClr val="000000"/>
                          </a:solidFill>
                          <a:effectLst/>
                          <a:latin typeface="Aptos"/>
                        </a:rPr>
                        <a:t>Code safety protocols that halt all outputs from the embedded controller safely if communication is lost from the wireless pendant. </a:t>
                      </a:r>
                    </a:p>
                  </a:txBody>
                  <a:tcPr marL="81418" marR="81418" marT="0" marB="0">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652047246"/>
                  </a:ext>
                </a:extLst>
              </a:tr>
              <a:tr h="344942">
                <a:tc>
                  <a:txBody>
                    <a:bodyPr/>
                    <a:lstStyle/>
                    <a:p>
                      <a:pPr lvl="0" algn="ctr">
                        <a:lnSpc>
                          <a:spcPct val="114999"/>
                        </a:lnSpc>
                        <a:spcAft>
                          <a:spcPts val="600"/>
                        </a:spcAft>
                        <a:buNone/>
                      </a:pPr>
                      <a:r>
                        <a:rPr lang="en-ZA" sz="1100" dirty="0">
                          <a:effectLst/>
                        </a:rPr>
                        <a:t>Alarm / Safety</a:t>
                      </a:r>
                    </a:p>
                  </a:txBody>
                  <a:tcPr marL="81418" marR="81418" marT="0" marB="0">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algn="ctr"/>
                      <a:r>
                        <a:rPr lang="en-GB" sz="1100" dirty="0"/>
                        <a:t>F/U 8 Hoist Controller</a:t>
                      </a:r>
                    </a:p>
                  </a:txBody>
                  <a:tcPr marL="141112" marR="105834" marT="70556" marB="705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lvl="0" algn="ctr">
                        <a:lnSpc>
                          <a:spcPct val="114999"/>
                        </a:lnSpc>
                        <a:spcAft>
                          <a:spcPts val="600"/>
                        </a:spcAft>
                        <a:buNone/>
                      </a:pPr>
                      <a:r>
                        <a:rPr lang="en-ZA" sz="1100" b="0" i="0" u="none" strike="noStrike" noProof="0" dirty="0">
                          <a:solidFill>
                            <a:srgbClr val="000000"/>
                          </a:solidFill>
                          <a:effectLst/>
                          <a:latin typeface="Aptos"/>
                        </a:rPr>
                        <a:t>When the hoist releases more than the threshold values of rope the system should automatically only allow the necessary input to extend or reel in the rope using the forward/reversed SPWM’s. Also either prevent lateral movement or slow It down significantly if too high of a weight is detected by the Load Cell.</a:t>
                      </a:r>
                    </a:p>
                  </a:txBody>
                  <a:tcPr marL="81418" marR="81418" marT="0" marB="0">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3262898137"/>
                  </a:ext>
                </a:extLst>
              </a:tr>
            </a:tbl>
          </a:graphicData>
        </a:graphic>
      </p:graphicFrame>
    </p:spTree>
    <p:extLst>
      <p:ext uri="{BB962C8B-B14F-4D97-AF65-F5344CB8AC3E}">
        <p14:creationId xmlns:p14="http://schemas.microsoft.com/office/powerpoint/2010/main" val="18406580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B25A2EB-3B8C-9656-9360-02C60C90F28F}"/>
              </a:ext>
            </a:extLst>
          </p:cNvPr>
          <p:cNvSpPr>
            <a:spLocks noGrp="1"/>
          </p:cNvSpPr>
          <p:nvPr>
            <p:ph type="title"/>
          </p:nvPr>
        </p:nvSpPr>
        <p:spPr>
          <a:xfrm>
            <a:off x="742950" y="742951"/>
            <a:ext cx="3476625" cy="4962524"/>
          </a:xfrm>
        </p:spPr>
        <p:txBody>
          <a:bodyPr vert="horz" lIns="91440" tIns="45720" rIns="91440" bIns="45720" rtlCol="0" anchor="ctr">
            <a:normAutofit/>
          </a:bodyPr>
          <a:lstStyle/>
          <a:p>
            <a:pPr algn="ctr"/>
            <a:r>
              <a:rPr lang="en-US" sz="4800" kern="1200" dirty="0">
                <a:solidFill>
                  <a:srgbClr val="FFFFFF"/>
                </a:solidFill>
                <a:latin typeface="+mj-lt"/>
                <a:ea typeface="+mj-ea"/>
                <a:cs typeface="+mj-cs"/>
              </a:rPr>
              <a:t>Sub-System: Lateral Movement unit</a:t>
            </a:r>
          </a:p>
        </p:txBody>
      </p:sp>
      <p:pic>
        <p:nvPicPr>
          <p:cNvPr id="6" name="Content Placeholder 5"/>
          <p:cNvPicPr>
            <a:picLocks noGrp="1" noChangeAspect="1"/>
          </p:cNvPicPr>
          <p:nvPr>
            <p:ph idx="1"/>
          </p:nvPr>
        </p:nvPicPr>
        <p:blipFill>
          <a:blip r:embed="rId3"/>
          <a:stretch>
            <a:fillRect/>
          </a:stretch>
        </p:blipFill>
        <p:spPr>
          <a:xfrm>
            <a:off x="4784651" y="311450"/>
            <a:ext cx="7283302" cy="6078718"/>
          </a:xfrm>
          <a:prstGeom prst="rect">
            <a:avLst/>
          </a:prstGeom>
        </p:spPr>
      </p:pic>
    </p:spTree>
    <p:extLst>
      <p:ext uri="{BB962C8B-B14F-4D97-AF65-F5344CB8AC3E}">
        <p14:creationId xmlns:p14="http://schemas.microsoft.com/office/powerpoint/2010/main" val="40884459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1A75659-5A6F-4F77-9679-678A00B9D8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p:cNvPicPr>
            <a:picLocks noChangeAspect="1"/>
          </p:cNvPicPr>
          <p:nvPr/>
        </p:nvPicPr>
        <p:blipFill>
          <a:blip r:embed="rId2"/>
          <a:srcRect l="12956" b="9091"/>
          <a:stretch>
            <a:fillRect/>
          </a:stretch>
        </p:blipFill>
        <p:spPr>
          <a:xfrm>
            <a:off x="20" y="10"/>
            <a:ext cx="8668492" cy="6857990"/>
          </a:xfrm>
          <a:prstGeom prst="rect">
            <a:avLst/>
          </a:prstGeom>
        </p:spPr>
      </p:pic>
      <p:sp>
        <p:nvSpPr>
          <p:cNvPr id="19" name="Rectangle 18">
            <a:extLst>
              <a:ext uri="{FF2B5EF4-FFF2-40B4-BE49-F238E27FC236}">
                <a16:creationId xmlns:a16="http://schemas.microsoft.com/office/drawing/2014/main" id="{E30A3A45-140E-431E-AED0-07EF836310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435399" y="0"/>
            <a:ext cx="9756601" cy="6858000"/>
          </a:xfrm>
          <a:prstGeom prst="rect">
            <a:avLst/>
          </a:prstGeom>
          <a:gradFill>
            <a:gsLst>
              <a:gs pos="53000">
                <a:schemeClr val="tx1"/>
              </a:gs>
              <a:gs pos="35000">
                <a:schemeClr val="tx1">
                  <a:alpha val="76000"/>
                </a:schemeClr>
              </a:gs>
              <a:gs pos="19000">
                <a:schemeClr val="tx1">
                  <a:alpha val="40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687333"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3" name="Rectangle 22">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3018" y="2443480"/>
            <a:ext cx="3218688"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extBox 1"/>
          <p:cNvSpPr txBox="1"/>
          <p:nvPr/>
        </p:nvSpPr>
        <p:spPr>
          <a:xfrm>
            <a:off x="8395868" y="2718054"/>
            <a:ext cx="3438906" cy="3207258"/>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700" dirty="0">
                <a:solidFill>
                  <a:schemeClr val="bg1"/>
                </a:solidFill>
              </a:rPr>
              <a:t>The lateral movement subsystem uses two geared DC motors with rubber-coated wheels and a dual 12 A driver to move the hoist horizontally along the 4-meter diameter curved I-beam. Speed and direction are controlled via PWM signals from the main controller</a:t>
            </a:r>
          </a:p>
          <a:p>
            <a:pPr indent="-228600">
              <a:lnSpc>
                <a:spcPct val="90000"/>
              </a:lnSpc>
              <a:spcAft>
                <a:spcPts val="600"/>
              </a:spcAft>
              <a:buFont typeface="Arial" panose="020B0604020202020204" pitchFamily="34" charset="0"/>
              <a:buChar char="•"/>
            </a:pPr>
            <a:br>
              <a:rPr lang="en-US" sz="1700" dirty="0">
                <a:solidFill>
                  <a:schemeClr val="bg1"/>
                </a:solidFill>
              </a:rPr>
            </a:br>
            <a:endParaRPr lang="en-US" sz="1700" dirty="0">
              <a:solidFill>
                <a:schemeClr val="bg1"/>
              </a:solidFill>
            </a:endParaRPr>
          </a:p>
        </p:txBody>
      </p:sp>
    </p:spTree>
    <p:extLst>
      <p:ext uri="{BB962C8B-B14F-4D97-AF65-F5344CB8AC3E}">
        <p14:creationId xmlns:p14="http://schemas.microsoft.com/office/powerpoint/2010/main" val="26944395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0F158FA-E35B-C8FA-DDCC-A25743AA1A79}"/>
              </a:ext>
            </a:extLst>
          </p:cNvPr>
          <p:cNvSpPr>
            <a:spLocks noGrp="1"/>
          </p:cNvSpPr>
          <p:nvPr>
            <p:ph type="title"/>
          </p:nvPr>
        </p:nvSpPr>
        <p:spPr>
          <a:xfrm>
            <a:off x="323298" y="742951"/>
            <a:ext cx="3896277" cy="4962524"/>
          </a:xfrm>
          <a:prstGeom prst="ellipse">
            <a:avLst/>
          </a:prstGeom>
        </p:spPr>
        <p:txBody>
          <a:bodyPr vert="horz" lIns="91440" tIns="45720" rIns="91440" bIns="45720" rtlCol="0" anchor="ctr">
            <a:normAutofit/>
          </a:bodyPr>
          <a:lstStyle/>
          <a:p>
            <a:pPr algn="ctr"/>
            <a:r>
              <a:rPr lang="en-US" sz="3700" kern="1200" dirty="0">
                <a:solidFill>
                  <a:srgbClr val="FFFFFF"/>
                </a:solidFill>
                <a:latin typeface="+mj-lt"/>
                <a:ea typeface="+mj-ea"/>
                <a:cs typeface="+mj-cs"/>
              </a:rPr>
              <a:t>Sub system: Hoisting Mechanism Unit</a:t>
            </a:r>
          </a:p>
        </p:txBody>
      </p:sp>
      <p:pic>
        <p:nvPicPr>
          <p:cNvPr id="7" name="Content Placeholder 6" descr="A diagram of a mechanical scheme&#10;&#10;AI-generated content may be incorrect.">
            <a:extLst>
              <a:ext uri="{FF2B5EF4-FFF2-40B4-BE49-F238E27FC236}">
                <a16:creationId xmlns:a16="http://schemas.microsoft.com/office/drawing/2014/main" id="{01CCD42B-062E-DBFB-138E-F5B6E0DCC6F4}"/>
              </a:ext>
            </a:extLst>
          </p:cNvPr>
          <p:cNvPicPr>
            <a:picLocks noGrp="1" noChangeAspect="1"/>
          </p:cNvPicPr>
          <p:nvPr>
            <p:ph idx="1"/>
          </p:nvPr>
        </p:nvPicPr>
        <p:blipFill>
          <a:blip r:embed="rId2"/>
          <a:stretch>
            <a:fillRect/>
          </a:stretch>
        </p:blipFill>
        <p:spPr>
          <a:xfrm>
            <a:off x="5153822" y="1057311"/>
            <a:ext cx="6553545" cy="4751320"/>
          </a:xfrm>
          <a:prstGeom prst="rect">
            <a:avLst/>
          </a:prstGeom>
        </p:spPr>
      </p:pic>
    </p:spTree>
    <p:extLst>
      <p:ext uri="{BB962C8B-B14F-4D97-AF65-F5344CB8AC3E}">
        <p14:creationId xmlns:p14="http://schemas.microsoft.com/office/powerpoint/2010/main" val="23985409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3AF0351-E839-97FB-DD90-535B678721F1}"/>
              </a:ext>
            </a:extLst>
          </p:cNvPr>
          <p:cNvSpPr>
            <a:spLocks noGrp="1"/>
          </p:cNvSpPr>
          <p:nvPr>
            <p:ph type="title"/>
          </p:nvPr>
        </p:nvSpPr>
        <p:spPr>
          <a:xfrm>
            <a:off x="742950" y="742951"/>
            <a:ext cx="3476625" cy="4962524"/>
          </a:xfrm>
        </p:spPr>
        <p:txBody>
          <a:bodyPr vert="horz" lIns="91440" tIns="45720" rIns="91440" bIns="45720" rtlCol="0" anchor="ctr">
            <a:normAutofit/>
          </a:bodyPr>
          <a:lstStyle/>
          <a:p>
            <a:pPr algn="ctr"/>
            <a:r>
              <a:rPr lang="en-US" sz="2600" kern="1200" dirty="0">
                <a:solidFill>
                  <a:srgbClr val="FFFFFF"/>
                </a:solidFill>
                <a:latin typeface="+mj-lt"/>
                <a:ea typeface="+mj-ea"/>
                <a:cs typeface="+mj-cs"/>
              </a:rPr>
              <a:t>The Hoisting mechanism uses a planetary gearbox with the input connected to the induction motor and the output connected to a worm gear. The worm gear which drives the drum and prevents back lock when motor is not turning.</a:t>
            </a:r>
          </a:p>
        </p:txBody>
      </p:sp>
      <p:pic>
        <p:nvPicPr>
          <p:cNvPr id="4" name="Content Placeholder 3" descr="A close-up of a machine&#10;&#10;AI-generated content may be incorrect.">
            <a:extLst>
              <a:ext uri="{FF2B5EF4-FFF2-40B4-BE49-F238E27FC236}">
                <a16:creationId xmlns:a16="http://schemas.microsoft.com/office/drawing/2014/main" id="{F3DB781A-507D-31C1-E831-1F66337B81F4}"/>
              </a:ext>
            </a:extLst>
          </p:cNvPr>
          <p:cNvPicPr>
            <a:picLocks noGrp="1" noChangeAspect="1"/>
          </p:cNvPicPr>
          <p:nvPr>
            <p:ph idx="1"/>
          </p:nvPr>
        </p:nvPicPr>
        <p:blipFill>
          <a:blip r:embed="rId3"/>
          <a:srcRect t="15051"/>
          <a:stretch>
            <a:fillRect/>
          </a:stretch>
        </p:blipFill>
        <p:spPr>
          <a:xfrm>
            <a:off x="5834568" y="492573"/>
            <a:ext cx="5192052" cy="5880796"/>
          </a:xfrm>
          <a:prstGeom prst="rect">
            <a:avLst/>
          </a:prstGeom>
        </p:spPr>
      </p:pic>
    </p:spTree>
    <p:extLst>
      <p:ext uri="{BB962C8B-B14F-4D97-AF65-F5344CB8AC3E}">
        <p14:creationId xmlns:p14="http://schemas.microsoft.com/office/powerpoint/2010/main" val="41001930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CCA263-D01B-FD9B-77ED-220BBAD504B3}"/>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0EAB29BE-3A62-8737-3865-91A024E27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4BBD1C2-7CCC-C99B-0C52-54FE83BCCDF6}"/>
              </a:ext>
            </a:extLst>
          </p:cNvPr>
          <p:cNvSpPr>
            <a:spLocks noGrp="1"/>
          </p:cNvSpPr>
          <p:nvPr>
            <p:ph type="title"/>
          </p:nvPr>
        </p:nvSpPr>
        <p:spPr>
          <a:xfrm>
            <a:off x="742950" y="742951"/>
            <a:ext cx="3476625" cy="4962524"/>
          </a:xfrm>
        </p:spPr>
        <p:txBody>
          <a:bodyPr vert="horz" lIns="91440" tIns="45720" rIns="91440" bIns="45720" rtlCol="0" anchor="ctr">
            <a:normAutofit/>
          </a:bodyPr>
          <a:lstStyle/>
          <a:p>
            <a:pPr algn="ctr"/>
            <a:r>
              <a:rPr lang="en-US" sz="4800" kern="1200" dirty="0">
                <a:solidFill>
                  <a:srgbClr val="FFFFFF"/>
                </a:solidFill>
                <a:latin typeface="+mj-lt"/>
                <a:ea typeface="+mj-ea"/>
                <a:cs typeface="+mj-cs"/>
              </a:rPr>
              <a:t>Sub-System: </a:t>
            </a:r>
            <a:r>
              <a:rPr lang="en-US" sz="4800" dirty="0">
                <a:solidFill>
                  <a:srgbClr val="FFFFFF"/>
                </a:solidFill>
              </a:rPr>
              <a:t>Drive Electronics</a:t>
            </a:r>
            <a:endParaRPr lang="en-US" sz="4800" kern="1200" dirty="0">
              <a:solidFill>
                <a:srgbClr val="FFFFFF"/>
              </a:solidFill>
              <a:latin typeface="+mj-lt"/>
            </a:endParaRPr>
          </a:p>
        </p:txBody>
      </p:sp>
      <p:pic>
        <p:nvPicPr>
          <p:cNvPr id="6" name="Content Placeholder 5" descr="A diagram of a power supply system&#10;&#10;AI-generated content may be incorrect.">
            <a:extLst>
              <a:ext uri="{FF2B5EF4-FFF2-40B4-BE49-F238E27FC236}">
                <a16:creationId xmlns:a16="http://schemas.microsoft.com/office/drawing/2014/main" id="{21EDA28B-4C94-1AD1-9B81-9A84090490BC}"/>
              </a:ext>
            </a:extLst>
          </p:cNvPr>
          <p:cNvPicPr>
            <a:picLocks noGrp="1" noChangeAspect="1"/>
          </p:cNvPicPr>
          <p:nvPr>
            <p:ph idx="1"/>
          </p:nvPr>
        </p:nvPicPr>
        <p:blipFill>
          <a:blip r:embed="rId3"/>
          <a:stretch>
            <a:fillRect/>
          </a:stretch>
        </p:blipFill>
        <p:spPr>
          <a:xfrm>
            <a:off x="5429751" y="498623"/>
            <a:ext cx="5993102" cy="5704371"/>
          </a:xfrm>
          <a:prstGeom prst="rect">
            <a:avLst/>
          </a:prstGeom>
        </p:spPr>
      </p:pic>
    </p:spTree>
    <p:extLst>
      <p:ext uri="{BB962C8B-B14F-4D97-AF65-F5344CB8AC3E}">
        <p14:creationId xmlns:p14="http://schemas.microsoft.com/office/powerpoint/2010/main" val="11260203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CA18AA-B5A8-E182-D297-278E14808CF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4F6E03-352B-2A42-0B87-54E4F37CA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circuit board with wires and wires&#10;&#10;AI-generated content may be incorrect.">
            <a:extLst>
              <a:ext uri="{FF2B5EF4-FFF2-40B4-BE49-F238E27FC236}">
                <a16:creationId xmlns:a16="http://schemas.microsoft.com/office/drawing/2014/main" id="{B4DE2659-811E-A7CA-AC11-2C949DC21C64}"/>
              </a:ext>
            </a:extLst>
          </p:cNvPr>
          <p:cNvPicPr>
            <a:picLocks noChangeAspect="1"/>
          </p:cNvPicPr>
          <p:nvPr/>
        </p:nvPicPr>
        <p:blipFill>
          <a:blip r:embed="rId2"/>
          <a:srcRect t="18825" b="18825"/>
          <a:stretch>
            <a:fillRect/>
          </a:stretch>
        </p:blipFill>
        <p:spPr>
          <a:xfrm>
            <a:off x="20" y="2"/>
            <a:ext cx="6186992" cy="6857998"/>
          </a:xfrm>
          <a:custGeom>
            <a:avLst/>
            <a:gdLst/>
            <a:ahLst/>
            <a:cxnLst/>
            <a:rect l="l" t="t" r="r" b="b"/>
            <a:pathLst>
              <a:path w="6187012" h="6857998">
                <a:moveTo>
                  <a:pt x="5434855" y="6118149"/>
                </a:moveTo>
                <a:cubicBezTo>
                  <a:pt x="5441404" y="6124102"/>
                  <a:pt x="5449025" y="6129341"/>
                  <a:pt x="5456075" y="6133723"/>
                </a:cubicBezTo>
                <a:cubicBezTo>
                  <a:pt x="5463218" y="6138152"/>
                  <a:pt x="5468564" y="6143474"/>
                  <a:pt x="5472234" y="6149380"/>
                </a:cubicBezTo>
                <a:lnTo>
                  <a:pt x="5477710" y="6166562"/>
                </a:lnTo>
                <a:lnTo>
                  <a:pt x="5472234" y="6149379"/>
                </a:lnTo>
                <a:cubicBezTo>
                  <a:pt x="5468564" y="6143474"/>
                  <a:pt x="5463218" y="6138152"/>
                  <a:pt x="5456075" y="6133722"/>
                </a:cubicBezTo>
                <a:cubicBezTo>
                  <a:pt x="5449025" y="6129341"/>
                  <a:pt x="5441404" y="6124102"/>
                  <a:pt x="5434855" y="6118149"/>
                </a:cubicBezTo>
                <a:close/>
                <a:moveTo>
                  <a:pt x="5343013" y="4941372"/>
                </a:moveTo>
                <a:lnTo>
                  <a:pt x="5346342" y="4950869"/>
                </a:lnTo>
                <a:lnTo>
                  <a:pt x="5356027" y="4991382"/>
                </a:lnTo>
                <a:lnTo>
                  <a:pt x="5346342" y="4950868"/>
                </a:lnTo>
                <a:close/>
                <a:moveTo>
                  <a:pt x="5346951" y="4749807"/>
                </a:moveTo>
                <a:cubicBezTo>
                  <a:pt x="5334815" y="4762826"/>
                  <a:pt x="5333958" y="4781365"/>
                  <a:pt x="5332244" y="4799797"/>
                </a:cubicBezTo>
                <a:cubicBezTo>
                  <a:pt x="5333958" y="4781365"/>
                  <a:pt x="5334815" y="4762827"/>
                  <a:pt x="5346951" y="4749807"/>
                </a:cubicBezTo>
                <a:close/>
                <a:moveTo>
                  <a:pt x="5364750" y="4543185"/>
                </a:moveTo>
                <a:cubicBezTo>
                  <a:pt x="5365727" y="4548281"/>
                  <a:pt x="5367775" y="4553662"/>
                  <a:pt x="5370156" y="4557092"/>
                </a:cubicBezTo>
                <a:cubicBezTo>
                  <a:pt x="5381776" y="4573618"/>
                  <a:pt x="5390563" y="4588275"/>
                  <a:pt x="5396519" y="4602021"/>
                </a:cubicBezTo>
                <a:cubicBezTo>
                  <a:pt x="5390563" y="4588275"/>
                  <a:pt x="5381776" y="4573618"/>
                  <a:pt x="5370156" y="4557091"/>
                </a:cubicBezTo>
                <a:close/>
                <a:moveTo>
                  <a:pt x="5830968" y="2819253"/>
                </a:moveTo>
                <a:lnTo>
                  <a:pt x="5842611" y="2827484"/>
                </a:lnTo>
                <a:lnTo>
                  <a:pt x="5842613" y="2827486"/>
                </a:lnTo>
                <a:lnTo>
                  <a:pt x="5871116" y="2861156"/>
                </a:lnTo>
                <a:lnTo>
                  <a:pt x="5861462" y="2842392"/>
                </a:lnTo>
                <a:lnTo>
                  <a:pt x="5842613" y="2827486"/>
                </a:lnTo>
                <a:lnTo>
                  <a:pt x="5842611" y="2827483"/>
                </a:lnTo>
                <a:close/>
                <a:moveTo>
                  <a:pt x="5761313" y="1974015"/>
                </a:moveTo>
                <a:lnTo>
                  <a:pt x="5754799" y="1999763"/>
                </a:lnTo>
                <a:cubicBezTo>
                  <a:pt x="5750990" y="2008056"/>
                  <a:pt x="5745310" y="2016020"/>
                  <a:pt x="5737071" y="2023547"/>
                </a:cubicBezTo>
                <a:cubicBezTo>
                  <a:pt x="5753550" y="2008497"/>
                  <a:pt x="5759789" y="1991685"/>
                  <a:pt x="5761313" y="1974015"/>
                </a:cubicBezTo>
                <a:close/>
                <a:moveTo>
                  <a:pt x="5744119" y="1768838"/>
                </a:moveTo>
                <a:cubicBezTo>
                  <a:pt x="5739738" y="1774411"/>
                  <a:pt x="5736975" y="1779948"/>
                  <a:pt x="5735518" y="1785412"/>
                </a:cubicBezTo>
                <a:lnTo>
                  <a:pt x="5734738" y="1801558"/>
                </a:lnTo>
                <a:cubicBezTo>
                  <a:pt x="5733070" y="1790986"/>
                  <a:pt x="5735356" y="1779981"/>
                  <a:pt x="5744119" y="1768838"/>
                </a:cubicBezTo>
                <a:close/>
                <a:moveTo>
                  <a:pt x="5853708" y="520953"/>
                </a:moveTo>
                <a:lnTo>
                  <a:pt x="5846981" y="549926"/>
                </a:lnTo>
                <a:lnTo>
                  <a:pt x="5840726" y="566616"/>
                </a:lnTo>
                <a:lnTo>
                  <a:pt x="5834776" y="581804"/>
                </a:lnTo>
                <a:lnTo>
                  <a:pt x="5834358" y="583595"/>
                </a:lnTo>
                <a:lnTo>
                  <a:pt x="5832183" y="589388"/>
                </a:lnTo>
                <a:cubicBezTo>
                  <a:pt x="5829783" y="597005"/>
                  <a:pt x="5828025" y="604728"/>
                  <a:pt x="5827560" y="612658"/>
                </a:cubicBezTo>
                <a:lnTo>
                  <a:pt x="5834358" y="583595"/>
                </a:lnTo>
                <a:lnTo>
                  <a:pt x="5840674" y="566754"/>
                </a:lnTo>
                <a:lnTo>
                  <a:pt x="5840726" y="566616"/>
                </a:lnTo>
                <a:lnTo>
                  <a:pt x="5846564" y="551717"/>
                </a:lnTo>
                <a:lnTo>
                  <a:pt x="5846981" y="549926"/>
                </a:lnTo>
                <a:lnTo>
                  <a:pt x="5849145" y="544146"/>
                </a:lnTo>
                <a:cubicBezTo>
                  <a:pt x="5851532" y="536547"/>
                  <a:pt x="5853271" y="528850"/>
                  <a:pt x="5853708" y="520953"/>
                </a:cubicBezTo>
                <a:close/>
                <a:moveTo>
                  <a:pt x="5802605" y="268794"/>
                </a:moveTo>
                <a:cubicBezTo>
                  <a:pt x="5800080" y="279176"/>
                  <a:pt x="5798377" y="289296"/>
                  <a:pt x="5797729" y="299164"/>
                </a:cubicBezTo>
                <a:cubicBezTo>
                  <a:pt x="5797080" y="309031"/>
                  <a:pt x="5797485" y="318646"/>
                  <a:pt x="5799176" y="328017"/>
                </a:cubicBezTo>
                <a:close/>
                <a:moveTo>
                  <a:pt x="0" y="0"/>
                </a:moveTo>
                <a:lnTo>
                  <a:pt x="6120021" y="0"/>
                </a:lnTo>
                <a:lnTo>
                  <a:pt x="6115806" y="24480"/>
                </a:lnTo>
                <a:cubicBezTo>
                  <a:pt x="6113321" y="32636"/>
                  <a:pt x="6109559" y="40471"/>
                  <a:pt x="6103795" y="47806"/>
                </a:cubicBezTo>
                <a:cubicBezTo>
                  <a:pt x="6088935" y="66857"/>
                  <a:pt x="6092364" y="85336"/>
                  <a:pt x="6094651" y="105718"/>
                </a:cubicBezTo>
                <a:cubicBezTo>
                  <a:pt x="6096365" y="121150"/>
                  <a:pt x="6095794" y="136963"/>
                  <a:pt x="6095986" y="152584"/>
                </a:cubicBezTo>
                <a:cubicBezTo>
                  <a:pt x="6096555" y="180017"/>
                  <a:pt x="6096746" y="207450"/>
                  <a:pt x="6097699" y="234883"/>
                </a:cubicBezTo>
                <a:cubicBezTo>
                  <a:pt x="6098079" y="243648"/>
                  <a:pt x="6102844" y="252600"/>
                  <a:pt x="6102082" y="261173"/>
                </a:cubicBezTo>
                <a:cubicBezTo>
                  <a:pt x="6098461" y="300800"/>
                  <a:pt x="6092746" y="340425"/>
                  <a:pt x="6089507" y="380050"/>
                </a:cubicBezTo>
                <a:cubicBezTo>
                  <a:pt x="6087603" y="402529"/>
                  <a:pt x="6091220" y="425581"/>
                  <a:pt x="6088555" y="447870"/>
                </a:cubicBezTo>
                <a:cubicBezTo>
                  <a:pt x="6085507" y="473587"/>
                  <a:pt x="6077697" y="498733"/>
                  <a:pt x="6072932" y="524262"/>
                </a:cubicBezTo>
                <a:cubicBezTo>
                  <a:pt x="6071600" y="531310"/>
                  <a:pt x="6073315" y="539121"/>
                  <a:pt x="6073694" y="546552"/>
                </a:cubicBezTo>
                <a:cubicBezTo>
                  <a:pt x="6074076" y="554933"/>
                  <a:pt x="6074838" y="563125"/>
                  <a:pt x="6075029" y="571508"/>
                </a:cubicBezTo>
                <a:cubicBezTo>
                  <a:pt x="6075411" y="597037"/>
                  <a:pt x="6074838" y="622564"/>
                  <a:pt x="6076173" y="648092"/>
                </a:cubicBezTo>
                <a:cubicBezTo>
                  <a:pt x="6076934" y="663713"/>
                  <a:pt x="6084744" y="680096"/>
                  <a:pt x="6081886" y="694576"/>
                </a:cubicBezTo>
                <a:cubicBezTo>
                  <a:pt x="6076363" y="724104"/>
                  <a:pt x="6088745" y="753633"/>
                  <a:pt x="6078459" y="783158"/>
                </a:cubicBezTo>
                <a:cubicBezTo>
                  <a:pt x="6075411" y="792306"/>
                  <a:pt x="6083031" y="804877"/>
                  <a:pt x="6083411" y="815929"/>
                </a:cubicBezTo>
                <a:cubicBezTo>
                  <a:pt x="6084363" y="843552"/>
                  <a:pt x="6084173" y="871173"/>
                  <a:pt x="6083983" y="898797"/>
                </a:cubicBezTo>
                <a:cubicBezTo>
                  <a:pt x="6083793" y="923562"/>
                  <a:pt x="6086459" y="949281"/>
                  <a:pt x="6081125" y="973095"/>
                </a:cubicBezTo>
                <a:cubicBezTo>
                  <a:pt x="6075411" y="998052"/>
                  <a:pt x="6076173" y="1020529"/>
                  <a:pt x="6082649" y="1044725"/>
                </a:cubicBezTo>
                <a:cubicBezTo>
                  <a:pt x="6087031" y="1061298"/>
                  <a:pt x="6087603" y="1078826"/>
                  <a:pt x="6088935" y="1095972"/>
                </a:cubicBezTo>
                <a:cubicBezTo>
                  <a:pt x="6090459" y="1114449"/>
                  <a:pt x="6086459" y="1134834"/>
                  <a:pt x="6092746" y="1151600"/>
                </a:cubicBezTo>
                <a:cubicBezTo>
                  <a:pt x="6111415" y="1201512"/>
                  <a:pt x="6115415" y="1252757"/>
                  <a:pt x="6115415" y="1304955"/>
                </a:cubicBezTo>
                <a:cubicBezTo>
                  <a:pt x="6115415" y="1314483"/>
                  <a:pt x="6112750" y="1324198"/>
                  <a:pt x="6109892" y="1333341"/>
                </a:cubicBezTo>
                <a:cubicBezTo>
                  <a:pt x="6092746" y="1386684"/>
                  <a:pt x="6094269" y="1440216"/>
                  <a:pt x="6104748" y="1494509"/>
                </a:cubicBezTo>
                <a:cubicBezTo>
                  <a:pt x="6107034" y="1505751"/>
                  <a:pt x="6107415" y="1518324"/>
                  <a:pt x="6105130" y="1529563"/>
                </a:cubicBezTo>
                <a:cubicBezTo>
                  <a:pt x="6098461" y="1561189"/>
                  <a:pt x="6087411" y="1591859"/>
                  <a:pt x="6082649" y="1623675"/>
                </a:cubicBezTo>
                <a:cubicBezTo>
                  <a:pt x="6074838" y="1676253"/>
                  <a:pt x="6101126" y="1721785"/>
                  <a:pt x="6118274" y="1768838"/>
                </a:cubicBezTo>
                <a:cubicBezTo>
                  <a:pt x="6134467" y="1813610"/>
                  <a:pt x="6171044" y="1851709"/>
                  <a:pt x="6162851" y="1904673"/>
                </a:cubicBezTo>
                <a:cubicBezTo>
                  <a:pt x="6162090" y="1910004"/>
                  <a:pt x="6167233" y="1915912"/>
                  <a:pt x="6168567" y="1921817"/>
                </a:cubicBezTo>
                <a:cubicBezTo>
                  <a:pt x="6172188" y="1938009"/>
                  <a:pt x="6176566" y="1954202"/>
                  <a:pt x="6178283" y="1970586"/>
                </a:cubicBezTo>
                <a:cubicBezTo>
                  <a:pt x="6180570" y="1990589"/>
                  <a:pt x="6179809" y="2010974"/>
                  <a:pt x="6181713" y="2030977"/>
                </a:cubicBezTo>
                <a:cubicBezTo>
                  <a:pt x="6182856" y="2043835"/>
                  <a:pt x="6184951" y="2056600"/>
                  <a:pt x="6186761" y="2069340"/>
                </a:cubicBezTo>
                <a:lnTo>
                  <a:pt x="6187012" y="2072225"/>
                </a:lnTo>
                <a:lnTo>
                  <a:pt x="6187012" y="2131532"/>
                </a:lnTo>
                <a:lnTo>
                  <a:pt x="6186141" y="2138304"/>
                </a:lnTo>
                <a:cubicBezTo>
                  <a:pt x="6183950" y="2148519"/>
                  <a:pt x="6181332" y="2158712"/>
                  <a:pt x="6179617" y="2168903"/>
                </a:cubicBezTo>
                <a:cubicBezTo>
                  <a:pt x="6174854" y="2197670"/>
                  <a:pt x="6176188" y="2229296"/>
                  <a:pt x="6163995" y="2254633"/>
                </a:cubicBezTo>
                <a:cubicBezTo>
                  <a:pt x="6151041" y="2281683"/>
                  <a:pt x="6145135" y="2307402"/>
                  <a:pt x="6149135" y="2335405"/>
                </a:cubicBezTo>
                <a:cubicBezTo>
                  <a:pt x="6150469" y="2344741"/>
                  <a:pt x="6158471" y="2356744"/>
                  <a:pt x="6166661" y="2360933"/>
                </a:cubicBezTo>
                <a:cubicBezTo>
                  <a:pt x="6184950" y="2370270"/>
                  <a:pt x="6188190" y="2383032"/>
                  <a:pt x="6181902" y="2400369"/>
                </a:cubicBezTo>
                <a:cubicBezTo>
                  <a:pt x="6176566" y="2415420"/>
                  <a:pt x="6173901" y="2433897"/>
                  <a:pt x="6163613" y="2444184"/>
                </a:cubicBezTo>
                <a:cubicBezTo>
                  <a:pt x="6134467" y="2473333"/>
                  <a:pt x="6133515" y="2510483"/>
                  <a:pt x="6125705" y="2546678"/>
                </a:cubicBezTo>
                <a:cubicBezTo>
                  <a:pt x="6120940" y="2568774"/>
                  <a:pt x="6120750" y="2589352"/>
                  <a:pt x="6123988" y="2611450"/>
                </a:cubicBezTo>
                <a:cubicBezTo>
                  <a:pt x="6131227" y="2659455"/>
                  <a:pt x="6120940" y="2706131"/>
                  <a:pt x="6107796" y="2752235"/>
                </a:cubicBezTo>
                <a:cubicBezTo>
                  <a:pt x="6099034" y="2782716"/>
                  <a:pt x="6093699" y="2813958"/>
                  <a:pt x="6084744" y="2844248"/>
                </a:cubicBezTo>
                <a:cubicBezTo>
                  <a:pt x="6077886" y="2866918"/>
                  <a:pt x="6069694" y="2889587"/>
                  <a:pt x="6058646" y="2910353"/>
                </a:cubicBezTo>
                <a:cubicBezTo>
                  <a:pt x="6042452" y="2940455"/>
                  <a:pt x="6018067" y="2966742"/>
                  <a:pt x="6024544" y="3005035"/>
                </a:cubicBezTo>
                <a:cubicBezTo>
                  <a:pt x="6030260" y="3038756"/>
                  <a:pt x="6018259" y="3069235"/>
                  <a:pt x="6006828" y="3100099"/>
                </a:cubicBezTo>
                <a:cubicBezTo>
                  <a:pt x="5998446" y="3122770"/>
                  <a:pt x="5989871" y="3145436"/>
                  <a:pt x="5984537" y="3168870"/>
                </a:cubicBezTo>
                <a:cubicBezTo>
                  <a:pt x="5978251" y="3196686"/>
                  <a:pt x="5980920" y="3228119"/>
                  <a:pt x="5969297" y="3252885"/>
                </a:cubicBezTo>
                <a:cubicBezTo>
                  <a:pt x="5957105" y="3278795"/>
                  <a:pt x="5965297" y="3300319"/>
                  <a:pt x="5968726" y="3323372"/>
                </a:cubicBezTo>
                <a:cubicBezTo>
                  <a:pt x="5974061" y="3360139"/>
                  <a:pt x="5983967" y="3396719"/>
                  <a:pt x="5971395" y="3433866"/>
                </a:cubicBezTo>
                <a:cubicBezTo>
                  <a:pt x="5956153" y="3479015"/>
                  <a:pt x="5939769" y="3523785"/>
                  <a:pt x="5925292" y="3569124"/>
                </a:cubicBezTo>
                <a:cubicBezTo>
                  <a:pt x="5919765" y="3586653"/>
                  <a:pt x="5917479" y="3605509"/>
                  <a:pt x="5915003" y="3623799"/>
                </a:cubicBezTo>
                <a:cubicBezTo>
                  <a:pt x="5912906" y="3641134"/>
                  <a:pt x="5918242" y="3661899"/>
                  <a:pt x="5910241" y="3675238"/>
                </a:cubicBezTo>
                <a:cubicBezTo>
                  <a:pt x="5889667" y="3709529"/>
                  <a:pt x="5879569" y="3744770"/>
                  <a:pt x="5879569" y="3784397"/>
                </a:cubicBezTo>
                <a:cubicBezTo>
                  <a:pt x="5879569" y="3799258"/>
                  <a:pt x="5870996" y="3813737"/>
                  <a:pt x="5869471" y="3828785"/>
                </a:cubicBezTo>
                <a:cubicBezTo>
                  <a:pt x="5867567" y="3849362"/>
                  <a:pt x="5862423" y="3872985"/>
                  <a:pt x="5869664" y="3890891"/>
                </a:cubicBezTo>
                <a:cubicBezTo>
                  <a:pt x="5886809" y="3932993"/>
                  <a:pt x="5872519" y="3967091"/>
                  <a:pt x="5855566" y="4003861"/>
                </a:cubicBezTo>
                <a:cubicBezTo>
                  <a:pt x="5838801" y="4040058"/>
                  <a:pt x="5825466" y="4078159"/>
                  <a:pt x="5814416" y="4116641"/>
                </a:cubicBezTo>
                <a:cubicBezTo>
                  <a:pt x="5810415" y="4131119"/>
                  <a:pt x="5817085" y="4148453"/>
                  <a:pt x="5818417" y="4164458"/>
                </a:cubicBezTo>
                <a:cubicBezTo>
                  <a:pt x="5818798" y="4170174"/>
                  <a:pt x="5819370" y="4176461"/>
                  <a:pt x="5817466" y="4181603"/>
                </a:cubicBezTo>
                <a:cubicBezTo>
                  <a:pt x="5799176" y="4231324"/>
                  <a:pt x="5785269" y="4281810"/>
                  <a:pt x="5794794" y="4335722"/>
                </a:cubicBezTo>
                <a:cubicBezTo>
                  <a:pt x="5795747" y="4340674"/>
                  <a:pt x="5793650" y="4346201"/>
                  <a:pt x="5792317" y="4351154"/>
                </a:cubicBezTo>
                <a:cubicBezTo>
                  <a:pt x="5785461" y="4375349"/>
                  <a:pt x="5774601" y="4398972"/>
                  <a:pt x="5772124" y="4423545"/>
                </a:cubicBezTo>
                <a:cubicBezTo>
                  <a:pt x="5766028" y="4484127"/>
                  <a:pt x="5763550" y="4545086"/>
                  <a:pt x="5759550" y="4606053"/>
                </a:cubicBezTo>
                <a:cubicBezTo>
                  <a:pt x="5759361" y="4609863"/>
                  <a:pt x="5759361" y="4613864"/>
                  <a:pt x="5758027" y="4617291"/>
                </a:cubicBezTo>
                <a:cubicBezTo>
                  <a:pt x="5749834" y="4639772"/>
                  <a:pt x="5752502" y="4659393"/>
                  <a:pt x="5768123" y="4678445"/>
                </a:cubicBezTo>
                <a:cubicBezTo>
                  <a:pt x="5774982" y="4686828"/>
                  <a:pt x="5778601" y="4698258"/>
                  <a:pt x="5782412" y="4708734"/>
                </a:cubicBezTo>
                <a:cubicBezTo>
                  <a:pt x="5788127" y="4724167"/>
                  <a:pt x="5793650" y="4739978"/>
                  <a:pt x="5797271" y="4755980"/>
                </a:cubicBezTo>
                <a:cubicBezTo>
                  <a:pt x="5800700" y="4771793"/>
                  <a:pt x="5805462" y="4788747"/>
                  <a:pt x="5802796" y="4803988"/>
                </a:cubicBezTo>
                <a:cubicBezTo>
                  <a:pt x="5798035" y="4831420"/>
                  <a:pt x="5787366" y="4857522"/>
                  <a:pt x="5780315" y="4884572"/>
                </a:cubicBezTo>
                <a:cubicBezTo>
                  <a:pt x="5777837" y="4893907"/>
                  <a:pt x="5778221" y="4904195"/>
                  <a:pt x="5778030" y="4913909"/>
                </a:cubicBezTo>
                <a:cubicBezTo>
                  <a:pt x="5777459" y="4936201"/>
                  <a:pt x="5782984" y="4959061"/>
                  <a:pt x="5767171" y="4979253"/>
                </a:cubicBezTo>
                <a:cubicBezTo>
                  <a:pt x="5752311" y="4997922"/>
                  <a:pt x="5756692" y="5016785"/>
                  <a:pt x="5767932" y="5036405"/>
                </a:cubicBezTo>
                <a:cubicBezTo>
                  <a:pt x="5775934" y="5050504"/>
                  <a:pt x="5782221" y="5066505"/>
                  <a:pt x="5785269" y="5082317"/>
                </a:cubicBezTo>
                <a:cubicBezTo>
                  <a:pt x="5789460" y="5104036"/>
                  <a:pt x="5791175" y="5125562"/>
                  <a:pt x="5788697" y="5148995"/>
                </a:cubicBezTo>
                <a:cubicBezTo>
                  <a:pt x="5786983" y="5165570"/>
                  <a:pt x="5786221" y="5179097"/>
                  <a:pt x="5776125" y="5192051"/>
                </a:cubicBezTo>
                <a:cubicBezTo>
                  <a:pt x="5774601" y="5194145"/>
                  <a:pt x="5774219" y="5197955"/>
                  <a:pt x="5774412" y="5200813"/>
                </a:cubicBezTo>
                <a:cubicBezTo>
                  <a:pt x="5777649" y="5238343"/>
                  <a:pt x="5775934" y="5275491"/>
                  <a:pt x="5773646" y="5313403"/>
                </a:cubicBezTo>
                <a:cubicBezTo>
                  <a:pt x="5770601" y="5361598"/>
                  <a:pt x="5779553" y="5412276"/>
                  <a:pt x="5811559" y="5453995"/>
                </a:cubicBezTo>
                <a:cubicBezTo>
                  <a:pt x="5816322" y="5460092"/>
                  <a:pt x="5818417" y="5469236"/>
                  <a:pt x="5819562" y="5477239"/>
                </a:cubicBezTo>
                <a:cubicBezTo>
                  <a:pt x="5824514" y="5514957"/>
                  <a:pt x="5827942" y="5552869"/>
                  <a:pt x="5833467" y="5590590"/>
                </a:cubicBezTo>
                <a:cubicBezTo>
                  <a:pt x="5836516" y="5611164"/>
                  <a:pt x="5839182" y="5632691"/>
                  <a:pt x="5847565" y="5651360"/>
                </a:cubicBezTo>
                <a:cubicBezTo>
                  <a:pt x="5855756" y="5669647"/>
                  <a:pt x="5865471" y="5684320"/>
                  <a:pt x="5848327" y="5695178"/>
                </a:cubicBezTo>
                <a:cubicBezTo>
                  <a:pt x="5857471" y="5714607"/>
                  <a:pt x="5865092" y="5731564"/>
                  <a:pt x="5873282" y="5748136"/>
                </a:cubicBezTo>
                <a:cubicBezTo>
                  <a:pt x="5876329" y="5754234"/>
                  <a:pt x="5881284" y="5759378"/>
                  <a:pt x="5884142" y="5765474"/>
                </a:cubicBezTo>
                <a:cubicBezTo>
                  <a:pt x="5887190" y="5771953"/>
                  <a:pt x="5889094" y="5779191"/>
                  <a:pt x="5890620" y="5786239"/>
                </a:cubicBezTo>
                <a:cubicBezTo>
                  <a:pt x="5897477" y="5817674"/>
                  <a:pt x="5903763" y="5849107"/>
                  <a:pt x="5911194" y="5880348"/>
                </a:cubicBezTo>
                <a:cubicBezTo>
                  <a:pt x="5912717" y="5886447"/>
                  <a:pt x="5918813" y="5891590"/>
                  <a:pt x="5922813" y="5897114"/>
                </a:cubicBezTo>
                <a:cubicBezTo>
                  <a:pt x="5925481" y="5900735"/>
                  <a:pt x="5929482" y="5904353"/>
                  <a:pt x="5930054" y="5908355"/>
                </a:cubicBezTo>
                <a:cubicBezTo>
                  <a:pt x="5934626" y="5938836"/>
                  <a:pt x="5939961" y="5969124"/>
                  <a:pt x="5942246" y="5999796"/>
                </a:cubicBezTo>
                <a:cubicBezTo>
                  <a:pt x="5944149" y="6025515"/>
                  <a:pt x="5943580" y="6050282"/>
                  <a:pt x="5976728" y="6056948"/>
                </a:cubicBezTo>
                <a:cubicBezTo>
                  <a:pt x="5982443" y="6058092"/>
                  <a:pt x="5988540" y="6066284"/>
                  <a:pt x="5991396" y="6072569"/>
                </a:cubicBezTo>
                <a:cubicBezTo>
                  <a:pt x="5999589" y="6090477"/>
                  <a:pt x="6005113" y="6109530"/>
                  <a:pt x="6013494" y="6127247"/>
                </a:cubicBezTo>
                <a:cubicBezTo>
                  <a:pt x="6041500" y="6185351"/>
                  <a:pt x="6059217" y="6246121"/>
                  <a:pt x="6055978" y="6311084"/>
                </a:cubicBezTo>
                <a:cubicBezTo>
                  <a:pt x="6055026" y="6331277"/>
                  <a:pt x="6044737" y="6350899"/>
                  <a:pt x="6040926" y="6363664"/>
                </a:cubicBezTo>
                <a:cubicBezTo>
                  <a:pt x="6055978" y="6400429"/>
                  <a:pt x="6070456" y="6431292"/>
                  <a:pt x="6081315" y="6463490"/>
                </a:cubicBezTo>
                <a:cubicBezTo>
                  <a:pt x="6091031" y="6491874"/>
                  <a:pt x="6097127" y="6521593"/>
                  <a:pt x="6104175" y="6550742"/>
                </a:cubicBezTo>
                <a:cubicBezTo>
                  <a:pt x="6106844" y="6561411"/>
                  <a:pt x="6108367" y="6572269"/>
                  <a:pt x="6109702" y="6583128"/>
                </a:cubicBezTo>
                <a:cubicBezTo>
                  <a:pt x="6113892" y="6617036"/>
                  <a:pt x="6103795" y="6652472"/>
                  <a:pt x="6119798" y="6685617"/>
                </a:cubicBezTo>
                <a:cubicBezTo>
                  <a:pt x="6128180" y="6702955"/>
                  <a:pt x="6138276" y="6720103"/>
                  <a:pt x="6142658" y="6738388"/>
                </a:cubicBezTo>
                <a:cubicBezTo>
                  <a:pt x="6147421" y="6758011"/>
                  <a:pt x="6154851" y="6777207"/>
                  <a:pt x="6160162" y="6796804"/>
                </a:cubicBezTo>
                <a:lnTo>
                  <a:pt x="6164933" y="6857457"/>
                </a:lnTo>
                <a:lnTo>
                  <a:pt x="6037694" y="6857457"/>
                </a:lnTo>
                <a:lnTo>
                  <a:pt x="6037694" y="6857998"/>
                </a:lnTo>
                <a:lnTo>
                  <a:pt x="0" y="6857998"/>
                </a:lnTo>
                <a:close/>
              </a:path>
            </a:pathLst>
          </a:custGeom>
          <a:effectLst>
            <a:outerShdw blurRad="381000" dist="152400" algn="tl" rotWithShape="0">
              <a:prstClr val="black">
                <a:alpha val="10000"/>
              </a:prstClr>
            </a:outerShdw>
          </a:effectLst>
        </p:spPr>
      </p:pic>
      <p:grpSp>
        <p:nvGrpSpPr>
          <p:cNvPr id="10" name="Group 9">
            <a:extLst>
              <a:ext uri="{FF2B5EF4-FFF2-40B4-BE49-F238E27FC236}">
                <a16:creationId xmlns:a16="http://schemas.microsoft.com/office/drawing/2014/main" id="{FB19ED76-5736-C687-9973-7AFEF92533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95368" y="0"/>
            <a:ext cx="874718" cy="6857455"/>
            <a:chOff x="5395368" y="0"/>
            <a:chExt cx="874718" cy="6857455"/>
          </a:xfrm>
        </p:grpSpPr>
        <p:sp>
          <p:nvSpPr>
            <p:cNvPr id="11" name="Freeform: Shape 10">
              <a:extLst>
                <a:ext uri="{FF2B5EF4-FFF2-40B4-BE49-F238E27FC236}">
                  <a16:creationId xmlns:a16="http://schemas.microsoft.com/office/drawing/2014/main" id="{3327BD15-33AA-F792-3BD7-4FFA46E8E9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2404000"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8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B118CFCE-0EAD-5B00-1F78-88581277EF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2403998"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7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extBox 1">
            <a:extLst>
              <a:ext uri="{FF2B5EF4-FFF2-40B4-BE49-F238E27FC236}">
                <a16:creationId xmlns:a16="http://schemas.microsoft.com/office/drawing/2014/main" id="{A33B302C-C483-F941-7F43-4FA76CA6366F}"/>
              </a:ext>
            </a:extLst>
          </p:cNvPr>
          <p:cNvSpPr txBox="1"/>
          <p:nvPr/>
        </p:nvSpPr>
        <p:spPr>
          <a:xfrm>
            <a:off x="6981825" y="1892595"/>
            <a:ext cx="4683605" cy="3935805"/>
          </a:xfrm>
          <a:prstGeom prst="rect">
            <a:avLst/>
          </a:prstGeom>
        </p:spPr>
        <p:txBody>
          <a:bodyPr vert="horz" lIns="91440" tIns="45720" rIns="91440" bIns="45720" rtlCol="0" anchor="t">
            <a:normAutofit/>
          </a:bodyPr>
          <a:lstStyle/>
          <a:p>
            <a:pPr>
              <a:lnSpc>
                <a:spcPct val="90000"/>
              </a:lnSpc>
              <a:spcAft>
                <a:spcPts val="600"/>
              </a:spcAft>
            </a:pPr>
            <a:r>
              <a:rPr lang="en-US" sz="2000" dirty="0">
                <a:solidFill>
                  <a:schemeClr val="bg1">
                    <a:alpha val="80000"/>
                  </a:schemeClr>
                </a:solidFill>
                <a:ea typeface="+mn-lt"/>
                <a:cs typeface="+mn-lt"/>
              </a:rPr>
              <a:t>The drive-electronics subsystem uses a three-phase MOSFET inverter powered from a 320 V DC bus, with each phase driven through IR2104 high- and low-side gate-driver stages. All control signals from the main controller pass through an optocoupler isolation circuit, and sinusoidal PWM is used to regulate motor speed and direction with precise phase control.</a:t>
            </a:r>
            <a:endParaRPr lang="en-US" dirty="0">
              <a:solidFill>
                <a:schemeClr val="bg1">
                  <a:alpha val="80000"/>
                </a:schemeClr>
              </a:solidFill>
            </a:endParaRPr>
          </a:p>
          <a:p>
            <a:pPr>
              <a:lnSpc>
                <a:spcPct val="90000"/>
              </a:lnSpc>
              <a:spcAft>
                <a:spcPts val="600"/>
              </a:spcAft>
            </a:pPr>
            <a:br>
              <a:rPr lang="en-US" sz="2000" dirty="0"/>
            </a:br>
            <a:endParaRPr lang="en-US" sz="2000" dirty="0">
              <a:solidFill>
                <a:schemeClr val="bg1">
                  <a:alpha val="80000"/>
                </a:schemeClr>
              </a:solidFill>
            </a:endParaRPr>
          </a:p>
        </p:txBody>
      </p:sp>
    </p:spTree>
    <p:extLst>
      <p:ext uri="{BB962C8B-B14F-4D97-AF65-F5344CB8AC3E}">
        <p14:creationId xmlns:p14="http://schemas.microsoft.com/office/powerpoint/2010/main" val="23513993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system&#10;&#10;AI-generated content may be incorrect.">
            <a:extLst>
              <a:ext uri="{FF2B5EF4-FFF2-40B4-BE49-F238E27FC236}">
                <a16:creationId xmlns:a16="http://schemas.microsoft.com/office/drawing/2014/main" id="{1D6C2473-81FF-8C82-37E4-54832687D7CF}"/>
              </a:ext>
            </a:extLst>
          </p:cNvPr>
          <p:cNvPicPr>
            <a:picLocks noGrp="1" noChangeAspect="1"/>
          </p:cNvPicPr>
          <p:nvPr>
            <p:ph idx="1"/>
          </p:nvPr>
        </p:nvPicPr>
        <p:blipFill>
          <a:blip r:embed="rId2"/>
          <a:stretch>
            <a:fillRect/>
          </a:stretch>
        </p:blipFill>
        <p:spPr>
          <a:xfrm>
            <a:off x="589322" y="332940"/>
            <a:ext cx="11013355" cy="6198926"/>
          </a:xfrm>
          <a:prstGeom prst="rect">
            <a:avLst/>
          </a:prstGeom>
        </p:spPr>
      </p:pic>
      <p:pic>
        <p:nvPicPr>
          <p:cNvPr id="3" name="Picture 2">
            <a:extLst>
              <a:ext uri="{FF2B5EF4-FFF2-40B4-BE49-F238E27FC236}">
                <a16:creationId xmlns:a16="http://schemas.microsoft.com/office/drawing/2014/main" id="{3B523C2E-F255-CE22-FCB4-C7BFA2EBA8FD}"/>
              </a:ext>
            </a:extLst>
          </p:cNvPr>
          <p:cNvPicPr>
            <a:picLocks noChangeAspect="1"/>
          </p:cNvPicPr>
          <p:nvPr/>
        </p:nvPicPr>
        <p:blipFill>
          <a:blip r:embed="rId3"/>
          <a:srcRect t="12532" r="6525" b="10246"/>
          <a:stretch>
            <a:fillRect/>
          </a:stretch>
        </p:blipFill>
        <p:spPr>
          <a:xfrm>
            <a:off x="5184742" y="332940"/>
            <a:ext cx="6265136" cy="5958530"/>
          </a:xfrm>
          <a:prstGeom prst="rect">
            <a:avLst/>
          </a:prstGeom>
        </p:spPr>
      </p:pic>
    </p:spTree>
    <p:extLst>
      <p:ext uri="{BB962C8B-B14F-4D97-AF65-F5344CB8AC3E}">
        <p14:creationId xmlns:p14="http://schemas.microsoft.com/office/powerpoint/2010/main" val="24333907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black rectangular device with red and green buttons&#10;&#10;AI-generated content may be incorrect.">
            <a:extLst>
              <a:ext uri="{FF2B5EF4-FFF2-40B4-BE49-F238E27FC236}">
                <a16:creationId xmlns:a16="http://schemas.microsoft.com/office/drawing/2014/main" id="{EFA48AD6-5F78-EEAC-3837-6C5F28967595}"/>
              </a:ext>
            </a:extLst>
          </p:cNvPr>
          <p:cNvPicPr>
            <a:picLocks noGrp="1" noChangeAspect="1"/>
          </p:cNvPicPr>
          <p:nvPr>
            <p:ph idx="1"/>
          </p:nvPr>
        </p:nvPicPr>
        <p:blipFill>
          <a:blip r:embed="rId2"/>
          <a:stretch>
            <a:fillRect/>
          </a:stretch>
        </p:blipFill>
        <p:spPr>
          <a:xfrm>
            <a:off x="4774" y="-1087"/>
            <a:ext cx="12297271" cy="6856542"/>
          </a:xfrm>
          <a:prstGeom prst="rect">
            <a:avLst/>
          </a:prstGeom>
        </p:spPr>
      </p:pic>
    </p:spTree>
    <p:extLst>
      <p:ext uri="{BB962C8B-B14F-4D97-AF65-F5344CB8AC3E}">
        <p14:creationId xmlns:p14="http://schemas.microsoft.com/office/powerpoint/2010/main" val="12494064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6426C0-A754-AA0F-FEA5-6C553FC16578}"/>
              </a:ext>
            </a:extLst>
          </p:cNvPr>
          <p:cNvSpPr/>
          <p:nvPr/>
        </p:nvSpPr>
        <p:spPr>
          <a:xfrm>
            <a:off x="84666" y="158750"/>
            <a:ext cx="12022666" cy="1270000"/>
          </a:xfrm>
          <a:prstGeom prst="rect">
            <a:avLst/>
          </a:prstGeom>
          <a:solidFill>
            <a:schemeClr val="tx1">
              <a:lumMod val="75000"/>
              <a:lumOff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a:extLst>
              <a:ext uri="{FF2B5EF4-FFF2-40B4-BE49-F238E27FC236}">
                <a16:creationId xmlns:a16="http://schemas.microsoft.com/office/drawing/2014/main" id="{52CABC47-CA5B-EC22-A802-BA7650B54E20}"/>
              </a:ext>
            </a:extLst>
          </p:cNvPr>
          <p:cNvSpPr>
            <a:spLocks noGrp="1"/>
          </p:cNvSpPr>
          <p:nvPr>
            <p:ph type="title"/>
          </p:nvPr>
        </p:nvSpPr>
        <p:spPr>
          <a:xfrm>
            <a:off x="806450" y="404284"/>
            <a:ext cx="10567458" cy="835024"/>
          </a:xfrm>
        </p:spPr>
        <p:txBody>
          <a:bodyPr vert="horz" lIns="91440" tIns="45720" rIns="91440" bIns="45720" rtlCol="0" anchor="ctr">
            <a:normAutofit/>
          </a:bodyPr>
          <a:lstStyle/>
          <a:p>
            <a:pPr algn="ctr"/>
            <a:r>
              <a:rPr lang="en-US" sz="4800" kern="1200" dirty="0">
                <a:solidFill>
                  <a:srgbClr val="FFFFFF"/>
                </a:solidFill>
                <a:latin typeface="+mj-lt"/>
                <a:ea typeface="+mj-ea"/>
                <a:cs typeface="+mj-cs"/>
              </a:rPr>
              <a:t>Sub-System: </a:t>
            </a:r>
            <a:r>
              <a:rPr lang="en-US" sz="4800" dirty="0">
                <a:solidFill>
                  <a:srgbClr val="FFFFFF"/>
                </a:solidFill>
              </a:rPr>
              <a:t>Embedded Controller</a:t>
            </a:r>
            <a:endParaRPr lang="en-US" sz="4800" kern="1200" dirty="0">
              <a:solidFill>
                <a:srgbClr val="FFFFFF"/>
              </a:solidFill>
              <a:latin typeface="+mj-lt"/>
            </a:endParaRPr>
          </a:p>
        </p:txBody>
      </p:sp>
      <p:pic>
        <p:nvPicPr>
          <p:cNvPr id="8" name="Picture 7">
            <a:extLst>
              <a:ext uri="{FF2B5EF4-FFF2-40B4-BE49-F238E27FC236}">
                <a16:creationId xmlns:a16="http://schemas.microsoft.com/office/drawing/2014/main" id="{06B79DCF-A806-52EC-8292-B7A695FE748B}"/>
              </a:ext>
            </a:extLst>
          </p:cNvPr>
          <p:cNvPicPr>
            <a:picLocks noChangeAspect="1"/>
          </p:cNvPicPr>
          <p:nvPr/>
        </p:nvPicPr>
        <p:blipFill>
          <a:blip r:embed="rId2"/>
          <a:stretch>
            <a:fillRect/>
          </a:stretch>
        </p:blipFill>
        <p:spPr>
          <a:xfrm>
            <a:off x="-5821" y="1689101"/>
            <a:ext cx="12192000" cy="4764615"/>
          </a:xfrm>
          <a:prstGeom prst="rect">
            <a:avLst/>
          </a:prstGeom>
        </p:spPr>
      </p:pic>
    </p:spTree>
    <p:extLst>
      <p:ext uri="{BB962C8B-B14F-4D97-AF65-F5344CB8AC3E}">
        <p14:creationId xmlns:p14="http://schemas.microsoft.com/office/powerpoint/2010/main" val="22976518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descr="A circuit board with wires&#10;&#10;AI-generated content may be incorrect.">
            <a:extLst>
              <a:ext uri="{FF2B5EF4-FFF2-40B4-BE49-F238E27FC236}">
                <a16:creationId xmlns:a16="http://schemas.microsoft.com/office/drawing/2014/main" id="{25401A17-5F23-D8BA-D2C1-585A22AC8E23}"/>
              </a:ext>
            </a:extLst>
          </p:cNvPr>
          <p:cNvPicPr>
            <a:picLocks noChangeAspect="1"/>
          </p:cNvPicPr>
          <p:nvPr/>
        </p:nvPicPr>
        <p:blipFill>
          <a:blip r:embed="rId2"/>
          <a:stretch>
            <a:fillRect/>
          </a:stretch>
        </p:blipFill>
        <p:spPr>
          <a:xfrm>
            <a:off x="-107235" y="593425"/>
            <a:ext cx="6714067" cy="5430308"/>
          </a:xfrm>
          <a:prstGeom prst="rect">
            <a:avLst/>
          </a:prstGeom>
          <a:ln>
            <a:noFill/>
          </a:ln>
          <a:effectLst>
            <a:softEdge rad="112500"/>
          </a:effectLst>
        </p:spPr>
      </p:pic>
      <p:sp>
        <p:nvSpPr>
          <p:cNvPr id="3" name="TextBox 2">
            <a:extLst>
              <a:ext uri="{FF2B5EF4-FFF2-40B4-BE49-F238E27FC236}">
                <a16:creationId xmlns:a16="http://schemas.microsoft.com/office/drawing/2014/main" id="{ECDF6DFB-C8F5-17F3-F2A8-359F6CB1509E}"/>
              </a:ext>
            </a:extLst>
          </p:cNvPr>
          <p:cNvSpPr txBox="1"/>
          <p:nvPr/>
        </p:nvSpPr>
        <p:spPr>
          <a:xfrm>
            <a:off x="6855398" y="590560"/>
            <a:ext cx="5033712" cy="5884853"/>
          </a:xfrm>
          <a:prstGeom prst="rect">
            <a:avLst/>
          </a:prstGeom>
        </p:spPr>
        <p:txBody>
          <a:bodyPr vert="horz" lIns="91440" tIns="45720" rIns="91440" bIns="45720" rtlCol="0" anchor="t">
            <a:normAutofit fontScale="62500" lnSpcReduction="20000"/>
          </a:bodyPr>
          <a:lstStyle/>
          <a:p>
            <a:r>
              <a:rPr lang="en-US" sz="2600" dirty="0">
                <a:solidFill>
                  <a:schemeClr val="bg1">
                    <a:alpha val="80000"/>
                  </a:schemeClr>
                </a:solidFill>
                <a:ea typeface="+mn-lt"/>
                <a:cs typeface="+mn-lt"/>
              </a:rPr>
              <a:t>The embedded controller applies smooth ramping to both the lateral and hoist motions so the trolley never “snaps” into movement. </a:t>
            </a:r>
            <a:br>
              <a:rPr lang="en-US" sz="2600" dirty="0">
                <a:solidFill>
                  <a:schemeClr val="bg1">
                    <a:alpha val="80000"/>
                  </a:schemeClr>
                </a:solidFill>
                <a:ea typeface="+mn-lt"/>
                <a:cs typeface="+mn-lt"/>
              </a:rPr>
            </a:br>
            <a:r>
              <a:rPr lang="en-US" sz="2600" dirty="0">
                <a:solidFill>
                  <a:schemeClr val="bg1">
                    <a:alpha val="80000"/>
                  </a:schemeClr>
                </a:solidFill>
                <a:ea typeface="+mn-lt"/>
                <a:cs typeface="+mn-lt"/>
              </a:rPr>
              <a:t>First, the wireless pendent joystick's X and Y-input is translated into a target speed for lateral movement and hoist speed, but a ramp algorithm only allows the actual speed command to change in small steps every few milliseconds, giving a gentle start, stop, and change of direction, producing controlled acceleration and deceleration based on the position of the joystick. </a:t>
            </a:r>
            <a:br>
              <a:rPr lang="en-US" sz="2600" dirty="0">
                <a:solidFill>
                  <a:schemeClr val="bg1">
                    <a:alpha val="80000"/>
                  </a:schemeClr>
                </a:solidFill>
                <a:ea typeface="+mn-lt"/>
                <a:cs typeface="+mn-lt"/>
              </a:rPr>
            </a:br>
            <a:r>
              <a:rPr lang="en-US" sz="2600" dirty="0">
                <a:solidFill>
                  <a:schemeClr val="bg1">
                    <a:alpha val="80000"/>
                  </a:schemeClr>
                </a:solidFill>
                <a:ea typeface="+mn-lt"/>
                <a:cs typeface="+mn-lt"/>
              </a:rPr>
              <a:t>If communication with the wireless pendent is lost, both ramp controllers gradually drive their speed commands back down to zero, bringing the system to a smooth, controlled stop rather than a sudden cut-off which may cause damage to the drive electronics and lateral movement components.</a:t>
            </a:r>
          </a:p>
          <a:p>
            <a:pPr>
              <a:lnSpc>
                <a:spcPct val="90000"/>
              </a:lnSpc>
              <a:spcAft>
                <a:spcPts val="600"/>
              </a:spcAft>
            </a:pPr>
            <a:r>
              <a:rPr lang="en-US" sz="2600" dirty="0">
                <a:solidFill>
                  <a:schemeClr val="bg1">
                    <a:alpha val="80000"/>
                  </a:schemeClr>
                </a:solidFill>
              </a:rPr>
              <a:t>If the rotary encoder shows that the cable is outside the 0.1–2 m threshold, the system will only allows for certain SPWM directions, for example, if the rope is at 2m then the system prevents the forward SPWM output and only allows the use of the Reverse SPWM's to prevent over-extending the rope or pulling the hoisted object too close.</a:t>
            </a:r>
            <a:endParaRPr lang="en-US" dirty="0">
              <a:solidFill>
                <a:schemeClr val="bg1">
                  <a:alpha val="80000"/>
                </a:schemeClr>
              </a:solidFill>
            </a:endParaRPr>
          </a:p>
          <a:p>
            <a:pPr>
              <a:lnSpc>
                <a:spcPct val="90000"/>
              </a:lnSpc>
              <a:spcAft>
                <a:spcPts val="600"/>
              </a:spcAft>
            </a:pPr>
            <a:r>
              <a:rPr lang="en-US" sz="2600" dirty="0">
                <a:solidFill>
                  <a:schemeClr val="bg1">
                    <a:alpha val="80000"/>
                  </a:schemeClr>
                </a:solidFill>
              </a:rPr>
              <a:t>The Embedded controller is also connected to a load cell for load weight monitoring. This alongside the rotary encoder allows the embedded controller to log the length of rope as well as the weight hoisted by the system and deal with extreme cases using safety protocols that are coded into the STM32 "Blackpill."</a:t>
            </a:r>
          </a:p>
          <a:p>
            <a:pPr>
              <a:lnSpc>
                <a:spcPct val="90000"/>
              </a:lnSpc>
              <a:spcAft>
                <a:spcPts val="600"/>
              </a:spcAft>
            </a:pPr>
            <a:br>
              <a:rPr lang="en-US" sz="2000" dirty="0"/>
            </a:br>
            <a:endParaRPr lang="en-US" sz="2000" dirty="0">
              <a:solidFill>
                <a:schemeClr val="bg1">
                  <a:alpha val="80000"/>
                </a:schemeClr>
              </a:solidFill>
            </a:endParaRPr>
          </a:p>
        </p:txBody>
      </p:sp>
      <p:cxnSp>
        <p:nvCxnSpPr>
          <p:cNvPr id="5" name="Straight Arrow Connector 4">
            <a:extLst>
              <a:ext uri="{FF2B5EF4-FFF2-40B4-BE49-F238E27FC236}">
                <a16:creationId xmlns:a16="http://schemas.microsoft.com/office/drawing/2014/main" id="{B4C4BA9D-D95B-69DC-99AC-3F86F2F528AC}"/>
              </a:ext>
            </a:extLst>
          </p:cNvPr>
          <p:cNvCxnSpPr/>
          <p:nvPr/>
        </p:nvCxnSpPr>
        <p:spPr>
          <a:xfrm>
            <a:off x="6654055" y="231403"/>
            <a:ext cx="857" cy="6501598"/>
          </a:xfrm>
          <a:prstGeom prst="straightConnector1">
            <a:avLst/>
          </a:prstGeom>
          <a:ln>
            <a:solidFill>
              <a:schemeClr val="bg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847944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4524344-6823-49EA-89D4-E36A82A9FD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DABFDD5-8BA2-C8B1-5885-1CF2BCBD4D9B}"/>
              </a:ext>
            </a:extLst>
          </p:cNvPr>
          <p:cNvSpPr>
            <a:spLocks noGrp="1"/>
          </p:cNvSpPr>
          <p:nvPr>
            <p:ph type="title"/>
          </p:nvPr>
        </p:nvSpPr>
        <p:spPr>
          <a:xfrm>
            <a:off x="1716088" y="1354820"/>
            <a:ext cx="8748712" cy="2369988"/>
          </a:xfrm>
        </p:spPr>
        <p:txBody>
          <a:bodyPr vert="horz" lIns="91440" tIns="45720" rIns="91440" bIns="45720" rtlCol="0" anchor="b">
            <a:normAutofit/>
          </a:bodyPr>
          <a:lstStyle/>
          <a:p>
            <a:r>
              <a:rPr lang="en-US" sz="7200" kern="1200" dirty="0">
                <a:solidFill>
                  <a:schemeClr val="bg1"/>
                </a:solidFill>
                <a:latin typeface="+mj-lt"/>
                <a:ea typeface="+mj-ea"/>
                <a:cs typeface="+mj-cs"/>
              </a:rPr>
              <a:t>System Performance</a:t>
            </a:r>
          </a:p>
        </p:txBody>
      </p:sp>
      <p:grpSp>
        <p:nvGrpSpPr>
          <p:cNvPr id="9" name="Group 8">
            <a:extLst>
              <a:ext uri="{FF2B5EF4-FFF2-40B4-BE49-F238E27FC236}">
                <a16:creationId xmlns:a16="http://schemas.microsoft.com/office/drawing/2014/main" id="{83F0465A-8953-42AC-8F67-7B9A54E660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6142518"/>
            <a:ext cx="10455568" cy="715482"/>
            <a:chOff x="0" y="6142518"/>
            <a:chExt cx="10455568" cy="715482"/>
          </a:xfrm>
          <a:effectLst>
            <a:outerShdw blurRad="381000" dist="152400" dir="16200000" algn="ctr" rotWithShape="0">
              <a:srgbClr val="000000">
                <a:alpha val="10000"/>
              </a:srgbClr>
            </a:outerShdw>
          </a:effectLst>
        </p:grpSpPr>
        <p:sp>
          <p:nvSpPr>
            <p:cNvPr id="10" name="Freeform: Shape 9">
              <a:extLst>
                <a:ext uri="{FF2B5EF4-FFF2-40B4-BE49-F238E27FC236}">
                  <a16:creationId xmlns:a16="http://schemas.microsoft.com/office/drawing/2014/main" id="{50CE1BBA-977A-4210-A80D-8A0BAAA18B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17789" y="6848400"/>
              <a:ext cx="153399" cy="9600"/>
            </a:xfrm>
            <a:custGeom>
              <a:avLst/>
              <a:gdLst>
                <a:gd name="connsiteX0" fmla="*/ 92746 w 153399"/>
                <a:gd name="connsiteY0" fmla="*/ 43 h 9600"/>
                <a:gd name="connsiteX1" fmla="*/ 144918 w 153399"/>
                <a:gd name="connsiteY1" fmla="*/ 6433 h 9600"/>
                <a:gd name="connsiteX2" fmla="*/ 153399 w 153399"/>
                <a:gd name="connsiteY2" fmla="*/ 9600 h 9600"/>
                <a:gd name="connsiteX3" fmla="*/ 0 w 153399"/>
                <a:gd name="connsiteY3" fmla="*/ 9600 h 9600"/>
                <a:gd name="connsiteX4" fmla="*/ 26678 w 153399"/>
                <a:gd name="connsiteY4" fmla="*/ 6286 h 9600"/>
                <a:gd name="connsiteX5" fmla="*/ 92746 w 153399"/>
                <a:gd name="connsiteY5" fmla="*/ 43 h 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399" h="9600">
                  <a:moveTo>
                    <a:pt x="92746" y="43"/>
                  </a:moveTo>
                  <a:cubicBezTo>
                    <a:pt x="111004" y="-358"/>
                    <a:pt x="128295" y="2072"/>
                    <a:pt x="144918" y="6433"/>
                  </a:cubicBezTo>
                  <a:lnTo>
                    <a:pt x="153399" y="9600"/>
                  </a:lnTo>
                  <a:lnTo>
                    <a:pt x="0" y="9600"/>
                  </a:lnTo>
                  <a:lnTo>
                    <a:pt x="26678" y="6286"/>
                  </a:lnTo>
                  <a:cubicBezTo>
                    <a:pt x="48667" y="3255"/>
                    <a:pt x="70647" y="552"/>
                    <a:pt x="92746" y="43"/>
                  </a:cubicBez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1" name="Group 10">
              <a:extLst>
                <a:ext uri="{FF2B5EF4-FFF2-40B4-BE49-F238E27FC236}">
                  <a16:creationId xmlns:a16="http://schemas.microsoft.com/office/drawing/2014/main" id="{71E1A328-D621-4993-B11B-011ED169AC9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6142518"/>
              <a:ext cx="10455568" cy="715481"/>
              <a:chOff x="0" y="0"/>
              <a:chExt cx="10455568" cy="715481"/>
            </a:xfrm>
          </p:grpSpPr>
          <p:sp>
            <p:nvSpPr>
              <p:cNvPr id="12" name="Freeform: Shape 11">
                <a:extLst>
                  <a:ext uri="{FF2B5EF4-FFF2-40B4-BE49-F238E27FC236}">
                    <a16:creationId xmlns:a16="http://schemas.microsoft.com/office/drawing/2014/main" id="{41D2543A-0A6F-4980-98CA-658AA8EEAC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
                <a:ext cx="10455568" cy="715479"/>
              </a:xfrm>
              <a:custGeom>
                <a:avLst/>
                <a:gdLst>
                  <a:gd name="connsiteX0" fmla="*/ 0 w 10455568"/>
                  <a:gd name="connsiteY0" fmla="*/ 0 h 715479"/>
                  <a:gd name="connsiteX1" fmla="*/ 10455568 w 10455568"/>
                  <a:gd name="connsiteY1" fmla="*/ 0 h 715479"/>
                  <a:gd name="connsiteX2" fmla="*/ 10434629 w 10455568"/>
                  <a:gd name="connsiteY2" fmla="*/ 8947 h 715479"/>
                  <a:gd name="connsiteX3" fmla="*/ 10249341 w 10455568"/>
                  <a:gd name="connsiteY3" fmla="*/ 73146 h 715479"/>
                  <a:gd name="connsiteX4" fmla="*/ 10172148 w 10455568"/>
                  <a:gd name="connsiteY4" fmla="*/ 103170 h 715479"/>
                  <a:gd name="connsiteX5" fmla="*/ 9994576 w 10455568"/>
                  <a:gd name="connsiteY5" fmla="*/ 156647 h 715479"/>
                  <a:gd name="connsiteX6" fmla="*/ 9894474 w 10455568"/>
                  <a:gd name="connsiteY6" fmla="*/ 192604 h 715479"/>
                  <a:gd name="connsiteX7" fmla="*/ 9647603 w 10455568"/>
                  <a:gd name="connsiteY7" fmla="*/ 242354 h 715479"/>
                  <a:gd name="connsiteX8" fmla="*/ 9392533 w 10455568"/>
                  <a:gd name="connsiteY8" fmla="*/ 291498 h 715479"/>
                  <a:gd name="connsiteX9" fmla="*/ 9252019 w 10455568"/>
                  <a:gd name="connsiteY9" fmla="*/ 311564 h 715479"/>
                  <a:gd name="connsiteX10" fmla="*/ 9129899 w 10455568"/>
                  <a:gd name="connsiteY10" fmla="*/ 336497 h 715479"/>
                  <a:gd name="connsiteX11" fmla="*/ 9023312 w 10455568"/>
                  <a:gd name="connsiteY11" fmla="*/ 354253 h 715479"/>
                  <a:gd name="connsiteX12" fmla="*/ 8853949 w 10455568"/>
                  <a:gd name="connsiteY12" fmla="*/ 387064 h 715479"/>
                  <a:gd name="connsiteX13" fmla="*/ 8783278 w 10455568"/>
                  <a:gd name="connsiteY13" fmla="*/ 397418 h 715479"/>
                  <a:gd name="connsiteX14" fmla="*/ 8615640 w 10455568"/>
                  <a:gd name="connsiteY14" fmla="*/ 408552 h 715479"/>
                  <a:gd name="connsiteX15" fmla="*/ 8557154 w 10455568"/>
                  <a:gd name="connsiteY15" fmla="*/ 409627 h 715479"/>
                  <a:gd name="connsiteX16" fmla="*/ 8442474 w 10455568"/>
                  <a:gd name="connsiteY16" fmla="*/ 381318 h 715479"/>
                  <a:gd name="connsiteX17" fmla="*/ 8428959 w 10455568"/>
                  <a:gd name="connsiteY17" fmla="*/ 379618 h 715479"/>
                  <a:gd name="connsiteX18" fmla="*/ 8354329 w 10455568"/>
                  <a:gd name="connsiteY18" fmla="*/ 370428 h 715479"/>
                  <a:gd name="connsiteX19" fmla="*/ 8313705 w 10455568"/>
                  <a:gd name="connsiteY19" fmla="*/ 368535 h 715479"/>
                  <a:gd name="connsiteX20" fmla="*/ 8158571 w 10455568"/>
                  <a:gd name="connsiteY20" fmla="*/ 349396 h 715479"/>
                  <a:gd name="connsiteX21" fmla="*/ 8069467 w 10455568"/>
                  <a:gd name="connsiteY21" fmla="*/ 341485 h 715479"/>
                  <a:gd name="connsiteX22" fmla="*/ 7998265 w 10455568"/>
                  <a:gd name="connsiteY22" fmla="*/ 348379 h 715479"/>
                  <a:gd name="connsiteX23" fmla="*/ 7873167 w 10455568"/>
                  <a:gd name="connsiteY23" fmla="*/ 359529 h 715479"/>
                  <a:gd name="connsiteX24" fmla="*/ 7833600 w 10455568"/>
                  <a:gd name="connsiteY24" fmla="*/ 368926 h 715479"/>
                  <a:gd name="connsiteX25" fmla="*/ 7651338 w 10455568"/>
                  <a:gd name="connsiteY25" fmla="*/ 362121 h 715479"/>
                  <a:gd name="connsiteX26" fmla="*/ 7548003 w 10455568"/>
                  <a:gd name="connsiteY26" fmla="*/ 367710 h 715479"/>
                  <a:gd name="connsiteX27" fmla="*/ 7430093 w 10455568"/>
                  <a:gd name="connsiteY27" fmla="*/ 351855 h 715479"/>
                  <a:gd name="connsiteX28" fmla="*/ 7396245 w 10455568"/>
                  <a:gd name="connsiteY28" fmla="*/ 355328 h 715479"/>
                  <a:gd name="connsiteX29" fmla="*/ 7358394 w 10455568"/>
                  <a:gd name="connsiteY29" fmla="*/ 359950 h 715479"/>
                  <a:gd name="connsiteX30" fmla="*/ 7241933 w 10455568"/>
                  <a:gd name="connsiteY30" fmla="*/ 369637 h 715479"/>
                  <a:gd name="connsiteX31" fmla="*/ 7171767 w 10455568"/>
                  <a:gd name="connsiteY31" fmla="*/ 383160 h 715479"/>
                  <a:gd name="connsiteX32" fmla="*/ 7036569 w 10455568"/>
                  <a:gd name="connsiteY32" fmla="*/ 387132 h 715479"/>
                  <a:gd name="connsiteX33" fmla="*/ 6987200 w 10455568"/>
                  <a:gd name="connsiteY33" fmla="*/ 398073 h 715479"/>
                  <a:gd name="connsiteX34" fmla="*/ 6861115 w 10455568"/>
                  <a:gd name="connsiteY34" fmla="*/ 407542 h 715479"/>
                  <a:gd name="connsiteX35" fmla="*/ 6747718 w 10455568"/>
                  <a:gd name="connsiteY35" fmla="*/ 410900 h 715479"/>
                  <a:gd name="connsiteX36" fmla="*/ 6638839 w 10455568"/>
                  <a:gd name="connsiteY36" fmla="*/ 420654 h 715479"/>
                  <a:gd name="connsiteX37" fmla="*/ 6561486 w 10455568"/>
                  <a:gd name="connsiteY37" fmla="*/ 435540 h 715479"/>
                  <a:gd name="connsiteX38" fmla="*/ 6477200 w 10455568"/>
                  <a:gd name="connsiteY38" fmla="*/ 447113 h 715479"/>
                  <a:gd name="connsiteX39" fmla="*/ 6246111 w 10455568"/>
                  <a:gd name="connsiteY39" fmla="*/ 497537 h 715479"/>
                  <a:gd name="connsiteX40" fmla="*/ 6202328 w 10455568"/>
                  <a:gd name="connsiteY40" fmla="*/ 492074 h 715479"/>
                  <a:gd name="connsiteX41" fmla="*/ 5956458 w 10455568"/>
                  <a:gd name="connsiteY41" fmla="*/ 500965 h 715479"/>
                  <a:gd name="connsiteX42" fmla="*/ 5903139 w 10455568"/>
                  <a:gd name="connsiteY42" fmla="*/ 505186 h 715479"/>
                  <a:gd name="connsiteX43" fmla="*/ 5757547 w 10455568"/>
                  <a:gd name="connsiteY43" fmla="*/ 480730 h 715479"/>
                  <a:gd name="connsiteX44" fmla="*/ 5540270 w 10455568"/>
                  <a:gd name="connsiteY44" fmla="*/ 550023 h 715479"/>
                  <a:gd name="connsiteX45" fmla="*/ 5338128 w 10455568"/>
                  <a:gd name="connsiteY45" fmla="*/ 631974 h 715479"/>
                  <a:gd name="connsiteX46" fmla="*/ 5312622 w 10455568"/>
                  <a:gd name="connsiteY46" fmla="*/ 642454 h 715479"/>
                  <a:gd name="connsiteX47" fmla="*/ 5239393 w 10455568"/>
                  <a:gd name="connsiteY47" fmla="*/ 662307 h 715479"/>
                  <a:gd name="connsiteX48" fmla="*/ 5147821 w 10455568"/>
                  <a:gd name="connsiteY48" fmla="*/ 673791 h 715479"/>
                  <a:gd name="connsiteX49" fmla="*/ 5032111 w 10455568"/>
                  <a:gd name="connsiteY49" fmla="*/ 694497 h 715479"/>
                  <a:gd name="connsiteX50" fmla="*/ 4937648 w 10455568"/>
                  <a:gd name="connsiteY50" fmla="*/ 684913 h 715479"/>
                  <a:gd name="connsiteX51" fmla="*/ 4805529 w 10455568"/>
                  <a:gd name="connsiteY51" fmla="*/ 670032 h 715479"/>
                  <a:gd name="connsiteX52" fmla="*/ 4681029 w 10455568"/>
                  <a:gd name="connsiteY52" fmla="*/ 655792 h 715479"/>
                  <a:gd name="connsiteX53" fmla="*/ 4643990 w 10455568"/>
                  <a:gd name="connsiteY53" fmla="*/ 685120 h 715479"/>
                  <a:gd name="connsiteX54" fmla="*/ 4585542 w 10455568"/>
                  <a:gd name="connsiteY54" fmla="*/ 712411 h 715479"/>
                  <a:gd name="connsiteX55" fmla="*/ 4516947 w 10455568"/>
                  <a:gd name="connsiteY55" fmla="*/ 689117 h 715479"/>
                  <a:gd name="connsiteX56" fmla="*/ 4356995 w 10455568"/>
                  <a:gd name="connsiteY56" fmla="*/ 642048 h 715479"/>
                  <a:gd name="connsiteX57" fmla="*/ 4258219 w 10455568"/>
                  <a:gd name="connsiteY57" fmla="*/ 646156 h 715479"/>
                  <a:gd name="connsiteX58" fmla="*/ 4042233 w 10455568"/>
                  <a:gd name="connsiteY58" fmla="*/ 636117 h 715479"/>
                  <a:gd name="connsiteX59" fmla="*/ 3899777 w 10455568"/>
                  <a:gd name="connsiteY59" fmla="*/ 610576 h 715479"/>
                  <a:gd name="connsiteX60" fmla="*/ 3796441 w 10455568"/>
                  <a:gd name="connsiteY60" fmla="*/ 577707 h 715479"/>
                  <a:gd name="connsiteX61" fmla="*/ 3648774 w 10455568"/>
                  <a:gd name="connsiteY61" fmla="*/ 535623 h 715479"/>
                  <a:gd name="connsiteX62" fmla="*/ 3502227 w 10455568"/>
                  <a:gd name="connsiteY62" fmla="*/ 518518 h 715479"/>
                  <a:gd name="connsiteX63" fmla="*/ 3395228 w 10455568"/>
                  <a:gd name="connsiteY63" fmla="*/ 491723 h 715479"/>
                  <a:gd name="connsiteX64" fmla="*/ 3265757 w 10455568"/>
                  <a:gd name="connsiteY64" fmla="*/ 477242 h 715479"/>
                  <a:gd name="connsiteX65" fmla="*/ 3158404 w 10455568"/>
                  <a:gd name="connsiteY65" fmla="*/ 483689 h 715479"/>
                  <a:gd name="connsiteX66" fmla="*/ 2990483 w 10455568"/>
                  <a:gd name="connsiteY66" fmla="*/ 499212 h 715479"/>
                  <a:gd name="connsiteX67" fmla="*/ 2779802 w 10455568"/>
                  <a:gd name="connsiteY67" fmla="*/ 443069 h 715479"/>
                  <a:gd name="connsiteX68" fmla="*/ 2695508 w 10455568"/>
                  <a:gd name="connsiteY68" fmla="*/ 433082 h 715479"/>
                  <a:gd name="connsiteX69" fmla="*/ 2616713 w 10455568"/>
                  <a:gd name="connsiteY69" fmla="*/ 431172 h 715479"/>
                  <a:gd name="connsiteX70" fmla="*/ 2447364 w 10455568"/>
                  <a:gd name="connsiteY70" fmla="*/ 395810 h 715479"/>
                  <a:gd name="connsiteX71" fmla="*/ 2378751 w 10455568"/>
                  <a:gd name="connsiteY71" fmla="*/ 385044 h 715479"/>
                  <a:gd name="connsiteX72" fmla="*/ 2284230 w 10455568"/>
                  <a:gd name="connsiteY72" fmla="*/ 391782 h 715479"/>
                  <a:gd name="connsiteX73" fmla="*/ 2110801 w 10455568"/>
                  <a:gd name="connsiteY73" fmla="*/ 382042 h 715479"/>
                  <a:gd name="connsiteX74" fmla="*/ 1934854 w 10455568"/>
                  <a:gd name="connsiteY74" fmla="*/ 331108 h 715479"/>
                  <a:gd name="connsiteX75" fmla="*/ 1862479 w 10455568"/>
                  <a:gd name="connsiteY75" fmla="*/ 342158 h 715479"/>
                  <a:gd name="connsiteX76" fmla="*/ 1836283 w 10455568"/>
                  <a:gd name="connsiteY76" fmla="*/ 342488 h 715479"/>
                  <a:gd name="connsiteX77" fmla="*/ 1599327 w 10455568"/>
                  <a:gd name="connsiteY77" fmla="*/ 323970 h 715479"/>
                  <a:gd name="connsiteX78" fmla="*/ 1575578 w 10455568"/>
                  <a:gd name="connsiteY78" fmla="*/ 321802 h 715479"/>
                  <a:gd name="connsiteX79" fmla="*/ 1463288 w 10455568"/>
                  <a:gd name="connsiteY79" fmla="*/ 298576 h 715479"/>
                  <a:gd name="connsiteX80" fmla="*/ 1184165 w 10455568"/>
                  <a:gd name="connsiteY80" fmla="*/ 298373 h 715479"/>
                  <a:gd name="connsiteX81" fmla="*/ 1166899 w 10455568"/>
                  <a:gd name="connsiteY81" fmla="*/ 297220 h 715479"/>
                  <a:gd name="connsiteX82" fmla="*/ 1074855 w 10455568"/>
                  <a:gd name="connsiteY82" fmla="*/ 318934 h 715479"/>
                  <a:gd name="connsiteX83" fmla="*/ 1030232 w 10455568"/>
                  <a:gd name="connsiteY83" fmla="*/ 343829 h 715479"/>
                  <a:gd name="connsiteX84" fmla="*/ 959854 w 10455568"/>
                  <a:gd name="connsiteY84" fmla="*/ 371351 h 715479"/>
                  <a:gd name="connsiteX85" fmla="*/ 887350 w 10455568"/>
                  <a:gd name="connsiteY85" fmla="*/ 384742 h 715479"/>
                  <a:gd name="connsiteX86" fmla="*/ 762349 w 10455568"/>
                  <a:gd name="connsiteY86" fmla="*/ 358882 h 715479"/>
                  <a:gd name="connsiteX87" fmla="*/ 717454 w 10455568"/>
                  <a:gd name="connsiteY87" fmla="*/ 358448 h 715479"/>
                  <a:gd name="connsiteX88" fmla="*/ 616859 w 10455568"/>
                  <a:gd name="connsiteY88" fmla="*/ 348700 h 715479"/>
                  <a:gd name="connsiteX89" fmla="*/ 529939 w 10455568"/>
                  <a:gd name="connsiteY89" fmla="*/ 355789 h 715479"/>
                  <a:gd name="connsiteX90" fmla="*/ 461851 w 10455568"/>
                  <a:gd name="connsiteY90" fmla="*/ 386945 h 715479"/>
                  <a:gd name="connsiteX91" fmla="*/ 360707 w 10455568"/>
                  <a:gd name="connsiteY91" fmla="*/ 399082 h 715479"/>
                  <a:gd name="connsiteX92" fmla="*/ 293863 w 10455568"/>
                  <a:gd name="connsiteY92" fmla="*/ 384410 h 715479"/>
                  <a:gd name="connsiteX93" fmla="*/ 280347 w 10455568"/>
                  <a:gd name="connsiteY93" fmla="*/ 382711 h 715479"/>
                  <a:gd name="connsiteX94" fmla="*/ 108881 w 10455568"/>
                  <a:gd name="connsiteY94" fmla="*/ 393231 h 715479"/>
                  <a:gd name="connsiteX95" fmla="*/ 53435 w 10455568"/>
                  <a:gd name="connsiteY95" fmla="*/ 397222 h 715479"/>
                  <a:gd name="connsiteX96" fmla="*/ 0 w 10455568"/>
                  <a:gd name="connsiteY96" fmla="*/ 409348 h 7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0455568" h="715479">
                    <a:moveTo>
                      <a:pt x="0" y="0"/>
                    </a:moveTo>
                    <a:lnTo>
                      <a:pt x="10455568" y="0"/>
                    </a:lnTo>
                    <a:lnTo>
                      <a:pt x="10434629" y="8947"/>
                    </a:lnTo>
                    <a:cubicBezTo>
                      <a:pt x="10373917" y="32898"/>
                      <a:pt x="10311087" y="51455"/>
                      <a:pt x="10249341" y="73146"/>
                    </a:cubicBezTo>
                    <a:cubicBezTo>
                      <a:pt x="10223176" y="82504"/>
                      <a:pt x="10198388" y="94974"/>
                      <a:pt x="10172148" y="103170"/>
                    </a:cubicBezTo>
                    <a:cubicBezTo>
                      <a:pt x="10113395" y="121743"/>
                      <a:pt x="10053617" y="138053"/>
                      <a:pt x="9994576" y="156647"/>
                    </a:cubicBezTo>
                    <a:cubicBezTo>
                      <a:pt x="9960929" y="167389"/>
                      <a:pt x="9928899" y="184724"/>
                      <a:pt x="9894474" y="192604"/>
                    </a:cubicBezTo>
                    <a:cubicBezTo>
                      <a:pt x="9812718" y="211289"/>
                      <a:pt x="9730121" y="226242"/>
                      <a:pt x="9647603" y="242354"/>
                    </a:cubicBezTo>
                    <a:cubicBezTo>
                      <a:pt x="9562500" y="258935"/>
                      <a:pt x="9477721" y="276078"/>
                      <a:pt x="9392533" y="291498"/>
                    </a:cubicBezTo>
                    <a:cubicBezTo>
                      <a:pt x="9345891" y="299632"/>
                      <a:pt x="9298681" y="303723"/>
                      <a:pt x="9252019" y="311564"/>
                    </a:cubicBezTo>
                    <a:cubicBezTo>
                      <a:pt x="9211115" y="318433"/>
                      <a:pt x="9170740" y="328758"/>
                      <a:pt x="9129899" y="336497"/>
                    </a:cubicBezTo>
                    <a:cubicBezTo>
                      <a:pt x="9094507" y="342987"/>
                      <a:pt x="9058706" y="347759"/>
                      <a:pt x="9023312" y="354253"/>
                    </a:cubicBezTo>
                    <a:cubicBezTo>
                      <a:pt x="8966639" y="364814"/>
                      <a:pt x="8910315" y="376230"/>
                      <a:pt x="8853949" y="387064"/>
                    </a:cubicBezTo>
                    <a:cubicBezTo>
                      <a:pt x="8830350" y="391295"/>
                      <a:pt x="8805902" y="400245"/>
                      <a:pt x="8783278" y="397418"/>
                    </a:cubicBezTo>
                    <a:cubicBezTo>
                      <a:pt x="8726267" y="390232"/>
                      <a:pt x="8671093" y="397198"/>
                      <a:pt x="8615640" y="408552"/>
                    </a:cubicBezTo>
                    <a:cubicBezTo>
                      <a:pt x="8596680" y="412471"/>
                      <a:pt x="8576049" y="413291"/>
                      <a:pt x="8557154" y="409627"/>
                    </a:cubicBezTo>
                    <a:cubicBezTo>
                      <a:pt x="8518491" y="402356"/>
                      <a:pt x="8480716" y="390947"/>
                      <a:pt x="8442474" y="381318"/>
                    </a:cubicBezTo>
                    <a:cubicBezTo>
                      <a:pt x="8438313" y="380145"/>
                      <a:pt x="8433365" y="380189"/>
                      <a:pt x="8428959" y="379618"/>
                    </a:cubicBezTo>
                    <a:cubicBezTo>
                      <a:pt x="8403970" y="376366"/>
                      <a:pt x="8379279" y="373098"/>
                      <a:pt x="8354329" y="370428"/>
                    </a:cubicBezTo>
                    <a:cubicBezTo>
                      <a:pt x="8340833" y="369017"/>
                      <a:pt x="8327184" y="369657"/>
                      <a:pt x="8313705" y="368535"/>
                    </a:cubicBezTo>
                    <a:cubicBezTo>
                      <a:pt x="8261532" y="363935"/>
                      <a:pt x="8205623" y="381441"/>
                      <a:pt x="8158571" y="349396"/>
                    </a:cubicBezTo>
                    <a:cubicBezTo>
                      <a:pt x="8128030" y="328752"/>
                      <a:pt x="8100257" y="335890"/>
                      <a:pt x="8069467" y="341485"/>
                    </a:cubicBezTo>
                    <a:cubicBezTo>
                      <a:pt x="8046153" y="345696"/>
                      <a:pt x="8022024" y="346466"/>
                      <a:pt x="7998265" y="348379"/>
                    </a:cubicBezTo>
                    <a:cubicBezTo>
                      <a:pt x="7956565" y="352093"/>
                      <a:pt x="7914826" y="355232"/>
                      <a:pt x="7873167" y="359529"/>
                    </a:cubicBezTo>
                    <a:cubicBezTo>
                      <a:pt x="7859864" y="361016"/>
                      <a:pt x="7846730" y="369197"/>
                      <a:pt x="7833600" y="368926"/>
                    </a:cubicBezTo>
                    <a:cubicBezTo>
                      <a:pt x="7772906" y="367528"/>
                      <a:pt x="7711993" y="362939"/>
                      <a:pt x="7651338" y="362121"/>
                    </a:cubicBezTo>
                    <a:cubicBezTo>
                      <a:pt x="7616924" y="361556"/>
                      <a:pt x="7582209" y="369456"/>
                      <a:pt x="7548003" y="367710"/>
                    </a:cubicBezTo>
                    <a:cubicBezTo>
                      <a:pt x="7508539" y="365739"/>
                      <a:pt x="7469448" y="356458"/>
                      <a:pt x="7430093" y="351855"/>
                    </a:cubicBezTo>
                    <a:cubicBezTo>
                      <a:pt x="7419227" y="350559"/>
                      <a:pt x="7407516" y="353979"/>
                      <a:pt x="7396245" y="355328"/>
                    </a:cubicBezTo>
                    <a:cubicBezTo>
                      <a:pt x="7383524" y="356781"/>
                      <a:pt x="7371134" y="358791"/>
                      <a:pt x="7358394" y="359950"/>
                    </a:cubicBezTo>
                    <a:cubicBezTo>
                      <a:pt x="7319573" y="363179"/>
                      <a:pt x="7280655" y="364958"/>
                      <a:pt x="7241933" y="369637"/>
                    </a:cubicBezTo>
                    <a:cubicBezTo>
                      <a:pt x="7218235" y="372418"/>
                      <a:pt x="7194108" y="386008"/>
                      <a:pt x="7171767" y="383160"/>
                    </a:cubicBezTo>
                    <a:cubicBezTo>
                      <a:pt x="7126248" y="377813"/>
                      <a:pt x="7082583" y="399728"/>
                      <a:pt x="7036569" y="387132"/>
                    </a:cubicBezTo>
                    <a:cubicBezTo>
                      <a:pt x="7022328" y="383442"/>
                      <a:pt x="7003983" y="396347"/>
                      <a:pt x="6987200" y="398073"/>
                    </a:cubicBezTo>
                    <a:cubicBezTo>
                      <a:pt x="6945251" y="402388"/>
                      <a:pt x="6903183" y="404965"/>
                      <a:pt x="6861115" y="407542"/>
                    </a:cubicBezTo>
                    <a:cubicBezTo>
                      <a:pt x="6823394" y="409822"/>
                      <a:pt x="6784520" y="416550"/>
                      <a:pt x="6747718" y="410900"/>
                    </a:cubicBezTo>
                    <a:cubicBezTo>
                      <a:pt x="6709137" y="404791"/>
                      <a:pt x="6674999" y="408284"/>
                      <a:pt x="6638839" y="420654"/>
                    </a:cubicBezTo>
                    <a:cubicBezTo>
                      <a:pt x="6614066" y="429044"/>
                      <a:pt x="6587444" y="431733"/>
                      <a:pt x="6561486" y="435540"/>
                    </a:cubicBezTo>
                    <a:cubicBezTo>
                      <a:pt x="6533513" y="439778"/>
                      <a:pt x="6502069" y="435804"/>
                      <a:pt x="6477200" y="447113"/>
                    </a:cubicBezTo>
                    <a:cubicBezTo>
                      <a:pt x="6403159" y="480713"/>
                      <a:pt x="6325566" y="492119"/>
                      <a:pt x="6246111" y="497537"/>
                    </a:cubicBezTo>
                    <a:cubicBezTo>
                      <a:pt x="6231608" y="498524"/>
                      <a:pt x="6216540" y="495475"/>
                      <a:pt x="6202328" y="492074"/>
                    </a:cubicBezTo>
                    <a:cubicBezTo>
                      <a:pt x="6119346" y="471508"/>
                      <a:pt x="6038018" y="479381"/>
                      <a:pt x="5956458" y="500965"/>
                    </a:cubicBezTo>
                    <a:cubicBezTo>
                      <a:pt x="5939584" y="505613"/>
                      <a:pt x="5920486" y="507499"/>
                      <a:pt x="5903139" y="505186"/>
                    </a:cubicBezTo>
                    <a:cubicBezTo>
                      <a:pt x="5854306" y="498315"/>
                      <a:pt x="5806470" y="484677"/>
                      <a:pt x="5757547" y="480730"/>
                    </a:cubicBezTo>
                    <a:cubicBezTo>
                      <a:pt x="5676701" y="474297"/>
                      <a:pt x="5610121" y="519038"/>
                      <a:pt x="5540270" y="550023"/>
                    </a:cubicBezTo>
                    <a:cubicBezTo>
                      <a:pt x="5473801" y="579316"/>
                      <a:pt x="5419599" y="638949"/>
                      <a:pt x="5338128" y="631974"/>
                    </a:cubicBezTo>
                    <a:cubicBezTo>
                      <a:pt x="5329931" y="631367"/>
                      <a:pt x="5321476" y="639812"/>
                      <a:pt x="5312622" y="642454"/>
                    </a:cubicBezTo>
                    <a:cubicBezTo>
                      <a:pt x="5288350" y="649647"/>
                      <a:pt x="5264155" y="657994"/>
                      <a:pt x="5239393" y="662307"/>
                    </a:cubicBezTo>
                    <a:cubicBezTo>
                      <a:pt x="5209181" y="667862"/>
                      <a:pt x="5178072" y="668817"/>
                      <a:pt x="5147821" y="673791"/>
                    </a:cubicBezTo>
                    <a:cubicBezTo>
                      <a:pt x="5108908" y="679940"/>
                      <a:pt x="5070972" y="691848"/>
                      <a:pt x="5032111" y="694497"/>
                    </a:cubicBezTo>
                    <a:cubicBezTo>
                      <a:pt x="5000793" y="696632"/>
                      <a:pt x="4969032" y="688019"/>
                      <a:pt x="4937648" y="684913"/>
                    </a:cubicBezTo>
                    <a:cubicBezTo>
                      <a:pt x="4893363" y="680649"/>
                      <a:pt x="4845361" y="685962"/>
                      <a:pt x="4805529" y="670032"/>
                    </a:cubicBezTo>
                    <a:cubicBezTo>
                      <a:pt x="4763006" y="653119"/>
                      <a:pt x="4723244" y="646796"/>
                      <a:pt x="4681029" y="655792"/>
                    </a:cubicBezTo>
                    <a:cubicBezTo>
                      <a:pt x="4666957" y="658791"/>
                      <a:pt x="4649519" y="672217"/>
                      <a:pt x="4643990" y="685120"/>
                    </a:cubicBezTo>
                    <a:cubicBezTo>
                      <a:pt x="4631676" y="713928"/>
                      <a:pt x="4612585" y="720184"/>
                      <a:pt x="4585542" y="712411"/>
                    </a:cubicBezTo>
                    <a:cubicBezTo>
                      <a:pt x="4562077" y="705853"/>
                      <a:pt x="4533672" y="703713"/>
                      <a:pt x="4516947" y="689117"/>
                    </a:cubicBezTo>
                    <a:cubicBezTo>
                      <a:pt x="4469552" y="647774"/>
                      <a:pt x="4412904" y="650180"/>
                      <a:pt x="4356995" y="642048"/>
                    </a:cubicBezTo>
                    <a:cubicBezTo>
                      <a:pt x="4322867" y="637088"/>
                      <a:pt x="4291523" y="638934"/>
                      <a:pt x="4258219" y="646156"/>
                    </a:cubicBezTo>
                    <a:cubicBezTo>
                      <a:pt x="4185895" y="662159"/>
                      <a:pt x="4113776" y="651342"/>
                      <a:pt x="4042233" y="636117"/>
                    </a:cubicBezTo>
                    <a:cubicBezTo>
                      <a:pt x="3994923" y="625941"/>
                      <a:pt x="3946812" y="621063"/>
                      <a:pt x="3899777" y="610576"/>
                    </a:cubicBezTo>
                    <a:cubicBezTo>
                      <a:pt x="3864554" y="602488"/>
                      <a:pt x="3829196" y="592371"/>
                      <a:pt x="3796441" y="577707"/>
                    </a:cubicBezTo>
                    <a:cubicBezTo>
                      <a:pt x="3748937" y="556178"/>
                      <a:pt x="3706395" y="521788"/>
                      <a:pt x="3648774" y="535623"/>
                    </a:cubicBezTo>
                    <a:cubicBezTo>
                      <a:pt x="3598036" y="547820"/>
                      <a:pt x="3550396" y="532716"/>
                      <a:pt x="3502227" y="518518"/>
                    </a:cubicBezTo>
                    <a:cubicBezTo>
                      <a:pt x="3466848" y="508111"/>
                      <a:pt x="3431455" y="497410"/>
                      <a:pt x="3395228" y="491723"/>
                    </a:cubicBezTo>
                    <a:cubicBezTo>
                      <a:pt x="3352235" y="485040"/>
                      <a:pt x="3304663" y="492363"/>
                      <a:pt x="3265757" y="477242"/>
                    </a:cubicBezTo>
                    <a:cubicBezTo>
                      <a:pt x="3225052" y="461369"/>
                      <a:pt x="3193136" y="476075"/>
                      <a:pt x="3158404" y="483689"/>
                    </a:cubicBezTo>
                    <a:cubicBezTo>
                      <a:pt x="3102986" y="495623"/>
                      <a:pt x="3048333" y="514498"/>
                      <a:pt x="2990483" y="499212"/>
                    </a:cubicBezTo>
                    <a:cubicBezTo>
                      <a:pt x="2920173" y="480697"/>
                      <a:pt x="2850324" y="460405"/>
                      <a:pt x="2779802" y="443069"/>
                    </a:cubicBezTo>
                    <a:cubicBezTo>
                      <a:pt x="2752548" y="436477"/>
                      <a:pt x="2723606" y="434954"/>
                      <a:pt x="2695508" y="433082"/>
                    </a:cubicBezTo>
                    <a:cubicBezTo>
                      <a:pt x="2668903" y="431690"/>
                      <a:pt x="2637847" y="441965"/>
                      <a:pt x="2616713" y="431172"/>
                    </a:cubicBezTo>
                    <a:cubicBezTo>
                      <a:pt x="2562378" y="403411"/>
                      <a:pt x="2507687" y="391698"/>
                      <a:pt x="2447364" y="395810"/>
                    </a:cubicBezTo>
                    <a:cubicBezTo>
                      <a:pt x="2424744" y="397352"/>
                      <a:pt x="2401814" y="385802"/>
                      <a:pt x="2378751" y="385044"/>
                    </a:cubicBezTo>
                    <a:cubicBezTo>
                      <a:pt x="2347229" y="384281"/>
                      <a:pt x="2310735" y="378901"/>
                      <a:pt x="2284230" y="391782"/>
                    </a:cubicBezTo>
                    <a:cubicBezTo>
                      <a:pt x="2221919" y="422248"/>
                      <a:pt x="2168532" y="404037"/>
                      <a:pt x="2110801" y="382042"/>
                    </a:cubicBezTo>
                    <a:cubicBezTo>
                      <a:pt x="2053961" y="360279"/>
                      <a:pt x="1994577" y="343935"/>
                      <a:pt x="1934854" y="331108"/>
                    </a:cubicBezTo>
                    <a:cubicBezTo>
                      <a:pt x="1912400" y="326519"/>
                      <a:pt x="1886705" y="338470"/>
                      <a:pt x="1862479" y="342158"/>
                    </a:cubicBezTo>
                    <a:cubicBezTo>
                      <a:pt x="1853818" y="343333"/>
                      <a:pt x="1844309" y="344855"/>
                      <a:pt x="1836283" y="342488"/>
                    </a:cubicBezTo>
                    <a:cubicBezTo>
                      <a:pt x="1758698" y="319808"/>
                      <a:pt x="1680403" y="303878"/>
                      <a:pt x="1599327" y="323970"/>
                    </a:cubicBezTo>
                    <a:cubicBezTo>
                      <a:pt x="1591888" y="325937"/>
                      <a:pt x="1583257" y="323319"/>
                      <a:pt x="1575578" y="321802"/>
                    </a:cubicBezTo>
                    <a:cubicBezTo>
                      <a:pt x="1538035" y="313873"/>
                      <a:pt x="1500950" y="299795"/>
                      <a:pt x="1463288" y="298576"/>
                    </a:cubicBezTo>
                    <a:cubicBezTo>
                      <a:pt x="1370438" y="295582"/>
                      <a:pt x="1277384" y="298137"/>
                      <a:pt x="1184165" y="298373"/>
                    </a:cubicBezTo>
                    <a:cubicBezTo>
                      <a:pt x="1178344" y="298480"/>
                      <a:pt x="1172255" y="298896"/>
                      <a:pt x="1166899" y="297220"/>
                    </a:cubicBezTo>
                    <a:cubicBezTo>
                      <a:pt x="1131827" y="287082"/>
                      <a:pt x="1102238" y="293180"/>
                      <a:pt x="1074855" y="318934"/>
                    </a:cubicBezTo>
                    <a:cubicBezTo>
                      <a:pt x="1062808" y="330244"/>
                      <a:pt x="1045783" y="336940"/>
                      <a:pt x="1030232" y="343829"/>
                    </a:cubicBezTo>
                    <a:cubicBezTo>
                      <a:pt x="1007334" y="354132"/>
                      <a:pt x="983839" y="364180"/>
                      <a:pt x="959854" y="371351"/>
                    </a:cubicBezTo>
                    <a:cubicBezTo>
                      <a:pt x="936141" y="378210"/>
                      <a:pt x="910825" y="387219"/>
                      <a:pt x="887350" y="384742"/>
                    </a:cubicBezTo>
                    <a:cubicBezTo>
                      <a:pt x="845096" y="380339"/>
                      <a:pt x="804258" y="366810"/>
                      <a:pt x="762349" y="358882"/>
                    </a:cubicBezTo>
                    <a:cubicBezTo>
                      <a:pt x="747884" y="356082"/>
                      <a:pt x="732263" y="357732"/>
                      <a:pt x="717454" y="358448"/>
                    </a:cubicBezTo>
                    <a:cubicBezTo>
                      <a:pt x="683463" y="359893"/>
                      <a:pt x="649238" y="370675"/>
                      <a:pt x="616859" y="348700"/>
                    </a:cubicBezTo>
                    <a:cubicBezTo>
                      <a:pt x="586900" y="328019"/>
                      <a:pt x="558641" y="336644"/>
                      <a:pt x="529939" y="355789"/>
                    </a:cubicBezTo>
                    <a:cubicBezTo>
                      <a:pt x="509309" y="369433"/>
                      <a:pt x="485605" y="380664"/>
                      <a:pt x="461851" y="386945"/>
                    </a:cubicBezTo>
                    <a:cubicBezTo>
                      <a:pt x="429225" y="395576"/>
                      <a:pt x="396634" y="400422"/>
                      <a:pt x="360707" y="399082"/>
                    </a:cubicBezTo>
                    <a:cubicBezTo>
                      <a:pt x="335299" y="398193"/>
                      <a:pt x="314629" y="398437"/>
                      <a:pt x="293863" y="384410"/>
                    </a:cubicBezTo>
                    <a:cubicBezTo>
                      <a:pt x="290517" y="382308"/>
                      <a:pt x="284678" y="382122"/>
                      <a:pt x="280347" y="382711"/>
                    </a:cubicBezTo>
                    <a:cubicBezTo>
                      <a:pt x="223554" y="391535"/>
                      <a:pt x="166827" y="392780"/>
                      <a:pt x="108881" y="393231"/>
                    </a:cubicBezTo>
                    <a:cubicBezTo>
                      <a:pt x="90460" y="393322"/>
                      <a:pt x="71882" y="394571"/>
                      <a:pt x="53435" y="397222"/>
                    </a:cubicBezTo>
                    <a:lnTo>
                      <a:pt x="0" y="409348"/>
                    </a:lnTo>
                    <a:close/>
                  </a:path>
                </a:pathLst>
              </a:custGeom>
              <a:solidFill>
                <a:schemeClr val="l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3D0F2937-CF06-453C-B076-800064AEB4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0455568" cy="715479"/>
              </a:xfrm>
              <a:custGeom>
                <a:avLst/>
                <a:gdLst>
                  <a:gd name="connsiteX0" fmla="*/ 0 w 10455568"/>
                  <a:gd name="connsiteY0" fmla="*/ 0 h 715479"/>
                  <a:gd name="connsiteX1" fmla="*/ 10455568 w 10455568"/>
                  <a:gd name="connsiteY1" fmla="*/ 0 h 715479"/>
                  <a:gd name="connsiteX2" fmla="*/ 10434629 w 10455568"/>
                  <a:gd name="connsiteY2" fmla="*/ 8947 h 715479"/>
                  <a:gd name="connsiteX3" fmla="*/ 10249341 w 10455568"/>
                  <a:gd name="connsiteY3" fmla="*/ 73146 h 715479"/>
                  <a:gd name="connsiteX4" fmla="*/ 10172148 w 10455568"/>
                  <a:gd name="connsiteY4" fmla="*/ 103170 h 715479"/>
                  <a:gd name="connsiteX5" fmla="*/ 9994576 w 10455568"/>
                  <a:gd name="connsiteY5" fmla="*/ 156647 h 715479"/>
                  <a:gd name="connsiteX6" fmla="*/ 9894474 w 10455568"/>
                  <a:gd name="connsiteY6" fmla="*/ 192604 h 715479"/>
                  <a:gd name="connsiteX7" fmla="*/ 9647603 w 10455568"/>
                  <a:gd name="connsiteY7" fmla="*/ 242354 h 715479"/>
                  <a:gd name="connsiteX8" fmla="*/ 9392533 w 10455568"/>
                  <a:gd name="connsiteY8" fmla="*/ 291498 h 715479"/>
                  <a:gd name="connsiteX9" fmla="*/ 9252019 w 10455568"/>
                  <a:gd name="connsiteY9" fmla="*/ 311564 h 715479"/>
                  <a:gd name="connsiteX10" fmla="*/ 9129899 w 10455568"/>
                  <a:gd name="connsiteY10" fmla="*/ 336497 h 715479"/>
                  <a:gd name="connsiteX11" fmla="*/ 9023312 w 10455568"/>
                  <a:gd name="connsiteY11" fmla="*/ 354253 h 715479"/>
                  <a:gd name="connsiteX12" fmla="*/ 8853949 w 10455568"/>
                  <a:gd name="connsiteY12" fmla="*/ 387064 h 715479"/>
                  <a:gd name="connsiteX13" fmla="*/ 8783278 w 10455568"/>
                  <a:gd name="connsiteY13" fmla="*/ 397418 h 715479"/>
                  <a:gd name="connsiteX14" fmla="*/ 8615640 w 10455568"/>
                  <a:gd name="connsiteY14" fmla="*/ 408552 h 715479"/>
                  <a:gd name="connsiteX15" fmla="*/ 8557154 w 10455568"/>
                  <a:gd name="connsiteY15" fmla="*/ 409627 h 715479"/>
                  <a:gd name="connsiteX16" fmla="*/ 8442474 w 10455568"/>
                  <a:gd name="connsiteY16" fmla="*/ 381318 h 715479"/>
                  <a:gd name="connsiteX17" fmla="*/ 8428959 w 10455568"/>
                  <a:gd name="connsiteY17" fmla="*/ 379618 h 715479"/>
                  <a:gd name="connsiteX18" fmla="*/ 8354329 w 10455568"/>
                  <a:gd name="connsiteY18" fmla="*/ 370428 h 715479"/>
                  <a:gd name="connsiteX19" fmla="*/ 8313705 w 10455568"/>
                  <a:gd name="connsiteY19" fmla="*/ 368535 h 715479"/>
                  <a:gd name="connsiteX20" fmla="*/ 8158571 w 10455568"/>
                  <a:gd name="connsiteY20" fmla="*/ 349396 h 715479"/>
                  <a:gd name="connsiteX21" fmla="*/ 8069467 w 10455568"/>
                  <a:gd name="connsiteY21" fmla="*/ 341485 h 715479"/>
                  <a:gd name="connsiteX22" fmla="*/ 7998265 w 10455568"/>
                  <a:gd name="connsiteY22" fmla="*/ 348379 h 715479"/>
                  <a:gd name="connsiteX23" fmla="*/ 7873167 w 10455568"/>
                  <a:gd name="connsiteY23" fmla="*/ 359529 h 715479"/>
                  <a:gd name="connsiteX24" fmla="*/ 7833600 w 10455568"/>
                  <a:gd name="connsiteY24" fmla="*/ 368926 h 715479"/>
                  <a:gd name="connsiteX25" fmla="*/ 7651338 w 10455568"/>
                  <a:gd name="connsiteY25" fmla="*/ 362121 h 715479"/>
                  <a:gd name="connsiteX26" fmla="*/ 7548003 w 10455568"/>
                  <a:gd name="connsiteY26" fmla="*/ 367710 h 715479"/>
                  <a:gd name="connsiteX27" fmla="*/ 7430093 w 10455568"/>
                  <a:gd name="connsiteY27" fmla="*/ 351855 h 715479"/>
                  <a:gd name="connsiteX28" fmla="*/ 7396245 w 10455568"/>
                  <a:gd name="connsiteY28" fmla="*/ 355328 h 715479"/>
                  <a:gd name="connsiteX29" fmla="*/ 7358394 w 10455568"/>
                  <a:gd name="connsiteY29" fmla="*/ 359950 h 715479"/>
                  <a:gd name="connsiteX30" fmla="*/ 7241933 w 10455568"/>
                  <a:gd name="connsiteY30" fmla="*/ 369637 h 715479"/>
                  <a:gd name="connsiteX31" fmla="*/ 7171767 w 10455568"/>
                  <a:gd name="connsiteY31" fmla="*/ 383160 h 715479"/>
                  <a:gd name="connsiteX32" fmla="*/ 7036569 w 10455568"/>
                  <a:gd name="connsiteY32" fmla="*/ 387132 h 715479"/>
                  <a:gd name="connsiteX33" fmla="*/ 6987200 w 10455568"/>
                  <a:gd name="connsiteY33" fmla="*/ 398073 h 715479"/>
                  <a:gd name="connsiteX34" fmla="*/ 6861115 w 10455568"/>
                  <a:gd name="connsiteY34" fmla="*/ 407542 h 715479"/>
                  <a:gd name="connsiteX35" fmla="*/ 6747718 w 10455568"/>
                  <a:gd name="connsiteY35" fmla="*/ 410900 h 715479"/>
                  <a:gd name="connsiteX36" fmla="*/ 6638839 w 10455568"/>
                  <a:gd name="connsiteY36" fmla="*/ 420654 h 715479"/>
                  <a:gd name="connsiteX37" fmla="*/ 6561486 w 10455568"/>
                  <a:gd name="connsiteY37" fmla="*/ 435540 h 715479"/>
                  <a:gd name="connsiteX38" fmla="*/ 6477200 w 10455568"/>
                  <a:gd name="connsiteY38" fmla="*/ 447113 h 715479"/>
                  <a:gd name="connsiteX39" fmla="*/ 6246111 w 10455568"/>
                  <a:gd name="connsiteY39" fmla="*/ 497537 h 715479"/>
                  <a:gd name="connsiteX40" fmla="*/ 6202328 w 10455568"/>
                  <a:gd name="connsiteY40" fmla="*/ 492074 h 715479"/>
                  <a:gd name="connsiteX41" fmla="*/ 5956458 w 10455568"/>
                  <a:gd name="connsiteY41" fmla="*/ 500965 h 715479"/>
                  <a:gd name="connsiteX42" fmla="*/ 5903139 w 10455568"/>
                  <a:gd name="connsiteY42" fmla="*/ 505186 h 715479"/>
                  <a:gd name="connsiteX43" fmla="*/ 5757547 w 10455568"/>
                  <a:gd name="connsiteY43" fmla="*/ 480730 h 715479"/>
                  <a:gd name="connsiteX44" fmla="*/ 5540270 w 10455568"/>
                  <a:gd name="connsiteY44" fmla="*/ 550023 h 715479"/>
                  <a:gd name="connsiteX45" fmla="*/ 5338128 w 10455568"/>
                  <a:gd name="connsiteY45" fmla="*/ 631974 h 715479"/>
                  <a:gd name="connsiteX46" fmla="*/ 5312622 w 10455568"/>
                  <a:gd name="connsiteY46" fmla="*/ 642454 h 715479"/>
                  <a:gd name="connsiteX47" fmla="*/ 5239393 w 10455568"/>
                  <a:gd name="connsiteY47" fmla="*/ 662307 h 715479"/>
                  <a:gd name="connsiteX48" fmla="*/ 5147821 w 10455568"/>
                  <a:gd name="connsiteY48" fmla="*/ 673791 h 715479"/>
                  <a:gd name="connsiteX49" fmla="*/ 5032111 w 10455568"/>
                  <a:gd name="connsiteY49" fmla="*/ 694497 h 715479"/>
                  <a:gd name="connsiteX50" fmla="*/ 4937648 w 10455568"/>
                  <a:gd name="connsiteY50" fmla="*/ 684913 h 715479"/>
                  <a:gd name="connsiteX51" fmla="*/ 4805529 w 10455568"/>
                  <a:gd name="connsiteY51" fmla="*/ 670032 h 715479"/>
                  <a:gd name="connsiteX52" fmla="*/ 4681029 w 10455568"/>
                  <a:gd name="connsiteY52" fmla="*/ 655792 h 715479"/>
                  <a:gd name="connsiteX53" fmla="*/ 4643990 w 10455568"/>
                  <a:gd name="connsiteY53" fmla="*/ 685120 h 715479"/>
                  <a:gd name="connsiteX54" fmla="*/ 4585542 w 10455568"/>
                  <a:gd name="connsiteY54" fmla="*/ 712411 h 715479"/>
                  <a:gd name="connsiteX55" fmla="*/ 4516947 w 10455568"/>
                  <a:gd name="connsiteY55" fmla="*/ 689117 h 715479"/>
                  <a:gd name="connsiteX56" fmla="*/ 4356995 w 10455568"/>
                  <a:gd name="connsiteY56" fmla="*/ 642048 h 715479"/>
                  <a:gd name="connsiteX57" fmla="*/ 4258219 w 10455568"/>
                  <a:gd name="connsiteY57" fmla="*/ 646156 h 715479"/>
                  <a:gd name="connsiteX58" fmla="*/ 4042233 w 10455568"/>
                  <a:gd name="connsiteY58" fmla="*/ 636117 h 715479"/>
                  <a:gd name="connsiteX59" fmla="*/ 3899777 w 10455568"/>
                  <a:gd name="connsiteY59" fmla="*/ 610576 h 715479"/>
                  <a:gd name="connsiteX60" fmla="*/ 3796441 w 10455568"/>
                  <a:gd name="connsiteY60" fmla="*/ 577707 h 715479"/>
                  <a:gd name="connsiteX61" fmla="*/ 3648774 w 10455568"/>
                  <a:gd name="connsiteY61" fmla="*/ 535623 h 715479"/>
                  <a:gd name="connsiteX62" fmla="*/ 3502227 w 10455568"/>
                  <a:gd name="connsiteY62" fmla="*/ 518518 h 715479"/>
                  <a:gd name="connsiteX63" fmla="*/ 3395228 w 10455568"/>
                  <a:gd name="connsiteY63" fmla="*/ 491723 h 715479"/>
                  <a:gd name="connsiteX64" fmla="*/ 3265757 w 10455568"/>
                  <a:gd name="connsiteY64" fmla="*/ 477242 h 715479"/>
                  <a:gd name="connsiteX65" fmla="*/ 3158404 w 10455568"/>
                  <a:gd name="connsiteY65" fmla="*/ 483689 h 715479"/>
                  <a:gd name="connsiteX66" fmla="*/ 2990483 w 10455568"/>
                  <a:gd name="connsiteY66" fmla="*/ 499212 h 715479"/>
                  <a:gd name="connsiteX67" fmla="*/ 2779802 w 10455568"/>
                  <a:gd name="connsiteY67" fmla="*/ 443069 h 715479"/>
                  <a:gd name="connsiteX68" fmla="*/ 2695508 w 10455568"/>
                  <a:gd name="connsiteY68" fmla="*/ 433082 h 715479"/>
                  <a:gd name="connsiteX69" fmla="*/ 2616713 w 10455568"/>
                  <a:gd name="connsiteY69" fmla="*/ 431172 h 715479"/>
                  <a:gd name="connsiteX70" fmla="*/ 2447364 w 10455568"/>
                  <a:gd name="connsiteY70" fmla="*/ 395810 h 715479"/>
                  <a:gd name="connsiteX71" fmla="*/ 2378751 w 10455568"/>
                  <a:gd name="connsiteY71" fmla="*/ 385044 h 715479"/>
                  <a:gd name="connsiteX72" fmla="*/ 2284230 w 10455568"/>
                  <a:gd name="connsiteY72" fmla="*/ 391782 h 715479"/>
                  <a:gd name="connsiteX73" fmla="*/ 2110801 w 10455568"/>
                  <a:gd name="connsiteY73" fmla="*/ 382042 h 715479"/>
                  <a:gd name="connsiteX74" fmla="*/ 1934854 w 10455568"/>
                  <a:gd name="connsiteY74" fmla="*/ 331108 h 715479"/>
                  <a:gd name="connsiteX75" fmla="*/ 1862479 w 10455568"/>
                  <a:gd name="connsiteY75" fmla="*/ 342158 h 715479"/>
                  <a:gd name="connsiteX76" fmla="*/ 1836283 w 10455568"/>
                  <a:gd name="connsiteY76" fmla="*/ 342488 h 715479"/>
                  <a:gd name="connsiteX77" fmla="*/ 1599327 w 10455568"/>
                  <a:gd name="connsiteY77" fmla="*/ 323970 h 715479"/>
                  <a:gd name="connsiteX78" fmla="*/ 1575578 w 10455568"/>
                  <a:gd name="connsiteY78" fmla="*/ 321802 h 715479"/>
                  <a:gd name="connsiteX79" fmla="*/ 1463288 w 10455568"/>
                  <a:gd name="connsiteY79" fmla="*/ 298576 h 715479"/>
                  <a:gd name="connsiteX80" fmla="*/ 1184165 w 10455568"/>
                  <a:gd name="connsiteY80" fmla="*/ 298373 h 715479"/>
                  <a:gd name="connsiteX81" fmla="*/ 1166899 w 10455568"/>
                  <a:gd name="connsiteY81" fmla="*/ 297220 h 715479"/>
                  <a:gd name="connsiteX82" fmla="*/ 1074855 w 10455568"/>
                  <a:gd name="connsiteY82" fmla="*/ 318934 h 715479"/>
                  <a:gd name="connsiteX83" fmla="*/ 1030232 w 10455568"/>
                  <a:gd name="connsiteY83" fmla="*/ 343829 h 715479"/>
                  <a:gd name="connsiteX84" fmla="*/ 959854 w 10455568"/>
                  <a:gd name="connsiteY84" fmla="*/ 371351 h 715479"/>
                  <a:gd name="connsiteX85" fmla="*/ 887350 w 10455568"/>
                  <a:gd name="connsiteY85" fmla="*/ 384742 h 715479"/>
                  <a:gd name="connsiteX86" fmla="*/ 762349 w 10455568"/>
                  <a:gd name="connsiteY86" fmla="*/ 358882 h 715479"/>
                  <a:gd name="connsiteX87" fmla="*/ 717454 w 10455568"/>
                  <a:gd name="connsiteY87" fmla="*/ 358448 h 715479"/>
                  <a:gd name="connsiteX88" fmla="*/ 616859 w 10455568"/>
                  <a:gd name="connsiteY88" fmla="*/ 348700 h 715479"/>
                  <a:gd name="connsiteX89" fmla="*/ 529939 w 10455568"/>
                  <a:gd name="connsiteY89" fmla="*/ 355789 h 715479"/>
                  <a:gd name="connsiteX90" fmla="*/ 461851 w 10455568"/>
                  <a:gd name="connsiteY90" fmla="*/ 386945 h 715479"/>
                  <a:gd name="connsiteX91" fmla="*/ 360707 w 10455568"/>
                  <a:gd name="connsiteY91" fmla="*/ 399082 h 715479"/>
                  <a:gd name="connsiteX92" fmla="*/ 293863 w 10455568"/>
                  <a:gd name="connsiteY92" fmla="*/ 384410 h 715479"/>
                  <a:gd name="connsiteX93" fmla="*/ 280347 w 10455568"/>
                  <a:gd name="connsiteY93" fmla="*/ 382711 h 715479"/>
                  <a:gd name="connsiteX94" fmla="*/ 108881 w 10455568"/>
                  <a:gd name="connsiteY94" fmla="*/ 393231 h 715479"/>
                  <a:gd name="connsiteX95" fmla="*/ 53435 w 10455568"/>
                  <a:gd name="connsiteY95" fmla="*/ 397222 h 715479"/>
                  <a:gd name="connsiteX96" fmla="*/ 0 w 10455568"/>
                  <a:gd name="connsiteY96" fmla="*/ 409348 h 715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0455568" h="715479">
                    <a:moveTo>
                      <a:pt x="0" y="0"/>
                    </a:moveTo>
                    <a:lnTo>
                      <a:pt x="10455568" y="0"/>
                    </a:lnTo>
                    <a:lnTo>
                      <a:pt x="10434629" y="8947"/>
                    </a:lnTo>
                    <a:cubicBezTo>
                      <a:pt x="10373917" y="32898"/>
                      <a:pt x="10311087" y="51455"/>
                      <a:pt x="10249341" y="73146"/>
                    </a:cubicBezTo>
                    <a:cubicBezTo>
                      <a:pt x="10223176" y="82504"/>
                      <a:pt x="10198388" y="94974"/>
                      <a:pt x="10172148" y="103170"/>
                    </a:cubicBezTo>
                    <a:cubicBezTo>
                      <a:pt x="10113395" y="121743"/>
                      <a:pt x="10053617" y="138053"/>
                      <a:pt x="9994576" y="156647"/>
                    </a:cubicBezTo>
                    <a:cubicBezTo>
                      <a:pt x="9960929" y="167389"/>
                      <a:pt x="9928899" y="184724"/>
                      <a:pt x="9894474" y="192604"/>
                    </a:cubicBezTo>
                    <a:cubicBezTo>
                      <a:pt x="9812718" y="211289"/>
                      <a:pt x="9730121" y="226242"/>
                      <a:pt x="9647603" y="242354"/>
                    </a:cubicBezTo>
                    <a:cubicBezTo>
                      <a:pt x="9562500" y="258935"/>
                      <a:pt x="9477721" y="276078"/>
                      <a:pt x="9392533" y="291498"/>
                    </a:cubicBezTo>
                    <a:cubicBezTo>
                      <a:pt x="9345891" y="299632"/>
                      <a:pt x="9298681" y="303723"/>
                      <a:pt x="9252019" y="311564"/>
                    </a:cubicBezTo>
                    <a:cubicBezTo>
                      <a:pt x="9211115" y="318433"/>
                      <a:pt x="9170740" y="328758"/>
                      <a:pt x="9129899" y="336497"/>
                    </a:cubicBezTo>
                    <a:cubicBezTo>
                      <a:pt x="9094507" y="342987"/>
                      <a:pt x="9058706" y="347759"/>
                      <a:pt x="9023312" y="354253"/>
                    </a:cubicBezTo>
                    <a:cubicBezTo>
                      <a:pt x="8966639" y="364814"/>
                      <a:pt x="8910315" y="376230"/>
                      <a:pt x="8853949" y="387064"/>
                    </a:cubicBezTo>
                    <a:cubicBezTo>
                      <a:pt x="8830350" y="391295"/>
                      <a:pt x="8805902" y="400245"/>
                      <a:pt x="8783278" y="397418"/>
                    </a:cubicBezTo>
                    <a:cubicBezTo>
                      <a:pt x="8726267" y="390232"/>
                      <a:pt x="8671093" y="397198"/>
                      <a:pt x="8615640" y="408552"/>
                    </a:cubicBezTo>
                    <a:cubicBezTo>
                      <a:pt x="8596680" y="412471"/>
                      <a:pt x="8576049" y="413291"/>
                      <a:pt x="8557154" y="409627"/>
                    </a:cubicBezTo>
                    <a:cubicBezTo>
                      <a:pt x="8518491" y="402356"/>
                      <a:pt x="8480716" y="390947"/>
                      <a:pt x="8442474" y="381318"/>
                    </a:cubicBezTo>
                    <a:cubicBezTo>
                      <a:pt x="8438313" y="380145"/>
                      <a:pt x="8433365" y="380189"/>
                      <a:pt x="8428959" y="379618"/>
                    </a:cubicBezTo>
                    <a:cubicBezTo>
                      <a:pt x="8403970" y="376366"/>
                      <a:pt x="8379279" y="373098"/>
                      <a:pt x="8354329" y="370428"/>
                    </a:cubicBezTo>
                    <a:cubicBezTo>
                      <a:pt x="8340833" y="369017"/>
                      <a:pt x="8327184" y="369657"/>
                      <a:pt x="8313705" y="368535"/>
                    </a:cubicBezTo>
                    <a:cubicBezTo>
                      <a:pt x="8261532" y="363935"/>
                      <a:pt x="8205623" y="381441"/>
                      <a:pt x="8158571" y="349396"/>
                    </a:cubicBezTo>
                    <a:cubicBezTo>
                      <a:pt x="8128030" y="328752"/>
                      <a:pt x="8100257" y="335890"/>
                      <a:pt x="8069467" y="341485"/>
                    </a:cubicBezTo>
                    <a:cubicBezTo>
                      <a:pt x="8046153" y="345696"/>
                      <a:pt x="8022024" y="346466"/>
                      <a:pt x="7998265" y="348379"/>
                    </a:cubicBezTo>
                    <a:cubicBezTo>
                      <a:pt x="7956565" y="352093"/>
                      <a:pt x="7914826" y="355232"/>
                      <a:pt x="7873167" y="359529"/>
                    </a:cubicBezTo>
                    <a:cubicBezTo>
                      <a:pt x="7859864" y="361016"/>
                      <a:pt x="7846730" y="369197"/>
                      <a:pt x="7833600" y="368926"/>
                    </a:cubicBezTo>
                    <a:cubicBezTo>
                      <a:pt x="7772906" y="367528"/>
                      <a:pt x="7711993" y="362939"/>
                      <a:pt x="7651338" y="362121"/>
                    </a:cubicBezTo>
                    <a:cubicBezTo>
                      <a:pt x="7616924" y="361556"/>
                      <a:pt x="7582209" y="369456"/>
                      <a:pt x="7548003" y="367710"/>
                    </a:cubicBezTo>
                    <a:cubicBezTo>
                      <a:pt x="7508539" y="365739"/>
                      <a:pt x="7469448" y="356458"/>
                      <a:pt x="7430093" y="351855"/>
                    </a:cubicBezTo>
                    <a:cubicBezTo>
                      <a:pt x="7419227" y="350559"/>
                      <a:pt x="7407516" y="353979"/>
                      <a:pt x="7396245" y="355328"/>
                    </a:cubicBezTo>
                    <a:cubicBezTo>
                      <a:pt x="7383524" y="356781"/>
                      <a:pt x="7371134" y="358791"/>
                      <a:pt x="7358394" y="359950"/>
                    </a:cubicBezTo>
                    <a:cubicBezTo>
                      <a:pt x="7319573" y="363179"/>
                      <a:pt x="7280655" y="364958"/>
                      <a:pt x="7241933" y="369637"/>
                    </a:cubicBezTo>
                    <a:cubicBezTo>
                      <a:pt x="7218235" y="372418"/>
                      <a:pt x="7194108" y="386008"/>
                      <a:pt x="7171767" y="383160"/>
                    </a:cubicBezTo>
                    <a:cubicBezTo>
                      <a:pt x="7126248" y="377813"/>
                      <a:pt x="7082583" y="399728"/>
                      <a:pt x="7036569" y="387132"/>
                    </a:cubicBezTo>
                    <a:cubicBezTo>
                      <a:pt x="7022328" y="383442"/>
                      <a:pt x="7003983" y="396347"/>
                      <a:pt x="6987200" y="398073"/>
                    </a:cubicBezTo>
                    <a:cubicBezTo>
                      <a:pt x="6945251" y="402388"/>
                      <a:pt x="6903183" y="404965"/>
                      <a:pt x="6861115" y="407542"/>
                    </a:cubicBezTo>
                    <a:cubicBezTo>
                      <a:pt x="6823394" y="409822"/>
                      <a:pt x="6784520" y="416550"/>
                      <a:pt x="6747718" y="410900"/>
                    </a:cubicBezTo>
                    <a:cubicBezTo>
                      <a:pt x="6709137" y="404791"/>
                      <a:pt x="6674999" y="408284"/>
                      <a:pt x="6638839" y="420654"/>
                    </a:cubicBezTo>
                    <a:cubicBezTo>
                      <a:pt x="6614066" y="429044"/>
                      <a:pt x="6587444" y="431733"/>
                      <a:pt x="6561486" y="435540"/>
                    </a:cubicBezTo>
                    <a:cubicBezTo>
                      <a:pt x="6533513" y="439778"/>
                      <a:pt x="6502069" y="435804"/>
                      <a:pt x="6477200" y="447113"/>
                    </a:cubicBezTo>
                    <a:cubicBezTo>
                      <a:pt x="6403159" y="480713"/>
                      <a:pt x="6325566" y="492119"/>
                      <a:pt x="6246111" y="497537"/>
                    </a:cubicBezTo>
                    <a:cubicBezTo>
                      <a:pt x="6231608" y="498524"/>
                      <a:pt x="6216540" y="495475"/>
                      <a:pt x="6202328" y="492074"/>
                    </a:cubicBezTo>
                    <a:cubicBezTo>
                      <a:pt x="6119346" y="471508"/>
                      <a:pt x="6038018" y="479381"/>
                      <a:pt x="5956458" y="500965"/>
                    </a:cubicBezTo>
                    <a:cubicBezTo>
                      <a:pt x="5939584" y="505613"/>
                      <a:pt x="5920486" y="507499"/>
                      <a:pt x="5903139" y="505186"/>
                    </a:cubicBezTo>
                    <a:cubicBezTo>
                      <a:pt x="5854306" y="498315"/>
                      <a:pt x="5806470" y="484677"/>
                      <a:pt x="5757547" y="480730"/>
                    </a:cubicBezTo>
                    <a:cubicBezTo>
                      <a:pt x="5676701" y="474297"/>
                      <a:pt x="5610121" y="519038"/>
                      <a:pt x="5540270" y="550023"/>
                    </a:cubicBezTo>
                    <a:cubicBezTo>
                      <a:pt x="5473801" y="579316"/>
                      <a:pt x="5419599" y="638949"/>
                      <a:pt x="5338128" y="631974"/>
                    </a:cubicBezTo>
                    <a:cubicBezTo>
                      <a:pt x="5329931" y="631367"/>
                      <a:pt x="5321476" y="639812"/>
                      <a:pt x="5312622" y="642454"/>
                    </a:cubicBezTo>
                    <a:cubicBezTo>
                      <a:pt x="5288350" y="649647"/>
                      <a:pt x="5264155" y="657994"/>
                      <a:pt x="5239393" y="662307"/>
                    </a:cubicBezTo>
                    <a:cubicBezTo>
                      <a:pt x="5209181" y="667862"/>
                      <a:pt x="5178072" y="668817"/>
                      <a:pt x="5147821" y="673791"/>
                    </a:cubicBezTo>
                    <a:cubicBezTo>
                      <a:pt x="5108908" y="679940"/>
                      <a:pt x="5070972" y="691848"/>
                      <a:pt x="5032111" y="694497"/>
                    </a:cubicBezTo>
                    <a:cubicBezTo>
                      <a:pt x="5000793" y="696632"/>
                      <a:pt x="4969032" y="688019"/>
                      <a:pt x="4937648" y="684913"/>
                    </a:cubicBezTo>
                    <a:cubicBezTo>
                      <a:pt x="4893363" y="680649"/>
                      <a:pt x="4845361" y="685962"/>
                      <a:pt x="4805529" y="670032"/>
                    </a:cubicBezTo>
                    <a:cubicBezTo>
                      <a:pt x="4763006" y="653119"/>
                      <a:pt x="4723244" y="646796"/>
                      <a:pt x="4681029" y="655792"/>
                    </a:cubicBezTo>
                    <a:cubicBezTo>
                      <a:pt x="4666957" y="658791"/>
                      <a:pt x="4649519" y="672217"/>
                      <a:pt x="4643990" y="685120"/>
                    </a:cubicBezTo>
                    <a:cubicBezTo>
                      <a:pt x="4631676" y="713928"/>
                      <a:pt x="4612585" y="720184"/>
                      <a:pt x="4585542" y="712411"/>
                    </a:cubicBezTo>
                    <a:cubicBezTo>
                      <a:pt x="4562077" y="705853"/>
                      <a:pt x="4533672" y="703713"/>
                      <a:pt x="4516947" y="689117"/>
                    </a:cubicBezTo>
                    <a:cubicBezTo>
                      <a:pt x="4469552" y="647774"/>
                      <a:pt x="4412904" y="650180"/>
                      <a:pt x="4356995" y="642048"/>
                    </a:cubicBezTo>
                    <a:cubicBezTo>
                      <a:pt x="4322867" y="637088"/>
                      <a:pt x="4291523" y="638934"/>
                      <a:pt x="4258219" y="646156"/>
                    </a:cubicBezTo>
                    <a:cubicBezTo>
                      <a:pt x="4185895" y="662159"/>
                      <a:pt x="4113776" y="651342"/>
                      <a:pt x="4042233" y="636117"/>
                    </a:cubicBezTo>
                    <a:cubicBezTo>
                      <a:pt x="3994923" y="625941"/>
                      <a:pt x="3946812" y="621063"/>
                      <a:pt x="3899777" y="610576"/>
                    </a:cubicBezTo>
                    <a:cubicBezTo>
                      <a:pt x="3864554" y="602488"/>
                      <a:pt x="3829196" y="592371"/>
                      <a:pt x="3796441" y="577707"/>
                    </a:cubicBezTo>
                    <a:cubicBezTo>
                      <a:pt x="3748937" y="556178"/>
                      <a:pt x="3706395" y="521788"/>
                      <a:pt x="3648774" y="535623"/>
                    </a:cubicBezTo>
                    <a:cubicBezTo>
                      <a:pt x="3598036" y="547820"/>
                      <a:pt x="3550396" y="532716"/>
                      <a:pt x="3502227" y="518518"/>
                    </a:cubicBezTo>
                    <a:cubicBezTo>
                      <a:pt x="3466848" y="508111"/>
                      <a:pt x="3431455" y="497410"/>
                      <a:pt x="3395228" y="491723"/>
                    </a:cubicBezTo>
                    <a:cubicBezTo>
                      <a:pt x="3352235" y="485040"/>
                      <a:pt x="3304663" y="492363"/>
                      <a:pt x="3265757" y="477242"/>
                    </a:cubicBezTo>
                    <a:cubicBezTo>
                      <a:pt x="3225052" y="461369"/>
                      <a:pt x="3193136" y="476075"/>
                      <a:pt x="3158404" y="483689"/>
                    </a:cubicBezTo>
                    <a:cubicBezTo>
                      <a:pt x="3102986" y="495623"/>
                      <a:pt x="3048333" y="514498"/>
                      <a:pt x="2990483" y="499212"/>
                    </a:cubicBezTo>
                    <a:cubicBezTo>
                      <a:pt x="2920173" y="480697"/>
                      <a:pt x="2850324" y="460405"/>
                      <a:pt x="2779802" y="443069"/>
                    </a:cubicBezTo>
                    <a:cubicBezTo>
                      <a:pt x="2752548" y="436477"/>
                      <a:pt x="2723606" y="434954"/>
                      <a:pt x="2695508" y="433082"/>
                    </a:cubicBezTo>
                    <a:cubicBezTo>
                      <a:pt x="2668903" y="431690"/>
                      <a:pt x="2637847" y="441965"/>
                      <a:pt x="2616713" y="431172"/>
                    </a:cubicBezTo>
                    <a:cubicBezTo>
                      <a:pt x="2562378" y="403411"/>
                      <a:pt x="2507687" y="391698"/>
                      <a:pt x="2447364" y="395810"/>
                    </a:cubicBezTo>
                    <a:cubicBezTo>
                      <a:pt x="2424744" y="397352"/>
                      <a:pt x="2401814" y="385802"/>
                      <a:pt x="2378751" y="385044"/>
                    </a:cubicBezTo>
                    <a:cubicBezTo>
                      <a:pt x="2347229" y="384281"/>
                      <a:pt x="2310735" y="378901"/>
                      <a:pt x="2284230" y="391782"/>
                    </a:cubicBezTo>
                    <a:cubicBezTo>
                      <a:pt x="2221919" y="422248"/>
                      <a:pt x="2168532" y="404037"/>
                      <a:pt x="2110801" y="382042"/>
                    </a:cubicBezTo>
                    <a:cubicBezTo>
                      <a:pt x="2053961" y="360279"/>
                      <a:pt x="1994577" y="343935"/>
                      <a:pt x="1934854" y="331108"/>
                    </a:cubicBezTo>
                    <a:cubicBezTo>
                      <a:pt x="1912400" y="326519"/>
                      <a:pt x="1886705" y="338470"/>
                      <a:pt x="1862479" y="342158"/>
                    </a:cubicBezTo>
                    <a:cubicBezTo>
                      <a:pt x="1853818" y="343333"/>
                      <a:pt x="1844309" y="344855"/>
                      <a:pt x="1836283" y="342488"/>
                    </a:cubicBezTo>
                    <a:cubicBezTo>
                      <a:pt x="1758698" y="319808"/>
                      <a:pt x="1680403" y="303878"/>
                      <a:pt x="1599327" y="323970"/>
                    </a:cubicBezTo>
                    <a:cubicBezTo>
                      <a:pt x="1591888" y="325937"/>
                      <a:pt x="1583257" y="323319"/>
                      <a:pt x="1575578" y="321802"/>
                    </a:cubicBezTo>
                    <a:cubicBezTo>
                      <a:pt x="1538035" y="313873"/>
                      <a:pt x="1500950" y="299795"/>
                      <a:pt x="1463288" y="298576"/>
                    </a:cubicBezTo>
                    <a:cubicBezTo>
                      <a:pt x="1370438" y="295582"/>
                      <a:pt x="1277384" y="298137"/>
                      <a:pt x="1184165" y="298373"/>
                    </a:cubicBezTo>
                    <a:cubicBezTo>
                      <a:pt x="1178344" y="298480"/>
                      <a:pt x="1172255" y="298896"/>
                      <a:pt x="1166899" y="297220"/>
                    </a:cubicBezTo>
                    <a:cubicBezTo>
                      <a:pt x="1131827" y="287082"/>
                      <a:pt x="1102238" y="293180"/>
                      <a:pt x="1074855" y="318934"/>
                    </a:cubicBezTo>
                    <a:cubicBezTo>
                      <a:pt x="1062808" y="330244"/>
                      <a:pt x="1045783" y="336940"/>
                      <a:pt x="1030232" y="343829"/>
                    </a:cubicBezTo>
                    <a:cubicBezTo>
                      <a:pt x="1007334" y="354132"/>
                      <a:pt x="983839" y="364180"/>
                      <a:pt x="959854" y="371351"/>
                    </a:cubicBezTo>
                    <a:cubicBezTo>
                      <a:pt x="936141" y="378210"/>
                      <a:pt x="910825" y="387219"/>
                      <a:pt x="887350" y="384742"/>
                    </a:cubicBezTo>
                    <a:cubicBezTo>
                      <a:pt x="845096" y="380339"/>
                      <a:pt x="804258" y="366810"/>
                      <a:pt x="762349" y="358882"/>
                    </a:cubicBezTo>
                    <a:cubicBezTo>
                      <a:pt x="747884" y="356082"/>
                      <a:pt x="732263" y="357732"/>
                      <a:pt x="717454" y="358448"/>
                    </a:cubicBezTo>
                    <a:cubicBezTo>
                      <a:pt x="683463" y="359893"/>
                      <a:pt x="649238" y="370675"/>
                      <a:pt x="616859" y="348700"/>
                    </a:cubicBezTo>
                    <a:cubicBezTo>
                      <a:pt x="586900" y="328019"/>
                      <a:pt x="558641" y="336644"/>
                      <a:pt x="529939" y="355789"/>
                    </a:cubicBezTo>
                    <a:cubicBezTo>
                      <a:pt x="509309" y="369433"/>
                      <a:pt x="485605" y="380664"/>
                      <a:pt x="461851" y="386945"/>
                    </a:cubicBezTo>
                    <a:cubicBezTo>
                      <a:pt x="429225" y="395576"/>
                      <a:pt x="396634" y="400422"/>
                      <a:pt x="360707" y="399082"/>
                    </a:cubicBezTo>
                    <a:cubicBezTo>
                      <a:pt x="335299" y="398193"/>
                      <a:pt x="314629" y="398437"/>
                      <a:pt x="293863" y="384410"/>
                    </a:cubicBezTo>
                    <a:cubicBezTo>
                      <a:pt x="290517" y="382308"/>
                      <a:pt x="284678" y="382122"/>
                      <a:pt x="280347" y="382711"/>
                    </a:cubicBezTo>
                    <a:cubicBezTo>
                      <a:pt x="223554" y="391535"/>
                      <a:pt x="166827" y="392780"/>
                      <a:pt x="108881" y="393231"/>
                    </a:cubicBezTo>
                    <a:cubicBezTo>
                      <a:pt x="90460" y="393322"/>
                      <a:pt x="71882" y="394571"/>
                      <a:pt x="53435" y="397222"/>
                    </a:cubicBezTo>
                    <a:lnTo>
                      <a:pt x="0" y="409348"/>
                    </a:lnTo>
                    <a:close/>
                  </a:path>
                </a:pathLst>
              </a:custGeom>
              <a:blipFill>
                <a:blip r:embed="rId2">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Tree>
    <p:extLst>
      <p:ext uri="{BB962C8B-B14F-4D97-AF65-F5344CB8AC3E}">
        <p14:creationId xmlns:p14="http://schemas.microsoft.com/office/powerpoint/2010/main" val="35117226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6B158B5-50B5-4927-A367-7C9F3AFE5D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5">
            <a:extLst>
              <a:ext uri="{FF2B5EF4-FFF2-40B4-BE49-F238E27FC236}">
                <a16:creationId xmlns:a16="http://schemas.microsoft.com/office/drawing/2014/main" id="{30008C8C-C36C-22E3-F4B3-2FC00EA07D6A}"/>
              </a:ext>
            </a:extLst>
          </p:cNvPr>
          <p:cNvSpPr>
            <a:spLocks noGrp="1"/>
          </p:cNvSpPr>
          <p:nvPr>
            <p:ph type="title"/>
          </p:nvPr>
        </p:nvSpPr>
        <p:spPr>
          <a:xfrm>
            <a:off x="6981824" y="1367673"/>
            <a:ext cx="4375151" cy="2665509"/>
          </a:xfrm>
        </p:spPr>
        <p:txBody>
          <a:bodyPr vert="horz" lIns="91440" tIns="45720" rIns="91440" bIns="45720" rtlCol="0" anchor="b">
            <a:normAutofit/>
          </a:bodyPr>
          <a:lstStyle/>
          <a:p>
            <a:pPr algn="r"/>
            <a:r>
              <a:rPr lang="en-US" sz="7200" dirty="0">
                <a:solidFill>
                  <a:schemeClr val="bg1"/>
                </a:solidFill>
              </a:rPr>
              <a:t>Lateral movement</a:t>
            </a:r>
          </a:p>
        </p:txBody>
      </p:sp>
      <p:sp>
        <p:nvSpPr>
          <p:cNvPr id="4" name="Rectangle 3"/>
          <p:cNvSpPr/>
          <p:nvPr/>
        </p:nvSpPr>
        <p:spPr>
          <a:xfrm>
            <a:off x="6979182" y="4414180"/>
            <a:ext cx="4377793" cy="884538"/>
          </a:xfrm>
          <a:prstGeom prst="rect">
            <a:avLst/>
          </a:prstGeom>
        </p:spPr>
        <p:txBody>
          <a:bodyPr vert="horz" lIns="91440" tIns="45720" rIns="91440" bIns="45720" rtlCol="0">
            <a:normAutofit/>
          </a:bodyPr>
          <a:lstStyle/>
          <a:p>
            <a:pPr algn="r">
              <a:lnSpc>
                <a:spcPct val="90000"/>
              </a:lnSpc>
              <a:spcBef>
                <a:spcPts val="1000"/>
              </a:spcBef>
              <a:spcAft>
                <a:spcPts val="600"/>
              </a:spcAft>
            </a:pPr>
            <a:r>
              <a:rPr lang="en-US" sz="2000" dirty="0">
                <a:solidFill>
                  <a:schemeClr val="bg1"/>
                </a:solidFill>
              </a:rPr>
              <a:t>The video link (</a:t>
            </a:r>
            <a:r>
              <a:rPr lang="en-US" sz="2000" u="sng" dirty="0">
                <a:solidFill>
                  <a:schemeClr val="bg1"/>
                </a:solidFill>
                <a:hlinkClick r:id="rId2"/>
              </a:rPr>
              <a:t>https://youtu.be/gM-aiSlf644</a:t>
            </a:r>
            <a:r>
              <a:rPr lang="en-US" sz="2000" dirty="0">
                <a:solidFill>
                  <a:schemeClr val="bg1"/>
                </a:solidFill>
              </a:rPr>
              <a:t>  ) demonstrates the run.</a:t>
            </a:r>
          </a:p>
        </p:txBody>
      </p:sp>
      <p:pic>
        <p:nvPicPr>
          <p:cNvPr id="2" name="Picture 1"/>
          <p:cNvPicPr>
            <a:picLocks noChangeAspect="1"/>
          </p:cNvPicPr>
          <p:nvPr/>
        </p:nvPicPr>
        <p:blipFill>
          <a:blip r:embed="rId3"/>
          <a:srcRect l="9551" r="13221"/>
          <a:stretch>
            <a:fillRect/>
          </a:stretch>
        </p:blipFill>
        <p:spPr>
          <a:xfrm>
            <a:off x="1" y="2"/>
            <a:ext cx="6249303" cy="6857998"/>
          </a:xfrm>
          <a:custGeom>
            <a:avLst/>
            <a:gdLst/>
            <a:ahLst/>
            <a:cxnLst/>
            <a:rect l="l" t="t" r="r" b="b"/>
            <a:pathLst>
              <a:path w="6249303" h="6857998">
                <a:moveTo>
                  <a:pt x="5497146" y="6118149"/>
                </a:moveTo>
                <a:cubicBezTo>
                  <a:pt x="5503695" y="6124102"/>
                  <a:pt x="5511317" y="6129341"/>
                  <a:pt x="5518366" y="6133723"/>
                </a:cubicBezTo>
                <a:cubicBezTo>
                  <a:pt x="5525509" y="6138152"/>
                  <a:pt x="5530855" y="6143474"/>
                  <a:pt x="5534525" y="6149380"/>
                </a:cubicBezTo>
                <a:lnTo>
                  <a:pt x="5540000" y="6166562"/>
                </a:lnTo>
                <a:lnTo>
                  <a:pt x="5534525" y="6149379"/>
                </a:lnTo>
                <a:cubicBezTo>
                  <a:pt x="5530855" y="6143474"/>
                  <a:pt x="5525509" y="6138152"/>
                  <a:pt x="5518366" y="6133722"/>
                </a:cubicBezTo>
                <a:cubicBezTo>
                  <a:pt x="5511317" y="6129341"/>
                  <a:pt x="5503695" y="6124102"/>
                  <a:pt x="5497146" y="6118149"/>
                </a:cubicBezTo>
                <a:close/>
                <a:moveTo>
                  <a:pt x="5405304" y="4941372"/>
                </a:moveTo>
                <a:lnTo>
                  <a:pt x="5408634" y="4950869"/>
                </a:lnTo>
                <a:lnTo>
                  <a:pt x="5418318" y="4991382"/>
                </a:lnTo>
                <a:lnTo>
                  <a:pt x="5408634" y="4950868"/>
                </a:lnTo>
                <a:close/>
                <a:moveTo>
                  <a:pt x="5409242" y="4749807"/>
                </a:moveTo>
                <a:cubicBezTo>
                  <a:pt x="5397106" y="4762826"/>
                  <a:pt x="5396249" y="4781365"/>
                  <a:pt x="5394535" y="4799797"/>
                </a:cubicBezTo>
                <a:cubicBezTo>
                  <a:pt x="5396249" y="4781365"/>
                  <a:pt x="5397106" y="4762827"/>
                  <a:pt x="5409242" y="4749807"/>
                </a:cubicBezTo>
                <a:close/>
                <a:moveTo>
                  <a:pt x="5427041" y="4543185"/>
                </a:moveTo>
                <a:cubicBezTo>
                  <a:pt x="5428019" y="4548281"/>
                  <a:pt x="5430065" y="4553662"/>
                  <a:pt x="5432447" y="4557092"/>
                </a:cubicBezTo>
                <a:cubicBezTo>
                  <a:pt x="5444067" y="4573618"/>
                  <a:pt x="5452855" y="4588275"/>
                  <a:pt x="5458810" y="4602021"/>
                </a:cubicBezTo>
                <a:cubicBezTo>
                  <a:pt x="5452855" y="4588275"/>
                  <a:pt x="5444067" y="4573618"/>
                  <a:pt x="5432447" y="4557091"/>
                </a:cubicBezTo>
                <a:close/>
                <a:moveTo>
                  <a:pt x="5893259" y="2819253"/>
                </a:moveTo>
                <a:lnTo>
                  <a:pt x="5904902" y="2827484"/>
                </a:lnTo>
                <a:lnTo>
                  <a:pt x="5904904" y="2827486"/>
                </a:lnTo>
                <a:lnTo>
                  <a:pt x="5933407" y="2861156"/>
                </a:lnTo>
                <a:lnTo>
                  <a:pt x="5923753" y="2842392"/>
                </a:lnTo>
                <a:lnTo>
                  <a:pt x="5904904" y="2827486"/>
                </a:lnTo>
                <a:lnTo>
                  <a:pt x="5904902" y="2827483"/>
                </a:lnTo>
                <a:close/>
                <a:moveTo>
                  <a:pt x="5823604" y="1974015"/>
                </a:moveTo>
                <a:lnTo>
                  <a:pt x="5817090" y="1999763"/>
                </a:lnTo>
                <a:cubicBezTo>
                  <a:pt x="5813281" y="2008056"/>
                  <a:pt x="5807601" y="2016020"/>
                  <a:pt x="5799362" y="2023547"/>
                </a:cubicBezTo>
                <a:cubicBezTo>
                  <a:pt x="5815841" y="2008497"/>
                  <a:pt x="5822079" y="1991685"/>
                  <a:pt x="5823604" y="1974015"/>
                </a:cubicBezTo>
                <a:close/>
                <a:moveTo>
                  <a:pt x="5806410" y="1768838"/>
                </a:moveTo>
                <a:cubicBezTo>
                  <a:pt x="5802029" y="1774411"/>
                  <a:pt x="5799266" y="1779948"/>
                  <a:pt x="5797809" y="1785412"/>
                </a:cubicBezTo>
                <a:lnTo>
                  <a:pt x="5797028" y="1801558"/>
                </a:lnTo>
                <a:cubicBezTo>
                  <a:pt x="5795361" y="1790986"/>
                  <a:pt x="5797647" y="1779981"/>
                  <a:pt x="5806410" y="1768838"/>
                </a:cubicBezTo>
                <a:close/>
                <a:moveTo>
                  <a:pt x="5915999" y="520953"/>
                </a:moveTo>
                <a:lnTo>
                  <a:pt x="5909271" y="549926"/>
                </a:lnTo>
                <a:lnTo>
                  <a:pt x="5903017" y="566616"/>
                </a:lnTo>
                <a:lnTo>
                  <a:pt x="5897067" y="581804"/>
                </a:lnTo>
                <a:lnTo>
                  <a:pt x="5896649" y="583595"/>
                </a:lnTo>
                <a:lnTo>
                  <a:pt x="5894474" y="589388"/>
                </a:lnTo>
                <a:cubicBezTo>
                  <a:pt x="5892074" y="597005"/>
                  <a:pt x="5890316" y="604728"/>
                  <a:pt x="5889851" y="612658"/>
                </a:cubicBezTo>
                <a:lnTo>
                  <a:pt x="5896649" y="583595"/>
                </a:lnTo>
                <a:lnTo>
                  <a:pt x="5902965" y="566754"/>
                </a:lnTo>
                <a:lnTo>
                  <a:pt x="5903017" y="566616"/>
                </a:lnTo>
                <a:lnTo>
                  <a:pt x="5908855" y="551717"/>
                </a:lnTo>
                <a:lnTo>
                  <a:pt x="5909271" y="549926"/>
                </a:lnTo>
                <a:lnTo>
                  <a:pt x="5911436" y="544146"/>
                </a:lnTo>
                <a:cubicBezTo>
                  <a:pt x="5913823" y="536547"/>
                  <a:pt x="5915561" y="528850"/>
                  <a:pt x="5915999" y="520953"/>
                </a:cubicBezTo>
                <a:close/>
                <a:moveTo>
                  <a:pt x="5864896" y="268794"/>
                </a:moveTo>
                <a:cubicBezTo>
                  <a:pt x="5862371" y="279176"/>
                  <a:pt x="5860668" y="289296"/>
                  <a:pt x="5860021" y="299164"/>
                </a:cubicBezTo>
                <a:cubicBezTo>
                  <a:pt x="5859371" y="309031"/>
                  <a:pt x="5859776" y="318646"/>
                  <a:pt x="5861466" y="328017"/>
                </a:cubicBezTo>
                <a:close/>
                <a:moveTo>
                  <a:pt x="0" y="0"/>
                </a:moveTo>
                <a:lnTo>
                  <a:pt x="6182312" y="0"/>
                </a:lnTo>
                <a:lnTo>
                  <a:pt x="6178097" y="24480"/>
                </a:lnTo>
                <a:cubicBezTo>
                  <a:pt x="6175612" y="32636"/>
                  <a:pt x="6171850" y="40471"/>
                  <a:pt x="6166086" y="47806"/>
                </a:cubicBezTo>
                <a:cubicBezTo>
                  <a:pt x="6151226" y="66857"/>
                  <a:pt x="6154655" y="85336"/>
                  <a:pt x="6156942" y="105718"/>
                </a:cubicBezTo>
                <a:cubicBezTo>
                  <a:pt x="6158656" y="121150"/>
                  <a:pt x="6158085" y="136963"/>
                  <a:pt x="6158277" y="152584"/>
                </a:cubicBezTo>
                <a:cubicBezTo>
                  <a:pt x="6158846" y="180017"/>
                  <a:pt x="6159037" y="207450"/>
                  <a:pt x="6159990" y="234883"/>
                </a:cubicBezTo>
                <a:cubicBezTo>
                  <a:pt x="6160370" y="243648"/>
                  <a:pt x="6165135" y="252600"/>
                  <a:pt x="6164373" y="261173"/>
                </a:cubicBezTo>
                <a:cubicBezTo>
                  <a:pt x="6160752" y="300800"/>
                  <a:pt x="6155037" y="340425"/>
                  <a:pt x="6151798" y="380050"/>
                </a:cubicBezTo>
                <a:cubicBezTo>
                  <a:pt x="6149894" y="402529"/>
                  <a:pt x="6153511" y="425581"/>
                  <a:pt x="6150846" y="447870"/>
                </a:cubicBezTo>
                <a:cubicBezTo>
                  <a:pt x="6147798" y="473587"/>
                  <a:pt x="6139988" y="498733"/>
                  <a:pt x="6135223" y="524262"/>
                </a:cubicBezTo>
                <a:cubicBezTo>
                  <a:pt x="6133891" y="531310"/>
                  <a:pt x="6135606" y="539121"/>
                  <a:pt x="6135985" y="546552"/>
                </a:cubicBezTo>
                <a:cubicBezTo>
                  <a:pt x="6136367" y="554933"/>
                  <a:pt x="6137129" y="563125"/>
                  <a:pt x="6137320" y="571508"/>
                </a:cubicBezTo>
                <a:cubicBezTo>
                  <a:pt x="6137702" y="597037"/>
                  <a:pt x="6137129" y="622564"/>
                  <a:pt x="6138464" y="648092"/>
                </a:cubicBezTo>
                <a:cubicBezTo>
                  <a:pt x="6139225" y="663713"/>
                  <a:pt x="6147035" y="680096"/>
                  <a:pt x="6144177" y="694576"/>
                </a:cubicBezTo>
                <a:cubicBezTo>
                  <a:pt x="6138654" y="724104"/>
                  <a:pt x="6151036" y="753633"/>
                  <a:pt x="6140750" y="783158"/>
                </a:cubicBezTo>
                <a:cubicBezTo>
                  <a:pt x="6137702" y="792306"/>
                  <a:pt x="6145322" y="804877"/>
                  <a:pt x="6145702" y="815929"/>
                </a:cubicBezTo>
                <a:cubicBezTo>
                  <a:pt x="6146654" y="843552"/>
                  <a:pt x="6146464" y="871173"/>
                  <a:pt x="6146274" y="898797"/>
                </a:cubicBezTo>
                <a:cubicBezTo>
                  <a:pt x="6146084" y="923562"/>
                  <a:pt x="6148750" y="949281"/>
                  <a:pt x="6143416" y="973095"/>
                </a:cubicBezTo>
                <a:cubicBezTo>
                  <a:pt x="6137702" y="998052"/>
                  <a:pt x="6138464" y="1020529"/>
                  <a:pt x="6144940" y="1044725"/>
                </a:cubicBezTo>
                <a:cubicBezTo>
                  <a:pt x="6149322" y="1061298"/>
                  <a:pt x="6149894" y="1078826"/>
                  <a:pt x="6151226" y="1095972"/>
                </a:cubicBezTo>
                <a:cubicBezTo>
                  <a:pt x="6152750" y="1114449"/>
                  <a:pt x="6148750" y="1134834"/>
                  <a:pt x="6155037" y="1151600"/>
                </a:cubicBezTo>
                <a:cubicBezTo>
                  <a:pt x="6173706" y="1201512"/>
                  <a:pt x="6177706" y="1252757"/>
                  <a:pt x="6177706" y="1304955"/>
                </a:cubicBezTo>
                <a:cubicBezTo>
                  <a:pt x="6177706" y="1314483"/>
                  <a:pt x="6175041" y="1324198"/>
                  <a:pt x="6172183" y="1333341"/>
                </a:cubicBezTo>
                <a:cubicBezTo>
                  <a:pt x="6155037" y="1386684"/>
                  <a:pt x="6156560" y="1440216"/>
                  <a:pt x="6167039" y="1494509"/>
                </a:cubicBezTo>
                <a:cubicBezTo>
                  <a:pt x="6169325" y="1505751"/>
                  <a:pt x="6169706" y="1518324"/>
                  <a:pt x="6167421" y="1529563"/>
                </a:cubicBezTo>
                <a:cubicBezTo>
                  <a:pt x="6160752" y="1561189"/>
                  <a:pt x="6149702" y="1591859"/>
                  <a:pt x="6144940" y="1623675"/>
                </a:cubicBezTo>
                <a:cubicBezTo>
                  <a:pt x="6137129" y="1676253"/>
                  <a:pt x="6163417" y="1721785"/>
                  <a:pt x="6180565" y="1768838"/>
                </a:cubicBezTo>
                <a:cubicBezTo>
                  <a:pt x="6196758" y="1813610"/>
                  <a:pt x="6233335" y="1851709"/>
                  <a:pt x="6225142" y="1904673"/>
                </a:cubicBezTo>
                <a:cubicBezTo>
                  <a:pt x="6224381" y="1910004"/>
                  <a:pt x="6229524" y="1915912"/>
                  <a:pt x="6230858" y="1921817"/>
                </a:cubicBezTo>
                <a:cubicBezTo>
                  <a:pt x="6234479" y="1938009"/>
                  <a:pt x="6238857" y="1954202"/>
                  <a:pt x="6240574" y="1970586"/>
                </a:cubicBezTo>
                <a:cubicBezTo>
                  <a:pt x="6242861" y="1990589"/>
                  <a:pt x="6242100" y="2010974"/>
                  <a:pt x="6244004" y="2030977"/>
                </a:cubicBezTo>
                <a:cubicBezTo>
                  <a:pt x="6245147" y="2043835"/>
                  <a:pt x="6247242" y="2056600"/>
                  <a:pt x="6249052" y="2069340"/>
                </a:cubicBezTo>
                <a:lnTo>
                  <a:pt x="6249303" y="2072225"/>
                </a:lnTo>
                <a:lnTo>
                  <a:pt x="6249303" y="2131532"/>
                </a:lnTo>
                <a:lnTo>
                  <a:pt x="6248432" y="2138304"/>
                </a:lnTo>
                <a:cubicBezTo>
                  <a:pt x="6246241" y="2148519"/>
                  <a:pt x="6243623" y="2158712"/>
                  <a:pt x="6241908" y="2168903"/>
                </a:cubicBezTo>
                <a:cubicBezTo>
                  <a:pt x="6237145" y="2197670"/>
                  <a:pt x="6238479" y="2229296"/>
                  <a:pt x="6226286" y="2254633"/>
                </a:cubicBezTo>
                <a:cubicBezTo>
                  <a:pt x="6213332" y="2281683"/>
                  <a:pt x="6207426" y="2307402"/>
                  <a:pt x="6211426" y="2335405"/>
                </a:cubicBezTo>
                <a:cubicBezTo>
                  <a:pt x="6212760" y="2344741"/>
                  <a:pt x="6220762" y="2356744"/>
                  <a:pt x="6228952" y="2360933"/>
                </a:cubicBezTo>
                <a:cubicBezTo>
                  <a:pt x="6247241" y="2370270"/>
                  <a:pt x="6250481" y="2383032"/>
                  <a:pt x="6244193" y="2400369"/>
                </a:cubicBezTo>
                <a:cubicBezTo>
                  <a:pt x="6238857" y="2415420"/>
                  <a:pt x="6236192" y="2433897"/>
                  <a:pt x="6225904" y="2444184"/>
                </a:cubicBezTo>
                <a:cubicBezTo>
                  <a:pt x="6196758" y="2473333"/>
                  <a:pt x="6195806" y="2510483"/>
                  <a:pt x="6187996" y="2546678"/>
                </a:cubicBezTo>
                <a:cubicBezTo>
                  <a:pt x="6183231" y="2568774"/>
                  <a:pt x="6183041" y="2589352"/>
                  <a:pt x="6186279" y="2611450"/>
                </a:cubicBezTo>
                <a:cubicBezTo>
                  <a:pt x="6193518" y="2659455"/>
                  <a:pt x="6183231" y="2706131"/>
                  <a:pt x="6170087" y="2752235"/>
                </a:cubicBezTo>
                <a:cubicBezTo>
                  <a:pt x="6161325" y="2782716"/>
                  <a:pt x="6155990" y="2813958"/>
                  <a:pt x="6147035" y="2844248"/>
                </a:cubicBezTo>
                <a:cubicBezTo>
                  <a:pt x="6140177" y="2866918"/>
                  <a:pt x="6131985" y="2889587"/>
                  <a:pt x="6120937" y="2910353"/>
                </a:cubicBezTo>
                <a:cubicBezTo>
                  <a:pt x="6104743" y="2940455"/>
                  <a:pt x="6080358" y="2966742"/>
                  <a:pt x="6086835" y="3005035"/>
                </a:cubicBezTo>
                <a:cubicBezTo>
                  <a:pt x="6092550" y="3038756"/>
                  <a:pt x="6080550" y="3069235"/>
                  <a:pt x="6069119" y="3100099"/>
                </a:cubicBezTo>
                <a:cubicBezTo>
                  <a:pt x="6060737" y="3122770"/>
                  <a:pt x="6052162" y="3145436"/>
                  <a:pt x="6046828" y="3168870"/>
                </a:cubicBezTo>
                <a:cubicBezTo>
                  <a:pt x="6040542" y="3196686"/>
                  <a:pt x="6043210" y="3228119"/>
                  <a:pt x="6031589" y="3252885"/>
                </a:cubicBezTo>
                <a:cubicBezTo>
                  <a:pt x="6019396" y="3278795"/>
                  <a:pt x="6027588" y="3300319"/>
                  <a:pt x="6031017" y="3323372"/>
                </a:cubicBezTo>
                <a:cubicBezTo>
                  <a:pt x="6036353" y="3360139"/>
                  <a:pt x="6046258" y="3396719"/>
                  <a:pt x="6033685" y="3433866"/>
                </a:cubicBezTo>
                <a:cubicBezTo>
                  <a:pt x="6018444" y="3479015"/>
                  <a:pt x="6002060" y="3523785"/>
                  <a:pt x="5987583" y="3569124"/>
                </a:cubicBezTo>
                <a:cubicBezTo>
                  <a:pt x="5982056" y="3586653"/>
                  <a:pt x="5979770" y="3605509"/>
                  <a:pt x="5977295" y="3623799"/>
                </a:cubicBezTo>
                <a:cubicBezTo>
                  <a:pt x="5975197" y="3641134"/>
                  <a:pt x="5980533" y="3661899"/>
                  <a:pt x="5972533" y="3675238"/>
                </a:cubicBezTo>
                <a:cubicBezTo>
                  <a:pt x="5951958" y="3709529"/>
                  <a:pt x="5941860" y="3744770"/>
                  <a:pt x="5941860" y="3784397"/>
                </a:cubicBezTo>
                <a:cubicBezTo>
                  <a:pt x="5941860" y="3799258"/>
                  <a:pt x="5933287" y="3813737"/>
                  <a:pt x="5931762" y="3828785"/>
                </a:cubicBezTo>
                <a:cubicBezTo>
                  <a:pt x="5929858" y="3849362"/>
                  <a:pt x="5924714" y="3872985"/>
                  <a:pt x="5931955" y="3890891"/>
                </a:cubicBezTo>
                <a:cubicBezTo>
                  <a:pt x="5949100" y="3932993"/>
                  <a:pt x="5934810" y="3967091"/>
                  <a:pt x="5917857" y="4003861"/>
                </a:cubicBezTo>
                <a:cubicBezTo>
                  <a:pt x="5901092" y="4040058"/>
                  <a:pt x="5887757" y="4078159"/>
                  <a:pt x="5876707" y="4116641"/>
                </a:cubicBezTo>
                <a:cubicBezTo>
                  <a:pt x="5872706" y="4131119"/>
                  <a:pt x="5879375" y="4148453"/>
                  <a:pt x="5880708" y="4164458"/>
                </a:cubicBezTo>
                <a:cubicBezTo>
                  <a:pt x="5881089" y="4170174"/>
                  <a:pt x="5881661" y="4176461"/>
                  <a:pt x="5879756" y="4181603"/>
                </a:cubicBezTo>
                <a:cubicBezTo>
                  <a:pt x="5861466" y="4231324"/>
                  <a:pt x="5847560" y="4281810"/>
                  <a:pt x="5857085" y="4335722"/>
                </a:cubicBezTo>
                <a:cubicBezTo>
                  <a:pt x="5858038" y="4340674"/>
                  <a:pt x="5855942" y="4346201"/>
                  <a:pt x="5854608" y="4351154"/>
                </a:cubicBezTo>
                <a:cubicBezTo>
                  <a:pt x="5847751" y="4375349"/>
                  <a:pt x="5836892" y="4398972"/>
                  <a:pt x="5834415" y="4423545"/>
                </a:cubicBezTo>
                <a:cubicBezTo>
                  <a:pt x="5828319" y="4484127"/>
                  <a:pt x="5825841" y="4545086"/>
                  <a:pt x="5821841" y="4606053"/>
                </a:cubicBezTo>
                <a:cubicBezTo>
                  <a:pt x="5821653" y="4609863"/>
                  <a:pt x="5821653" y="4613864"/>
                  <a:pt x="5820317" y="4617291"/>
                </a:cubicBezTo>
                <a:cubicBezTo>
                  <a:pt x="5812125" y="4639772"/>
                  <a:pt x="5814794" y="4659393"/>
                  <a:pt x="5830414" y="4678445"/>
                </a:cubicBezTo>
                <a:cubicBezTo>
                  <a:pt x="5837273" y="4686828"/>
                  <a:pt x="5840892" y="4698258"/>
                  <a:pt x="5844703" y="4708734"/>
                </a:cubicBezTo>
                <a:cubicBezTo>
                  <a:pt x="5850418" y="4724167"/>
                  <a:pt x="5855942" y="4739978"/>
                  <a:pt x="5859562" y="4755980"/>
                </a:cubicBezTo>
                <a:cubicBezTo>
                  <a:pt x="5862991" y="4771793"/>
                  <a:pt x="5867753" y="4788747"/>
                  <a:pt x="5865088" y="4803988"/>
                </a:cubicBezTo>
                <a:cubicBezTo>
                  <a:pt x="5860326" y="4831420"/>
                  <a:pt x="5849657" y="4857522"/>
                  <a:pt x="5842606" y="4884572"/>
                </a:cubicBezTo>
                <a:cubicBezTo>
                  <a:pt x="5840129" y="4893907"/>
                  <a:pt x="5840512" y="4904195"/>
                  <a:pt x="5840321" y="4913909"/>
                </a:cubicBezTo>
                <a:cubicBezTo>
                  <a:pt x="5839750" y="4936201"/>
                  <a:pt x="5845274" y="4959061"/>
                  <a:pt x="5829462" y="4979253"/>
                </a:cubicBezTo>
                <a:cubicBezTo>
                  <a:pt x="5814602" y="4997922"/>
                  <a:pt x="5818983" y="5016785"/>
                  <a:pt x="5830223" y="5036405"/>
                </a:cubicBezTo>
                <a:cubicBezTo>
                  <a:pt x="5838225" y="5050504"/>
                  <a:pt x="5844513" y="5066505"/>
                  <a:pt x="5847560" y="5082317"/>
                </a:cubicBezTo>
                <a:cubicBezTo>
                  <a:pt x="5851752" y="5104036"/>
                  <a:pt x="5853466" y="5125562"/>
                  <a:pt x="5850988" y="5148995"/>
                </a:cubicBezTo>
                <a:cubicBezTo>
                  <a:pt x="5849275" y="5165570"/>
                  <a:pt x="5848512" y="5179097"/>
                  <a:pt x="5838416" y="5192051"/>
                </a:cubicBezTo>
                <a:cubicBezTo>
                  <a:pt x="5836892" y="5194145"/>
                  <a:pt x="5836510" y="5197955"/>
                  <a:pt x="5836703" y="5200813"/>
                </a:cubicBezTo>
                <a:cubicBezTo>
                  <a:pt x="5839941" y="5238343"/>
                  <a:pt x="5838225" y="5275491"/>
                  <a:pt x="5835937" y="5313403"/>
                </a:cubicBezTo>
                <a:cubicBezTo>
                  <a:pt x="5832892" y="5361598"/>
                  <a:pt x="5841844" y="5412276"/>
                  <a:pt x="5873849" y="5453995"/>
                </a:cubicBezTo>
                <a:cubicBezTo>
                  <a:pt x="5878613" y="5460092"/>
                  <a:pt x="5880708" y="5469236"/>
                  <a:pt x="5881852" y="5477239"/>
                </a:cubicBezTo>
                <a:cubicBezTo>
                  <a:pt x="5886804" y="5514957"/>
                  <a:pt x="5890233" y="5552869"/>
                  <a:pt x="5895758" y="5590590"/>
                </a:cubicBezTo>
                <a:cubicBezTo>
                  <a:pt x="5898806" y="5611164"/>
                  <a:pt x="5901474" y="5632691"/>
                  <a:pt x="5909856" y="5651360"/>
                </a:cubicBezTo>
                <a:cubicBezTo>
                  <a:pt x="5918047" y="5669647"/>
                  <a:pt x="5927762" y="5684320"/>
                  <a:pt x="5910618" y="5695178"/>
                </a:cubicBezTo>
                <a:cubicBezTo>
                  <a:pt x="5919762" y="5714607"/>
                  <a:pt x="5927383" y="5731564"/>
                  <a:pt x="5935573" y="5748136"/>
                </a:cubicBezTo>
                <a:cubicBezTo>
                  <a:pt x="5938620" y="5754234"/>
                  <a:pt x="5943575" y="5759378"/>
                  <a:pt x="5946433" y="5765474"/>
                </a:cubicBezTo>
                <a:cubicBezTo>
                  <a:pt x="5949481" y="5771953"/>
                  <a:pt x="5951385" y="5779191"/>
                  <a:pt x="5952911" y="5786239"/>
                </a:cubicBezTo>
                <a:cubicBezTo>
                  <a:pt x="5959768" y="5817674"/>
                  <a:pt x="5966054" y="5849107"/>
                  <a:pt x="5973485" y="5880348"/>
                </a:cubicBezTo>
                <a:cubicBezTo>
                  <a:pt x="5975008" y="5886447"/>
                  <a:pt x="5981104" y="5891590"/>
                  <a:pt x="5985103" y="5897114"/>
                </a:cubicBezTo>
                <a:cubicBezTo>
                  <a:pt x="5987772" y="5900735"/>
                  <a:pt x="5991773" y="5904353"/>
                  <a:pt x="5992345" y="5908355"/>
                </a:cubicBezTo>
                <a:cubicBezTo>
                  <a:pt x="5996917" y="5938836"/>
                  <a:pt x="6002252" y="5969124"/>
                  <a:pt x="6004537" y="5999796"/>
                </a:cubicBezTo>
                <a:cubicBezTo>
                  <a:pt x="6006440" y="6025515"/>
                  <a:pt x="6005871" y="6050282"/>
                  <a:pt x="6039018" y="6056948"/>
                </a:cubicBezTo>
                <a:cubicBezTo>
                  <a:pt x="6044734" y="6058092"/>
                  <a:pt x="6050831" y="6066284"/>
                  <a:pt x="6053687" y="6072569"/>
                </a:cubicBezTo>
                <a:cubicBezTo>
                  <a:pt x="6061879" y="6090477"/>
                  <a:pt x="6067404" y="6109530"/>
                  <a:pt x="6075785" y="6127247"/>
                </a:cubicBezTo>
                <a:cubicBezTo>
                  <a:pt x="6103790" y="6185351"/>
                  <a:pt x="6121508" y="6246121"/>
                  <a:pt x="6118269" y="6311084"/>
                </a:cubicBezTo>
                <a:cubicBezTo>
                  <a:pt x="6117317" y="6331277"/>
                  <a:pt x="6107028" y="6350899"/>
                  <a:pt x="6103217" y="6363664"/>
                </a:cubicBezTo>
                <a:cubicBezTo>
                  <a:pt x="6118269" y="6400429"/>
                  <a:pt x="6132747" y="6431292"/>
                  <a:pt x="6143606" y="6463490"/>
                </a:cubicBezTo>
                <a:cubicBezTo>
                  <a:pt x="6153322" y="6491874"/>
                  <a:pt x="6159418" y="6521593"/>
                  <a:pt x="6166466" y="6550742"/>
                </a:cubicBezTo>
                <a:cubicBezTo>
                  <a:pt x="6169135" y="6561411"/>
                  <a:pt x="6170658" y="6572269"/>
                  <a:pt x="6171993" y="6583128"/>
                </a:cubicBezTo>
                <a:cubicBezTo>
                  <a:pt x="6176183" y="6617036"/>
                  <a:pt x="6166086" y="6652472"/>
                  <a:pt x="6182089" y="6685617"/>
                </a:cubicBezTo>
                <a:cubicBezTo>
                  <a:pt x="6190471" y="6702955"/>
                  <a:pt x="6200567" y="6720103"/>
                  <a:pt x="6204949" y="6738388"/>
                </a:cubicBezTo>
                <a:cubicBezTo>
                  <a:pt x="6209712" y="6758011"/>
                  <a:pt x="6217142" y="6777207"/>
                  <a:pt x="6222453" y="6796804"/>
                </a:cubicBezTo>
                <a:lnTo>
                  <a:pt x="6227224" y="6857457"/>
                </a:lnTo>
                <a:lnTo>
                  <a:pt x="6099985" y="6857457"/>
                </a:lnTo>
                <a:lnTo>
                  <a:pt x="6099985" y="6857998"/>
                </a:lnTo>
                <a:lnTo>
                  <a:pt x="0" y="6857998"/>
                </a:lnTo>
                <a:close/>
              </a:path>
            </a:pathLst>
          </a:custGeom>
          <a:effectLst>
            <a:outerShdw blurRad="381000" dist="152400" algn="tl" rotWithShape="0">
              <a:prstClr val="black">
                <a:alpha val="10000"/>
              </a:prstClr>
            </a:outerShdw>
          </a:effectLst>
        </p:spPr>
      </p:pic>
      <p:sp>
        <p:nvSpPr>
          <p:cNvPr id="13" name="Freeform: Shape 12">
            <a:extLst>
              <a:ext uri="{FF2B5EF4-FFF2-40B4-BE49-F238E27FC236}">
                <a16:creationId xmlns:a16="http://schemas.microsoft.com/office/drawing/2014/main" id="{B01367A3-F670-4BD9-9972-F7E97FC227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404000"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8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38C3DB02-606C-40EC-8381-7A29A1ADF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403998"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7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4">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6046179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556532" y="643467"/>
            <a:ext cx="11210925" cy="744836"/>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200" kern="1200" dirty="0">
                <a:solidFill>
                  <a:schemeClr val="bg1"/>
                </a:solidFill>
                <a:latin typeface="+mj-lt"/>
                <a:ea typeface="+mj-ea"/>
                <a:cs typeface="+mj-cs"/>
              </a:rPr>
              <a:t>Report Performance for Lateral unit</a:t>
            </a:r>
          </a:p>
        </p:txBody>
      </p:sp>
      <p:graphicFrame>
        <p:nvGraphicFramePr>
          <p:cNvPr id="8" name="Table 7"/>
          <p:cNvGraphicFramePr>
            <a:graphicFrameLocks noGrp="1"/>
          </p:cNvGraphicFramePr>
          <p:nvPr>
            <p:extLst>
              <p:ext uri="{D42A27DB-BD31-4B8C-83A1-F6EECF244321}">
                <p14:modId xmlns:p14="http://schemas.microsoft.com/office/powerpoint/2010/main" val="2347012544"/>
              </p:ext>
            </p:extLst>
          </p:nvPr>
        </p:nvGraphicFramePr>
        <p:xfrm>
          <a:off x="643467" y="1788394"/>
          <a:ext cx="10905068" cy="4167867"/>
        </p:xfrm>
        <a:graphic>
          <a:graphicData uri="http://schemas.openxmlformats.org/drawingml/2006/table">
            <a:tbl>
              <a:tblPr firstRow="1" firstCol="1" bandRow="1">
                <a:tableStyleId>{9D7B26C5-4107-4FEC-AEDC-1716B250A1EF}</a:tableStyleId>
              </a:tblPr>
              <a:tblGrid>
                <a:gridCol w="1773884">
                  <a:extLst>
                    <a:ext uri="{9D8B030D-6E8A-4147-A177-3AD203B41FA5}">
                      <a16:colId xmlns:a16="http://schemas.microsoft.com/office/drawing/2014/main" val="2658095432"/>
                    </a:ext>
                  </a:extLst>
                </a:gridCol>
                <a:gridCol w="2883373">
                  <a:extLst>
                    <a:ext uri="{9D8B030D-6E8A-4147-A177-3AD203B41FA5}">
                      <a16:colId xmlns:a16="http://schemas.microsoft.com/office/drawing/2014/main" val="561284639"/>
                    </a:ext>
                  </a:extLst>
                </a:gridCol>
                <a:gridCol w="3143409">
                  <a:extLst>
                    <a:ext uri="{9D8B030D-6E8A-4147-A177-3AD203B41FA5}">
                      <a16:colId xmlns:a16="http://schemas.microsoft.com/office/drawing/2014/main" val="1192187515"/>
                    </a:ext>
                  </a:extLst>
                </a:gridCol>
                <a:gridCol w="3104402">
                  <a:extLst>
                    <a:ext uri="{9D8B030D-6E8A-4147-A177-3AD203B41FA5}">
                      <a16:colId xmlns:a16="http://schemas.microsoft.com/office/drawing/2014/main" val="970391352"/>
                    </a:ext>
                  </a:extLst>
                </a:gridCol>
              </a:tblGrid>
              <a:tr h="290721">
                <a:tc>
                  <a:txBody>
                    <a:bodyPr/>
                    <a:lstStyle/>
                    <a:p>
                      <a:pPr algn="ctr">
                        <a:lnSpc>
                          <a:spcPct val="115000"/>
                        </a:lnSpc>
                        <a:spcAft>
                          <a:spcPts val="600"/>
                        </a:spcAft>
                      </a:pPr>
                      <a:r>
                        <a:rPr lang="en-ZA" sz="1500" dirty="0">
                          <a:effectLst/>
                        </a:rPr>
                        <a:t>Requirement No.</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tc>
                  <a:txBody>
                    <a:bodyPr/>
                    <a:lstStyle/>
                    <a:p>
                      <a:pPr algn="ctr">
                        <a:lnSpc>
                          <a:spcPct val="115000"/>
                        </a:lnSpc>
                        <a:spcAft>
                          <a:spcPts val="600"/>
                        </a:spcAft>
                      </a:pPr>
                      <a:r>
                        <a:rPr lang="en-ZA" sz="1500" dirty="0">
                          <a:effectLst/>
                        </a:rPr>
                        <a:t>Description</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tc>
                  <a:txBody>
                    <a:bodyPr/>
                    <a:lstStyle/>
                    <a:p>
                      <a:pPr algn="ctr">
                        <a:lnSpc>
                          <a:spcPct val="115000"/>
                        </a:lnSpc>
                        <a:spcAft>
                          <a:spcPts val="600"/>
                        </a:spcAft>
                      </a:pPr>
                      <a:r>
                        <a:rPr lang="en-ZA" sz="1500" dirty="0">
                          <a:effectLst/>
                        </a:rPr>
                        <a:t>Verification Method</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tc>
                  <a:txBody>
                    <a:bodyPr/>
                    <a:lstStyle/>
                    <a:p>
                      <a:pPr algn="ctr">
                        <a:lnSpc>
                          <a:spcPct val="115000"/>
                        </a:lnSpc>
                        <a:spcAft>
                          <a:spcPts val="600"/>
                        </a:spcAft>
                      </a:pPr>
                      <a:r>
                        <a:rPr lang="en-ZA" sz="1500" dirty="0">
                          <a:effectLst/>
                        </a:rPr>
                        <a:t>Result</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extLst>
                  <a:ext uri="{0D108BD9-81ED-4DB2-BD59-A6C34878D82A}">
                    <a16:rowId xmlns:a16="http://schemas.microsoft.com/office/drawing/2014/main" val="2977360314"/>
                  </a:ext>
                </a:extLst>
              </a:tr>
              <a:tr h="553878">
                <a:tc>
                  <a:txBody>
                    <a:bodyPr/>
                    <a:lstStyle/>
                    <a:p>
                      <a:pPr algn="ctr">
                        <a:lnSpc>
                          <a:spcPct val="115000"/>
                        </a:lnSpc>
                        <a:spcAft>
                          <a:spcPts val="600"/>
                        </a:spcAft>
                      </a:pPr>
                      <a:r>
                        <a:rPr lang="en-ZA" sz="1500" dirty="0">
                          <a:effectLst/>
                        </a:rPr>
                        <a:t>1</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tc>
                  <a:txBody>
                    <a:bodyPr/>
                    <a:lstStyle/>
                    <a:p>
                      <a:pPr algn="ctr">
                        <a:lnSpc>
                          <a:spcPct val="115000"/>
                        </a:lnSpc>
                        <a:spcAft>
                          <a:spcPts val="600"/>
                        </a:spcAft>
                      </a:pPr>
                      <a:r>
                        <a:rPr lang="en-ZA" sz="1500" dirty="0">
                          <a:effectLst/>
                        </a:rPr>
                        <a:t>Lateral Motion Functionality</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tc>
                  <a:txBody>
                    <a:bodyPr/>
                    <a:lstStyle/>
                    <a:p>
                      <a:pPr algn="ctr">
                        <a:lnSpc>
                          <a:spcPct val="115000"/>
                        </a:lnSpc>
                        <a:spcAft>
                          <a:spcPts val="600"/>
                        </a:spcAft>
                      </a:pPr>
                      <a:r>
                        <a:rPr lang="en-ZA" sz="1500" dirty="0">
                          <a:effectLst/>
                        </a:rPr>
                        <a:t>Laboratory integration test and full-track testing</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tc>
                  <a:txBody>
                    <a:bodyPr/>
                    <a:lstStyle/>
                    <a:p>
                      <a:pPr algn="ctr">
                        <a:lnSpc>
                          <a:spcPct val="115000"/>
                        </a:lnSpc>
                        <a:spcAft>
                          <a:spcPts val="600"/>
                        </a:spcAft>
                      </a:pPr>
                      <a:r>
                        <a:rPr lang="en-ZA" sz="1500" dirty="0">
                          <a:effectLst/>
                        </a:rPr>
                        <a:t>Met — smooth forward/reverse motion observed</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extLst>
                  <a:ext uri="{0D108BD9-81ED-4DB2-BD59-A6C34878D82A}">
                    <a16:rowId xmlns:a16="http://schemas.microsoft.com/office/drawing/2014/main" val="1183983111"/>
                  </a:ext>
                </a:extLst>
              </a:tr>
              <a:tr h="553878">
                <a:tc>
                  <a:txBody>
                    <a:bodyPr/>
                    <a:lstStyle/>
                    <a:p>
                      <a:pPr algn="ctr">
                        <a:lnSpc>
                          <a:spcPct val="115000"/>
                        </a:lnSpc>
                        <a:spcAft>
                          <a:spcPts val="600"/>
                        </a:spcAft>
                      </a:pPr>
                      <a:r>
                        <a:rPr lang="en-ZA" sz="1500" dirty="0">
                          <a:effectLst/>
                        </a:rPr>
                        <a:t>2</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tc>
                  <a:txBody>
                    <a:bodyPr/>
                    <a:lstStyle/>
                    <a:p>
                      <a:pPr algn="ctr">
                        <a:lnSpc>
                          <a:spcPct val="115000"/>
                        </a:lnSpc>
                        <a:spcAft>
                          <a:spcPts val="600"/>
                        </a:spcAft>
                      </a:pPr>
                      <a:r>
                        <a:rPr lang="en-ZA" sz="1500" dirty="0">
                          <a:effectLst/>
                        </a:rPr>
                        <a:t>Payload Capacity (50 kg total)</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tc>
                  <a:txBody>
                    <a:bodyPr/>
                    <a:lstStyle/>
                    <a:p>
                      <a:pPr algn="ctr">
                        <a:lnSpc>
                          <a:spcPct val="115000"/>
                        </a:lnSpc>
                        <a:spcAft>
                          <a:spcPts val="600"/>
                        </a:spcAft>
                      </a:pPr>
                      <a:r>
                        <a:rPr lang="en-ZA" sz="1500" dirty="0">
                          <a:effectLst/>
                        </a:rPr>
                        <a:t>Testing with 20 kg (available test load) + structural assessment</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tc>
                  <a:txBody>
                    <a:bodyPr/>
                    <a:lstStyle/>
                    <a:p>
                      <a:pPr algn="ctr">
                        <a:lnSpc>
                          <a:spcPct val="115000"/>
                        </a:lnSpc>
                        <a:spcAft>
                          <a:spcPts val="600"/>
                        </a:spcAft>
                      </a:pPr>
                      <a:r>
                        <a:rPr lang="en-ZA" sz="1500" dirty="0">
                          <a:effectLst/>
                        </a:rPr>
                        <a:t>Met — no stalling, overheating, or instability</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extLst>
                  <a:ext uri="{0D108BD9-81ED-4DB2-BD59-A6C34878D82A}">
                    <a16:rowId xmlns:a16="http://schemas.microsoft.com/office/drawing/2014/main" val="1953792909"/>
                  </a:ext>
                </a:extLst>
              </a:tr>
              <a:tr h="553878">
                <a:tc>
                  <a:txBody>
                    <a:bodyPr/>
                    <a:lstStyle/>
                    <a:p>
                      <a:pPr algn="ctr">
                        <a:lnSpc>
                          <a:spcPct val="115000"/>
                        </a:lnSpc>
                        <a:spcAft>
                          <a:spcPts val="600"/>
                        </a:spcAft>
                      </a:pPr>
                      <a:r>
                        <a:rPr lang="en-ZA" sz="1500" dirty="0">
                          <a:effectLst/>
                        </a:rPr>
                        <a:t>3</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tc>
                  <a:txBody>
                    <a:bodyPr/>
                    <a:lstStyle/>
                    <a:p>
                      <a:pPr algn="ctr">
                        <a:lnSpc>
                          <a:spcPct val="115000"/>
                        </a:lnSpc>
                        <a:spcAft>
                          <a:spcPts val="600"/>
                        </a:spcAft>
                      </a:pPr>
                      <a:r>
                        <a:rPr lang="en-ZA" sz="1500" dirty="0">
                          <a:effectLst/>
                        </a:rPr>
                        <a:t>Speed Requirement (0.25 m/s under load)</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tc>
                  <a:txBody>
                    <a:bodyPr/>
                    <a:lstStyle/>
                    <a:p>
                      <a:pPr algn="ctr">
                        <a:lnSpc>
                          <a:spcPct val="115000"/>
                        </a:lnSpc>
                        <a:spcAft>
                          <a:spcPts val="600"/>
                        </a:spcAft>
                      </a:pPr>
                      <a:r>
                        <a:rPr lang="en-ZA" sz="1500" dirty="0">
                          <a:effectLst/>
                        </a:rPr>
                        <a:t>Speed testing with video analysis</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tc>
                  <a:txBody>
                    <a:bodyPr/>
                    <a:lstStyle/>
                    <a:p>
                      <a:pPr algn="ctr">
                        <a:lnSpc>
                          <a:spcPct val="115000"/>
                        </a:lnSpc>
                        <a:spcAft>
                          <a:spcPts val="600"/>
                        </a:spcAft>
                      </a:pPr>
                      <a:r>
                        <a:rPr lang="en-ZA" sz="1500" dirty="0">
                          <a:effectLst/>
                        </a:rPr>
                        <a:t>Met — measured loaded speed: 0.24 m/s</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extLst>
                  <a:ext uri="{0D108BD9-81ED-4DB2-BD59-A6C34878D82A}">
                    <a16:rowId xmlns:a16="http://schemas.microsoft.com/office/drawing/2014/main" val="164757719"/>
                  </a:ext>
                </a:extLst>
              </a:tr>
              <a:tr h="553878">
                <a:tc>
                  <a:txBody>
                    <a:bodyPr/>
                    <a:lstStyle/>
                    <a:p>
                      <a:pPr algn="ctr">
                        <a:lnSpc>
                          <a:spcPct val="115000"/>
                        </a:lnSpc>
                        <a:spcAft>
                          <a:spcPts val="600"/>
                        </a:spcAft>
                      </a:pPr>
                      <a:r>
                        <a:rPr lang="en-ZA" sz="1500" dirty="0">
                          <a:effectLst/>
                        </a:rPr>
                        <a:t>4</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tc>
                  <a:txBody>
                    <a:bodyPr/>
                    <a:lstStyle/>
                    <a:p>
                      <a:pPr algn="ctr">
                        <a:lnSpc>
                          <a:spcPct val="115000"/>
                        </a:lnSpc>
                        <a:spcAft>
                          <a:spcPts val="600"/>
                        </a:spcAft>
                      </a:pPr>
                      <a:r>
                        <a:rPr lang="en-ZA" sz="1500" dirty="0">
                          <a:effectLst/>
                        </a:rPr>
                        <a:t>Travel Path and Range (4.0 m U-shape)</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tc>
                  <a:txBody>
                    <a:bodyPr/>
                    <a:lstStyle/>
                    <a:p>
                      <a:pPr algn="ctr">
                        <a:lnSpc>
                          <a:spcPct val="115000"/>
                        </a:lnSpc>
                        <a:spcAft>
                          <a:spcPts val="600"/>
                        </a:spcAft>
                      </a:pPr>
                      <a:r>
                        <a:rPr lang="en-ZA" sz="1500" dirty="0">
                          <a:effectLst/>
                        </a:rPr>
                        <a:t>Full-track traversal video test</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tc>
                  <a:txBody>
                    <a:bodyPr/>
                    <a:lstStyle/>
                    <a:p>
                      <a:pPr algn="ctr">
                        <a:lnSpc>
                          <a:spcPct val="115000"/>
                        </a:lnSpc>
                        <a:spcAft>
                          <a:spcPts val="600"/>
                        </a:spcAft>
                      </a:pPr>
                      <a:r>
                        <a:rPr lang="en-ZA" sz="1500" dirty="0">
                          <a:effectLst/>
                        </a:rPr>
                        <a:t>Met — trolley completed full path</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extLst>
                  <a:ext uri="{0D108BD9-81ED-4DB2-BD59-A6C34878D82A}">
                    <a16:rowId xmlns:a16="http://schemas.microsoft.com/office/drawing/2014/main" val="2028488694"/>
                  </a:ext>
                </a:extLst>
              </a:tr>
              <a:tr h="553878">
                <a:tc>
                  <a:txBody>
                    <a:bodyPr/>
                    <a:lstStyle/>
                    <a:p>
                      <a:pPr algn="ctr">
                        <a:lnSpc>
                          <a:spcPct val="115000"/>
                        </a:lnSpc>
                        <a:spcAft>
                          <a:spcPts val="600"/>
                        </a:spcAft>
                      </a:pPr>
                      <a:r>
                        <a:rPr lang="en-ZA" sz="1500" dirty="0">
                          <a:effectLst/>
                        </a:rPr>
                        <a:t>5</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tc>
                  <a:txBody>
                    <a:bodyPr/>
                    <a:lstStyle/>
                    <a:p>
                      <a:pPr algn="ctr">
                        <a:lnSpc>
                          <a:spcPct val="115000"/>
                        </a:lnSpc>
                        <a:spcAft>
                          <a:spcPts val="600"/>
                        </a:spcAft>
                      </a:pPr>
                      <a:r>
                        <a:rPr lang="en-ZA" sz="1500" dirty="0">
                          <a:effectLst/>
                        </a:rPr>
                        <a:t>Contact and Stability</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tc>
                  <a:txBody>
                    <a:bodyPr/>
                    <a:lstStyle/>
                    <a:p>
                      <a:pPr algn="ctr">
                        <a:lnSpc>
                          <a:spcPct val="115000"/>
                        </a:lnSpc>
                        <a:spcAft>
                          <a:spcPts val="600"/>
                        </a:spcAft>
                      </a:pPr>
                      <a:r>
                        <a:rPr lang="en-ZA" sz="1500" dirty="0">
                          <a:effectLst/>
                        </a:rPr>
                        <a:t>Visual inspection during movement</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tc>
                  <a:txBody>
                    <a:bodyPr/>
                    <a:lstStyle/>
                    <a:p>
                      <a:pPr algn="ctr">
                        <a:lnSpc>
                          <a:spcPct val="115000"/>
                        </a:lnSpc>
                        <a:spcAft>
                          <a:spcPts val="600"/>
                        </a:spcAft>
                      </a:pPr>
                      <a:r>
                        <a:rPr lang="en-ZA" sz="1500" dirty="0">
                          <a:effectLst/>
                        </a:rPr>
                        <a:t>Met — all wheels maintained contact; no tilt observed</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extLst>
                  <a:ext uri="{0D108BD9-81ED-4DB2-BD59-A6C34878D82A}">
                    <a16:rowId xmlns:a16="http://schemas.microsoft.com/office/drawing/2014/main" val="2062118338"/>
                  </a:ext>
                </a:extLst>
              </a:tr>
              <a:tr h="553878">
                <a:tc>
                  <a:txBody>
                    <a:bodyPr/>
                    <a:lstStyle/>
                    <a:p>
                      <a:pPr algn="ctr">
                        <a:lnSpc>
                          <a:spcPct val="115000"/>
                        </a:lnSpc>
                        <a:spcAft>
                          <a:spcPts val="600"/>
                        </a:spcAft>
                      </a:pPr>
                      <a:r>
                        <a:rPr lang="en-ZA" sz="1500" dirty="0">
                          <a:effectLst/>
                        </a:rPr>
                        <a:t>6</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tc>
                  <a:txBody>
                    <a:bodyPr/>
                    <a:lstStyle/>
                    <a:p>
                      <a:pPr algn="ctr">
                        <a:lnSpc>
                          <a:spcPct val="115000"/>
                        </a:lnSpc>
                        <a:spcAft>
                          <a:spcPts val="600"/>
                        </a:spcAft>
                      </a:pPr>
                      <a:r>
                        <a:rPr lang="en-ZA" sz="1500" dirty="0">
                          <a:effectLst/>
                        </a:rPr>
                        <a:t>Derailment Prevention</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tc>
                  <a:txBody>
                    <a:bodyPr/>
                    <a:lstStyle/>
                    <a:p>
                      <a:pPr algn="ctr">
                        <a:lnSpc>
                          <a:spcPct val="115000"/>
                        </a:lnSpc>
                        <a:spcAft>
                          <a:spcPts val="600"/>
                        </a:spcAft>
                      </a:pPr>
                      <a:r>
                        <a:rPr lang="en-ZA" sz="1500" dirty="0">
                          <a:effectLst/>
                        </a:rPr>
                        <a:t>Track testing with start/stop and cornering</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tc>
                  <a:txBody>
                    <a:bodyPr/>
                    <a:lstStyle/>
                    <a:p>
                      <a:pPr algn="ctr">
                        <a:lnSpc>
                          <a:spcPct val="115000"/>
                        </a:lnSpc>
                        <a:spcAft>
                          <a:spcPts val="600"/>
                        </a:spcAft>
                      </a:pPr>
                      <a:r>
                        <a:rPr lang="en-ZA" sz="1500" dirty="0">
                          <a:effectLst/>
                        </a:rPr>
                        <a:t>Met — no derailment or wheel lifting</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extLst>
                  <a:ext uri="{0D108BD9-81ED-4DB2-BD59-A6C34878D82A}">
                    <a16:rowId xmlns:a16="http://schemas.microsoft.com/office/drawing/2014/main" val="1107865618"/>
                  </a:ext>
                </a:extLst>
              </a:tr>
              <a:tr h="553878">
                <a:tc>
                  <a:txBody>
                    <a:bodyPr/>
                    <a:lstStyle/>
                    <a:p>
                      <a:pPr algn="ctr">
                        <a:lnSpc>
                          <a:spcPct val="115000"/>
                        </a:lnSpc>
                        <a:spcAft>
                          <a:spcPts val="600"/>
                        </a:spcAft>
                      </a:pPr>
                      <a:r>
                        <a:rPr lang="en-ZA" sz="1500" dirty="0">
                          <a:effectLst/>
                        </a:rPr>
                        <a:t>7</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tc>
                  <a:txBody>
                    <a:bodyPr/>
                    <a:lstStyle/>
                    <a:p>
                      <a:pPr algn="ctr">
                        <a:lnSpc>
                          <a:spcPct val="115000"/>
                        </a:lnSpc>
                        <a:spcAft>
                          <a:spcPts val="600"/>
                        </a:spcAft>
                      </a:pPr>
                      <a:r>
                        <a:rPr lang="en-ZA" sz="1500" dirty="0">
                          <a:effectLst/>
                        </a:rPr>
                        <a:t>Control and Safety Integration</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tc>
                  <a:txBody>
                    <a:bodyPr/>
                    <a:lstStyle/>
                    <a:p>
                      <a:pPr algn="ctr">
                        <a:lnSpc>
                          <a:spcPct val="115000"/>
                        </a:lnSpc>
                        <a:spcAft>
                          <a:spcPts val="600"/>
                        </a:spcAft>
                      </a:pPr>
                      <a:r>
                        <a:rPr lang="en-ZA" sz="1500" dirty="0">
                          <a:effectLst/>
                        </a:rPr>
                        <a:t>Wireless pendant + controller integration test</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tc>
                  <a:txBody>
                    <a:bodyPr/>
                    <a:lstStyle/>
                    <a:p>
                      <a:pPr algn="ctr">
                        <a:lnSpc>
                          <a:spcPct val="115000"/>
                        </a:lnSpc>
                        <a:spcAft>
                          <a:spcPts val="600"/>
                        </a:spcAft>
                      </a:pPr>
                      <a:r>
                        <a:rPr lang="en-ZA" sz="1500" dirty="0">
                          <a:effectLst/>
                        </a:rPr>
                        <a:t>Met — smooth control, stable PWM behaviour</a:t>
                      </a:r>
                      <a:endParaRPr lang="en-ZA" sz="1500" dirty="0">
                        <a:effectLst/>
                        <a:latin typeface="Arial" panose="020B0604020202020204" pitchFamily="34" charset="0"/>
                        <a:ea typeface="Calibri" panose="020F0502020204030204" pitchFamily="34" charset="0"/>
                        <a:cs typeface="Times New Roman" panose="02020603050405020304" pitchFamily="18" charset="0"/>
                      </a:endParaRPr>
                    </a:p>
                  </a:txBody>
                  <a:tcPr marL="93613" marR="93613" marT="0" marB="0"/>
                </a:tc>
                <a:extLst>
                  <a:ext uri="{0D108BD9-81ED-4DB2-BD59-A6C34878D82A}">
                    <a16:rowId xmlns:a16="http://schemas.microsoft.com/office/drawing/2014/main" val="54286703"/>
                  </a:ext>
                </a:extLst>
              </a:tr>
            </a:tbl>
          </a:graphicData>
        </a:graphic>
      </p:graphicFrame>
    </p:spTree>
    <p:extLst>
      <p:ext uri="{BB962C8B-B14F-4D97-AF65-F5344CB8AC3E}">
        <p14:creationId xmlns:p14="http://schemas.microsoft.com/office/powerpoint/2010/main" val="27394993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5964CBE2-084A-47DF-A704-CF5F6217B5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A7A3FC34-8248-B2F6-BD5C-2EB597609C91}"/>
              </a:ext>
            </a:extLst>
          </p:cNvPr>
          <p:cNvSpPr txBox="1"/>
          <p:nvPr/>
        </p:nvSpPr>
        <p:spPr>
          <a:xfrm>
            <a:off x="838199" y="1174819"/>
            <a:ext cx="4826795" cy="2858363"/>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7200" dirty="0">
                <a:solidFill>
                  <a:schemeClr val="bg1"/>
                </a:solidFill>
                <a:latin typeface="+mj-lt"/>
                <a:ea typeface="+mj-ea"/>
                <a:cs typeface="+mj-cs"/>
              </a:rPr>
              <a:t>Hoisting Mechanism</a:t>
            </a:r>
          </a:p>
        </p:txBody>
      </p:sp>
      <p:sp>
        <p:nvSpPr>
          <p:cNvPr id="4" name="TextBox 3">
            <a:extLst>
              <a:ext uri="{FF2B5EF4-FFF2-40B4-BE49-F238E27FC236}">
                <a16:creationId xmlns:a16="http://schemas.microsoft.com/office/drawing/2014/main" id="{FE1B46AA-D9D4-6B75-B68E-9F4E16C0EF34}"/>
              </a:ext>
            </a:extLst>
          </p:cNvPr>
          <p:cNvSpPr txBox="1"/>
          <p:nvPr/>
        </p:nvSpPr>
        <p:spPr>
          <a:xfrm>
            <a:off x="835024" y="4414180"/>
            <a:ext cx="4830283" cy="1594507"/>
          </a:xfrm>
          <a:prstGeom prst="rect">
            <a:avLst/>
          </a:prstGeom>
        </p:spPr>
        <p:txBody>
          <a:bodyPr vert="horz" lIns="91440" tIns="45720" rIns="91440" bIns="45720" rtlCol="0">
            <a:normAutofit/>
          </a:bodyPr>
          <a:lstStyle/>
          <a:p>
            <a:pPr>
              <a:lnSpc>
                <a:spcPct val="90000"/>
              </a:lnSpc>
              <a:spcBef>
                <a:spcPts val="1000"/>
              </a:spcBef>
            </a:pPr>
            <a:r>
              <a:rPr lang="en-US" sz="2400" dirty="0">
                <a:solidFill>
                  <a:schemeClr val="bg1"/>
                </a:solidFill>
              </a:rPr>
              <a:t>Video link for lifting test (https://youtube.com/shorts/1gToyO-XPMc)</a:t>
            </a:r>
          </a:p>
        </p:txBody>
      </p:sp>
      <p:pic>
        <p:nvPicPr>
          <p:cNvPr id="3" name="Picture 2">
            <a:extLst>
              <a:ext uri="{FF2B5EF4-FFF2-40B4-BE49-F238E27FC236}">
                <a16:creationId xmlns:a16="http://schemas.microsoft.com/office/drawing/2014/main" id="{E990604E-8F60-054B-8F32-FB08799ACBE3}"/>
              </a:ext>
            </a:extLst>
          </p:cNvPr>
          <p:cNvPicPr>
            <a:picLocks noChangeAspect="1"/>
          </p:cNvPicPr>
          <p:nvPr/>
        </p:nvPicPr>
        <p:blipFill>
          <a:blip r:embed="rId3"/>
          <a:srcRect l="-59" t="31113" r="61" b="1777"/>
          <a:stretch>
            <a:fillRect/>
          </a:stretch>
        </p:blipFill>
        <p:spPr>
          <a:xfrm>
            <a:off x="6092826" y="716684"/>
            <a:ext cx="5260975" cy="4707593"/>
          </a:xfrm>
          <a:custGeom>
            <a:avLst/>
            <a:gdLst/>
            <a:ahLst/>
            <a:cxnLst/>
            <a:rect l="l" t="t" r="r" b="b"/>
            <a:pathLst>
              <a:path w="5260975" h="4707593">
                <a:moveTo>
                  <a:pt x="0" y="0"/>
                </a:moveTo>
                <a:lnTo>
                  <a:pt x="5260975" y="0"/>
                </a:lnTo>
                <a:lnTo>
                  <a:pt x="5260975" y="3296937"/>
                </a:lnTo>
                <a:lnTo>
                  <a:pt x="5260975" y="3518571"/>
                </a:lnTo>
                <a:lnTo>
                  <a:pt x="5226503"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3" y="3748498"/>
                  <a:pt x="4977440" y="3752627"/>
                </a:cubicBezTo>
                <a:cubicBezTo>
                  <a:pt x="4964094" y="3761268"/>
                  <a:pt x="4949499" y="3768277"/>
                  <a:pt x="4935193" y="3775382"/>
                </a:cubicBezTo>
                <a:cubicBezTo>
                  <a:pt x="4922903" y="3781431"/>
                  <a:pt x="4909845" y="3785943"/>
                  <a:pt x="4897844" y="3792472"/>
                </a:cubicBezTo>
                <a:cubicBezTo>
                  <a:pt x="4888243" y="3797658"/>
                  <a:pt x="4879697" y="3804859"/>
                  <a:pt x="4870767" y="3811388"/>
                </a:cubicBezTo>
                <a:cubicBezTo>
                  <a:pt x="4862990" y="3817052"/>
                  <a:pt x="4854445" y="3821949"/>
                  <a:pt x="4847916"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1" y="4077254"/>
                  <a:pt x="4512727" y="4081479"/>
                  <a:pt x="4502549" y="4089832"/>
                </a:cubicBezTo>
                <a:cubicBezTo>
                  <a:pt x="4491987" y="4098473"/>
                  <a:pt x="4479986" y="4105290"/>
                  <a:pt x="4468944" y="4113356"/>
                </a:cubicBezTo>
                <a:cubicBezTo>
                  <a:pt x="4463087" y="4117676"/>
                  <a:pt x="4458286" y="4123341"/>
                  <a:pt x="4452622"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effectLst>
            <a:outerShdw blurRad="381000" dist="152400" dir="5400000" algn="t" rotWithShape="0">
              <a:prstClr val="black">
                <a:alpha val="10000"/>
              </a:prstClr>
            </a:outerShdw>
          </a:effectLst>
        </p:spPr>
      </p:pic>
      <p:sp>
        <p:nvSpPr>
          <p:cNvPr id="57" name="Freeform: Shape 56">
            <a:extLst>
              <a:ext uri="{FF2B5EF4-FFF2-40B4-BE49-F238E27FC236}">
                <a16:creationId xmlns:a16="http://schemas.microsoft.com/office/drawing/2014/main" id="{686A5CBB-E03B-4019-8BCD-78975D39E4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9" name="Freeform: Shape 58">
            <a:extLst>
              <a:ext uri="{FF2B5EF4-FFF2-40B4-BE49-F238E27FC236}">
                <a16:creationId xmlns:a16="http://schemas.microsoft.com/office/drawing/2014/main" id="{94993204-9792-4E61-A83C-73D4379E2B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4138312"/>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4">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7137455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644DC1-8A78-DF59-834F-43E1740DC8E7}"/>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352B3B85-2603-42BA-1ED4-B9145F33815A}"/>
              </a:ext>
            </a:extLst>
          </p:cNvPr>
          <p:cNvSpPr txBox="1"/>
          <p:nvPr/>
        </p:nvSpPr>
        <p:spPr>
          <a:xfrm>
            <a:off x="742950" y="742951"/>
            <a:ext cx="3476625" cy="4962524"/>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800" kern="1200" dirty="0">
                <a:solidFill>
                  <a:srgbClr val="FFFFFF"/>
                </a:solidFill>
                <a:latin typeface="+mj-lt"/>
                <a:ea typeface="+mj-ea"/>
                <a:cs typeface="+mj-cs"/>
              </a:rPr>
              <a:t>Report Performance for Hoisting Mechanism</a:t>
            </a:r>
          </a:p>
        </p:txBody>
      </p:sp>
      <p:graphicFrame>
        <p:nvGraphicFramePr>
          <p:cNvPr id="8" name="Table 7">
            <a:extLst>
              <a:ext uri="{FF2B5EF4-FFF2-40B4-BE49-F238E27FC236}">
                <a16:creationId xmlns:a16="http://schemas.microsoft.com/office/drawing/2014/main" id="{79D8711F-0138-4989-695F-AE5BEF0D2049}"/>
              </a:ext>
            </a:extLst>
          </p:cNvPr>
          <p:cNvGraphicFramePr>
            <a:graphicFrameLocks noGrp="1"/>
          </p:cNvGraphicFramePr>
          <p:nvPr>
            <p:extLst>
              <p:ext uri="{D42A27DB-BD31-4B8C-83A1-F6EECF244321}">
                <p14:modId xmlns:p14="http://schemas.microsoft.com/office/powerpoint/2010/main" val="4258932665"/>
              </p:ext>
            </p:extLst>
          </p:nvPr>
        </p:nvGraphicFramePr>
        <p:xfrm>
          <a:off x="5153822" y="754088"/>
          <a:ext cx="6701295" cy="4161201"/>
        </p:xfrm>
        <a:graphic>
          <a:graphicData uri="http://schemas.openxmlformats.org/drawingml/2006/table">
            <a:tbl>
              <a:tblPr firstRow="1" firstCol="1" bandRow="1">
                <a:tableStyleId>{9D7B26C5-4107-4FEC-AEDC-1716B250A1EF}</a:tableStyleId>
              </a:tblPr>
              <a:tblGrid>
                <a:gridCol w="1246836">
                  <a:extLst>
                    <a:ext uri="{9D8B030D-6E8A-4147-A177-3AD203B41FA5}">
                      <a16:colId xmlns:a16="http://schemas.microsoft.com/office/drawing/2014/main" val="2658095432"/>
                    </a:ext>
                  </a:extLst>
                </a:gridCol>
                <a:gridCol w="1680265">
                  <a:extLst>
                    <a:ext uri="{9D8B030D-6E8A-4147-A177-3AD203B41FA5}">
                      <a16:colId xmlns:a16="http://schemas.microsoft.com/office/drawing/2014/main" val="561284639"/>
                    </a:ext>
                  </a:extLst>
                </a:gridCol>
                <a:gridCol w="1925922">
                  <a:extLst>
                    <a:ext uri="{9D8B030D-6E8A-4147-A177-3AD203B41FA5}">
                      <a16:colId xmlns:a16="http://schemas.microsoft.com/office/drawing/2014/main" val="1192187515"/>
                    </a:ext>
                  </a:extLst>
                </a:gridCol>
                <a:gridCol w="1848272">
                  <a:extLst>
                    <a:ext uri="{9D8B030D-6E8A-4147-A177-3AD203B41FA5}">
                      <a16:colId xmlns:a16="http://schemas.microsoft.com/office/drawing/2014/main" val="970391352"/>
                    </a:ext>
                  </a:extLst>
                </a:gridCol>
              </a:tblGrid>
              <a:tr h="469658">
                <a:tc>
                  <a:txBody>
                    <a:bodyPr/>
                    <a:lstStyle/>
                    <a:p>
                      <a:pPr algn="ctr">
                        <a:lnSpc>
                          <a:spcPct val="115000"/>
                        </a:lnSpc>
                        <a:spcAft>
                          <a:spcPts val="600"/>
                        </a:spcAft>
                      </a:pPr>
                      <a:r>
                        <a:rPr lang="en-ZA" sz="1300" dirty="0">
                          <a:effectLst/>
                        </a:rPr>
                        <a:t>Requirement No.</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Description</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Verification Method</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Result</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extLst>
                  <a:ext uri="{0D108BD9-81ED-4DB2-BD59-A6C34878D82A}">
                    <a16:rowId xmlns:a16="http://schemas.microsoft.com/office/drawing/2014/main" val="2977360314"/>
                  </a:ext>
                </a:extLst>
              </a:tr>
              <a:tr h="698302">
                <a:tc>
                  <a:txBody>
                    <a:bodyPr/>
                    <a:lstStyle/>
                    <a:p>
                      <a:pPr algn="ctr">
                        <a:lnSpc>
                          <a:spcPct val="115000"/>
                        </a:lnSpc>
                        <a:spcAft>
                          <a:spcPts val="600"/>
                        </a:spcAft>
                      </a:pPr>
                      <a:r>
                        <a:rPr lang="en-ZA" sz="1300" dirty="0">
                          <a:effectLst/>
                        </a:rPr>
                        <a:t>1</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Vertical Motion Functionality</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Laboratory test and Integration test</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Met — smooth upward/downward motion observed</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extLst>
                  <a:ext uri="{0D108BD9-81ED-4DB2-BD59-A6C34878D82A}">
                    <a16:rowId xmlns:a16="http://schemas.microsoft.com/office/drawing/2014/main" val="1183983111"/>
                  </a:ext>
                </a:extLst>
              </a:tr>
              <a:tr h="698302">
                <a:tc>
                  <a:txBody>
                    <a:bodyPr/>
                    <a:lstStyle/>
                    <a:p>
                      <a:pPr algn="ctr">
                        <a:lnSpc>
                          <a:spcPct val="115000"/>
                        </a:lnSpc>
                        <a:spcAft>
                          <a:spcPts val="600"/>
                        </a:spcAft>
                      </a:pPr>
                      <a:r>
                        <a:rPr lang="en-ZA" sz="1300" dirty="0">
                          <a:effectLst/>
                        </a:rPr>
                        <a:t>2</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Payload Capacity </a:t>
                      </a:r>
                    </a:p>
                    <a:p>
                      <a:pPr algn="ctr">
                        <a:lnSpc>
                          <a:spcPct val="115000"/>
                        </a:lnSpc>
                        <a:spcAft>
                          <a:spcPts val="600"/>
                        </a:spcAft>
                      </a:pPr>
                      <a:r>
                        <a:rPr lang="en-ZA" sz="1300" dirty="0">
                          <a:effectLst/>
                        </a:rPr>
                        <a:t>(35 kg total)</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Testing with 20 kg (available test load) + structural assessment</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Met — payload was raised easily without slipping </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extLst>
                  <a:ext uri="{0D108BD9-81ED-4DB2-BD59-A6C34878D82A}">
                    <a16:rowId xmlns:a16="http://schemas.microsoft.com/office/drawing/2014/main" val="1953792909"/>
                  </a:ext>
                </a:extLst>
              </a:tr>
              <a:tr h="698302">
                <a:tc>
                  <a:txBody>
                    <a:bodyPr/>
                    <a:lstStyle/>
                    <a:p>
                      <a:pPr algn="ctr">
                        <a:lnSpc>
                          <a:spcPct val="115000"/>
                        </a:lnSpc>
                        <a:spcAft>
                          <a:spcPts val="600"/>
                        </a:spcAft>
                      </a:pPr>
                      <a:r>
                        <a:rPr lang="en-ZA" sz="1300" dirty="0">
                          <a:effectLst/>
                        </a:rPr>
                        <a:t>3</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Speed Requirement (0.05 m/s under load)</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Speed testing with video analysis</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Met — measured loaded speed: 0.06 m/s</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extLst>
                  <a:ext uri="{0D108BD9-81ED-4DB2-BD59-A6C34878D82A}">
                    <a16:rowId xmlns:a16="http://schemas.microsoft.com/office/drawing/2014/main" val="164757719"/>
                  </a:ext>
                </a:extLst>
              </a:tr>
              <a:tr h="698302">
                <a:tc>
                  <a:txBody>
                    <a:bodyPr/>
                    <a:lstStyle/>
                    <a:p>
                      <a:pPr algn="ctr">
                        <a:lnSpc>
                          <a:spcPct val="115000"/>
                        </a:lnSpc>
                        <a:spcAft>
                          <a:spcPts val="600"/>
                        </a:spcAft>
                      </a:pPr>
                      <a:r>
                        <a:rPr lang="en-US" sz="1300" dirty="0">
                          <a:effectLst/>
                          <a:latin typeface="Arial" panose="020B0604020202020204" pitchFamily="34" charset="0"/>
                          <a:ea typeface="Calibri" panose="020F0502020204030204" pitchFamily="34" charset="0"/>
                          <a:cs typeface="Times New Roman" panose="02020603050405020304" pitchFamily="18" charset="0"/>
                        </a:rPr>
                        <a:t>4</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Torque Conversion</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US" sz="1300" dirty="0">
                          <a:effectLst/>
                          <a:latin typeface="Arial" panose="020B0604020202020204" pitchFamily="34" charset="0"/>
                          <a:ea typeface="Calibri" panose="020F0502020204030204" pitchFamily="34" charset="0"/>
                          <a:cs typeface="Times New Roman" panose="02020603050405020304" pitchFamily="18" charset="0"/>
                        </a:rPr>
                        <a:t>Operate</a:t>
                      </a:r>
                      <a:r>
                        <a:rPr lang="en-ZA" sz="1300" dirty="0">
                          <a:effectLst/>
                          <a:latin typeface="Arial" panose="020B0604020202020204" pitchFamily="34" charset="0"/>
                          <a:ea typeface="Calibri" panose="020F0502020204030204" pitchFamily="34" charset="0"/>
                          <a:cs typeface="Times New Roman" panose="02020603050405020304" pitchFamily="18" charset="0"/>
                        </a:rPr>
                        <a:t> system with a load</a:t>
                      </a:r>
                    </a:p>
                  </a:txBody>
                  <a:tcPr marL="81418" marR="81418" marT="0" marB="0"/>
                </a:tc>
                <a:tc>
                  <a:txBody>
                    <a:bodyPr/>
                    <a:lstStyle/>
                    <a:p>
                      <a:pPr algn="ctr">
                        <a:lnSpc>
                          <a:spcPct val="115000"/>
                        </a:lnSpc>
                        <a:spcAft>
                          <a:spcPts val="600"/>
                        </a:spcAft>
                      </a:pPr>
                      <a:r>
                        <a:rPr lang="en-ZA" sz="1300" dirty="0">
                          <a:effectLst/>
                        </a:rPr>
                        <a:t>Met — output speed was reduced and output torque increased</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extLst>
                  <a:ext uri="{0D108BD9-81ED-4DB2-BD59-A6C34878D82A}">
                    <a16:rowId xmlns:a16="http://schemas.microsoft.com/office/drawing/2014/main" val="2062118338"/>
                  </a:ext>
                </a:extLst>
              </a:tr>
              <a:tr h="698302">
                <a:tc>
                  <a:txBody>
                    <a:bodyPr/>
                    <a:lstStyle/>
                    <a:p>
                      <a:pPr algn="ctr">
                        <a:lnSpc>
                          <a:spcPct val="115000"/>
                        </a:lnSpc>
                        <a:spcAft>
                          <a:spcPts val="600"/>
                        </a:spcAft>
                      </a:pPr>
                      <a:r>
                        <a:rPr lang="en-US" sz="1300" dirty="0">
                          <a:effectLst/>
                          <a:latin typeface="Arial" panose="020B0604020202020204" pitchFamily="34" charset="0"/>
                          <a:ea typeface="Calibri" panose="020F0502020204030204" pitchFamily="34" charset="0"/>
                          <a:cs typeface="Times New Roman" panose="02020603050405020304" pitchFamily="18" charset="0"/>
                        </a:rPr>
                        <a:t>5</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Breaking mechanism</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Add load to system while motor in idle</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Met — no slipping of worm gear and load stayed stationary</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extLst>
                  <a:ext uri="{0D108BD9-81ED-4DB2-BD59-A6C34878D82A}">
                    <a16:rowId xmlns:a16="http://schemas.microsoft.com/office/drawing/2014/main" val="1107865618"/>
                  </a:ext>
                </a:extLst>
              </a:tr>
            </a:tbl>
          </a:graphicData>
        </a:graphic>
      </p:graphicFrame>
    </p:spTree>
    <p:extLst>
      <p:ext uri="{BB962C8B-B14F-4D97-AF65-F5344CB8AC3E}">
        <p14:creationId xmlns:p14="http://schemas.microsoft.com/office/powerpoint/2010/main" val="19504543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CAF05C-D13E-68D9-F26A-A71A46E06EA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4709A31D-27A0-4A2C-E5A6-C0E0A98C97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5">
            <a:extLst>
              <a:ext uri="{FF2B5EF4-FFF2-40B4-BE49-F238E27FC236}">
                <a16:creationId xmlns:a16="http://schemas.microsoft.com/office/drawing/2014/main" id="{E6B3FEC8-7DF8-86E9-6271-5269F933C189}"/>
              </a:ext>
            </a:extLst>
          </p:cNvPr>
          <p:cNvSpPr>
            <a:spLocks noGrp="1"/>
          </p:cNvSpPr>
          <p:nvPr>
            <p:ph type="title"/>
          </p:nvPr>
        </p:nvSpPr>
        <p:spPr>
          <a:xfrm>
            <a:off x="6098347" y="1179934"/>
            <a:ext cx="5921236" cy="920640"/>
          </a:xfrm>
        </p:spPr>
        <p:txBody>
          <a:bodyPr vert="horz" lIns="91440" tIns="45720" rIns="91440" bIns="45720" rtlCol="0" anchor="b">
            <a:noAutofit/>
          </a:bodyPr>
          <a:lstStyle/>
          <a:p>
            <a:pPr algn="r"/>
            <a:r>
              <a:rPr lang="en-US" sz="4000" dirty="0">
                <a:solidFill>
                  <a:schemeClr val="bg1"/>
                </a:solidFill>
              </a:rPr>
              <a:t>Drive Electronics(H-Bridge)</a:t>
            </a:r>
          </a:p>
        </p:txBody>
      </p:sp>
      <p:sp>
        <p:nvSpPr>
          <p:cNvPr id="4" name="Rectangle 3">
            <a:extLst>
              <a:ext uri="{FF2B5EF4-FFF2-40B4-BE49-F238E27FC236}">
                <a16:creationId xmlns:a16="http://schemas.microsoft.com/office/drawing/2014/main" id="{EDF0899B-634A-3D17-69BB-10BDA619C96D}"/>
              </a:ext>
            </a:extLst>
          </p:cNvPr>
          <p:cNvSpPr/>
          <p:nvPr/>
        </p:nvSpPr>
        <p:spPr>
          <a:xfrm>
            <a:off x="6979182" y="2757659"/>
            <a:ext cx="4377793" cy="2541059"/>
          </a:xfrm>
          <a:prstGeom prst="rect">
            <a:avLst/>
          </a:prstGeom>
        </p:spPr>
        <p:txBody>
          <a:bodyPr vert="horz" lIns="91440" tIns="45720" rIns="91440" bIns="45720" rtlCol="0" anchor="t">
            <a:normAutofit lnSpcReduction="10000"/>
          </a:bodyPr>
          <a:lstStyle/>
          <a:p>
            <a:pPr algn="ctr">
              <a:lnSpc>
                <a:spcPct val="90000"/>
              </a:lnSpc>
              <a:spcBef>
                <a:spcPts val="1000"/>
              </a:spcBef>
              <a:spcAft>
                <a:spcPts val="600"/>
              </a:spcAft>
            </a:pPr>
            <a:r>
              <a:rPr lang="en-US" sz="2000" dirty="0">
                <a:solidFill>
                  <a:schemeClr val="bg1"/>
                </a:solidFill>
              </a:rPr>
              <a:t>The video link (</a:t>
            </a:r>
            <a:r>
              <a:rPr lang="en-US" sz="2000" dirty="0">
                <a:solidFill>
                  <a:schemeClr val="bg1"/>
                </a:solidFill>
                <a:ea typeface="+mn-lt"/>
                <a:cs typeface="+mn-lt"/>
                <a:hlinkClick r:id="rId2">
                  <a:extLst>
                    <a:ext uri="{A12FA001-AC4F-418D-AE19-62706E023703}">
                      <ahyp:hlinkClr xmlns:ahyp="http://schemas.microsoft.com/office/drawing/2018/hyperlinkcolor" val="tx"/>
                    </a:ext>
                  </a:extLst>
                </a:hlinkClick>
              </a:rPr>
              <a:t>Video 4.mp4</a:t>
            </a:r>
            <a:r>
              <a:rPr lang="en-US" sz="2000" dirty="0">
                <a:solidFill>
                  <a:schemeClr val="bg1"/>
                </a:solidFill>
              </a:rPr>
              <a:t> ) demonstrates that the H-bridge functions well on low voltage. It was able to rotate the motor both clockwise and anti-clockwise with the help of the MCU and the Vertical Movement Teammates. I had to add snubber circuits to reduce ringing in the circuit.</a:t>
            </a:r>
            <a:endParaRPr lang="en-US" dirty="0">
              <a:solidFill>
                <a:schemeClr val="bg1"/>
              </a:solidFill>
            </a:endParaRPr>
          </a:p>
        </p:txBody>
      </p:sp>
      <p:pic>
        <p:nvPicPr>
          <p:cNvPr id="2" name="Picture 1" descr="A circuit board with wires and wires on a table&#10;&#10;AI-generated content may be incorrect.">
            <a:extLst>
              <a:ext uri="{FF2B5EF4-FFF2-40B4-BE49-F238E27FC236}">
                <a16:creationId xmlns:a16="http://schemas.microsoft.com/office/drawing/2014/main" id="{7D77F46A-3ED2-7276-AC05-1B67D5B8CA86}"/>
              </a:ext>
            </a:extLst>
          </p:cNvPr>
          <p:cNvPicPr>
            <a:picLocks noChangeAspect="1"/>
          </p:cNvPicPr>
          <p:nvPr/>
        </p:nvPicPr>
        <p:blipFill>
          <a:blip r:embed="rId3"/>
          <a:srcRect t="8847" b="8847"/>
          <a:stretch>
            <a:fillRect/>
          </a:stretch>
        </p:blipFill>
        <p:spPr>
          <a:xfrm>
            <a:off x="1" y="2"/>
            <a:ext cx="6249303" cy="6857998"/>
          </a:xfrm>
          <a:custGeom>
            <a:avLst/>
            <a:gdLst/>
            <a:ahLst/>
            <a:cxnLst/>
            <a:rect l="l" t="t" r="r" b="b"/>
            <a:pathLst>
              <a:path w="6249303" h="6857998">
                <a:moveTo>
                  <a:pt x="5497146" y="6118149"/>
                </a:moveTo>
                <a:cubicBezTo>
                  <a:pt x="5503695" y="6124102"/>
                  <a:pt x="5511317" y="6129341"/>
                  <a:pt x="5518366" y="6133723"/>
                </a:cubicBezTo>
                <a:cubicBezTo>
                  <a:pt x="5525509" y="6138152"/>
                  <a:pt x="5530855" y="6143474"/>
                  <a:pt x="5534525" y="6149380"/>
                </a:cubicBezTo>
                <a:lnTo>
                  <a:pt x="5540000" y="6166562"/>
                </a:lnTo>
                <a:lnTo>
                  <a:pt x="5534525" y="6149379"/>
                </a:lnTo>
                <a:cubicBezTo>
                  <a:pt x="5530855" y="6143474"/>
                  <a:pt x="5525509" y="6138152"/>
                  <a:pt x="5518366" y="6133722"/>
                </a:cubicBezTo>
                <a:cubicBezTo>
                  <a:pt x="5511317" y="6129341"/>
                  <a:pt x="5503695" y="6124102"/>
                  <a:pt x="5497146" y="6118149"/>
                </a:cubicBezTo>
                <a:close/>
                <a:moveTo>
                  <a:pt x="5405304" y="4941372"/>
                </a:moveTo>
                <a:lnTo>
                  <a:pt x="5408634" y="4950869"/>
                </a:lnTo>
                <a:lnTo>
                  <a:pt x="5418318" y="4991382"/>
                </a:lnTo>
                <a:lnTo>
                  <a:pt x="5408634" y="4950868"/>
                </a:lnTo>
                <a:close/>
                <a:moveTo>
                  <a:pt x="5409242" y="4749807"/>
                </a:moveTo>
                <a:cubicBezTo>
                  <a:pt x="5397106" y="4762826"/>
                  <a:pt x="5396249" y="4781365"/>
                  <a:pt x="5394535" y="4799797"/>
                </a:cubicBezTo>
                <a:cubicBezTo>
                  <a:pt x="5396249" y="4781365"/>
                  <a:pt x="5397106" y="4762827"/>
                  <a:pt x="5409242" y="4749807"/>
                </a:cubicBezTo>
                <a:close/>
                <a:moveTo>
                  <a:pt x="5427041" y="4543185"/>
                </a:moveTo>
                <a:cubicBezTo>
                  <a:pt x="5428019" y="4548281"/>
                  <a:pt x="5430065" y="4553662"/>
                  <a:pt x="5432447" y="4557092"/>
                </a:cubicBezTo>
                <a:cubicBezTo>
                  <a:pt x="5444067" y="4573618"/>
                  <a:pt x="5452855" y="4588275"/>
                  <a:pt x="5458810" y="4602021"/>
                </a:cubicBezTo>
                <a:cubicBezTo>
                  <a:pt x="5452855" y="4588275"/>
                  <a:pt x="5444067" y="4573618"/>
                  <a:pt x="5432447" y="4557091"/>
                </a:cubicBezTo>
                <a:close/>
                <a:moveTo>
                  <a:pt x="5893259" y="2819253"/>
                </a:moveTo>
                <a:lnTo>
                  <a:pt x="5904902" y="2827484"/>
                </a:lnTo>
                <a:lnTo>
                  <a:pt x="5904904" y="2827486"/>
                </a:lnTo>
                <a:lnTo>
                  <a:pt x="5933407" y="2861156"/>
                </a:lnTo>
                <a:lnTo>
                  <a:pt x="5923753" y="2842392"/>
                </a:lnTo>
                <a:lnTo>
                  <a:pt x="5904904" y="2827486"/>
                </a:lnTo>
                <a:lnTo>
                  <a:pt x="5904902" y="2827483"/>
                </a:lnTo>
                <a:close/>
                <a:moveTo>
                  <a:pt x="5823604" y="1974015"/>
                </a:moveTo>
                <a:lnTo>
                  <a:pt x="5817090" y="1999763"/>
                </a:lnTo>
                <a:cubicBezTo>
                  <a:pt x="5813281" y="2008056"/>
                  <a:pt x="5807601" y="2016020"/>
                  <a:pt x="5799362" y="2023547"/>
                </a:cubicBezTo>
                <a:cubicBezTo>
                  <a:pt x="5815841" y="2008497"/>
                  <a:pt x="5822079" y="1991685"/>
                  <a:pt x="5823604" y="1974015"/>
                </a:cubicBezTo>
                <a:close/>
                <a:moveTo>
                  <a:pt x="5806410" y="1768838"/>
                </a:moveTo>
                <a:cubicBezTo>
                  <a:pt x="5802029" y="1774411"/>
                  <a:pt x="5799266" y="1779948"/>
                  <a:pt x="5797809" y="1785412"/>
                </a:cubicBezTo>
                <a:lnTo>
                  <a:pt x="5797028" y="1801558"/>
                </a:lnTo>
                <a:cubicBezTo>
                  <a:pt x="5795361" y="1790986"/>
                  <a:pt x="5797647" y="1779981"/>
                  <a:pt x="5806410" y="1768838"/>
                </a:cubicBezTo>
                <a:close/>
                <a:moveTo>
                  <a:pt x="5915999" y="520953"/>
                </a:moveTo>
                <a:lnTo>
                  <a:pt x="5909271" y="549926"/>
                </a:lnTo>
                <a:lnTo>
                  <a:pt x="5903017" y="566616"/>
                </a:lnTo>
                <a:lnTo>
                  <a:pt x="5897067" y="581804"/>
                </a:lnTo>
                <a:lnTo>
                  <a:pt x="5896649" y="583595"/>
                </a:lnTo>
                <a:lnTo>
                  <a:pt x="5894474" y="589388"/>
                </a:lnTo>
                <a:cubicBezTo>
                  <a:pt x="5892074" y="597005"/>
                  <a:pt x="5890316" y="604728"/>
                  <a:pt x="5889851" y="612658"/>
                </a:cubicBezTo>
                <a:lnTo>
                  <a:pt x="5896649" y="583595"/>
                </a:lnTo>
                <a:lnTo>
                  <a:pt x="5902965" y="566754"/>
                </a:lnTo>
                <a:lnTo>
                  <a:pt x="5903017" y="566616"/>
                </a:lnTo>
                <a:lnTo>
                  <a:pt x="5908855" y="551717"/>
                </a:lnTo>
                <a:lnTo>
                  <a:pt x="5909271" y="549926"/>
                </a:lnTo>
                <a:lnTo>
                  <a:pt x="5911436" y="544146"/>
                </a:lnTo>
                <a:cubicBezTo>
                  <a:pt x="5913823" y="536547"/>
                  <a:pt x="5915561" y="528850"/>
                  <a:pt x="5915999" y="520953"/>
                </a:cubicBezTo>
                <a:close/>
                <a:moveTo>
                  <a:pt x="5864896" y="268794"/>
                </a:moveTo>
                <a:cubicBezTo>
                  <a:pt x="5862371" y="279176"/>
                  <a:pt x="5860668" y="289296"/>
                  <a:pt x="5860021" y="299164"/>
                </a:cubicBezTo>
                <a:cubicBezTo>
                  <a:pt x="5859371" y="309031"/>
                  <a:pt x="5859776" y="318646"/>
                  <a:pt x="5861466" y="328017"/>
                </a:cubicBezTo>
                <a:close/>
                <a:moveTo>
                  <a:pt x="0" y="0"/>
                </a:moveTo>
                <a:lnTo>
                  <a:pt x="6182312" y="0"/>
                </a:lnTo>
                <a:lnTo>
                  <a:pt x="6178097" y="24480"/>
                </a:lnTo>
                <a:cubicBezTo>
                  <a:pt x="6175612" y="32636"/>
                  <a:pt x="6171850" y="40471"/>
                  <a:pt x="6166086" y="47806"/>
                </a:cubicBezTo>
                <a:cubicBezTo>
                  <a:pt x="6151226" y="66857"/>
                  <a:pt x="6154655" y="85336"/>
                  <a:pt x="6156942" y="105718"/>
                </a:cubicBezTo>
                <a:cubicBezTo>
                  <a:pt x="6158656" y="121150"/>
                  <a:pt x="6158085" y="136963"/>
                  <a:pt x="6158277" y="152584"/>
                </a:cubicBezTo>
                <a:cubicBezTo>
                  <a:pt x="6158846" y="180017"/>
                  <a:pt x="6159037" y="207450"/>
                  <a:pt x="6159990" y="234883"/>
                </a:cubicBezTo>
                <a:cubicBezTo>
                  <a:pt x="6160370" y="243648"/>
                  <a:pt x="6165135" y="252600"/>
                  <a:pt x="6164373" y="261173"/>
                </a:cubicBezTo>
                <a:cubicBezTo>
                  <a:pt x="6160752" y="300800"/>
                  <a:pt x="6155037" y="340425"/>
                  <a:pt x="6151798" y="380050"/>
                </a:cubicBezTo>
                <a:cubicBezTo>
                  <a:pt x="6149894" y="402529"/>
                  <a:pt x="6153511" y="425581"/>
                  <a:pt x="6150846" y="447870"/>
                </a:cubicBezTo>
                <a:cubicBezTo>
                  <a:pt x="6147798" y="473587"/>
                  <a:pt x="6139988" y="498733"/>
                  <a:pt x="6135223" y="524262"/>
                </a:cubicBezTo>
                <a:cubicBezTo>
                  <a:pt x="6133891" y="531310"/>
                  <a:pt x="6135606" y="539121"/>
                  <a:pt x="6135985" y="546552"/>
                </a:cubicBezTo>
                <a:cubicBezTo>
                  <a:pt x="6136367" y="554933"/>
                  <a:pt x="6137129" y="563125"/>
                  <a:pt x="6137320" y="571508"/>
                </a:cubicBezTo>
                <a:cubicBezTo>
                  <a:pt x="6137702" y="597037"/>
                  <a:pt x="6137129" y="622564"/>
                  <a:pt x="6138464" y="648092"/>
                </a:cubicBezTo>
                <a:cubicBezTo>
                  <a:pt x="6139225" y="663713"/>
                  <a:pt x="6147035" y="680096"/>
                  <a:pt x="6144177" y="694576"/>
                </a:cubicBezTo>
                <a:cubicBezTo>
                  <a:pt x="6138654" y="724104"/>
                  <a:pt x="6151036" y="753633"/>
                  <a:pt x="6140750" y="783158"/>
                </a:cubicBezTo>
                <a:cubicBezTo>
                  <a:pt x="6137702" y="792306"/>
                  <a:pt x="6145322" y="804877"/>
                  <a:pt x="6145702" y="815929"/>
                </a:cubicBezTo>
                <a:cubicBezTo>
                  <a:pt x="6146654" y="843552"/>
                  <a:pt x="6146464" y="871173"/>
                  <a:pt x="6146274" y="898797"/>
                </a:cubicBezTo>
                <a:cubicBezTo>
                  <a:pt x="6146084" y="923562"/>
                  <a:pt x="6148750" y="949281"/>
                  <a:pt x="6143416" y="973095"/>
                </a:cubicBezTo>
                <a:cubicBezTo>
                  <a:pt x="6137702" y="998052"/>
                  <a:pt x="6138464" y="1020529"/>
                  <a:pt x="6144940" y="1044725"/>
                </a:cubicBezTo>
                <a:cubicBezTo>
                  <a:pt x="6149322" y="1061298"/>
                  <a:pt x="6149894" y="1078826"/>
                  <a:pt x="6151226" y="1095972"/>
                </a:cubicBezTo>
                <a:cubicBezTo>
                  <a:pt x="6152750" y="1114449"/>
                  <a:pt x="6148750" y="1134834"/>
                  <a:pt x="6155037" y="1151600"/>
                </a:cubicBezTo>
                <a:cubicBezTo>
                  <a:pt x="6173706" y="1201512"/>
                  <a:pt x="6177706" y="1252757"/>
                  <a:pt x="6177706" y="1304955"/>
                </a:cubicBezTo>
                <a:cubicBezTo>
                  <a:pt x="6177706" y="1314483"/>
                  <a:pt x="6175041" y="1324198"/>
                  <a:pt x="6172183" y="1333341"/>
                </a:cubicBezTo>
                <a:cubicBezTo>
                  <a:pt x="6155037" y="1386684"/>
                  <a:pt x="6156560" y="1440216"/>
                  <a:pt x="6167039" y="1494509"/>
                </a:cubicBezTo>
                <a:cubicBezTo>
                  <a:pt x="6169325" y="1505751"/>
                  <a:pt x="6169706" y="1518324"/>
                  <a:pt x="6167421" y="1529563"/>
                </a:cubicBezTo>
                <a:cubicBezTo>
                  <a:pt x="6160752" y="1561189"/>
                  <a:pt x="6149702" y="1591859"/>
                  <a:pt x="6144940" y="1623675"/>
                </a:cubicBezTo>
                <a:cubicBezTo>
                  <a:pt x="6137129" y="1676253"/>
                  <a:pt x="6163417" y="1721785"/>
                  <a:pt x="6180565" y="1768838"/>
                </a:cubicBezTo>
                <a:cubicBezTo>
                  <a:pt x="6196758" y="1813610"/>
                  <a:pt x="6233335" y="1851709"/>
                  <a:pt x="6225142" y="1904673"/>
                </a:cubicBezTo>
                <a:cubicBezTo>
                  <a:pt x="6224381" y="1910004"/>
                  <a:pt x="6229524" y="1915912"/>
                  <a:pt x="6230858" y="1921817"/>
                </a:cubicBezTo>
                <a:cubicBezTo>
                  <a:pt x="6234479" y="1938009"/>
                  <a:pt x="6238857" y="1954202"/>
                  <a:pt x="6240574" y="1970586"/>
                </a:cubicBezTo>
                <a:cubicBezTo>
                  <a:pt x="6242861" y="1990589"/>
                  <a:pt x="6242100" y="2010974"/>
                  <a:pt x="6244004" y="2030977"/>
                </a:cubicBezTo>
                <a:cubicBezTo>
                  <a:pt x="6245147" y="2043835"/>
                  <a:pt x="6247242" y="2056600"/>
                  <a:pt x="6249052" y="2069340"/>
                </a:cubicBezTo>
                <a:lnTo>
                  <a:pt x="6249303" y="2072225"/>
                </a:lnTo>
                <a:lnTo>
                  <a:pt x="6249303" y="2131532"/>
                </a:lnTo>
                <a:lnTo>
                  <a:pt x="6248432" y="2138304"/>
                </a:lnTo>
                <a:cubicBezTo>
                  <a:pt x="6246241" y="2148519"/>
                  <a:pt x="6243623" y="2158712"/>
                  <a:pt x="6241908" y="2168903"/>
                </a:cubicBezTo>
                <a:cubicBezTo>
                  <a:pt x="6237145" y="2197670"/>
                  <a:pt x="6238479" y="2229296"/>
                  <a:pt x="6226286" y="2254633"/>
                </a:cubicBezTo>
                <a:cubicBezTo>
                  <a:pt x="6213332" y="2281683"/>
                  <a:pt x="6207426" y="2307402"/>
                  <a:pt x="6211426" y="2335405"/>
                </a:cubicBezTo>
                <a:cubicBezTo>
                  <a:pt x="6212760" y="2344741"/>
                  <a:pt x="6220762" y="2356744"/>
                  <a:pt x="6228952" y="2360933"/>
                </a:cubicBezTo>
                <a:cubicBezTo>
                  <a:pt x="6247241" y="2370270"/>
                  <a:pt x="6250481" y="2383032"/>
                  <a:pt x="6244193" y="2400369"/>
                </a:cubicBezTo>
                <a:cubicBezTo>
                  <a:pt x="6238857" y="2415420"/>
                  <a:pt x="6236192" y="2433897"/>
                  <a:pt x="6225904" y="2444184"/>
                </a:cubicBezTo>
                <a:cubicBezTo>
                  <a:pt x="6196758" y="2473333"/>
                  <a:pt x="6195806" y="2510483"/>
                  <a:pt x="6187996" y="2546678"/>
                </a:cubicBezTo>
                <a:cubicBezTo>
                  <a:pt x="6183231" y="2568774"/>
                  <a:pt x="6183041" y="2589352"/>
                  <a:pt x="6186279" y="2611450"/>
                </a:cubicBezTo>
                <a:cubicBezTo>
                  <a:pt x="6193518" y="2659455"/>
                  <a:pt x="6183231" y="2706131"/>
                  <a:pt x="6170087" y="2752235"/>
                </a:cubicBezTo>
                <a:cubicBezTo>
                  <a:pt x="6161325" y="2782716"/>
                  <a:pt x="6155990" y="2813958"/>
                  <a:pt x="6147035" y="2844248"/>
                </a:cubicBezTo>
                <a:cubicBezTo>
                  <a:pt x="6140177" y="2866918"/>
                  <a:pt x="6131985" y="2889587"/>
                  <a:pt x="6120937" y="2910353"/>
                </a:cubicBezTo>
                <a:cubicBezTo>
                  <a:pt x="6104743" y="2940455"/>
                  <a:pt x="6080358" y="2966742"/>
                  <a:pt x="6086835" y="3005035"/>
                </a:cubicBezTo>
                <a:cubicBezTo>
                  <a:pt x="6092550" y="3038756"/>
                  <a:pt x="6080550" y="3069235"/>
                  <a:pt x="6069119" y="3100099"/>
                </a:cubicBezTo>
                <a:cubicBezTo>
                  <a:pt x="6060737" y="3122770"/>
                  <a:pt x="6052162" y="3145436"/>
                  <a:pt x="6046828" y="3168870"/>
                </a:cubicBezTo>
                <a:cubicBezTo>
                  <a:pt x="6040542" y="3196686"/>
                  <a:pt x="6043210" y="3228119"/>
                  <a:pt x="6031589" y="3252885"/>
                </a:cubicBezTo>
                <a:cubicBezTo>
                  <a:pt x="6019396" y="3278795"/>
                  <a:pt x="6027588" y="3300319"/>
                  <a:pt x="6031017" y="3323372"/>
                </a:cubicBezTo>
                <a:cubicBezTo>
                  <a:pt x="6036353" y="3360139"/>
                  <a:pt x="6046258" y="3396719"/>
                  <a:pt x="6033685" y="3433866"/>
                </a:cubicBezTo>
                <a:cubicBezTo>
                  <a:pt x="6018444" y="3479015"/>
                  <a:pt x="6002060" y="3523785"/>
                  <a:pt x="5987583" y="3569124"/>
                </a:cubicBezTo>
                <a:cubicBezTo>
                  <a:pt x="5982056" y="3586653"/>
                  <a:pt x="5979770" y="3605509"/>
                  <a:pt x="5977295" y="3623799"/>
                </a:cubicBezTo>
                <a:cubicBezTo>
                  <a:pt x="5975197" y="3641134"/>
                  <a:pt x="5980533" y="3661899"/>
                  <a:pt x="5972533" y="3675238"/>
                </a:cubicBezTo>
                <a:cubicBezTo>
                  <a:pt x="5951958" y="3709529"/>
                  <a:pt x="5941860" y="3744770"/>
                  <a:pt x="5941860" y="3784397"/>
                </a:cubicBezTo>
                <a:cubicBezTo>
                  <a:pt x="5941860" y="3799258"/>
                  <a:pt x="5933287" y="3813737"/>
                  <a:pt x="5931762" y="3828785"/>
                </a:cubicBezTo>
                <a:cubicBezTo>
                  <a:pt x="5929858" y="3849362"/>
                  <a:pt x="5924714" y="3872985"/>
                  <a:pt x="5931955" y="3890891"/>
                </a:cubicBezTo>
                <a:cubicBezTo>
                  <a:pt x="5949100" y="3932993"/>
                  <a:pt x="5934810" y="3967091"/>
                  <a:pt x="5917857" y="4003861"/>
                </a:cubicBezTo>
                <a:cubicBezTo>
                  <a:pt x="5901092" y="4040058"/>
                  <a:pt x="5887757" y="4078159"/>
                  <a:pt x="5876707" y="4116641"/>
                </a:cubicBezTo>
                <a:cubicBezTo>
                  <a:pt x="5872706" y="4131119"/>
                  <a:pt x="5879375" y="4148453"/>
                  <a:pt x="5880708" y="4164458"/>
                </a:cubicBezTo>
                <a:cubicBezTo>
                  <a:pt x="5881089" y="4170174"/>
                  <a:pt x="5881661" y="4176461"/>
                  <a:pt x="5879756" y="4181603"/>
                </a:cubicBezTo>
                <a:cubicBezTo>
                  <a:pt x="5861466" y="4231324"/>
                  <a:pt x="5847560" y="4281810"/>
                  <a:pt x="5857085" y="4335722"/>
                </a:cubicBezTo>
                <a:cubicBezTo>
                  <a:pt x="5858038" y="4340674"/>
                  <a:pt x="5855942" y="4346201"/>
                  <a:pt x="5854608" y="4351154"/>
                </a:cubicBezTo>
                <a:cubicBezTo>
                  <a:pt x="5847751" y="4375349"/>
                  <a:pt x="5836892" y="4398972"/>
                  <a:pt x="5834415" y="4423545"/>
                </a:cubicBezTo>
                <a:cubicBezTo>
                  <a:pt x="5828319" y="4484127"/>
                  <a:pt x="5825841" y="4545086"/>
                  <a:pt x="5821841" y="4606053"/>
                </a:cubicBezTo>
                <a:cubicBezTo>
                  <a:pt x="5821653" y="4609863"/>
                  <a:pt x="5821653" y="4613864"/>
                  <a:pt x="5820317" y="4617291"/>
                </a:cubicBezTo>
                <a:cubicBezTo>
                  <a:pt x="5812125" y="4639772"/>
                  <a:pt x="5814794" y="4659393"/>
                  <a:pt x="5830414" y="4678445"/>
                </a:cubicBezTo>
                <a:cubicBezTo>
                  <a:pt x="5837273" y="4686828"/>
                  <a:pt x="5840892" y="4698258"/>
                  <a:pt x="5844703" y="4708734"/>
                </a:cubicBezTo>
                <a:cubicBezTo>
                  <a:pt x="5850418" y="4724167"/>
                  <a:pt x="5855942" y="4739978"/>
                  <a:pt x="5859562" y="4755980"/>
                </a:cubicBezTo>
                <a:cubicBezTo>
                  <a:pt x="5862991" y="4771793"/>
                  <a:pt x="5867753" y="4788747"/>
                  <a:pt x="5865088" y="4803988"/>
                </a:cubicBezTo>
                <a:cubicBezTo>
                  <a:pt x="5860326" y="4831420"/>
                  <a:pt x="5849657" y="4857522"/>
                  <a:pt x="5842606" y="4884572"/>
                </a:cubicBezTo>
                <a:cubicBezTo>
                  <a:pt x="5840129" y="4893907"/>
                  <a:pt x="5840512" y="4904195"/>
                  <a:pt x="5840321" y="4913909"/>
                </a:cubicBezTo>
                <a:cubicBezTo>
                  <a:pt x="5839750" y="4936201"/>
                  <a:pt x="5845274" y="4959061"/>
                  <a:pt x="5829462" y="4979253"/>
                </a:cubicBezTo>
                <a:cubicBezTo>
                  <a:pt x="5814602" y="4997922"/>
                  <a:pt x="5818983" y="5016785"/>
                  <a:pt x="5830223" y="5036405"/>
                </a:cubicBezTo>
                <a:cubicBezTo>
                  <a:pt x="5838225" y="5050504"/>
                  <a:pt x="5844513" y="5066505"/>
                  <a:pt x="5847560" y="5082317"/>
                </a:cubicBezTo>
                <a:cubicBezTo>
                  <a:pt x="5851752" y="5104036"/>
                  <a:pt x="5853466" y="5125562"/>
                  <a:pt x="5850988" y="5148995"/>
                </a:cubicBezTo>
                <a:cubicBezTo>
                  <a:pt x="5849275" y="5165570"/>
                  <a:pt x="5848512" y="5179097"/>
                  <a:pt x="5838416" y="5192051"/>
                </a:cubicBezTo>
                <a:cubicBezTo>
                  <a:pt x="5836892" y="5194145"/>
                  <a:pt x="5836510" y="5197955"/>
                  <a:pt x="5836703" y="5200813"/>
                </a:cubicBezTo>
                <a:cubicBezTo>
                  <a:pt x="5839941" y="5238343"/>
                  <a:pt x="5838225" y="5275491"/>
                  <a:pt x="5835937" y="5313403"/>
                </a:cubicBezTo>
                <a:cubicBezTo>
                  <a:pt x="5832892" y="5361598"/>
                  <a:pt x="5841844" y="5412276"/>
                  <a:pt x="5873849" y="5453995"/>
                </a:cubicBezTo>
                <a:cubicBezTo>
                  <a:pt x="5878613" y="5460092"/>
                  <a:pt x="5880708" y="5469236"/>
                  <a:pt x="5881852" y="5477239"/>
                </a:cubicBezTo>
                <a:cubicBezTo>
                  <a:pt x="5886804" y="5514957"/>
                  <a:pt x="5890233" y="5552869"/>
                  <a:pt x="5895758" y="5590590"/>
                </a:cubicBezTo>
                <a:cubicBezTo>
                  <a:pt x="5898806" y="5611164"/>
                  <a:pt x="5901474" y="5632691"/>
                  <a:pt x="5909856" y="5651360"/>
                </a:cubicBezTo>
                <a:cubicBezTo>
                  <a:pt x="5918047" y="5669647"/>
                  <a:pt x="5927762" y="5684320"/>
                  <a:pt x="5910618" y="5695178"/>
                </a:cubicBezTo>
                <a:cubicBezTo>
                  <a:pt x="5919762" y="5714607"/>
                  <a:pt x="5927383" y="5731564"/>
                  <a:pt x="5935573" y="5748136"/>
                </a:cubicBezTo>
                <a:cubicBezTo>
                  <a:pt x="5938620" y="5754234"/>
                  <a:pt x="5943575" y="5759378"/>
                  <a:pt x="5946433" y="5765474"/>
                </a:cubicBezTo>
                <a:cubicBezTo>
                  <a:pt x="5949481" y="5771953"/>
                  <a:pt x="5951385" y="5779191"/>
                  <a:pt x="5952911" y="5786239"/>
                </a:cubicBezTo>
                <a:cubicBezTo>
                  <a:pt x="5959768" y="5817674"/>
                  <a:pt x="5966054" y="5849107"/>
                  <a:pt x="5973485" y="5880348"/>
                </a:cubicBezTo>
                <a:cubicBezTo>
                  <a:pt x="5975008" y="5886447"/>
                  <a:pt x="5981104" y="5891590"/>
                  <a:pt x="5985103" y="5897114"/>
                </a:cubicBezTo>
                <a:cubicBezTo>
                  <a:pt x="5987772" y="5900735"/>
                  <a:pt x="5991773" y="5904353"/>
                  <a:pt x="5992345" y="5908355"/>
                </a:cubicBezTo>
                <a:cubicBezTo>
                  <a:pt x="5996917" y="5938836"/>
                  <a:pt x="6002252" y="5969124"/>
                  <a:pt x="6004537" y="5999796"/>
                </a:cubicBezTo>
                <a:cubicBezTo>
                  <a:pt x="6006440" y="6025515"/>
                  <a:pt x="6005871" y="6050282"/>
                  <a:pt x="6039018" y="6056948"/>
                </a:cubicBezTo>
                <a:cubicBezTo>
                  <a:pt x="6044734" y="6058092"/>
                  <a:pt x="6050831" y="6066284"/>
                  <a:pt x="6053687" y="6072569"/>
                </a:cubicBezTo>
                <a:cubicBezTo>
                  <a:pt x="6061879" y="6090477"/>
                  <a:pt x="6067404" y="6109530"/>
                  <a:pt x="6075785" y="6127247"/>
                </a:cubicBezTo>
                <a:cubicBezTo>
                  <a:pt x="6103790" y="6185351"/>
                  <a:pt x="6121508" y="6246121"/>
                  <a:pt x="6118269" y="6311084"/>
                </a:cubicBezTo>
                <a:cubicBezTo>
                  <a:pt x="6117317" y="6331277"/>
                  <a:pt x="6107028" y="6350899"/>
                  <a:pt x="6103217" y="6363664"/>
                </a:cubicBezTo>
                <a:cubicBezTo>
                  <a:pt x="6118269" y="6400429"/>
                  <a:pt x="6132747" y="6431292"/>
                  <a:pt x="6143606" y="6463490"/>
                </a:cubicBezTo>
                <a:cubicBezTo>
                  <a:pt x="6153322" y="6491874"/>
                  <a:pt x="6159418" y="6521593"/>
                  <a:pt x="6166466" y="6550742"/>
                </a:cubicBezTo>
                <a:cubicBezTo>
                  <a:pt x="6169135" y="6561411"/>
                  <a:pt x="6170658" y="6572269"/>
                  <a:pt x="6171993" y="6583128"/>
                </a:cubicBezTo>
                <a:cubicBezTo>
                  <a:pt x="6176183" y="6617036"/>
                  <a:pt x="6166086" y="6652472"/>
                  <a:pt x="6182089" y="6685617"/>
                </a:cubicBezTo>
                <a:cubicBezTo>
                  <a:pt x="6190471" y="6702955"/>
                  <a:pt x="6200567" y="6720103"/>
                  <a:pt x="6204949" y="6738388"/>
                </a:cubicBezTo>
                <a:cubicBezTo>
                  <a:pt x="6209712" y="6758011"/>
                  <a:pt x="6217142" y="6777207"/>
                  <a:pt x="6222453" y="6796804"/>
                </a:cubicBezTo>
                <a:lnTo>
                  <a:pt x="6227224" y="6857457"/>
                </a:lnTo>
                <a:lnTo>
                  <a:pt x="6099985" y="6857457"/>
                </a:lnTo>
                <a:lnTo>
                  <a:pt x="6099985" y="6857998"/>
                </a:lnTo>
                <a:lnTo>
                  <a:pt x="0" y="6857998"/>
                </a:lnTo>
                <a:close/>
              </a:path>
            </a:pathLst>
          </a:custGeom>
          <a:effectLst>
            <a:outerShdw blurRad="381000" dist="152400" algn="tl" rotWithShape="0">
              <a:prstClr val="black">
                <a:alpha val="10000"/>
              </a:prstClr>
            </a:outerShdw>
          </a:effectLst>
        </p:spPr>
      </p:pic>
      <p:sp>
        <p:nvSpPr>
          <p:cNvPr id="13" name="Freeform: Shape 12">
            <a:extLst>
              <a:ext uri="{FF2B5EF4-FFF2-40B4-BE49-F238E27FC236}">
                <a16:creationId xmlns:a16="http://schemas.microsoft.com/office/drawing/2014/main" id="{DC2E5D65-9DA8-E8D7-A02A-9E011FBA65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404000"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8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CBB51E23-A119-8D0F-EA7F-3E2B94C7F5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403998"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7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4">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8664965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327857-E113-ACBA-CF7E-86867C2CE06D}"/>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7AD4168F-803D-8C8D-BDE7-EDB1C4B7FE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1CD69D3F-B49B-0F44-28B9-35CEE5D23895}"/>
              </a:ext>
            </a:extLst>
          </p:cNvPr>
          <p:cNvSpPr txBox="1"/>
          <p:nvPr/>
        </p:nvSpPr>
        <p:spPr>
          <a:xfrm>
            <a:off x="742950" y="742951"/>
            <a:ext cx="3476625" cy="4962524"/>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800" kern="1200" dirty="0">
                <a:solidFill>
                  <a:srgbClr val="FFFFFF"/>
                </a:solidFill>
                <a:latin typeface="+mj-lt"/>
                <a:ea typeface="+mj-ea"/>
                <a:cs typeface="+mj-cs"/>
              </a:rPr>
              <a:t>Report Performance for </a:t>
            </a:r>
            <a:r>
              <a:rPr lang="en-US" sz="4800" dirty="0">
                <a:solidFill>
                  <a:srgbClr val="FFFFFF"/>
                </a:solidFill>
                <a:latin typeface="+mj-lt"/>
                <a:ea typeface="+mj-ea"/>
                <a:cs typeface="+mj-cs"/>
              </a:rPr>
              <a:t>H-Bridge</a:t>
            </a:r>
          </a:p>
          <a:p>
            <a:pPr algn="ctr">
              <a:lnSpc>
                <a:spcPct val="90000"/>
              </a:lnSpc>
              <a:spcBef>
                <a:spcPct val="0"/>
              </a:spcBef>
              <a:spcAft>
                <a:spcPts val="600"/>
              </a:spcAft>
            </a:pPr>
            <a:r>
              <a:rPr lang="en-US" sz="4800" dirty="0">
                <a:solidFill>
                  <a:srgbClr val="FFFFFF"/>
                </a:solidFill>
                <a:latin typeface="+mj-lt"/>
                <a:ea typeface="+mj-ea"/>
                <a:cs typeface="+mj-cs"/>
              </a:rPr>
              <a:t>(System Failure)</a:t>
            </a:r>
          </a:p>
        </p:txBody>
      </p:sp>
      <p:graphicFrame>
        <p:nvGraphicFramePr>
          <p:cNvPr id="8" name="Table 7">
            <a:extLst>
              <a:ext uri="{FF2B5EF4-FFF2-40B4-BE49-F238E27FC236}">
                <a16:creationId xmlns:a16="http://schemas.microsoft.com/office/drawing/2014/main" id="{45D38999-DD9B-3551-C14E-A9AE2B34EAC1}"/>
              </a:ext>
            </a:extLst>
          </p:cNvPr>
          <p:cNvGraphicFramePr>
            <a:graphicFrameLocks noGrp="1"/>
          </p:cNvGraphicFramePr>
          <p:nvPr>
            <p:extLst>
              <p:ext uri="{D42A27DB-BD31-4B8C-83A1-F6EECF244321}">
                <p14:modId xmlns:p14="http://schemas.microsoft.com/office/powerpoint/2010/main" val="3340742874"/>
              </p:ext>
            </p:extLst>
          </p:nvPr>
        </p:nvGraphicFramePr>
        <p:xfrm>
          <a:off x="5153822" y="754088"/>
          <a:ext cx="6701295" cy="3921365"/>
        </p:xfrm>
        <a:graphic>
          <a:graphicData uri="http://schemas.openxmlformats.org/drawingml/2006/table">
            <a:tbl>
              <a:tblPr firstRow="1" firstCol="1" bandRow="1">
                <a:tableStyleId>{9D7B26C5-4107-4FEC-AEDC-1716B250A1EF}</a:tableStyleId>
              </a:tblPr>
              <a:tblGrid>
                <a:gridCol w="1246836">
                  <a:extLst>
                    <a:ext uri="{9D8B030D-6E8A-4147-A177-3AD203B41FA5}">
                      <a16:colId xmlns:a16="http://schemas.microsoft.com/office/drawing/2014/main" val="2658095432"/>
                    </a:ext>
                  </a:extLst>
                </a:gridCol>
                <a:gridCol w="1680265">
                  <a:extLst>
                    <a:ext uri="{9D8B030D-6E8A-4147-A177-3AD203B41FA5}">
                      <a16:colId xmlns:a16="http://schemas.microsoft.com/office/drawing/2014/main" val="561284639"/>
                    </a:ext>
                  </a:extLst>
                </a:gridCol>
                <a:gridCol w="1925922">
                  <a:extLst>
                    <a:ext uri="{9D8B030D-6E8A-4147-A177-3AD203B41FA5}">
                      <a16:colId xmlns:a16="http://schemas.microsoft.com/office/drawing/2014/main" val="1192187515"/>
                    </a:ext>
                  </a:extLst>
                </a:gridCol>
                <a:gridCol w="1848272">
                  <a:extLst>
                    <a:ext uri="{9D8B030D-6E8A-4147-A177-3AD203B41FA5}">
                      <a16:colId xmlns:a16="http://schemas.microsoft.com/office/drawing/2014/main" val="970391352"/>
                    </a:ext>
                  </a:extLst>
                </a:gridCol>
              </a:tblGrid>
              <a:tr h="606702">
                <a:tc>
                  <a:txBody>
                    <a:bodyPr/>
                    <a:lstStyle/>
                    <a:p>
                      <a:pPr algn="ctr">
                        <a:lnSpc>
                          <a:spcPct val="115000"/>
                        </a:lnSpc>
                        <a:spcAft>
                          <a:spcPts val="600"/>
                        </a:spcAft>
                      </a:pPr>
                      <a:r>
                        <a:rPr lang="en-ZA" sz="1300" dirty="0">
                          <a:effectLst/>
                        </a:rPr>
                        <a:t>Requirement No.</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Description</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Verification Method</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Result</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extLst>
                  <a:ext uri="{0D108BD9-81ED-4DB2-BD59-A6C34878D82A}">
                    <a16:rowId xmlns:a16="http://schemas.microsoft.com/office/drawing/2014/main" val="2977360314"/>
                  </a:ext>
                </a:extLst>
              </a:tr>
              <a:tr h="902655">
                <a:tc>
                  <a:txBody>
                    <a:bodyPr/>
                    <a:lstStyle/>
                    <a:p>
                      <a:pPr algn="ctr">
                        <a:lnSpc>
                          <a:spcPct val="115000"/>
                        </a:lnSpc>
                        <a:spcAft>
                          <a:spcPts val="600"/>
                        </a:spcAft>
                      </a:pPr>
                      <a:r>
                        <a:rPr lang="en-ZA" sz="1300" dirty="0">
                          <a:effectLst/>
                        </a:rPr>
                        <a:t>1</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Clockwise Rotation</a:t>
                      </a:r>
                    </a:p>
                  </a:txBody>
                  <a:tcPr marL="81418" marR="81418" marT="0" marB="0"/>
                </a:tc>
                <a:tc>
                  <a:txBody>
                    <a:bodyPr/>
                    <a:lstStyle/>
                    <a:p>
                      <a:pPr algn="ctr">
                        <a:lnSpc>
                          <a:spcPct val="115000"/>
                        </a:lnSpc>
                        <a:spcAft>
                          <a:spcPts val="600"/>
                        </a:spcAft>
                      </a:pPr>
                      <a:r>
                        <a:rPr lang="en-ZA" sz="1300" dirty="0">
                          <a:effectLst/>
                        </a:rPr>
                        <a:t>Laboratory test while Integrated with MCU</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Met — smooth  clockwise rotation on low voltage application.</a:t>
                      </a:r>
                    </a:p>
                  </a:txBody>
                  <a:tcPr marL="81418" marR="81418" marT="0" marB="0"/>
                </a:tc>
                <a:extLst>
                  <a:ext uri="{0D108BD9-81ED-4DB2-BD59-A6C34878D82A}">
                    <a16:rowId xmlns:a16="http://schemas.microsoft.com/office/drawing/2014/main" val="1183983111"/>
                  </a:ext>
                </a:extLst>
              </a:tr>
              <a:tr h="902655">
                <a:tc>
                  <a:txBody>
                    <a:bodyPr/>
                    <a:lstStyle/>
                    <a:p>
                      <a:pPr algn="ctr">
                        <a:lnSpc>
                          <a:spcPct val="115000"/>
                        </a:lnSpc>
                        <a:spcAft>
                          <a:spcPts val="600"/>
                        </a:spcAft>
                      </a:pPr>
                      <a:r>
                        <a:rPr lang="en-ZA" sz="1300" dirty="0">
                          <a:effectLst/>
                        </a:rPr>
                        <a:t>2</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lvl="0" algn="ctr">
                        <a:lnSpc>
                          <a:spcPct val="114999"/>
                        </a:lnSpc>
                        <a:spcAft>
                          <a:spcPts val="600"/>
                        </a:spcAft>
                        <a:buNone/>
                      </a:pPr>
                      <a:r>
                        <a:rPr lang="en-ZA" sz="1300" dirty="0">
                          <a:effectLst/>
                        </a:rPr>
                        <a:t>Anti-clockwise Rotation</a:t>
                      </a:r>
                      <a:endParaRPr lang="en-US" dirty="0"/>
                    </a:p>
                  </a:txBody>
                  <a:tcPr marL="81418" marR="81418" marT="0" marB="0"/>
                </a:tc>
                <a:tc>
                  <a:txBody>
                    <a:bodyPr/>
                    <a:lstStyle/>
                    <a:p>
                      <a:pPr algn="ctr">
                        <a:lnSpc>
                          <a:spcPct val="115000"/>
                        </a:lnSpc>
                        <a:spcAft>
                          <a:spcPts val="600"/>
                        </a:spcAft>
                      </a:pPr>
                      <a:r>
                        <a:rPr lang="en-ZA" sz="1300" dirty="0">
                          <a:effectLst/>
                        </a:rPr>
                        <a:t>Testing with microcontroller PWM signals</a:t>
                      </a:r>
                    </a:p>
                  </a:txBody>
                  <a:tcPr marL="81418" marR="81418" marT="0" marB="0"/>
                </a:tc>
                <a:tc>
                  <a:txBody>
                    <a:bodyPr/>
                    <a:lstStyle/>
                    <a:p>
                      <a:pPr algn="ctr">
                        <a:lnSpc>
                          <a:spcPct val="115000"/>
                        </a:lnSpc>
                        <a:spcAft>
                          <a:spcPts val="600"/>
                        </a:spcAft>
                      </a:pPr>
                      <a:r>
                        <a:rPr lang="en-ZA" sz="1300" dirty="0">
                          <a:effectLst/>
                        </a:rPr>
                        <a:t>Met — smooth anti-clockwise rotation on low voltage application.</a:t>
                      </a:r>
                    </a:p>
                  </a:txBody>
                  <a:tcPr marL="81418" marR="81418" marT="0" marB="0"/>
                </a:tc>
                <a:extLst>
                  <a:ext uri="{0D108BD9-81ED-4DB2-BD59-A6C34878D82A}">
                    <a16:rowId xmlns:a16="http://schemas.microsoft.com/office/drawing/2014/main" val="1953792909"/>
                  </a:ext>
                </a:extLst>
              </a:tr>
              <a:tr h="1509353">
                <a:tc>
                  <a:txBody>
                    <a:bodyPr/>
                    <a:lstStyle/>
                    <a:p>
                      <a:pPr algn="ctr">
                        <a:lnSpc>
                          <a:spcPct val="115000"/>
                        </a:lnSpc>
                        <a:spcAft>
                          <a:spcPts val="600"/>
                        </a:spcAft>
                      </a:pPr>
                      <a:r>
                        <a:rPr lang="en-ZA" sz="1300" dirty="0">
                          <a:effectLst/>
                        </a:rPr>
                        <a:t>3</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Speed Requirement </a:t>
                      </a:r>
                    </a:p>
                  </a:txBody>
                  <a:tcPr marL="81418" marR="81418" marT="0" marB="0"/>
                </a:tc>
                <a:tc>
                  <a:txBody>
                    <a:bodyPr/>
                    <a:lstStyle/>
                    <a:p>
                      <a:pPr algn="ctr">
                        <a:lnSpc>
                          <a:spcPct val="115000"/>
                        </a:lnSpc>
                        <a:spcAft>
                          <a:spcPts val="600"/>
                        </a:spcAft>
                      </a:pPr>
                      <a:r>
                        <a:rPr lang="en-ZA" sz="1300" dirty="0">
                          <a:effectLst/>
                        </a:rPr>
                        <a:t>The speed was only verified on low voltage. When voltage was increased the PCB and components broke.</a:t>
                      </a:r>
                    </a:p>
                  </a:txBody>
                  <a:tcPr marL="81418" marR="81418" marT="0" marB="0"/>
                </a:tc>
                <a:tc>
                  <a:txBody>
                    <a:bodyPr/>
                    <a:lstStyle/>
                    <a:p>
                      <a:pPr algn="ctr">
                        <a:lnSpc>
                          <a:spcPct val="115000"/>
                        </a:lnSpc>
                        <a:spcAft>
                          <a:spcPts val="600"/>
                        </a:spcAft>
                      </a:pPr>
                      <a:r>
                        <a:rPr lang="en-ZA" sz="1300" dirty="0">
                          <a:effectLst/>
                        </a:rPr>
                        <a:t>Met/ Not Met — Low speed on low voltage met, but high speed on high voltage application not met.</a:t>
                      </a:r>
                    </a:p>
                  </a:txBody>
                  <a:tcPr marL="81418" marR="81418" marT="0" marB="0"/>
                </a:tc>
                <a:extLst>
                  <a:ext uri="{0D108BD9-81ED-4DB2-BD59-A6C34878D82A}">
                    <a16:rowId xmlns:a16="http://schemas.microsoft.com/office/drawing/2014/main" val="164757719"/>
                  </a:ext>
                </a:extLst>
              </a:tr>
            </a:tbl>
          </a:graphicData>
        </a:graphic>
      </p:graphicFrame>
    </p:spTree>
    <p:extLst>
      <p:ext uri="{BB962C8B-B14F-4D97-AF65-F5344CB8AC3E}">
        <p14:creationId xmlns:p14="http://schemas.microsoft.com/office/powerpoint/2010/main" val="41402164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C44B66-3ED0-CF41-CE8C-171645B6978F}"/>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9893228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E8C4054-E151-BE72-DFFC-4DBAC2AD9CE6}"/>
              </a:ext>
            </a:extLst>
          </p:cNvPr>
          <p:cNvPicPr>
            <a:picLocks noGrp="1" noChangeAspect="1"/>
          </p:cNvPicPr>
          <p:nvPr>
            <p:ph idx="1"/>
          </p:nvPr>
        </p:nvPicPr>
        <p:blipFill>
          <a:blip r:embed="rId2"/>
          <a:stretch>
            <a:fillRect/>
          </a:stretch>
        </p:blipFill>
        <p:spPr>
          <a:xfrm>
            <a:off x="119596" y="-1087"/>
            <a:ext cx="11952807" cy="6689528"/>
          </a:xfrm>
          <a:prstGeom prst="rect">
            <a:avLst/>
          </a:prstGeom>
        </p:spPr>
      </p:pic>
    </p:spTree>
    <p:extLst>
      <p:ext uri="{BB962C8B-B14F-4D97-AF65-F5344CB8AC3E}">
        <p14:creationId xmlns:p14="http://schemas.microsoft.com/office/powerpoint/2010/main" val="5338411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5F7460-F969-B285-6389-AABE67DD542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C4138562-2EC3-6592-C13B-6995521CA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5">
            <a:extLst>
              <a:ext uri="{FF2B5EF4-FFF2-40B4-BE49-F238E27FC236}">
                <a16:creationId xmlns:a16="http://schemas.microsoft.com/office/drawing/2014/main" id="{31E7F4C0-B585-A1C2-9708-EEBEA5A045FB}"/>
              </a:ext>
            </a:extLst>
          </p:cNvPr>
          <p:cNvSpPr>
            <a:spLocks noGrp="1"/>
          </p:cNvSpPr>
          <p:nvPr>
            <p:ph type="title"/>
          </p:nvPr>
        </p:nvSpPr>
        <p:spPr>
          <a:xfrm>
            <a:off x="6400801" y="809735"/>
            <a:ext cx="5161062" cy="920640"/>
          </a:xfrm>
        </p:spPr>
        <p:txBody>
          <a:bodyPr vert="horz" lIns="91440" tIns="45720" rIns="91440" bIns="45720" rtlCol="0" anchor="b">
            <a:noAutofit/>
          </a:bodyPr>
          <a:lstStyle/>
          <a:p>
            <a:pPr algn="r"/>
            <a:r>
              <a:rPr lang="en-US" dirty="0">
                <a:solidFill>
                  <a:schemeClr val="bg1"/>
                </a:solidFill>
              </a:rPr>
              <a:t>Embedded Controller</a:t>
            </a:r>
          </a:p>
        </p:txBody>
      </p:sp>
      <p:sp>
        <p:nvSpPr>
          <p:cNvPr id="4" name="Rectangle 3">
            <a:extLst>
              <a:ext uri="{FF2B5EF4-FFF2-40B4-BE49-F238E27FC236}">
                <a16:creationId xmlns:a16="http://schemas.microsoft.com/office/drawing/2014/main" id="{455FD414-30BD-41EC-5232-8FE565DD7F2D}"/>
              </a:ext>
            </a:extLst>
          </p:cNvPr>
          <p:cNvSpPr/>
          <p:nvPr/>
        </p:nvSpPr>
        <p:spPr>
          <a:xfrm>
            <a:off x="6979182" y="2757659"/>
            <a:ext cx="4377793" cy="2541059"/>
          </a:xfrm>
          <a:prstGeom prst="rect">
            <a:avLst/>
          </a:prstGeom>
        </p:spPr>
        <p:txBody>
          <a:bodyPr vert="horz" lIns="91440" tIns="45720" rIns="91440" bIns="45720" rtlCol="0" anchor="t">
            <a:normAutofit fontScale="77500" lnSpcReduction="20000"/>
          </a:bodyPr>
          <a:lstStyle/>
          <a:p>
            <a:pPr algn="ctr">
              <a:lnSpc>
                <a:spcPct val="90000"/>
              </a:lnSpc>
              <a:spcBef>
                <a:spcPts val="1000"/>
              </a:spcBef>
              <a:spcAft>
                <a:spcPts val="600"/>
              </a:spcAft>
            </a:pPr>
            <a:r>
              <a:rPr lang="en-US" sz="2000" dirty="0">
                <a:solidFill>
                  <a:schemeClr val="bg1"/>
                </a:solidFill>
              </a:rPr>
              <a:t>The above video link shows the integration of the embedded controller and wireless pendent with regards to the Forward and Reversed SPWM signals that are to be sent to the drive electronics. The video demonstrates the varying amplitudes and frequencies as well as an explanation for the slower reversed frequency. Videos regarding the lateral movement and wireless integration can be seen on the previous slides. The links below shows a video regarding the forward and reversed SPWM's with no wireless integration, the load cell working and the working rotary encoder.</a:t>
            </a:r>
          </a:p>
        </p:txBody>
      </p:sp>
      <p:sp>
        <p:nvSpPr>
          <p:cNvPr id="13" name="Freeform: Shape 12">
            <a:extLst>
              <a:ext uri="{FF2B5EF4-FFF2-40B4-BE49-F238E27FC236}">
                <a16:creationId xmlns:a16="http://schemas.microsoft.com/office/drawing/2014/main" id="{25075F33-1A10-4426-E877-E47E1B477B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404000"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8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8A4EEDDA-BC08-4064-190E-241FBFE272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2403998"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7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8" name="Picture 7" descr="A white electronic device with buttons and a screen&#10;&#10;AI-generated content may be incorrect.">
            <a:extLst>
              <a:ext uri="{FF2B5EF4-FFF2-40B4-BE49-F238E27FC236}">
                <a16:creationId xmlns:a16="http://schemas.microsoft.com/office/drawing/2014/main" id="{9660BAAB-4C15-6D65-3263-78341320A7AE}"/>
              </a:ext>
            </a:extLst>
          </p:cNvPr>
          <p:cNvPicPr>
            <a:picLocks noChangeAspect="1"/>
          </p:cNvPicPr>
          <p:nvPr/>
        </p:nvPicPr>
        <p:blipFill>
          <a:blip r:embed="rId3"/>
          <a:stretch>
            <a:fillRect/>
          </a:stretch>
        </p:blipFill>
        <p:spPr>
          <a:xfrm>
            <a:off x="-703663" y="0"/>
            <a:ext cx="6794502" cy="7187513"/>
          </a:xfrm>
          <a:prstGeom prst="rect">
            <a:avLst/>
          </a:prstGeom>
        </p:spPr>
      </p:pic>
      <p:sp>
        <p:nvSpPr>
          <p:cNvPr id="10" name="TextBox 9">
            <a:extLst>
              <a:ext uri="{FF2B5EF4-FFF2-40B4-BE49-F238E27FC236}">
                <a16:creationId xmlns:a16="http://schemas.microsoft.com/office/drawing/2014/main" id="{0810DC62-D73E-0370-3D0C-B6BF71AF32B6}"/>
              </a:ext>
            </a:extLst>
          </p:cNvPr>
          <p:cNvSpPr txBox="1"/>
          <p:nvPr/>
        </p:nvSpPr>
        <p:spPr>
          <a:xfrm>
            <a:off x="6547453" y="2234153"/>
            <a:ext cx="564454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solidFill>
                  <a:schemeClr val="bg1"/>
                </a:solidFill>
                <a:ea typeface="+mn-lt"/>
                <a:cs typeface="+mn-lt"/>
                <a:hlinkClick r:id="rId4"/>
              </a:rPr>
              <a:t>https://youtu.be/o6YtptXUakM?si=Tz7EXiTFnEbT5l4_</a:t>
            </a:r>
            <a:endParaRPr lang="en-US" dirty="0">
              <a:solidFill>
                <a:schemeClr val="bg1"/>
              </a:solidFill>
              <a:ea typeface="+mn-lt"/>
              <a:cs typeface="+mn-lt"/>
            </a:endParaRPr>
          </a:p>
          <a:p>
            <a:pPr algn="l"/>
            <a:endParaRPr lang="en-US" dirty="0">
              <a:solidFill>
                <a:schemeClr val="bg1"/>
              </a:solidFill>
            </a:endParaRPr>
          </a:p>
        </p:txBody>
      </p:sp>
      <p:sp>
        <p:nvSpPr>
          <p:cNvPr id="2" name="TextBox 1">
            <a:extLst>
              <a:ext uri="{FF2B5EF4-FFF2-40B4-BE49-F238E27FC236}">
                <a16:creationId xmlns:a16="http://schemas.microsoft.com/office/drawing/2014/main" id="{1CF83D8A-E905-1EE3-C2B6-7FD3F6FB81EB}"/>
              </a:ext>
            </a:extLst>
          </p:cNvPr>
          <p:cNvSpPr txBox="1"/>
          <p:nvPr/>
        </p:nvSpPr>
        <p:spPr>
          <a:xfrm>
            <a:off x="6547452" y="5052330"/>
            <a:ext cx="5644548" cy="646331"/>
          </a:xfrm>
          <a:prstGeom prst="rect">
            <a:avLst/>
          </a:prstGeom>
          <a:noFill/>
        </p:spPr>
        <p:txBody>
          <a:bodyPr wrap="square" rtlCol="0">
            <a:spAutoFit/>
          </a:bodyPr>
          <a:lstStyle/>
          <a:p>
            <a:r>
              <a:rPr lang="en-GB" dirty="0">
                <a:solidFill>
                  <a:schemeClr val="bg1"/>
                </a:solidFill>
                <a:hlinkClick r:id="rId5"/>
              </a:rPr>
              <a:t>https://youtu.be/B9fsbKZ2n8I?si=ttUy9z3HcEQHzto8</a:t>
            </a:r>
            <a:endParaRPr lang="en-GB" dirty="0">
              <a:solidFill>
                <a:schemeClr val="bg1"/>
              </a:solidFill>
            </a:endParaRPr>
          </a:p>
          <a:p>
            <a:endParaRPr lang="en-GB" dirty="0">
              <a:solidFill>
                <a:schemeClr val="bg1"/>
              </a:solidFill>
            </a:endParaRPr>
          </a:p>
        </p:txBody>
      </p:sp>
      <p:sp>
        <p:nvSpPr>
          <p:cNvPr id="3" name="TextBox 2">
            <a:extLst>
              <a:ext uri="{FF2B5EF4-FFF2-40B4-BE49-F238E27FC236}">
                <a16:creationId xmlns:a16="http://schemas.microsoft.com/office/drawing/2014/main" id="{70AF9E79-428B-C394-3009-0DAAE35473EE}"/>
              </a:ext>
            </a:extLst>
          </p:cNvPr>
          <p:cNvSpPr txBox="1"/>
          <p:nvPr/>
        </p:nvSpPr>
        <p:spPr>
          <a:xfrm>
            <a:off x="7902990" y="6236654"/>
            <a:ext cx="3003227" cy="276999"/>
          </a:xfrm>
          <a:prstGeom prst="rect">
            <a:avLst/>
          </a:prstGeom>
          <a:noFill/>
        </p:spPr>
        <p:txBody>
          <a:bodyPr wrap="square" rtlCol="0">
            <a:spAutoFit/>
          </a:bodyPr>
          <a:lstStyle/>
          <a:p>
            <a:r>
              <a:rPr lang="en-GB" sz="1200" dirty="0">
                <a:solidFill>
                  <a:schemeClr val="bg1"/>
                </a:solidFill>
              </a:rPr>
              <a:t>(Putting closed captions on is suggested)</a:t>
            </a:r>
          </a:p>
        </p:txBody>
      </p:sp>
      <p:sp>
        <p:nvSpPr>
          <p:cNvPr id="5" name="TextBox 4">
            <a:extLst>
              <a:ext uri="{FF2B5EF4-FFF2-40B4-BE49-F238E27FC236}">
                <a16:creationId xmlns:a16="http://schemas.microsoft.com/office/drawing/2014/main" id="{33675774-9F78-5510-5D64-B47DC4118AF3}"/>
              </a:ext>
            </a:extLst>
          </p:cNvPr>
          <p:cNvSpPr txBox="1"/>
          <p:nvPr/>
        </p:nvSpPr>
        <p:spPr>
          <a:xfrm>
            <a:off x="6019627" y="5422281"/>
            <a:ext cx="6172371" cy="615553"/>
          </a:xfrm>
          <a:prstGeom prst="rect">
            <a:avLst/>
          </a:prstGeom>
          <a:noFill/>
        </p:spPr>
        <p:txBody>
          <a:bodyPr wrap="square" rtlCol="0">
            <a:spAutoFit/>
          </a:bodyPr>
          <a:lstStyle/>
          <a:p>
            <a:r>
              <a:rPr lang="en-GB" sz="1600" dirty="0">
                <a:solidFill>
                  <a:schemeClr val="bg1"/>
                </a:solidFill>
                <a:hlinkClick r:id="rId6"/>
              </a:rPr>
              <a:t>https://youtube.com/shorts/GiuNbUcU1tI?si=g98gQNOW_XRaXSY4</a:t>
            </a:r>
            <a:endParaRPr lang="en-GB" sz="1600" dirty="0">
              <a:solidFill>
                <a:schemeClr val="bg1"/>
              </a:solidFill>
            </a:endParaRPr>
          </a:p>
          <a:p>
            <a:endParaRPr lang="en-GB" dirty="0">
              <a:solidFill>
                <a:schemeClr val="bg1"/>
              </a:solidFill>
            </a:endParaRPr>
          </a:p>
        </p:txBody>
      </p:sp>
      <p:sp>
        <p:nvSpPr>
          <p:cNvPr id="7" name="TextBox 6">
            <a:extLst>
              <a:ext uri="{FF2B5EF4-FFF2-40B4-BE49-F238E27FC236}">
                <a16:creationId xmlns:a16="http://schemas.microsoft.com/office/drawing/2014/main" id="{E72BF5F2-8A1B-FE33-57CE-E09ADC86FA7B}"/>
              </a:ext>
            </a:extLst>
          </p:cNvPr>
          <p:cNvSpPr txBox="1"/>
          <p:nvPr/>
        </p:nvSpPr>
        <p:spPr>
          <a:xfrm>
            <a:off x="6172374" y="5785578"/>
            <a:ext cx="6394700" cy="615553"/>
          </a:xfrm>
          <a:prstGeom prst="rect">
            <a:avLst/>
          </a:prstGeom>
          <a:noFill/>
        </p:spPr>
        <p:txBody>
          <a:bodyPr wrap="square" rtlCol="0">
            <a:spAutoFit/>
          </a:bodyPr>
          <a:lstStyle/>
          <a:p>
            <a:r>
              <a:rPr lang="en-GB" sz="1600" dirty="0">
                <a:solidFill>
                  <a:schemeClr val="bg1"/>
                </a:solidFill>
                <a:hlinkClick r:id="rId7"/>
              </a:rPr>
              <a:t>https://youtube.com/shorts/8iOUVHw6SN4?si=gh9_9giAJZZgFc2U</a:t>
            </a:r>
            <a:endParaRPr lang="en-GB" sz="1600" dirty="0">
              <a:solidFill>
                <a:schemeClr val="bg1"/>
              </a:solidFill>
            </a:endParaRPr>
          </a:p>
          <a:p>
            <a:endParaRPr lang="en-GB" dirty="0">
              <a:solidFill>
                <a:schemeClr val="bg1"/>
              </a:solidFill>
            </a:endParaRPr>
          </a:p>
        </p:txBody>
      </p:sp>
    </p:spTree>
    <p:extLst>
      <p:ext uri="{BB962C8B-B14F-4D97-AF65-F5344CB8AC3E}">
        <p14:creationId xmlns:p14="http://schemas.microsoft.com/office/powerpoint/2010/main" val="27698908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F7C6DD-19F0-435F-0A28-98CD8413DD3E}"/>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93C44E0B-B1DC-B403-76DF-046D499C2F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068A4EE2-F467-F87F-B1DB-E9BD03B4064F}"/>
              </a:ext>
            </a:extLst>
          </p:cNvPr>
          <p:cNvSpPr txBox="1"/>
          <p:nvPr/>
        </p:nvSpPr>
        <p:spPr>
          <a:xfrm>
            <a:off x="742950" y="742951"/>
            <a:ext cx="3476625" cy="4962524"/>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800" kern="1200" dirty="0">
                <a:solidFill>
                  <a:srgbClr val="FFFFFF"/>
                </a:solidFill>
                <a:latin typeface="+mj-lt"/>
                <a:ea typeface="+mj-ea"/>
                <a:cs typeface="+mj-cs"/>
              </a:rPr>
              <a:t>Report Performance for </a:t>
            </a:r>
            <a:r>
              <a:rPr lang="en-US" sz="4800" dirty="0">
                <a:solidFill>
                  <a:srgbClr val="FFFFFF"/>
                </a:solidFill>
                <a:latin typeface="+mj-lt"/>
                <a:ea typeface="+mj-ea"/>
                <a:cs typeface="+mj-cs"/>
              </a:rPr>
              <a:t>Embedded Controller</a:t>
            </a:r>
            <a:endParaRPr lang="en-US" dirty="0">
              <a:ea typeface="+mj-ea"/>
              <a:cs typeface="+mj-cs"/>
            </a:endParaRPr>
          </a:p>
        </p:txBody>
      </p:sp>
      <p:graphicFrame>
        <p:nvGraphicFramePr>
          <p:cNvPr id="8" name="Table 7">
            <a:extLst>
              <a:ext uri="{FF2B5EF4-FFF2-40B4-BE49-F238E27FC236}">
                <a16:creationId xmlns:a16="http://schemas.microsoft.com/office/drawing/2014/main" id="{0DC7AFED-0B65-767A-B8C8-C4FC4EFAEE7D}"/>
              </a:ext>
            </a:extLst>
          </p:cNvPr>
          <p:cNvGraphicFramePr>
            <a:graphicFrameLocks noGrp="1"/>
          </p:cNvGraphicFramePr>
          <p:nvPr>
            <p:extLst>
              <p:ext uri="{D42A27DB-BD31-4B8C-83A1-F6EECF244321}">
                <p14:modId xmlns:p14="http://schemas.microsoft.com/office/powerpoint/2010/main" val="1562914565"/>
              </p:ext>
            </p:extLst>
          </p:nvPr>
        </p:nvGraphicFramePr>
        <p:xfrm>
          <a:off x="5236307" y="97692"/>
          <a:ext cx="6701295" cy="5202873"/>
        </p:xfrm>
        <a:graphic>
          <a:graphicData uri="http://schemas.openxmlformats.org/drawingml/2006/table">
            <a:tbl>
              <a:tblPr firstRow="1" firstCol="1" bandRow="1">
                <a:tableStyleId>{9D7B26C5-4107-4FEC-AEDC-1716B250A1EF}</a:tableStyleId>
              </a:tblPr>
              <a:tblGrid>
                <a:gridCol w="1246836">
                  <a:extLst>
                    <a:ext uri="{9D8B030D-6E8A-4147-A177-3AD203B41FA5}">
                      <a16:colId xmlns:a16="http://schemas.microsoft.com/office/drawing/2014/main" val="2658095432"/>
                    </a:ext>
                  </a:extLst>
                </a:gridCol>
                <a:gridCol w="1680265">
                  <a:extLst>
                    <a:ext uri="{9D8B030D-6E8A-4147-A177-3AD203B41FA5}">
                      <a16:colId xmlns:a16="http://schemas.microsoft.com/office/drawing/2014/main" val="561284639"/>
                    </a:ext>
                  </a:extLst>
                </a:gridCol>
                <a:gridCol w="1925922">
                  <a:extLst>
                    <a:ext uri="{9D8B030D-6E8A-4147-A177-3AD203B41FA5}">
                      <a16:colId xmlns:a16="http://schemas.microsoft.com/office/drawing/2014/main" val="1192187515"/>
                    </a:ext>
                  </a:extLst>
                </a:gridCol>
                <a:gridCol w="1848272">
                  <a:extLst>
                    <a:ext uri="{9D8B030D-6E8A-4147-A177-3AD203B41FA5}">
                      <a16:colId xmlns:a16="http://schemas.microsoft.com/office/drawing/2014/main" val="970391352"/>
                    </a:ext>
                  </a:extLst>
                </a:gridCol>
              </a:tblGrid>
              <a:tr h="584550">
                <a:tc>
                  <a:txBody>
                    <a:bodyPr/>
                    <a:lstStyle/>
                    <a:p>
                      <a:pPr algn="ctr">
                        <a:lnSpc>
                          <a:spcPct val="115000"/>
                        </a:lnSpc>
                        <a:spcAft>
                          <a:spcPts val="600"/>
                        </a:spcAft>
                      </a:pPr>
                      <a:r>
                        <a:rPr lang="en-ZA" sz="1300" dirty="0">
                          <a:effectLst/>
                        </a:rPr>
                        <a:t>Requirement No.</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Description</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Verification Method</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Result</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extLst>
                  <a:ext uri="{0D108BD9-81ED-4DB2-BD59-A6C34878D82A}">
                    <a16:rowId xmlns:a16="http://schemas.microsoft.com/office/drawing/2014/main" val="2977360314"/>
                  </a:ext>
                </a:extLst>
              </a:tr>
              <a:tr h="866387">
                <a:tc>
                  <a:txBody>
                    <a:bodyPr/>
                    <a:lstStyle/>
                    <a:p>
                      <a:pPr algn="ctr">
                        <a:lnSpc>
                          <a:spcPct val="115000"/>
                        </a:lnSpc>
                        <a:spcAft>
                          <a:spcPts val="600"/>
                        </a:spcAft>
                      </a:pPr>
                      <a:r>
                        <a:rPr lang="en-ZA" sz="1300" dirty="0">
                          <a:effectLst/>
                        </a:rPr>
                        <a:t>1</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Normal 3 phase SPWM for Clockwise motor rotation.</a:t>
                      </a:r>
                    </a:p>
                  </a:txBody>
                  <a:tcPr marL="81418" marR="81418" marT="0" marB="0"/>
                </a:tc>
                <a:tc>
                  <a:txBody>
                    <a:bodyPr/>
                    <a:lstStyle/>
                    <a:p>
                      <a:pPr algn="ctr">
                        <a:lnSpc>
                          <a:spcPct val="115000"/>
                        </a:lnSpc>
                        <a:spcAft>
                          <a:spcPts val="600"/>
                        </a:spcAft>
                      </a:pPr>
                      <a:r>
                        <a:rPr lang="en-ZA" sz="1300" dirty="0">
                          <a:effectLst/>
                        </a:rPr>
                        <a:t>Laboratory test  using a capacitive low pass filter and  oscilloscope.</a:t>
                      </a:r>
                    </a:p>
                  </a:txBody>
                  <a:tcPr marL="81418" marR="81418" marT="0" marB="0"/>
                </a:tc>
                <a:tc>
                  <a:txBody>
                    <a:bodyPr/>
                    <a:lstStyle/>
                    <a:p>
                      <a:pPr algn="ctr">
                        <a:lnSpc>
                          <a:spcPct val="115000"/>
                        </a:lnSpc>
                        <a:spcAft>
                          <a:spcPts val="600"/>
                        </a:spcAft>
                      </a:pPr>
                      <a:r>
                        <a:rPr lang="en-ZA" sz="1300" dirty="0">
                          <a:effectLst/>
                        </a:rPr>
                        <a:t>Met — Sinusoidal PWM signals were visually monitored and smoothly ramped up from (essentially) 0 Hz to 55 Hz with an increasing amplitude and vice versa.</a:t>
                      </a:r>
                      <a:endParaRPr lang="en-US" dirty="0"/>
                    </a:p>
                  </a:txBody>
                  <a:tcPr marL="81418" marR="81418" marT="0" marB="0"/>
                </a:tc>
                <a:extLst>
                  <a:ext uri="{0D108BD9-81ED-4DB2-BD59-A6C34878D82A}">
                    <a16:rowId xmlns:a16="http://schemas.microsoft.com/office/drawing/2014/main" val="1183983111"/>
                  </a:ext>
                </a:extLst>
              </a:tr>
              <a:tr h="866387">
                <a:tc>
                  <a:txBody>
                    <a:bodyPr/>
                    <a:lstStyle/>
                    <a:p>
                      <a:pPr algn="ctr">
                        <a:lnSpc>
                          <a:spcPct val="115000"/>
                        </a:lnSpc>
                        <a:spcAft>
                          <a:spcPts val="600"/>
                        </a:spcAft>
                      </a:pPr>
                      <a:r>
                        <a:rPr lang="en-ZA" sz="1300" dirty="0">
                          <a:effectLst/>
                        </a:rPr>
                        <a:t>2</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lvl="0" algn="ctr">
                        <a:lnSpc>
                          <a:spcPct val="114999"/>
                        </a:lnSpc>
                        <a:spcAft>
                          <a:spcPts val="600"/>
                        </a:spcAft>
                        <a:buNone/>
                      </a:pPr>
                      <a:r>
                        <a:rPr lang="en-ZA" sz="1300" b="0" i="0" u="none" strike="noStrike" noProof="0" dirty="0">
                          <a:solidFill>
                            <a:srgbClr val="000000"/>
                          </a:solidFill>
                          <a:effectLst/>
                          <a:latin typeface="Aptos"/>
                        </a:rPr>
                        <a:t>120° Phase shifted 3 phase SPWM for Anti-Clockwise motor rotation.</a:t>
                      </a:r>
                      <a:endParaRPr lang="en-US" dirty="0"/>
                    </a:p>
                  </a:txBody>
                  <a:tcPr marL="81418" marR="81418" marT="0" marB="0"/>
                </a:tc>
                <a:tc>
                  <a:txBody>
                    <a:bodyPr/>
                    <a:lstStyle/>
                    <a:p>
                      <a:pPr lvl="0" algn="ctr">
                        <a:lnSpc>
                          <a:spcPct val="114999"/>
                        </a:lnSpc>
                        <a:spcAft>
                          <a:spcPts val="600"/>
                        </a:spcAft>
                        <a:buNone/>
                      </a:pPr>
                      <a:r>
                        <a:rPr lang="en-ZA" sz="1300" b="0" i="0" u="none" strike="noStrike" noProof="0" dirty="0">
                          <a:solidFill>
                            <a:srgbClr val="000000"/>
                          </a:solidFill>
                          <a:effectLst/>
                          <a:latin typeface="Aptos"/>
                        </a:rPr>
                        <a:t>Laboratory test using a capacitive low pass filter and oscilloscope.</a:t>
                      </a:r>
                      <a:endParaRPr lang="en-ZA" sz="1300" dirty="0">
                        <a:effectLst/>
                      </a:endParaRPr>
                    </a:p>
                  </a:txBody>
                  <a:tcPr marL="81418" marR="81418" marT="0" marB="0"/>
                </a:tc>
                <a:tc>
                  <a:txBody>
                    <a:bodyPr/>
                    <a:lstStyle/>
                    <a:p>
                      <a:pPr algn="ctr">
                        <a:lnSpc>
                          <a:spcPct val="115000"/>
                        </a:lnSpc>
                        <a:spcAft>
                          <a:spcPts val="600"/>
                        </a:spcAft>
                      </a:pPr>
                      <a:r>
                        <a:rPr lang="en-ZA" sz="1300" dirty="0">
                          <a:effectLst/>
                        </a:rPr>
                        <a:t>Met — Same result as for 1 but with a clearly observed </a:t>
                      </a:r>
                      <a:r>
                        <a:rPr lang="en-ZA" sz="1300" b="0" i="0" u="none" strike="noStrike" noProof="0" dirty="0">
                          <a:solidFill>
                            <a:srgbClr val="000000"/>
                          </a:solidFill>
                          <a:effectLst/>
                          <a:latin typeface="Aptos"/>
                        </a:rPr>
                        <a:t>120° Phase shift switching the last 2 phases for reversed motor rotation</a:t>
                      </a:r>
                      <a:r>
                        <a:rPr lang="en-ZA" sz="1300" dirty="0">
                          <a:effectLst/>
                        </a:rPr>
                        <a:t>.</a:t>
                      </a:r>
                    </a:p>
                  </a:txBody>
                  <a:tcPr marL="81418" marR="81418" marT="0" marB="0"/>
                </a:tc>
                <a:extLst>
                  <a:ext uri="{0D108BD9-81ED-4DB2-BD59-A6C34878D82A}">
                    <a16:rowId xmlns:a16="http://schemas.microsoft.com/office/drawing/2014/main" val="1953792909"/>
                  </a:ext>
                </a:extLst>
              </a:tr>
              <a:tr h="1450943">
                <a:tc>
                  <a:txBody>
                    <a:bodyPr/>
                    <a:lstStyle/>
                    <a:p>
                      <a:pPr algn="ctr">
                        <a:lnSpc>
                          <a:spcPct val="115000"/>
                        </a:lnSpc>
                        <a:spcAft>
                          <a:spcPts val="600"/>
                        </a:spcAft>
                      </a:pPr>
                      <a:r>
                        <a:rPr lang="en-ZA" sz="1300" dirty="0">
                          <a:effectLst/>
                        </a:rPr>
                        <a:t>3</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Variable SPWM frequencies with accompanying Varying Amplitudes.</a:t>
                      </a:r>
                    </a:p>
                  </a:txBody>
                  <a:tcPr marL="81418" marR="81418" marT="0" marB="0"/>
                </a:tc>
                <a:tc>
                  <a:txBody>
                    <a:bodyPr/>
                    <a:lstStyle/>
                    <a:p>
                      <a:pPr lvl="0" algn="ctr">
                        <a:lnSpc>
                          <a:spcPct val="114999"/>
                        </a:lnSpc>
                        <a:spcAft>
                          <a:spcPts val="600"/>
                        </a:spcAft>
                        <a:buNone/>
                      </a:pPr>
                      <a:r>
                        <a:rPr lang="en-ZA" sz="1300" b="0" i="0" u="none" strike="noStrike" noProof="0" dirty="0">
                          <a:solidFill>
                            <a:srgbClr val="000000"/>
                          </a:solidFill>
                          <a:effectLst/>
                          <a:latin typeface="Aptos"/>
                        </a:rPr>
                        <a:t>Laboratory test using a capacitive low pass filter and oscilloscope.</a:t>
                      </a:r>
                      <a:endParaRPr lang="en-US" dirty="0"/>
                    </a:p>
                  </a:txBody>
                  <a:tcPr marL="81418" marR="81418" marT="0" marB="0"/>
                </a:tc>
                <a:tc>
                  <a:txBody>
                    <a:bodyPr/>
                    <a:lstStyle/>
                    <a:p>
                      <a:pPr algn="ctr">
                        <a:lnSpc>
                          <a:spcPct val="115000"/>
                        </a:lnSpc>
                        <a:spcAft>
                          <a:spcPts val="600"/>
                        </a:spcAft>
                      </a:pPr>
                      <a:r>
                        <a:rPr lang="en-ZA" sz="1300" dirty="0">
                          <a:effectLst/>
                        </a:rPr>
                        <a:t>Met —  Observed the varying SPWM frequencies and accompanying amplitudes via an oscilloscope.</a:t>
                      </a:r>
                    </a:p>
                  </a:txBody>
                  <a:tcPr marL="81418" marR="81418" marT="0" marB="0"/>
                </a:tc>
                <a:extLst>
                  <a:ext uri="{0D108BD9-81ED-4DB2-BD59-A6C34878D82A}">
                    <a16:rowId xmlns:a16="http://schemas.microsoft.com/office/drawing/2014/main" val="164757719"/>
                  </a:ext>
                </a:extLst>
              </a:tr>
            </a:tbl>
          </a:graphicData>
        </a:graphic>
      </p:graphicFrame>
    </p:spTree>
    <p:extLst>
      <p:ext uri="{BB962C8B-B14F-4D97-AF65-F5344CB8AC3E}">
        <p14:creationId xmlns:p14="http://schemas.microsoft.com/office/powerpoint/2010/main" val="11491827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BE4371-BC48-BA86-3224-354D2CB5A9BF}"/>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3FA652D7-D9BF-0816-4D9A-329CEE78D7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2C742C08-988A-01F3-B17A-BFDDCCEF224B}"/>
              </a:ext>
            </a:extLst>
          </p:cNvPr>
          <p:cNvSpPr txBox="1"/>
          <p:nvPr/>
        </p:nvSpPr>
        <p:spPr>
          <a:xfrm>
            <a:off x="742950" y="742951"/>
            <a:ext cx="3476625" cy="4962524"/>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800" kern="1200" dirty="0">
                <a:solidFill>
                  <a:srgbClr val="FFFFFF"/>
                </a:solidFill>
                <a:latin typeface="+mj-lt"/>
                <a:ea typeface="+mj-ea"/>
                <a:cs typeface="+mj-cs"/>
              </a:rPr>
              <a:t>Report Performance for </a:t>
            </a:r>
            <a:r>
              <a:rPr lang="en-US" sz="4800" dirty="0">
                <a:solidFill>
                  <a:srgbClr val="FFFFFF"/>
                </a:solidFill>
                <a:latin typeface="+mj-lt"/>
                <a:ea typeface="+mj-ea"/>
                <a:cs typeface="+mj-cs"/>
              </a:rPr>
              <a:t>Embedded Controller</a:t>
            </a:r>
            <a:br>
              <a:rPr lang="en-US" sz="4800" dirty="0">
                <a:solidFill>
                  <a:srgbClr val="FFFFFF"/>
                </a:solidFill>
                <a:latin typeface="+mj-lt"/>
                <a:ea typeface="+mj-ea"/>
                <a:cs typeface="+mj-cs"/>
              </a:rPr>
            </a:br>
            <a:r>
              <a:rPr lang="en-US" sz="4800" dirty="0">
                <a:solidFill>
                  <a:srgbClr val="FFFFFF"/>
                </a:solidFill>
                <a:latin typeface="Aptos Display"/>
                <a:ea typeface="+mj-ea"/>
                <a:cs typeface="+mj-cs"/>
              </a:rPr>
              <a:t>(Continued)</a:t>
            </a:r>
            <a:endParaRPr lang="en-US" dirty="0">
              <a:ea typeface="+mj-ea"/>
              <a:cs typeface="+mj-cs"/>
            </a:endParaRPr>
          </a:p>
        </p:txBody>
      </p:sp>
      <p:graphicFrame>
        <p:nvGraphicFramePr>
          <p:cNvPr id="8" name="Table 7">
            <a:extLst>
              <a:ext uri="{FF2B5EF4-FFF2-40B4-BE49-F238E27FC236}">
                <a16:creationId xmlns:a16="http://schemas.microsoft.com/office/drawing/2014/main" id="{45ACB38E-697C-2072-F04C-F099570AAD11}"/>
              </a:ext>
            </a:extLst>
          </p:cNvPr>
          <p:cNvGraphicFramePr>
            <a:graphicFrameLocks noGrp="1"/>
          </p:cNvGraphicFramePr>
          <p:nvPr>
            <p:extLst>
              <p:ext uri="{D42A27DB-BD31-4B8C-83A1-F6EECF244321}">
                <p14:modId xmlns:p14="http://schemas.microsoft.com/office/powerpoint/2010/main" val="1649036113"/>
              </p:ext>
            </p:extLst>
          </p:nvPr>
        </p:nvGraphicFramePr>
        <p:xfrm>
          <a:off x="5236307" y="97692"/>
          <a:ext cx="6701295" cy="6180508"/>
        </p:xfrm>
        <a:graphic>
          <a:graphicData uri="http://schemas.openxmlformats.org/drawingml/2006/table">
            <a:tbl>
              <a:tblPr firstRow="1" firstCol="1" bandRow="1">
                <a:tableStyleId>{9D7B26C5-4107-4FEC-AEDC-1716B250A1EF}</a:tableStyleId>
              </a:tblPr>
              <a:tblGrid>
                <a:gridCol w="1246836">
                  <a:extLst>
                    <a:ext uri="{9D8B030D-6E8A-4147-A177-3AD203B41FA5}">
                      <a16:colId xmlns:a16="http://schemas.microsoft.com/office/drawing/2014/main" val="2658095432"/>
                    </a:ext>
                  </a:extLst>
                </a:gridCol>
                <a:gridCol w="1680265">
                  <a:extLst>
                    <a:ext uri="{9D8B030D-6E8A-4147-A177-3AD203B41FA5}">
                      <a16:colId xmlns:a16="http://schemas.microsoft.com/office/drawing/2014/main" val="561284639"/>
                    </a:ext>
                  </a:extLst>
                </a:gridCol>
                <a:gridCol w="1925922">
                  <a:extLst>
                    <a:ext uri="{9D8B030D-6E8A-4147-A177-3AD203B41FA5}">
                      <a16:colId xmlns:a16="http://schemas.microsoft.com/office/drawing/2014/main" val="1192187515"/>
                    </a:ext>
                  </a:extLst>
                </a:gridCol>
                <a:gridCol w="1848272">
                  <a:extLst>
                    <a:ext uri="{9D8B030D-6E8A-4147-A177-3AD203B41FA5}">
                      <a16:colId xmlns:a16="http://schemas.microsoft.com/office/drawing/2014/main" val="970391352"/>
                    </a:ext>
                  </a:extLst>
                </a:gridCol>
              </a:tblGrid>
              <a:tr h="584550">
                <a:tc>
                  <a:txBody>
                    <a:bodyPr/>
                    <a:lstStyle/>
                    <a:p>
                      <a:pPr algn="ctr">
                        <a:lnSpc>
                          <a:spcPct val="115000"/>
                        </a:lnSpc>
                        <a:spcAft>
                          <a:spcPts val="600"/>
                        </a:spcAft>
                      </a:pPr>
                      <a:r>
                        <a:rPr lang="en-ZA" sz="1300" dirty="0">
                          <a:effectLst/>
                        </a:rPr>
                        <a:t>Requirement No.</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Description</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Verification Method</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Result</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extLst>
                  <a:ext uri="{0D108BD9-81ED-4DB2-BD59-A6C34878D82A}">
                    <a16:rowId xmlns:a16="http://schemas.microsoft.com/office/drawing/2014/main" val="2977360314"/>
                  </a:ext>
                </a:extLst>
              </a:tr>
              <a:tr h="1449915">
                <a:tc>
                  <a:txBody>
                    <a:bodyPr/>
                    <a:lstStyle/>
                    <a:p>
                      <a:pPr lvl="0" algn="ctr">
                        <a:lnSpc>
                          <a:spcPct val="114999"/>
                        </a:lnSpc>
                        <a:spcAft>
                          <a:spcPts val="600"/>
                        </a:spcAft>
                        <a:buNone/>
                      </a:pPr>
                      <a:r>
                        <a:rPr lang="en-ZA" sz="1300" dirty="0">
                          <a:effectLst/>
                        </a:rPr>
                        <a:t>4</a:t>
                      </a:r>
                      <a:endParaRPr lang="en-US" dirty="0"/>
                    </a:p>
                  </a:txBody>
                  <a:tcPr marL="81418" marR="81418" marT="0" marB="0"/>
                </a:tc>
                <a:tc>
                  <a:txBody>
                    <a:bodyPr/>
                    <a:lstStyle/>
                    <a:p>
                      <a:pPr lvl="0" algn="ctr">
                        <a:lnSpc>
                          <a:spcPct val="114999"/>
                        </a:lnSpc>
                        <a:spcAft>
                          <a:spcPts val="600"/>
                        </a:spcAft>
                        <a:buNone/>
                      </a:pPr>
                      <a:r>
                        <a:rPr lang="en-ZA" sz="1300" dirty="0">
                          <a:effectLst/>
                        </a:rPr>
                        <a:t>Lateral Movement using varying PWM.</a:t>
                      </a:r>
                      <a:endParaRPr lang="en-US" dirty="0"/>
                    </a:p>
                  </a:txBody>
                  <a:tcPr marL="81418" marR="81418" marT="0" marB="0"/>
                </a:tc>
                <a:tc>
                  <a:txBody>
                    <a:bodyPr/>
                    <a:lstStyle/>
                    <a:p>
                      <a:pPr lvl="0" algn="ctr">
                        <a:lnSpc>
                          <a:spcPct val="114999"/>
                        </a:lnSpc>
                        <a:spcAft>
                          <a:spcPts val="600"/>
                        </a:spcAft>
                        <a:buNone/>
                      </a:pPr>
                      <a:r>
                        <a:rPr lang="en-ZA" sz="1300" b="0" i="0" u="none" strike="noStrike" noProof="0" dirty="0">
                          <a:solidFill>
                            <a:srgbClr val="000000"/>
                          </a:solidFill>
                          <a:effectLst/>
                          <a:latin typeface="Aptos"/>
                        </a:rPr>
                        <a:t>Laboratory test using a capacitive low pass filter and oscilloscope. Use of indication LED's and tested via integration with lateral movement.</a:t>
                      </a:r>
                      <a:endParaRPr lang="en-US" dirty="0"/>
                    </a:p>
                  </a:txBody>
                  <a:tcPr marL="81418" marR="81418" marT="0" marB="0"/>
                </a:tc>
                <a:tc>
                  <a:txBody>
                    <a:bodyPr/>
                    <a:lstStyle/>
                    <a:p>
                      <a:pPr lvl="0" algn="ctr">
                        <a:lnSpc>
                          <a:spcPct val="114999"/>
                        </a:lnSpc>
                        <a:spcAft>
                          <a:spcPts val="600"/>
                        </a:spcAft>
                        <a:buNone/>
                      </a:pPr>
                      <a:r>
                        <a:rPr lang="en-ZA" sz="1300" dirty="0">
                          <a:effectLst/>
                        </a:rPr>
                        <a:t>Met – </a:t>
                      </a:r>
                      <a:r>
                        <a:rPr lang="en-ZA" sz="1300" b="0" i="0" u="none" strike="noStrike" noProof="0" dirty="0">
                          <a:solidFill>
                            <a:srgbClr val="000000"/>
                          </a:solidFill>
                          <a:effectLst/>
                          <a:latin typeface="Aptos"/>
                        </a:rPr>
                        <a:t>Square PWM's that varied their duty cycle based on the position of the analogue stick combined with a smooth ramping process allowed for smooth acceleration and deceleration in both directions.</a:t>
                      </a:r>
                      <a:endParaRPr lang="en-ZA" sz="1300" dirty="0">
                        <a:effectLst/>
                      </a:endParaRPr>
                    </a:p>
                  </a:txBody>
                  <a:tcPr marL="81418" marR="81418" marT="0" marB="0"/>
                </a:tc>
                <a:extLst>
                  <a:ext uri="{0D108BD9-81ED-4DB2-BD59-A6C34878D82A}">
                    <a16:rowId xmlns:a16="http://schemas.microsoft.com/office/drawing/2014/main" val="4026758566"/>
                  </a:ext>
                </a:extLst>
              </a:tr>
              <a:tr h="3100916">
                <a:tc>
                  <a:txBody>
                    <a:bodyPr/>
                    <a:lstStyle/>
                    <a:p>
                      <a:pPr lvl="0" algn="ctr">
                        <a:lnSpc>
                          <a:spcPct val="114999"/>
                        </a:lnSpc>
                        <a:spcAft>
                          <a:spcPts val="600"/>
                        </a:spcAft>
                        <a:buNone/>
                      </a:pPr>
                      <a:r>
                        <a:rPr lang="en-ZA" sz="1300" dirty="0">
                          <a:effectLst/>
                        </a:rPr>
                        <a:t>5</a:t>
                      </a:r>
                    </a:p>
                  </a:txBody>
                  <a:tcPr marL="81418" marR="81418" marT="0" marB="0"/>
                </a:tc>
                <a:tc>
                  <a:txBody>
                    <a:bodyPr/>
                    <a:lstStyle/>
                    <a:p>
                      <a:pPr lvl="0" algn="ctr">
                        <a:lnSpc>
                          <a:spcPct val="114999"/>
                        </a:lnSpc>
                        <a:spcAft>
                          <a:spcPts val="600"/>
                        </a:spcAft>
                        <a:buNone/>
                      </a:pPr>
                      <a:r>
                        <a:rPr lang="en-ZA" sz="1300" dirty="0">
                          <a:effectLst/>
                        </a:rPr>
                        <a:t>Logging</a:t>
                      </a:r>
                    </a:p>
                  </a:txBody>
                  <a:tcPr marL="81418" marR="81418" marT="0" marB="0"/>
                </a:tc>
                <a:tc>
                  <a:txBody>
                    <a:bodyPr/>
                    <a:lstStyle/>
                    <a:p>
                      <a:pPr lvl="0" algn="ctr">
                        <a:lnSpc>
                          <a:spcPct val="114999"/>
                        </a:lnSpc>
                        <a:spcAft>
                          <a:spcPts val="600"/>
                        </a:spcAft>
                        <a:buNone/>
                      </a:pPr>
                      <a:r>
                        <a:rPr lang="en-ZA" sz="1300" dirty="0">
                          <a:effectLst/>
                        </a:rPr>
                        <a:t>Made use of the STM32CubeIDE to view details regarding the load cell </a:t>
                      </a:r>
                      <a:r>
                        <a:rPr lang="en-ZA" sz="1300" b="0" i="0" u="none" strike="noStrike" noProof="0" dirty="0">
                          <a:solidFill>
                            <a:srgbClr val="000000"/>
                          </a:solidFill>
                          <a:effectLst/>
                          <a:latin typeface="Aptos"/>
                        </a:rPr>
                        <a:t>and rotary encoder </a:t>
                      </a:r>
                      <a:r>
                        <a:rPr lang="en-ZA" sz="1300" dirty="0">
                          <a:effectLst/>
                        </a:rPr>
                        <a:t>output. Later translated to Wireless Pendent LCD.</a:t>
                      </a:r>
                    </a:p>
                  </a:txBody>
                  <a:tcPr marL="81418" marR="81418" marT="0" marB="0"/>
                </a:tc>
                <a:tc>
                  <a:txBody>
                    <a:bodyPr/>
                    <a:lstStyle/>
                    <a:p>
                      <a:pPr lvl="0" algn="ctr">
                        <a:lnSpc>
                          <a:spcPct val="114999"/>
                        </a:lnSpc>
                        <a:spcAft>
                          <a:spcPts val="600"/>
                        </a:spcAft>
                        <a:buNone/>
                      </a:pPr>
                      <a:r>
                        <a:rPr lang="en-ZA" sz="1300" b="0" i="0" u="none" strike="noStrike" noProof="0" dirty="0">
                          <a:solidFill>
                            <a:srgbClr val="000000"/>
                          </a:solidFill>
                          <a:effectLst/>
                          <a:latin typeface="Aptos"/>
                        </a:rPr>
                        <a:t>Met –  Both the rotary encoder and load cell are functional and working correctly displaying the relevant weight and length of rope extended.</a:t>
                      </a:r>
                    </a:p>
                    <a:p>
                      <a:pPr lvl="0" algn="ctr">
                        <a:lnSpc>
                          <a:spcPct val="114999"/>
                        </a:lnSpc>
                        <a:spcAft>
                          <a:spcPts val="600"/>
                        </a:spcAft>
                        <a:buNone/>
                      </a:pPr>
                      <a:r>
                        <a:rPr lang="en-ZA" sz="1300" b="0" i="0" u="none" strike="noStrike" noProof="0" dirty="0">
                          <a:solidFill>
                            <a:srgbClr val="000000"/>
                          </a:solidFill>
                          <a:effectLst/>
                          <a:latin typeface="Aptos"/>
                        </a:rPr>
                        <a:t>Not Met – Load cell was damaged and so we were unable to fully integrate it but the software for it is still functional.</a:t>
                      </a:r>
                    </a:p>
                  </a:txBody>
                  <a:tcPr marL="81418" marR="81418" marT="0" marB="0"/>
                </a:tc>
                <a:extLst>
                  <a:ext uri="{0D108BD9-81ED-4DB2-BD59-A6C34878D82A}">
                    <a16:rowId xmlns:a16="http://schemas.microsoft.com/office/drawing/2014/main" val="1347399525"/>
                  </a:ext>
                </a:extLst>
              </a:tr>
            </a:tbl>
          </a:graphicData>
        </a:graphic>
      </p:graphicFrame>
    </p:spTree>
    <p:extLst>
      <p:ext uri="{BB962C8B-B14F-4D97-AF65-F5344CB8AC3E}">
        <p14:creationId xmlns:p14="http://schemas.microsoft.com/office/powerpoint/2010/main" val="21913550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93CB94-001E-D1DB-0811-AD8E773CB769}"/>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2CAC0146-BB06-CBE9-ED53-B01AD4B084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23C4E28E-3412-9A14-D796-54AAB288AEEA}"/>
              </a:ext>
            </a:extLst>
          </p:cNvPr>
          <p:cNvSpPr txBox="1"/>
          <p:nvPr/>
        </p:nvSpPr>
        <p:spPr>
          <a:xfrm>
            <a:off x="742950" y="742951"/>
            <a:ext cx="3476625" cy="4962524"/>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800" kern="1200" dirty="0">
                <a:solidFill>
                  <a:srgbClr val="FFFFFF"/>
                </a:solidFill>
                <a:latin typeface="+mj-lt"/>
                <a:ea typeface="+mj-ea"/>
                <a:cs typeface="+mj-cs"/>
              </a:rPr>
              <a:t>Report Performance for </a:t>
            </a:r>
            <a:r>
              <a:rPr lang="en-US" sz="4800" dirty="0">
                <a:solidFill>
                  <a:srgbClr val="FFFFFF"/>
                </a:solidFill>
                <a:latin typeface="+mj-lt"/>
                <a:ea typeface="+mj-ea"/>
                <a:cs typeface="+mj-cs"/>
              </a:rPr>
              <a:t>Embedded Controller</a:t>
            </a:r>
            <a:br>
              <a:rPr lang="en-US" sz="4800" dirty="0">
                <a:solidFill>
                  <a:srgbClr val="FFFFFF"/>
                </a:solidFill>
                <a:latin typeface="+mj-lt"/>
                <a:ea typeface="+mj-ea"/>
                <a:cs typeface="+mj-cs"/>
              </a:rPr>
            </a:br>
            <a:r>
              <a:rPr lang="en-US" sz="4800" dirty="0">
                <a:solidFill>
                  <a:srgbClr val="FFFFFF"/>
                </a:solidFill>
                <a:latin typeface="Aptos Display"/>
                <a:ea typeface="+mj-ea"/>
                <a:cs typeface="+mj-cs"/>
              </a:rPr>
              <a:t>(Continued)</a:t>
            </a:r>
            <a:endParaRPr lang="en-US" dirty="0">
              <a:ea typeface="+mj-ea"/>
              <a:cs typeface="+mj-cs"/>
            </a:endParaRPr>
          </a:p>
        </p:txBody>
      </p:sp>
      <p:graphicFrame>
        <p:nvGraphicFramePr>
          <p:cNvPr id="8" name="Table 7">
            <a:extLst>
              <a:ext uri="{FF2B5EF4-FFF2-40B4-BE49-F238E27FC236}">
                <a16:creationId xmlns:a16="http://schemas.microsoft.com/office/drawing/2014/main" id="{3D8DBA13-6C80-6856-FDFC-30C58916D98F}"/>
              </a:ext>
            </a:extLst>
          </p:cNvPr>
          <p:cNvGraphicFramePr>
            <a:graphicFrameLocks noGrp="1"/>
          </p:cNvGraphicFramePr>
          <p:nvPr>
            <p:extLst>
              <p:ext uri="{D42A27DB-BD31-4B8C-83A1-F6EECF244321}">
                <p14:modId xmlns:p14="http://schemas.microsoft.com/office/powerpoint/2010/main" val="1818488495"/>
              </p:ext>
            </p:extLst>
          </p:nvPr>
        </p:nvGraphicFramePr>
        <p:xfrm>
          <a:off x="5236307" y="97692"/>
          <a:ext cx="6701295" cy="6613917"/>
        </p:xfrm>
        <a:graphic>
          <a:graphicData uri="http://schemas.openxmlformats.org/drawingml/2006/table">
            <a:tbl>
              <a:tblPr firstRow="1" firstCol="1" bandRow="1">
                <a:tableStyleId>{9D7B26C5-4107-4FEC-AEDC-1716B250A1EF}</a:tableStyleId>
              </a:tblPr>
              <a:tblGrid>
                <a:gridCol w="1246836">
                  <a:extLst>
                    <a:ext uri="{9D8B030D-6E8A-4147-A177-3AD203B41FA5}">
                      <a16:colId xmlns:a16="http://schemas.microsoft.com/office/drawing/2014/main" val="2658095432"/>
                    </a:ext>
                  </a:extLst>
                </a:gridCol>
                <a:gridCol w="1680265">
                  <a:extLst>
                    <a:ext uri="{9D8B030D-6E8A-4147-A177-3AD203B41FA5}">
                      <a16:colId xmlns:a16="http://schemas.microsoft.com/office/drawing/2014/main" val="561284639"/>
                    </a:ext>
                  </a:extLst>
                </a:gridCol>
                <a:gridCol w="1799742">
                  <a:extLst>
                    <a:ext uri="{9D8B030D-6E8A-4147-A177-3AD203B41FA5}">
                      <a16:colId xmlns:a16="http://schemas.microsoft.com/office/drawing/2014/main" val="1192187515"/>
                    </a:ext>
                  </a:extLst>
                </a:gridCol>
                <a:gridCol w="1974452">
                  <a:extLst>
                    <a:ext uri="{9D8B030D-6E8A-4147-A177-3AD203B41FA5}">
                      <a16:colId xmlns:a16="http://schemas.microsoft.com/office/drawing/2014/main" val="970391352"/>
                    </a:ext>
                  </a:extLst>
                </a:gridCol>
              </a:tblGrid>
              <a:tr h="584550">
                <a:tc>
                  <a:txBody>
                    <a:bodyPr/>
                    <a:lstStyle/>
                    <a:p>
                      <a:pPr algn="ctr">
                        <a:lnSpc>
                          <a:spcPct val="115000"/>
                        </a:lnSpc>
                        <a:spcAft>
                          <a:spcPts val="600"/>
                        </a:spcAft>
                      </a:pPr>
                      <a:r>
                        <a:rPr lang="en-ZA" sz="1300" dirty="0">
                          <a:effectLst/>
                        </a:rPr>
                        <a:t>Requirement No.</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Description</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Verification Method</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tc>
                  <a:txBody>
                    <a:bodyPr/>
                    <a:lstStyle/>
                    <a:p>
                      <a:pPr algn="ctr">
                        <a:lnSpc>
                          <a:spcPct val="115000"/>
                        </a:lnSpc>
                        <a:spcAft>
                          <a:spcPts val="600"/>
                        </a:spcAft>
                      </a:pPr>
                      <a:r>
                        <a:rPr lang="en-ZA" sz="1300" dirty="0">
                          <a:effectLst/>
                        </a:rPr>
                        <a:t>Result</a:t>
                      </a:r>
                      <a:endParaRPr lang="en-ZA" sz="1300" dirty="0">
                        <a:effectLst/>
                        <a:latin typeface="Arial" panose="020B0604020202020204" pitchFamily="34" charset="0"/>
                        <a:ea typeface="Calibri" panose="020F0502020204030204" pitchFamily="34" charset="0"/>
                        <a:cs typeface="Times New Roman" panose="02020603050405020304" pitchFamily="18" charset="0"/>
                      </a:endParaRPr>
                    </a:p>
                  </a:txBody>
                  <a:tcPr marL="81418" marR="81418" marT="0" marB="0"/>
                </a:tc>
                <a:extLst>
                  <a:ext uri="{0D108BD9-81ED-4DB2-BD59-A6C34878D82A}">
                    <a16:rowId xmlns:a16="http://schemas.microsoft.com/office/drawing/2014/main" val="2977360314"/>
                  </a:ext>
                </a:extLst>
              </a:tr>
              <a:tr h="963083">
                <a:tc>
                  <a:txBody>
                    <a:bodyPr/>
                    <a:lstStyle/>
                    <a:p>
                      <a:pPr lvl="0" algn="ctr">
                        <a:lnSpc>
                          <a:spcPct val="114999"/>
                        </a:lnSpc>
                        <a:spcAft>
                          <a:spcPts val="600"/>
                        </a:spcAft>
                        <a:buNone/>
                      </a:pPr>
                      <a:r>
                        <a:rPr lang="en-ZA" sz="1300" dirty="0">
                          <a:effectLst/>
                        </a:rPr>
                        <a:t>6</a:t>
                      </a:r>
                    </a:p>
                  </a:txBody>
                  <a:tcPr marL="81418" marR="81418" marT="0" marB="0"/>
                </a:tc>
                <a:tc>
                  <a:txBody>
                    <a:bodyPr/>
                    <a:lstStyle/>
                    <a:p>
                      <a:pPr lvl="0" algn="ctr">
                        <a:lnSpc>
                          <a:spcPct val="114999"/>
                        </a:lnSpc>
                        <a:spcAft>
                          <a:spcPts val="600"/>
                        </a:spcAft>
                        <a:buNone/>
                      </a:pPr>
                      <a:r>
                        <a:rPr lang="en-ZA" sz="1300" dirty="0">
                          <a:effectLst/>
                        </a:rPr>
                        <a:t>RTOS Usage</a:t>
                      </a:r>
                      <a:endParaRPr lang="en-US" dirty="0"/>
                    </a:p>
                  </a:txBody>
                  <a:tcPr marL="81418" marR="81418" marT="0" marB="0"/>
                </a:tc>
                <a:tc>
                  <a:txBody>
                    <a:bodyPr/>
                    <a:lstStyle/>
                    <a:p>
                      <a:pPr lvl="0" algn="ctr">
                        <a:lnSpc>
                          <a:spcPct val="114999"/>
                        </a:lnSpc>
                        <a:spcAft>
                          <a:spcPts val="600"/>
                        </a:spcAft>
                        <a:buNone/>
                      </a:pPr>
                      <a:r>
                        <a:rPr lang="en-ZA" sz="1300" dirty="0">
                          <a:effectLst/>
                        </a:rPr>
                        <a:t>Checking the code flashed on the STM32 microcontroller.</a:t>
                      </a:r>
                    </a:p>
                  </a:txBody>
                  <a:tcPr marL="81418" marR="81418" marT="0" marB="0"/>
                </a:tc>
                <a:tc>
                  <a:txBody>
                    <a:bodyPr/>
                    <a:lstStyle/>
                    <a:p>
                      <a:pPr lvl="0" algn="ctr">
                        <a:lnSpc>
                          <a:spcPct val="114999"/>
                        </a:lnSpc>
                        <a:spcAft>
                          <a:spcPts val="600"/>
                        </a:spcAft>
                        <a:buNone/>
                      </a:pPr>
                      <a:r>
                        <a:rPr lang="en-ZA" sz="1300" dirty="0">
                          <a:effectLst/>
                        </a:rPr>
                        <a:t>Not Met – Unable to create a functional controller that made use of RTOS.</a:t>
                      </a:r>
                      <a:endParaRPr lang="en-US" dirty="0"/>
                    </a:p>
                  </a:txBody>
                  <a:tcPr marL="81418" marR="81418" marT="0" marB="0"/>
                </a:tc>
                <a:extLst>
                  <a:ext uri="{0D108BD9-81ED-4DB2-BD59-A6C34878D82A}">
                    <a16:rowId xmlns:a16="http://schemas.microsoft.com/office/drawing/2014/main" val="3785495273"/>
                  </a:ext>
                </a:extLst>
              </a:tr>
              <a:tr h="963083">
                <a:tc>
                  <a:txBody>
                    <a:bodyPr/>
                    <a:lstStyle/>
                    <a:p>
                      <a:pPr lvl="0" algn="ctr">
                        <a:lnSpc>
                          <a:spcPct val="114999"/>
                        </a:lnSpc>
                        <a:spcAft>
                          <a:spcPts val="600"/>
                        </a:spcAft>
                        <a:buNone/>
                      </a:pPr>
                      <a:r>
                        <a:rPr lang="en-ZA" sz="1300" dirty="0">
                          <a:effectLst/>
                        </a:rPr>
                        <a:t>7 </a:t>
                      </a:r>
                    </a:p>
                  </a:txBody>
                  <a:tcPr marL="81418" marR="81418" marT="0" marB="0"/>
                </a:tc>
                <a:tc>
                  <a:txBody>
                    <a:bodyPr/>
                    <a:lstStyle/>
                    <a:p>
                      <a:pPr lvl="0" algn="ctr">
                        <a:lnSpc>
                          <a:spcPct val="114999"/>
                        </a:lnSpc>
                        <a:spcAft>
                          <a:spcPts val="600"/>
                        </a:spcAft>
                        <a:buNone/>
                      </a:pPr>
                      <a:r>
                        <a:rPr lang="en-ZA" sz="1300" dirty="0">
                          <a:effectLst/>
                        </a:rPr>
                        <a:t>Emergency Stop</a:t>
                      </a:r>
                    </a:p>
                  </a:txBody>
                  <a:tcPr marL="81418" marR="81418" marT="0" marB="0"/>
                </a:tc>
                <a:tc>
                  <a:txBody>
                    <a:bodyPr/>
                    <a:lstStyle/>
                    <a:p>
                      <a:pPr lvl="0" algn="ctr">
                        <a:lnSpc>
                          <a:spcPct val="114999"/>
                        </a:lnSpc>
                        <a:spcAft>
                          <a:spcPts val="600"/>
                        </a:spcAft>
                        <a:buNone/>
                      </a:pPr>
                      <a:r>
                        <a:rPr lang="en-ZA" sz="1300" dirty="0">
                          <a:effectLst/>
                        </a:rPr>
                        <a:t>Tested via usage in integration.</a:t>
                      </a:r>
                    </a:p>
                  </a:txBody>
                  <a:tcPr marL="81418" marR="81418" marT="0" marB="0"/>
                </a:tc>
                <a:tc>
                  <a:txBody>
                    <a:bodyPr/>
                    <a:lstStyle/>
                    <a:p>
                      <a:pPr lvl="0" algn="ctr">
                        <a:lnSpc>
                          <a:spcPct val="114999"/>
                        </a:lnSpc>
                        <a:spcAft>
                          <a:spcPts val="600"/>
                        </a:spcAft>
                        <a:buNone/>
                      </a:pPr>
                      <a:r>
                        <a:rPr lang="en-ZA" sz="1300" b="0" i="0" u="none" strike="noStrike" noProof="0" dirty="0">
                          <a:solidFill>
                            <a:srgbClr val="000000"/>
                          </a:solidFill>
                          <a:effectLst/>
                          <a:latin typeface="Aptos"/>
                        </a:rPr>
                        <a:t>Met – Coded Safety protocols that would ramp down and halt all outputs from the embedded controller if communication was lost from the wireless controller. Made the module completely dependent on the wireless pendent.</a:t>
                      </a:r>
                    </a:p>
                  </a:txBody>
                  <a:tcPr marL="81418" marR="81418" marT="0" marB="0"/>
                </a:tc>
                <a:extLst>
                  <a:ext uri="{0D108BD9-81ED-4DB2-BD59-A6C34878D82A}">
                    <a16:rowId xmlns:a16="http://schemas.microsoft.com/office/drawing/2014/main" val="2191095969"/>
                  </a:ext>
                </a:extLst>
              </a:tr>
              <a:tr h="963083">
                <a:tc>
                  <a:txBody>
                    <a:bodyPr/>
                    <a:lstStyle/>
                    <a:p>
                      <a:pPr lvl="0" algn="ctr">
                        <a:lnSpc>
                          <a:spcPct val="114999"/>
                        </a:lnSpc>
                        <a:spcAft>
                          <a:spcPts val="600"/>
                        </a:spcAft>
                        <a:buNone/>
                      </a:pPr>
                      <a:r>
                        <a:rPr lang="en-ZA" sz="1300" dirty="0">
                          <a:effectLst/>
                        </a:rPr>
                        <a:t>8</a:t>
                      </a:r>
                    </a:p>
                  </a:txBody>
                  <a:tcPr marL="81418" marR="81418" marT="0" marB="0"/>
                </a:tc>
                <a:tc>
                  <a:txBody>
                    <a:bodyPr/>
                    <a:lstStyle/>
                    <a:p>
                      <a:pPr lvl="0" algn="ctr">
                        <a:lnSpc>
                          <a:spcPct val="114999"/>
                        </a:lnSpc>
                        <a:spcAft>
                          <a:spcPts val="600"/>
                        </a:spcAft>
                        <a:buNone/>
                      </a:pPr>
                      <a:r>
                        <a:rPr lang="en-ZA" sz="1300" dirty="0">
                          <a:effectLst/>
                        </a:rPr>
                        <a:t>Alarm / Safety</a:t>
                      </a:r>
                    </a:p>
                  </a:txBody>
                  <a:tcPr marL="81418" marR="81418" marT="0" marB="0"/>
                </a:tc>
                <a:tc>
                  <a:txBody>
                    <a:bodyPr/>
                    <a:lstStyle/>
                    <a:p>
                      <a:pPr lvl="0" algn="ctr">
                        <a:lnSpc>
                          <a:spcPct val="114999"/>
                        </a:lnSpc>
                        <a:spcAft>
                          <a:spcPts val="600"/>
                        </a:spcAft>
                        <a:buNone/>
                      </a:pPr>
                      <a:r>
                        <a:rPr lang="en-ZA" sz="1300" dirty="0">
                          <a:effectLst/>
                        </a:rPr>
                        <a:t>Unable to fully verify due to load cell being unavailable. Tested via integration testing.</a:t>
                      </a:r>
                    </a:p>
                  </a:txBody>
                  <a:tcPr marL="81418" marR="81418" marT="0" marB="0"/>
                </a:tc>
                <a:tc>
                  <a:txBody>
                    <a:bodyPr/>
                    <a:lstStyle/>
                    <a:p>
                      <a:pPr lvl="0" algn="ctr">
                        <a:lnSpc>
                          <a:spcPct val="114999"/>
                        </a:lnSpc>
                        <a:spcAft>
                          <a:spcPts val="600"/>
                        </a:spcAft>
                        <a:buNone/>
                      </a:pPr>
                      <a:r>
                        <a:rPr lang="en-ZA" sz="1300" b="0" i="0" u="none" strike="noStrike" noProof="0" dirty="0">
                          <a:solidFill>
                            <a:srgbClr val="000000"/>
                          </a:solidFill>
                          <a:effectLst/>
                          <a:latin typeface="Aptos"/>
                        </a:rPr>
                        <a:t>Met – When the hoist releases &lt;0.1m or &gt;2m of rope the system automatically only allows the necessary input to extend or reel in the rope using the forward/ reversed SPWM’s.</a:t>
                      </a:r>
                    </a:p>
                    <a:p>
                      <a:pPr lvl="0" algn="ctr">
                        <a:lnSpc>
                          <a:spcPct val="114999"/>
                        </a:lnSpc>
                        <a:spcAft>
                          <a:spcPts val="600"/>
                        </a:spcAft>
                        <a:buNone/>
                      </a:pPr>
                      <a:r>
                        <a:rPr lang="en-ZA" sz="1300" dirty="0">
                          <a:effectLst/>
                        </a:rPr>
                        <a:t>Not Met –  Load Cell could not be implemented.</a:t>
                      </a:r>
                      <a:endParaRPr lang="en-ZA" sz="1300" b="0" i="0" u="none" strike="noStrike" noProof="0" dirty="0">
                        <a:solidFill>
                          <a:srgbClr val="000000"/>
                        </a:solidFill>
                        <a:effectLst/>
                        <a:latin typeface="Aptos"/>
                      </a:endParaRPr>
                    </a:p>
                  </a:txBody>
                  <a:tcPr marL="81418" marR="81418" marT="0" marB="0"/>
                </a:tc>
                <a:extLst>
                  <a:ext uri="{0D108BD9-81ED-4DB2-BD59-A6C34878D82A}">
                    <a16:rowId xmlns:a16="http://schemas.microsoft.com/office/drawing/2014/main" val="2459696737"/>
                  </a:ext>
                </a:extLst>
              </a:tr>
            </a:tbl>
          </a:graphicData>
        </a:graphic>
      </p:graphicFrame>
    </p:spTree>
    <p:extLst>
      <p:ext uri="{BB962C8B-B14F-4D97-AF65-F5344CB8AC3E}">
        <p14:creationId xmlns:p14="http://schemas.microsoft.com/office/powerpoint/2010/main" val="6457792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608AC4B-EC80-EFF0-899E-7AF03B568BF2}"/>
              </a:ext>
            </a:extLst>
          </p:cNvPr>
          <p:cNvSpPr>
            <a:spLocks noGrp="1"/>
          </p:cNvSpPr>
          <p:nvPr>
            <p:ph type="title"/>
          </p:nvPr>
        </p:nvSpPr>
        <p:spPr>
          <a:xfrm>
            <a:off x="6234865" y="568517"/>
            <a:ext cx="5248221" cy="1067209"/>
          </a:xfrm>
        </p:spPr>
        <p:txBody>
          <a:bodyPr>
            <a:normAutofit/>
          </a:bodyPr>
          <a:lstStyle/>
          <a:p>
            <a:r>
              <a:rPr lang="en-GB" dirty="0">
                <a:solidFill>
                  <a:schemeClr val="bg1"/>
                </a:solidFill>
              </a:rPr>
              <a:t>Manoeuvrability</a:t>
            </a:r>
          </a:p>
        </p:txBody>
      </p:sp>
      <p:pic>
        <p:nvPicPr>
          <p:cNvPr id="5" name="Picture 4">
            <a:extLst>
              <a:ext uri="{FF2B5EF4-FFF2-40B4-BE49-F238E27FC236}">
                <a16:creationId xmlns:a16="http://schemas.microsoft.com/office/drawing/2014/main" id="{A1F65535-8E8B-C7C6-52BC-ACFB75177E41}"/>
              </a:ext>
            </a:extLst>
          </p:cNvPr>
          <p:cNvPicPr>
            <a:picLocks noChangeAspect="1"/>
          </p:cNvPicPr>
          <p:nvPr/>
        </p:nvPicPr>
        <p:blipFill>
          <a:blip r:embed="rId3"/>
          <a:srcRect r="4221"/>
          <a:stretch>
            <a:fillRect/>
          </a:stretch>
        </p:blipFill>
        <p:spPr>
          <a:xfrm>
            <a:off x="739959" y="1095407"/>
            <a:ext cx="4754947" cy="4754947"/>
          </a:xfrm>
          <a:custGeom>
            <a:avLst/>
            <a:gdLst/>
            <a:ahLst/>
            <a:cxnLst/>
            <a:rect l="l" t="t" r="r" b="b"/>
            <a:pathLst>
              <a:path w="2388070" h="2388070">
                <a:moveTo>
                  <a:pt x="1194035" y="0"/>
                </a:moveTo>
                <a:cubicBezTo>
                  <a:pt x="1853482" y="0"/>
                  <a:pt x="2388070" y="534588"/>
                  <a:pt x="2388070" y="1194035"/>
                </a:cubicBezTo>
                <a:cubicBezTo>
                  <a:pt x="2388070" y="1853482"/>
                  <a:pt x="1853482" y="2388070"/>
                  <a:pt x="1194035" y="2388070"/>
                </a:cubicBezTo>
                <a:cubicBezTo>
                  <a:pt x="534588" y="2388070"/>
                  <a:pt x="0" y="1853482"/>
                  <a:pt x="0" y="1194035"/>
                </a:cubicBezTo>
                <a:cubicBezTo>
                  <a:pt x="0" y="534588"/>
                  <a:pt x="534588" y="0"/>
                  <a:pt x="1194035" y="0"/>
                </a:cubicBezTo>
                <a:close/>
              </a:path>
            </a:pathLst>
          </a:custGeom>
          <a:ln w="28575">
            <a:noFill/>
          </a:ln>
        </p:spPr>
      </p:pic>
      <p:grpSp>
        <p:nvGrpSpPr>
          <p:cNvPr id="25" name="Group 24">
            <a:extLst>
              <a:ext uri="{FF2B5EF4-FFF2-40B4-BE49-F238E27FC236}">
                <a16:creationId xmlns:a16="http://schemas.microsoft.com/office/drawing/2014/main" id="{B894EFA8-F425-4D19-A94B-445388B31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77893"/>
            <a:ext cx="1861854" cy="717514"/>
            <a:chOff x="0" y="377893"/>
            <a:chExt cx="1861854" cy="717514"/>
          </a:xfrm>
          <a:solidFill>
            <a:schemeClr val="bg1"/>
          </a:solidFill>
        </p:grpSpPr>
        <p:sp>
          <p:nvSpPr>
            <p:cNvPr id="26" name="Freeform: Shape 25">
              <a:extLst>
                <a:ext uri="{FF2B5EF4-FFF2-40B4-BE49-F238E27FC236}">
                  <a16:creationId xmlns:a16="http://schemas.microsoft.com/office/drawing/2014/main" id="{C5A741B9-65EC-4C5B-9FE0-4A1857577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dirty="0"/>
            </a:p>
          </p:txBody>
        </p:sp>
        <p:sp>
          <p:nvSpPr>
            <p:cNvPr id="27" name="Freeform: Shape 26">
              <a:extLst>
                <a:ext uri="{FF2B5EF4-FFF2-40B4-BE49-F238E27FC236}">
                  <a16:creationId xmlns:a16="http://schemas.microsoft.com/office/drawing/2014/main" id="{C0BB4301-41FA-4453-956F-A11CC664B6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3" name="Content Placeholder 2">
            <a:extLst>
              <a:ext uri="{FF2B5EF4-FFF2-40B4-BE49-F238E27FC236}">
                <a16:creationId xmlns:a16="http://schemas.microsoft.com/office/drawing/2014/main" id="{75B4C65D-356C-067A-780F-6C5F558D6019}"/>
              </a:ext>
            </a:extLst>
          </p:cNvPr>
          <p:cNvSpPr>
            <a:spLocks noGrp="1"/>
          </p:cNvSpPr>
          <p:nvPr>
            <p:ph idx="1"/>
          </p:nvPr>
        </p:nvSpPr>
        <p:spPr>
          <a:xfrm>
            <a:off x="6265913" y="1520455"/>
            <a:ext cx="5217173" cy="4172786"/>
          </a:xfrm>
        </p:spPr>
        <p:txBody>
          <a:bodyPr>
            <a:normAutofit/>
          </a:bodyPr>
          <a:lstStyle/>
          <a:p>
            <a:pPr marL="0" indent="0">
              <a:buNone/>
            </a:pPr>
            <a:br>
              <a:rPr lang="en-US" sz="2000" dirty="0">
                <a:solidFill>
                  <a:schemeClr val="bg1"/>
                </a:solidFill>
              </a:rPr>
            </a:br>
            <a:br>
              <a:rPr lang="en-US" sz="2000" dirty="0">
                <a:solidFill>
                  <a:schemeClr val="bg1"/>
                </a:solidFill>
              </a:rPr>
            </a:br>
            <a:br>
              <a:rPr lang="en-US" sz="2000" dirty="0">
                <a:solidFill>
                  <a:schemeClr val="bg1"/>
                </a:solidFill>
              </a:rPr>
            </a:br>
            <a:r>
              <a:rPr lang="en-US" sz="2000" dirty="0">
                <a:solidFill>
                  <a:schemeClr val="bg1"/>
                </a:solidFill>
              </a:rPr>
              <a:t>Full simultaneous operation: raise/lower + move forward/reverse at the same time.</a:t>
            </a:r>
          </a:p>
          <a:p>
            <a:pPr marL="0" indent="0">
              <a:buNone/>
            </a:pPr>
            <a:r>
              <a:rPr lang="en-US" sz="2000" dirty="0">
                <a:solidFill>
                  <a:schemeClr val="bg1"/>
                </a:solidFill>
              </a:rPr>
              <a:t>Smoothly follows 4 m U-shaped track including tight curves</a:t>
            </a:r>
          </a:p>
          <a:p>
            <a:pPr marL="0" indent="0">
              <a:buNone/>
            </a:pPr>
            <a:r>
              <a:rPr lang="en-US" sz="2000" dirty="0">
                <a:solidFill>
                  <a:schemeClr val="bg1"/>
                </a:solidFill>
              </a:rPr>
              <a:t>Load does not swing – stabilizers keep trolley perfectly level (verified in all videos)</a:t>
            </a:r>
          </a:p>
          <a:p>
            <a:pPr marL="0" indent="0">
              <a:buNone/>
            </a:pPr>
            <a:r>
              <a:rPr lang="en-US" sz="2000" dirty="0">
                <a:solidFill>
                  <a:schemeClr val="bg1"/>
                </a:solidFill>
              </a:rPr>
              <a:t>Mechanical guide wheels make derailment impossible</a:t>
            </a:r>
          </a:p>
          <a:p>
            <a:pPr marL="0" indent="0">
              <a:buNone/>
            </a:pPr>
            <a:r>
              <a:rPr lang="en-US" sz="2000" b="1" dirty="0">
                <a:solidFill>
                  <a:schemeClr val="bg1"/>
                </a:solidFill>
              </a:rPr>
              <a:t>Result:</a:t>
            </a:r>
            <a:r>
              <a:rPr lang="en-US" sz="2000" dirty="0">
                <a:solidFill>
                  <a:schemeClr val="bg1"/>
                </a:solidFill>
              </a:rPr>
              <a:t> Highly maneuverable, stable, and safe – behaves like a professional system.</a:t>
            </a:r>
          </a:p>
          <a:p>
            <a:pPr marL="0" indent="0">
              <a:buNone/>
            </a:pPr>
            <a:endParaRPr lang="en-US" sz="2000" dirty="0">
              <a:solidFill>
                <a:schemeClr val="bg1"/>
              </a:solidFill>
            </a:endParaRPr>
          </a:p>
        </p:txBody>
      </p:sp>
      <p:grpSp>
        <p:nvGrpSpPr>
          <p:cNvPr id="29" name="Graphic 185">
            <a:extLst>
              <a:ext uri="{FF2B5EF4-FFF2-40B4-BE49-F238E27FC236}">
                <a16:creationId xmlns:a16="http://schemas.microsoft.com/office/drawing/2014/main" id="{582A903B-6B78-4F0A-B7C9-3D80499020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30" name="Freeform: Shape 29">
              <a:extLst>
                <a:ext uri="{FF2B5EF4-FFF2-40B4-BE49-F238E27FC236}">
                  <a16:creationId xmlns:a16="http://schemas.microsoft.com/office/drawing/2014/main" id="{D510EA93-8F64-42C8-A630-D449506E95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1" name="Freeform: Shape 30">
              <a:extLst>
                <a:ext uri="{FF2B5EF4-FFF2-40B4-BE49-F238E27FC236}">
                  <a16:creationId xmlns:a16="http://schemas.microsoft.com/office/drawing/2014/main" id="{06CB53FC-E4DA-4001-928B-9998A85EA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2" name="Freeform: Shape 31">
              <a:extLst>
                <a:ext uri="{FF2B5EF4-FFF2-40B4-BE49-F238E27FC236}">
                  <a16:creationId xmlns:a16="http://schemas.microsoft.com/office/drawing/2014/main" id="{D210B969-4FDF-4AAC-9397-63D5434958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570B3EF0-84EA-4F47-86A3-1EA1F644A4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259369A8-EF57-42A1-8EC8-F6A9F92A3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9063656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1A75659-5A6F-4F77-9679-678A00B9D8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p:nvPicPr>
        <p:blipFill>
          <a:blip r:embed="rId3"/>
          <a:srcRect l="17041" t="9091" r="8269" b="1"/>
          <a:stretch>
            <a:fillRect/>
          </a:stretch>
        </p:blipFill>
        <p:spPr>
          <a:xfrm>
            <a:off x="0" y="0"/>
            <a:ext cx="8668492" cy="6857990"/>
          </a:xfrm>
          <a:prstGeom prst="rect">
            <a:avLst/>
          </a:prstGeom>
        </p:spPr>
      </p:pic>
      <p:sp>
        <p:nvSpPr>
          <p:cNvPr id="16" name="Rectangle 15">
            <a:extLst>
              <a:ext uri="{FF2B5EF4-FFF2-40B4-BE49-F238E27FC236}">
                <a16:creationId xmlns:a16="http://schemas.microsoft.com/office/drawing/2014/main" id="{E30A3A45-140E-431E-AED0-07EF836310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435399" y="0"/>
            <a:ext cx="9756601" cy="6858000"/>
          </a:xfrm>
          <a:prstGeom prst="rect">
            <a:avLst/>
          </a:prstGeom>
          <a:gradFill>
            <a:gsLst>
              <a:gs pos="53000">
                <a:schemeClr val="tx1"/>
              </a:gs>
              <a:gs pos="35000">
                <a:schemeClr val="tx1">
                  <a:alpha val="76000"/>
                </a:schemeClr>
              </a:gs>
              <a:gs pos="19000">
                <a:schemeClr val="tx1">
                  <a:alpha val="40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p:cNvSpPr txBox="1"/>
          <p:nvPr/>
        </p:nvSpPr>
        <p:spPr>
          <a:xfrm>
            <a:off x="8449589" y="1161288"/>
            <a:ext cx="3384423" cy="112471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2800" b="1" dirty="0">
                <a:solidFill>
                  <a:schemeClr val="bg1"/>
                </a:solidFill>
                <a:latin typeface="+mj-lt"/>
                <a:ea typeface="+mj-ea"/>
                <a:cs typeface="+mj-cs"/>
              </a:rPr>
              <a:t>Integration by parts</a:t>
            </a:r>
          </a:p>
        </p:txBody>
      </p:sp>
      <p:sp>
        <p:nvSpPr>
          <p:cNvPr id="13" name="Rectangle 12">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687333"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5" name="Rectangle 1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3018" y="2443480"/>
            <a:ext cx="3218688"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TextBox 2"/>
          <p:cNvSpPr txBox="1"/>
          <p:nvPr/>
        </p:nvSpPr>
        <p:spPr>
          <a:xfrm>
            <a:off x="7500631" y="2718054"/>
            <a:ext cx="4599220" cy="3207258"/>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700" dirty="0">
                <a:solidFill>
                  <a:schemeClr val="bg1"/>
                </a:solidFill>
              </a:rPr>
              <a:t>Lateral movement unit -&gt; Hoisting mechanism</a:t>
            </a:r>
          </a:p>
          <a:p>
            <a:pPr indent="-228600">
              <a:lnSpc>
                <a:spcPct val="90000"/>
              </a:lnSpc>
              <a:spcAft>
                <a:spcPts val="600"/>
              </a:spcAft>
              <a:buFont typeface="Arial" panose="020B0604020202020204" pitchFamily="34" charset="0"/>
              <a:buChar char="•"/>
            </a:pPr>
            <a:r>
              <a:rPr lang="en-US" sz="1700" dirty="0">
                <a:solidFill>
                  <a:schemeClr val="bg1"/>
                </a:solidFill>
              </a:rPr>
              <a:t>Lateral movement unit -&gt; Wireless pendant</a:t>
            </a:r>
          </a:p>
          <a:p>
            <a:pPr indent="-228600">
              <a:lnSpc>
                <a:spcPct val="90000"/>
              </a:lnSpc>
              <a:spcAft>
                <a:spcPts val="600"/>
              </a:spcAft>
              <a:buFont typeface="Arial" panose="020B0604020202020204" pitchFamily="34" charset="0"/>
              <a:buChar char="•"/>
            </a:pPr>
            <a:r>
              <a:rPr lang="en-US" sz="1700" dirty="0">
                <a:solidFill>
                  <a:schemeClr val="bg1"/>
                </a:solidFill>
              </a:rPr>
              <a:t>Lateral movement unit -&gt; Main controller</a:t>
            </a:r>
          </a:p>
          <a:p>
            <a:pPr indent="-228600">
              <a:lnSpc>
                <a:spcPct val="90000"/>
              </a:lnSpc>
              <a:spcAft>
                <a:spcPts val="600"/>
              </a:spcAft>
              <a:buFont typeface="Arial" panose="020B0604020202020204" pitchFamily="34" charset="0"/>
              <a:buChar char="•"/>
            </a:pPr>
            <a:r>
              <a:rPr lang="en-US" sz="1700" dirty="0">
                <a:solidFill>
                  <a:schemeClr val="bg1"/>
                </a:solidFill>
              </a:rPr>
              <a:t>Lateral movement unit -&gt; Spec Power supply</a:t>
            </a:r>
          </a:p>
        </p:txBody>
      </p:sp>
      <p:sp>
        <p:nvSpPr>
          <p:cNvPr id="6" name="TextBox 5"/>
          <p:cNvSpPr txBox="1"/>
          <p:nvPr/>
        </p:nvSpPr>
        <p:spPr>
          <a:xfrm>
            <a:off x="7500631" y="5463540"/>
            <a:ext cx="4856237" cy="1815882"/>
          </a:xfrm>
          <a:prstGeom prst="rect">
            <a:avLst/>
          </a:prstGeom>
          <a:noFill/>
        </p:spPr>
        <p:txBody>
          <a:bodyPr wrap="square" rtlCol="0">
            <a:spAutoFit/>
          </a:bodyPr>
          <a:lstStyle/>
          <a:p>
            <a:r>
              <a:rPr lang="en-ZA" sz="2800" b="1" dirty="0">
                <a:solidFill>
                  <a:schemeClr val="bg1"/>
                </a:solidFill>
              </a:rPr>
              <a:t>Video link</a:t>
            </a:r>
            <a:br>
              <a:rPr lang="en-ZA" sz="2800" b="1" dirty="0">
                <a:solidFill>
                  <a:schemeClr val="bg1"/>
                </a:solidFill>
              </a:rPr>
            </a:br>
            <a:r>
              <a:rPr lang="en-ZA" sz="2800" u="sng" dirty="0">
                <a:solidFill>
                  <a:schemeClr val="bg1"/>
                </a:solidFill>
                <a:hlinkClick r:id="rId4">
                  <a:extLst>
                    <a:ext uri="{A12FA001-AC4F-418D-AE19-62706E023703}">
                      <ahyp:hlinkClr xmlns:ahyp="http://schemas.microsoft.com/office/drawing/2018/hyperlinkcolor" val="tx"/>
                    </a:ext>
                  </a:extLst>
                </a:hlinkClick>
              </a:rPr>
              <a:t>https://youtu.be/gM-aiSlf644</a:t>
            </a:r>
            <a:r>
              <a:rPr lang="af-ZA" sz="2800">
                <a:solidFill>
                  <a:schemeClr val="bg1"/>
                </a:solidFill>
              </a:rPr>
              <a:t> </a:t>
            </a:r>
          </a:p>
          <a:p>
            <a:endParaRPr lang="af-ZA" sz="2800" b="1">
              <a:solidFill>
                <a:schemeClr val="bg1"/>
              </a:solidFill>
            </a:endParaRPr>
          </a:p>
          <a:p>
            <a:endParaRPr lang="en-ZA" sz="2800" b="1" dirty="0">
              <a:solidFill>
                <a:schemeClr val="bg1"/>
              </a:solidFill>
            </a:endParaRPr>
          </a:p>
        </p:txBody>
      </p:sp>
    </p:spTree>
    <p:extLst>
      <p:ext uri="{BB962C8B-B14F-4D97-AF65-F5344CB8AC3E}">
        <p14:creationId xmlns:p14="http://schemas.microsoft.com/office/powerpoint/2010/main" val="11328364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D2A18EB7-BB51-9755-8046-5A0FB9A30B0C}"/>
              </a:ext>
            </a:extLst>
          </p:cNvPr>
          <p:cNvSpPr txBox="1"/>
          <p:nvPr/>
        </p:nvSpPr>
        <p:spPr>
          <a:xfrm>
            <a:off x="838200" y="1730624"/>
            <a:ext cx="5124586" cy="3843666"/>
          </a:xfrm>
          <a:prstGeom prst="rect">
            <a:avLst/>
          </a:prstGeom>
        </p:spPr>
        <p:txBody>
          <a:bodyPr vert="horz" lIns="91440" tIns="45720" rIns="91440" bIns="45720" rtlCol="0">
            <a:normAutofit/>
          </a:bodyPr>
          <a:lstStyle/>
          <a:p>
            <a:pPr>
              <a:lnSpc>
                <a:spcPct val="90000"/>
              </a:lnSpc>
              <a:spcAft>
                <a:spcPts val="600"/>
              </a:spcAft>
            </a:pPr>
            <a:r>
              <a:rPr lang="en-US" sz="3200" dirty="0"/>
              <a:t>Integration by Parts</a:t>
            </a:r>
          </a:p>
          <a:p>
            <a:pPr indent="-228600">
              <a:lnSpc>
                <a:spcPct val="90000"/>
              </a:lnSpc>
              <a:spcAft>
                <a:spcPts val="600"/>
              </a:spcAft>
              <a:buFont typeface="Arial" panose="020B0604020202020204" pitchFamily="34" charset="0"/>
              <a:buChar char="•"/>
            </a:pPr>
            <a:endParaRPr lang="en-US" sz="2000" dirty="0"/>
          </a:p>
          <a:p>
            <a:pPr indent="-228600">
              <a:lnSpc>
                <a:spcPct val="90000"/>
              </a:lnSpc>
              <a:spcAft>
                <a:spcPts val="600"/>
              </a:spcAft>
              <a:buFont typeface="Arial" panose="020B0604020202020204" pitchFamily="34" charset="0"/>
              <a:buChar char="•"/>
            </a:pPr>
            <a:r>
              <a:rPr lang="en-US" sz="2000" dirty="0"/>
              <a:t>Hoisting mechanism -&gt; Lateral Movement </a:t>
            </a:r>
          </a:p>
          <a:p>
            <a:pPr indent="-228600">
              <a:lnSpc>
                <a:spcPct val="90000"/>
              </a:lnSpc>
              <a:spcAft>
                <a:spcPts val="600"/>
              </a:spcAft>
              <a:buFont typeface="Arial" panose="020B0604020202020204" pitchFamily="34" charset="0"/>
              <a:buChar char="•"/>
            </a:pPr>
            <a:r>
              <a:rPr lang="en-US" sz="2000" dirty="0"/>
              <a:t>Hoisting mechanism -&gt; Driver electronics</a:t>
            </a:r>
          </a:p>
          <a:p>
            <a:pPr indent="-228600">
              <a:lnSpc>
                <a:spcPct val="90000"/>
              </a:lnSpc>
              <a:spcAft>
                <a:spcPts val="600"/>
              </a:spcAft>
              <a:buFont typeface="Arial" panose="020B0604020202020204" pitchFamily="34" charset="0"/>
              <a:buChar char="•"/>
            </a:pPr>
            <a:r>
              <a:rPr lang="en-US" sz="2000" dirty="0"/>
              <a:t>Hoisting mechanism -&gt; Wireless pendant</a:t>
            </a:r>
          </a:p>
          <a:p>
            <a:pPr indent="-228600">
              <a:lnSpc>
                <a:spcPct val="90000"/>
              </a:lnSpc>
              <a:spcAft>
                <a:spcPts val="600"/>
              </a:spcAft>
              <a:buFont typeface="Arial" panose="020B0604020202020204" pitchFamily="34" charset="0"/>
              <a:buChar char="•"/>
            </a:pPr>
            <a:r>
              <a:rPr lang="en-US" sz="2000" dirty="0"/>
              <a:t>Hoisting mechanism -&gt; Main controller</a:t>
            </a:r>
          </a:p>
        </p:txBody>
      </p:sp>
      <p:pic>
        <p:nvPicPr>
          <p:cNvPr id="3" name="Picture 2">
            <a:extLst>
              <a:ext uri="{FF2B5EF4-FFF2-40B4-BE49-F238E27FC236}">
                <a16:creationId xmlns:a16="http://schemas.microsoft.com/office/drawing/2014/main" id="{4933099C-939D-69EF-437B-5A080FFEF856}"/>
              </a:ext>
            </a:extLst>
          </p:cNvPr>
          <p:cNvPicPr>
            <a:picLocks noChangeAspect="1"/>
          </p:cNvPicPr>
          <p:nvPr/>
        </p:nvPicPr>
        <p:blipFill>
          <a:blip r:embed="rId2"/>
          <a:srcRect t="8522" b="5218"/>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4" name="TextBox 3">
            <a:extLst>
              <a:ext uri="{FF2B5EF4-FFF2-40B4-BE49-F238E27FC236}">
                <a16:creationId xmlns:a16="http://schemas.microsoft.com/office/drawing/2014/main" id="{28B75AF7-BFFE-A8B8-DCD6-80802C9A458F}"/>
              </a:ext>
            </a:extLst>
          </p:cNvPr>
          <p:cNvSpPr txBox="1"/>
          <p:nvPr/>
        </p:nvSpPr>
        <p:spPr>
          <a:xfrm>
            <a:off x="1018309" y="4810991"/>
            <a:ext cx="4396525" cy="646331"/>
          </a:xfrm>
          <a:prstGeom prst="rect">
            <a:avLst/>
          </a:prstGeom>
          <a:noFill/>
        </p:spPr>
        <p:txBody>
          <a:bodyPr wrap="none" rtlCol="0">
            <a:spAutoFit/>
          </a:bodyPr>
          <a:lstStyle/>
          <a:p>
            <a:r>
              <a:rPr lang="en-US" dirty="0"/>
              <a:t>Video link for integration: </a:t>
            </a:r>
          </a:p>
          <a:p>
            <a:r>
              <a:rPr lang="en-US" dirty="0"/>
              <a:t>(https://youtube.com/shorts/v_BzBenlAYk)</a:t>
            </a:r>
            <a:endParaRPr lang="en-ZA" dirty="0"/>
          </a:p>
        </p:txBody>
      </p:sp>
    </p:spTree>
    <p:extLst>
      <p:ext uri="{BB962C8B-B14F-4D97-AF65-F5344CB8AC3E}">
        <p14:creationId xmlns:p14="http://schemas.microsoft.com/office/powerpoint/2010/main" val="25461131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60FCE2-487B-2603-814F-1F90D0DF40AD}"/>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F28B8131-3DD9-F1DE-7B2A-3629FEF26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group of wires on a table&#10;&#10;AI-generated content may be incorrect.">
            <a:extLst>
              <a:ext uri="{FF2B5EF4-FFF2-40B4-BE49-F238E27FC236}">
                <a16:creationId xmlns:a16="http://schemas.microsoft.com/office/drawing/2014/main" id="{B6BAD762-E499-8F57-0B2F-B9A816D3C2A7}"/>
              </a:ext>
            </a:extLst>
          </p:cNvPr>
          <p:cNvPicPr>
            <a:picLocks noChangeAspect="1"/>
          </p:cNvPicPr>
          <p:nvPr/>
        </p:nvPicPr>
        <p:blipFill>
          <a:blip r:embed="rId3"/>
          <a:srcRect t="20332" b="20332"/>
          <a:stretch>
            <a:fillRect/>
          </a:stretch>
        </p:blipFill>
        <p:spPr>
          <a:xfrm>
            <a:off x="0" y="0"/>
            <a:ext cx="8668492" cy="6857990"/>
          </a:xfrm>
          <a:prstGeom prst="rect">
            <a:avLst/>
          </a:prstGeom>
        </p:spPr>
      </p:pic>
      <p:sp>
        <p:nvSpPr>
          <p:cNvPr id="16" name="Rectangle 15">
            <a:extLst>
              <a:ext uri="{FF2B5EF4-FFF2-40B4-BE49-F238E27FC236}">
                <a16:creationId xmlns:a16="http://schemas.microsoft.com/office/drawing/2014/main" id="{41CCD161-F3B3-2FAA-1AEC-F2306CE786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435399" y="0"/>
            <a:ext cx="9756601" cy="6858000"/>
          </a:xfrm>
          <a:prstGeom prst="rect">
            <a:avLst/>
          </a:prstGeom>
          <a:gradFill>
            <a:gsLst>
              <a:gs pos="53000">
                <a:schemeClr val="tx1"/>
              </a:gs>
              <a:gs pos="35000">
                <a:schemeClr val="tx1">
                  <a:alpha val="76000"/>
                </a:schemeClr>
              </a:gs>
              <a:gs pos="19000">
                <a:schemeClr val="tx1">
                  <a:alpha val="40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80ADB0C1-0208-B3A1-2396-7691245F64F8}"/>
              </a:ext>
            </a:extLst>
          </p:cNvPr>
          <p:cNvSpPr txBox="1"/>
          <p:nvPr/>
        </p:nvSpPr>
        <p:spPr>
          <a:xfrm>
            <a:off x="8449589" y="1161288"/>
            <a:ext cx="3384423" cy="112471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2800" b="1" dirty="0">
                <a:solidFill>
                  <a:schemeClr val="bg1"/>
                </a:solidFill>
                <a:latin typeface="+mj-lt"/>
                <a:ea typeface="+mj-ea"/>
                <a:cs typeface="+mj-cs"/>
              </a:rPr>
              <a:t>Integration by parts</a:t>
            </a:r>
          </a:p>
        </p:txBody>
      </p:sp>
      <p:sp>
        <p:nvSpPr>
          <p:cNvPr id="13" name="Rectangle 12">
            <a:extLst>
              <a:ext uri="{FF2B5EF4-FFF2-40B4-BE49-F238E27FC236}">
                <a16:creationId xmlns:a16="http://schemas.microsoft.com/office/drawing/2014/main" id="{C105E3FF-4380-3ADB-85D3-AA0C7C0116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687333"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5" name="Rectangle 14">
            <a:extLst>
              <a:ext uri="{FF2B5EF4-FFF2-40B4-BE49-F238E27FC236}">
                <a16:creationId xmlns:a16="http://schemas.microsoft.com/office/drawing/2014/main" id="{35511B16-8AD9-CBDC-862D-CB7EA34B8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53018" y="2443480"/>
            <a:ext cx="3218688"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F36E7C3C-CD3D-1F84-320D-B768DC6BFE83}"/>
              </a:ext>
            </a:extLst>
          </p:cNvPr>
          <p:cNvSpPr txBox="1"/>
          <p:nvPr/>
        </p:nvSpPr>
        <p:spPr>
          <a:xfrm>
            <a:off x="7500631" y="2718054"/>
            <a:ext cx="4599220" cy="3207258"/>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700" dirty="0">
                <a:solidFill>
                  <a:schemeClr val="bg1"/>
                </a:solidFill>
              </a:rPr>
              <a:t>Drive Electronics-&gt; Hoisting mechanism</a:t>
            </a:r>
          </a:p>
          <a:p>
            <a:pPr indent="-228600">
              <a:lnSpc>
                <a:spcPct val="90000"/>
              </a:lnSpc>
              <a:spcAft>
                <a:spcPts val="600"/>
              </a:spcAft>
              <a:buFont typeface="Arial" panose="020B0604020202020204" pitchFamily="34" charset="0"/>
              <a:buChar char="•"/>
            </a:pPr>
            <a:r>
              <a:rPr lang="en-US" sz="1700" dirty="0">
                <a:solidFill>
                  <a:schemeClr val="bg1"/>
                </a:solidFill>
              </a:rPr>
              <a:t>Drive Electronics-&gt; Main Controller PWM</a:t>
            </a:r>
          </a:p>
          <a:p>
            <a:pPr>
              <a:lnSpc>
                <a:spcPct val="90000"/>
              </a:lnSpc>
              <a:spcAft>
                <a:spcPts val="600"/>
              </a:spcAft>
            </a:pPr>
            <a:endParaRPr lang="en-US" sz="1700" dirty="0">
              <a:solidFill>
                <a:schemeClr val="bg1"/>
              </a:solidFill>
            </a:endParaRPr>
          </a:p>
        </p:txBody>
      </p:sp>
      <p:sp>
        <p:nvSpPr>
          <p:cNvPr id="6" name="TextBox 5">
            <a:extLst>
              <a:ext uri="{FF2B5EF4-FFF2-40B4-BE49-F238E27FC236}">
                <a16:creationId xmlns:a16="http://schemas.microsoft.com/office/drawing/2014/main" id="{DD009BEF-39A4-9BEB-5CF4-48F9E18E5DDB}"/>
              </a:ext>
            </a:extLst>
          </p:cNvPr>
          <p:cNvSpPr txBox="1"/>
          <p:nvPr/>
        </p:nvSpPr>
        <p:spPr>
          <a:xfrm>
            <a:off x="7500631" y="5463540"/>
            <a:ext cx="4856237" cy="1815882"/>
          </a:xfrm>
          <a:prstGeom prst="rect">
            <a:avLst/>
          </a:prstGeom>
          <a:noFill/>
        </p:spPr>
        <p:txBody>
          <a:bodyPr wrap="square" lIns="91440" tIns="45720" rIns="91440" bIns="45720" rtlCol="0" anchor="t">
            <a:spAutoFit/>
          </a:bodyPr>
          <a:lstStyle/>
          <a:p>
            <a:r>
              <a:rPr lang="en-ZA" sz="2800" b="1" dirty="0">
                <a:solidFill>
                  <a:schemeClr val="bg1"/>
                </a:solidFill>
              </a:rPr>
              <a:t>Video link</a:t>
            </a:r>
            <a:br>
              <a:rPr lang="en-ZA" sz="2800" b="1" dirty="0"/>
            </a:br>
            <a:r>
              <a:rPr lang="en-ZA" sz="2800" dirty="0">
                <a:ea typeface="+mn-lt"/>
                <a:cs typeface="+mn-lt"/>
                <a:hlinkClick r:id="rId4"/>
              </a:rPr>
              <a:t>Video 2.mp4</a:t>
            </a:r>
            <a:endParaRPr lang="af-ZA" sz="2800">
              <a:solidFill>
                <a:schemeClr val="bg1"/>
              </a:solidFill>
            </a:endParaRPr>
          </a:p>
          <a:p>
            <a:endParaRPr lang="af-ZA" sz="2800" b="1">
              <a:solidFill>
                <a:schemeClr val="bg1"/>
              </a:solidFill>
            </a:endParaRPr>
          </a:p>
          <a:p>
            <a:endParaRPr lang="en-ZA" sz="2800" b="1" dirty="0">
              <a:solidFill>
                <a:schemeClr val="bg1"/>
              </a:solidFill>
            </a:endParaRPr>
          </a:p>
        </p:txBody>
      </p:sp>
    </p:spTree>
    <p:extLst>
      <p:ext uri="{BB962C8B-B14F-4D97-AF65-F5344CB8AC3E}">
        <p14:creationId xmlns:p14="http://schemas.microsoft.com/office/powerpoint/2010/main" val="29226291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E2BFF9A-1CDF-989E-D127-8195D868D071}"/>
              </a:ext>
            </a:extLst>
          </p:cNvPr>
          <p:cNvSpPr>
            <a:spLocks noGrp="1"/>
          </p:cNvSpPr>
          <p:nvPr>
            <p:ph type="title"/>
          </p:nvPr>
        </p:nvSpPr>
        <p:spPr>
          <a:xfrm>
            <a:off x="838199" y="174459"/>
            <a:ext cx="6140449" cy="1323439"/>
          </a:xfrm>
        </p:spPr>
        <p:txBody>
          <a:bodyPr vert="horz" lIns="91440" tIns="45720" rIns="91440" bIns="45720" rtlCol="0" anchor="t">
            <a:normAutofit/>
          </a:bodyPr>
          <a:lstStyle/>
          <a:p>
            <a:r>
              <a:rPr lang="en-US" sz="4000" kern="1200" dirty="0">
                <a:solidFill>
                  <a:schemeClr val="bg1"/>
                </a:solidFill>
                <a:latin typeface="+mj-lt"/>
                <a:ea typeface="+mj-ea"/>
                <a:cs typeface="+mj-cs"/>
              </a:rPr>
              <a:t>Overall performance</a:t>
            </a:r>
          </a:p>
        </p:txBody>
      </p:sp>
      <p:sp>
        <p:nvSpPr>
          <p:cNvPr id="5" name="Rectangle 1"/>
          <p:cNvSpPr>
            <a:spLocks noChangeArrowheads="1"/>
          </p:cNvSpPr>
          <p:nvPr/>
        </p:nvSpPr>
        <p:spPr bwMode="auto">
          <a:xfrm>
            <a:off x="623890" y="921239"/>
            <a:ext cx="6140449" cy="286228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bg1">
                  <a:alpha val="80000"/>
                </a:schemeClr>
              </a:solidFill>
              <a:effectLst/>
            </a:endParaRP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000" b="0" i="0" u="none" strike="noStrike" cap="none" normalizeH="0" baseline="0" dirty="0">
                <a:ln>
                  <a:noFill/>
                </a:ln>
                <a:solidFill>
                  <a:schemeClr val="bg1">
                    <a:alpha val="80000"/>
                  </a:schemeClr>
                </a:solidFill>
                <a:effectLst/>
              </a:rPr>
              <a:t>Wireless pendant: works perfectly </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000" b="0" i="0" u="none" strike="noStrike" cap="none" normalizeH="0" baseline="0" dirty="0">
                <a:ln>
                  <a:noFill/>
                </a:ln>
                <a:solidFill>
                  <a:schemeClr val="bg1">
                    <a:alpha val="80000"/>
                  </a:schemeClr>
                </a:solidFill>
                <a:effectLst/>
              </a:rPr>
              <a:t>Main controller: works perfectly </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000" b="0" i="0" u="none" strike="noStrike" cap="none" normalizeH="0" baseline="0" dirty="0">
                <a:ln>
                  <a:noFill/>
                </a:ln>
                <a:solidFill>
                  <a:schemeClr val="bg1">
                    <a:alpha val="80000"/>
                  </a:schemeClr>
                </a:solidFill>
                <a:effectLst/>
              </a:rPr>
              <a:t>Lateral movement: works perfectly </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000" b="0" i="0" u="none" strike="noStrike" cap="none" normalizeH="0" baseline="0" dirty="0">
                <a:ln>
                  <a:noFill/>
                </a:ln>
                <a:solidFill>
                  <a:schemeClr val="bg1">
                    <a:alpha val="80000"/>
                  </a:schemeClr>
                </a:solidFill>
                <a:effectLst/>
              </a:rPr>
              <a:t>Hoisting mechanism (mechanical): works perfectly </a:t>
            </a:r>
          </a:p>
          <a:p>
            <a:pPr marL="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000" b="0" i="0" u="none" strike="noStrike" cap="none" normalizeH="0" baseline="0" dirty="0">
                <a:ln>
                  <a:noFill/>
                </a:ln>
                <a:solidFill>
                  <a:schemeClr val="bg1">
                    <a:alpha val="80000"/>
                  </a:schemeClr>
                </a:solidFill>
                <a:effectLst/>
              </a:rPr>
              <a:t>Induction motor driver: does NOT work properly (only ~150 V instead of 320 V → very weak lifting) </a:t>
            </a:r>
          </a:p>
        </p:txBody>
      </p:sp>
      <p:grpSp>
        <p:nvGrpSpPr>
          <p:cNvPr id="21" name="Group 20">
            <a:extLst>
              <a:ext uri="{FF2B5EF4-FFF2-40B4-BE49-F238E27FC236}">
                <a16:creationId xmlns:a16="http://schemas.microsoft.com/office/drawing/2014/main" id="{B868920F-3C89-4780-A399-2A0099F45D9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20000" y="-1"/>
            <a:ext cx="4572000" cy="6858001"/>
            <a:chOff x="7620000" y="-1"/>
            <a:chExt cx="4572000" cy="6858001"/>
          </a:xfrm>
          <a:effectLst>
            <a:outerShdw blurRad="381000" dist="152400" dir="10800000" algn="ctr" rotWithShape="0">
              <a:srgbClr val="000000">
                <a:alpha val="10000"/>
              </a:srgbClr>
            </a:outerShdw>
          </a:effectLst>
        </p:grpSpPr>
        <p:grpSp>
          <p:nvGrpSpPr>
            <p:cNvPr id="22" name="Group 21">
              <a:extLst>
                <a:ext uri="{FF2B5EF4-FFF2-40B4-BE49-F238E27FC236}">
                  <a16:creationId xmlns:a16="http://schemas.microsoft.com/office/drawing/2014/main" id="{86BC9098-A1F2-42B4-B3CE-C89D727FAFE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7648048" y="0"/>
              <a:ext cx="4543952" cy="6858000"/>
              <a:chOff x="7648048" y="0"/>
              <a:chExt cx="4543952" cy="6858000"/>
            </a:xfrm>
          </p:grpSpPr>
          <p:sp>
            <p:nvSpPr>
              <p:cNvPr id="26" name="Freeform: Shape 25">
                <a:extLst>
                  <a:ext uri="{FF2B5EF4-FFF2-40B4-BE49-F238E27FC236}">
                    <a16:creationId xmlns:a16="http://schemas.microsoft.com/office/drawing/2014/main" id="{421BA563-EEB4-4E92-9277-DBB5C63157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648048" y="0"/>
                <a:ext cx="4543952" cy="6858000"/>
              </a:xfrm>
              <a:custGeom>
                <a:avLst/>
                <a:gdLst>
                  <a:gd name="connsiteX0" fmla="*/ 328959 w 4543952"/>
                  <a:gd name="connsiteY0" fmla="*/ 6564619 h 6858000"/>
                  <a:gd name="connsiteX1" fmla="*/ 306480 w 4543952"/>
                  <a:gd name="connsiteY1" fmla="*/ 6588624 h 6858000"/>
                  <a:gd name="connsiteX2" fmla="*/ 289858 w 4543952"/>
                  <a:gd name="connsiteY2" fmla="*/ 6625223 h 6858000"/>
                  <a:gd name="connsiteX3" fmla="*/ 289858 w 4543952"/>
                  <a:gd name="connsiteY3" fmla="*/ 6625224 h 6858000"/>
                  <a:gd name="connsiteX4" fmla="*/ 289870 w 4543952"/>
                  <a:gd name="connsiteY4" fmla="*/ 6645551 h 6858000"/>
                  <a:gd name="connsiteX5" fmla="*/ 296953 w 4543952"/>
                  <a:gd name="connsiteY5" fmla="*/ 6662539 h 6858000"/>
                  <a:gd name="connsiteX6" fmla="*/ 296953 w 4543952"/>
                  <a:gd name="connsiteY6" fmla="*/ 6662541 h 6858000"/>
                  <a:gd name="connsiteX7" fmla="*/ 296954 w 4543952"/>
                  <a:gd name="connsiteY7" fmla="*/ 6662543 h 6858000"/>
                  <a:gd name="connsiteX8" fmla="*/ 311551 w 4543952"/>
                  <a:gd name="connsiteY8" fmla="*/ 6702975 h 6858000"/>
                  <a:gd name="connsiteX9" fmla="*/ 297715 w 4543952"/>
                  <a:gd name="connsiteY9" fmla="*/ 6742551 h 6858000"/>
                  <a:gd name="connsiteX10" fmla="*/ 297714 w 4543952"/>
                  <a:gd name="connsiteY10" fmla="*/ 6742554 h 6858000"/>
                  <a:gd name="connsiteX11" fmla="*/ 283011 w 4543952"/>
                  <a:gd name="connsiteY11" fmla="*/ 6776799 h 6858000"/>
                  <a:gd name="connsiteX12" fmla="*/ 278238 w 4543952"/>
                  <a:gd name="connsiteY12" fmla="*/ 6812061 h 6858000"/>
                  <a:gd name="connsiteX13" fmla="*/ 278237 w 4543952"/>
                  <a:gd name="connsiteY13" fmla="*/ 6812062 h 6858000"/>
                  <a:gd name="connsiteX14" fmla="*/ 278237 w 4543952"/>
                  <a:gd name="connsiteY14" fmla="*/ 6812063 h 6858000"/>
                  <a:gd name="connsiteX15" fmla="*/ 278238 w 4543952"/>
                  <a:gd name="connsiteY15" fmla="*/ 6812061 h 6858000"/>
                  <a:gd name="connsiteX16" fmla="*/ 297714 w 4543952"/>
                  <a:gd name="connsiteY16" fmla="*/ 6742554 h 6858000"/>
                  <a:gd name="connsiteX17" fmla="*/ 297715 w 4543952"/>
                  <a:gd name="connsiteY17" fmla="*/ 6742552 h 6858000"/>
                  <a:gd name="connsiteX18" fmla="*/ 311551 w 4543952"/>
                  <a:gd name="connsiteY18" fmla="*/ 6702976 h 6858000"/>
                  <a:gd name="connsiteX19" fmla="*/ 311551 w 4543952"/>
                  <a:gd name="connsiteY19" fmla="*/ 6702975 h 6858000"/>
                  <a:gd name="connsiteX20" fmla="*/ 308405 w 4543952"/>
                  <a:gd name="connsiteY20" fmla="*/ 6683026 h 6858000"/>
                  <a:gd name="connsiteX21" fmla="*/ 296954 w 4543952"/>
                  <a:gd name="connsiteY21" fmla="*/ 6662543 h 6858000"/>
                  <a:gd name="connsiteX22" fmla="*/ 296953 w 4543952"/>
                  <a:gd name="connsiteY22" fmla="*/ 6662540 h 6858000"/>
                  <a:gd name="connsiteX23" fmla="*/ 296953 w 4543952"/>
                  <a:gd name="connsiteY23" fmla="*/ 6662539 h 6858000"/>
                  <a:gd name="connsiteX24" fmla="*/ 289858 w 4543952"/>
                  <a:gd name="connsiteY24" fmla="*/ 6625224 h 6858000"/>
                  <a:gd name="connsiteX25" fmla="*/ 306480 w 4543952"/>
                  <a:gd name="connsiteY25" fmla="*/ 6588625 h 6858000"/>
                  <a:gd name="connsiteX26" fmla="*/ 328959 w 4543952"/>
                  <a:gd name="connsiteY26" fmla="*/ 6564620 h 6858000"/>
                  <a:gd name="connsiteX27" fmla="*/ 248638 w 4543952"/>
                  <a:gd name="connsiteY27" fmla="*/ 6438980 h 6858000"/>
                  <a:gd name="connsiteX28" fmla="*/ 268569 w 4543952"/>
                  <a:gd name="connsiteY28" fmla="*/ 6463840 h 6858000"/>
                  <a:gd name="connsiteX29" fmla="*/ 268572 w 4543952"/>
                  <a:gd name="connsiteY29" fmla="*/ 6463848 h 6858000"/>
                  <a:gd name="connsiteX30" fmla="*/ 279556 w 4543952"/>
                  <a:gd name="connsiteY30" fmla="*/ 6508051 h 6858000"/>
                  <a:gd name="connsiteX31" fmla="*/ 282367 w 4543952"/>
                  <a:gd name="connsiteY31" fmla="*/ 6513011 h 6858000"/>
                  <a:gd name="connsiteX32" fmla="*/ 284834 w 4543952"/>
                  <a:gd name="connsiteY32" fmla="*/ 6521803 h 6858000"/>
                  <a:gd name="connsiteX33" fmla="*/ 301172 w 4543952"/>
                  <a:gd name="connsiteY33" fmla="*/ 6546194 h 6858000"/>
                  <a:gd name="connsiteX34" fmla="*/ 301172 w 4543952"/>
                  <a:gd name="connsiteY34" fmla="*/ 6546193 h 6858000"/>
                  <a:gd name="connsiteX35" fmla="*/ 282367 w 4543952"/>
                  <a:gd name="connsiteY35" fmla="*/ 6513011 h 6858000"/>
                  <a:gd name="connsiteX36" fmla="*/ 268572 w 4543952"/>
                  <a:gd name="connsiteY36" fmla="*/ 6463848 h 6858000"/>
                  <a:gd name="connsiteX37" fmla="*/ 268569 w 4543952"/>
                  <a:gd name="connsiteY37" fmla="*/ 6463839 h 6858000"/>
                  <a:gd name="connsiteX38" fmla="*/ 166047 w 4543952"/>
                  <a:gd name="connsiteY38" fmla="*/ 6392242 h 6858000"/>
                  <a:gd name="connsiteX39" fmla="*/ 173364 w 4543952"/>
                  <a:gd name="connsiteY39" fmla="*/ 6407332 h 6858000"/>
                  <a:gd name="connsiteX40" fmla="*/ 173364 w 4543952"/>
                  <a:gd name="connsiteY40" fmla="*/ 6407331 h 6858000"/>
                  <a:gd name="connsiteX41" fmla="*/ 401733 w 4543952"/>
                  <a:gd name="connsiteY41" fmla="*/ 4221390 h 6858000"/>
                  <a:gd name="connsiteX42" fmla="*/ 396017 w 4543952"/>
                  <a:gd name="connsiteY42" fmla="*/ 4253013 h 6858000"/>
                  <a:gd name="connsiteX43" fmla="*/ 356201 w 4543952"/>
                  <a:gd name="connsiteY43" fmla="*/ 4324644 h 6858000"/>
                  <a:gd name="connsiteX44" fmla="*/ 347247 w 4543952"/>
                  <a:gd name="connsiteY44" fmla="*/ 4363889 h 6858000"/>
                  <a:gd name="connsiteX45" fmla="*/ 347247 w 4543952"/>
                  <a:gd name="connsiteY45" fmla="*/ 4363890 h 6858000"/>
                  <a:gd name="connsiteX46" fmla="*/ 348009 w 4543952"/>
                  <a:gd name="connsiteY46" fmla="*/ 4482004 h 6858000"/>
                  <a:gd name="connsiteX47" fmla="*/ 408019 w 4543952"/>
                  <a:gd name="connsiteY47" fmla="*/ 4659174 h 6858000"/>
                  <a:gd name="connsiteX48" fmla="*/ 416021 w 4543952"/>
                  <a:gd name="connsiteY48" fmla="*/ 4677655 h 6858000"/>
                  <a:gd name="connsiteX49" fmla="*/ 425928 w 4543952"/>
                  <a:gd name="connsiteY49" fmla="*/ 4767764 h 6858000"/>
                  <a:gd name="connsiteX50" fmla="*/ 427237 w 4543952"/>
                  <a:gd name="connsiteY50" fmla="*/ 4800482 h 6858000"/>
                  <a:gd name="connsiteX51" fmla="*/ 412401 w 4543952"/>
                  <a:gd name="connsiteY51" fmla="*/ 4828915 h 6858000"/>
                  <a:gd name="connsiteX52" fmla="*/ 391971 w 4543952"/>
                  <a:gd name="connsiteY52" fmla="*/ 4857316 h 6858000"/>
                  <a:gd name="connsiteX53" fmla="*/ 390221 w 4543952"/>
                  <a:gd name="connsiteY53" fmla="*/ 4863342 h 6858000"/>
                  <a:gd name="connsiteX54" fmla="*/ 387469 w 4543952"/>
                  <a:gd name="connsiteY54" fmla="*/ 4867613 h 6858000"/>
                  <a:gd name="connsiteX55" fmla="*/ 382691 w 4543952"/>
                  <a:gd name="connsiteY55" fmla="*/ 4889274 h 6858000"/>
                  <a:gd name="connsiteX56" fmla="*/ 382691 w 4543952"/>
                  <a:gd name="connsiteY56" fmla="*/ 4889275 h 6858000"/>
                  <a:gd name="connsiteX57" fmla="*/ 384396 w 4543952"/>
                  <a:gd name="connsiteY57" fmla="*/ 4912168 h 6858000"/>
                  <a:gd name="connsiteX58" fmla="*/ 385799 w 4543952"/>
                  <a:gd name="connsiteY58" fmla="*/ 4933804 h 6858000"/>
                  <a:gd name="connsiteX59" fmla="*/ 378247 w 4543952"/>
                  <a:gd name="connsiteY59" fmla="*/ 4957452 h 6858000"/>
                  <a:gd name="connsiteX60" fmla="*/ 360964 w 4543952"/>
                  <a:gd name="connsiteY60" fmla="*/ 4987036 h 6858000"/>
                  <a:gd name="connsiteX61" fmla="*/ 334485 w 4543952"/>
                  <a:gd name="connsiteY61" fmla="*/ 5041520 h 6858000"/>
                  <a:gd name="connsiteX62" fmla="*/ 321371 w 4543952"/>
                  <a:gd name="connsiteY62" fmla="*/ 5087422 h 6858000"/>
                  <a:gd name="connsiteX63" fmla="*/ 321364 w 4543952"/>
                  <a:gd name="connsiteY63" fmla="*/ 5087449 h 6858000"/>
                  <a:gd name="connsiteX64" fmla="*/ 315482 w 4543952"/>
                  <a:gd name="connsiteY64" fmla="*/ 5102460 h 6858000"/>
                  <a:gd name="connsiteX65" fmla="*/ 308338 w 4543952"/>
                  <a:gd name="connsiteY65" fmla="*/ 5133219 h 6858000"/>
                  <a:gd name="connsiteX66" fmla="*/ 308337 w 4543952"/>
                  <a:gd name="connsiteY66" fmla="*/ 5133223 h 6858000"/>
                  <a:gd name="connsiteX67" fmla="*/ 308337 w 4543952"/>
                  <a:gd name="connsiteY67" fmla="*/ 5133224 h 6858000"/>
                  <a:gd name="connsiteX68" fmla="*/ 315052 w 4543952"/>
                  <a:gd name="connsiteY68" fmla="*/ 5166113 h 6858000"/>
                  <a:gd name="connsiteX69" fmla="*/ 314362 w 4543952"/>
                  <a:gd name="connsiteY69" fmla="*/ 5172089 h 6858000"/>
                  <a:gd name="connsiteX70" fmla="*/ 311814 w 4543952"/>
                  <a:gd name="connsiteY70" fmla="*/ 5179066 h 6858000"/>
                  <a:gd name="connsiteX71" fmla="*/ 311814 w 4543952"/>
                  <a:gd name="connsiteY71" fmla="*/ 5179067 h 6858000"/>
                  <a:gd name="connsiteX72" fmla="*/ 335437 w 4543952"/>
                  <a:gd name="connsiteY72" fmla="*/ 5272796 h 6858000"/>
                  <a:gd name="connsiteX73" fmla="*/ 360397 w 4543952"/>
                  <a:gd name="connsiteY73" fmla="*/ 5321350 h 6858000"/>
                  <a:gd name="connsiteX74" fmla="*/ 364317 w 4543952"/>
                  <a:gd name="connsiteY74" fmla="*/ 5355013 h 6858000"/>
                  <a:gd name="connsiteX75" fmla="*/ 359440 w 4543952"/>
                  <a:gd name="connsiteY75" fmla="*/ 5385383 h 6858000"/>
                  <a:gd name="connsiteX76" fmla="*/ 351249 w 4543952"/>
                  <a:gd name="connsiteY76" fmla="*/ 5425581 h 6858000"/>
                  <a:gd name="connsiteX77" fmla="*/ 339627 w 4543952"/>
                  <a:gd name="connsiteY77" fmla="*/ 5480636 h 6858000"/>
                  <a:gd name="connsiteX78" fmla="*/ 335103 w 4543952"/>
                  <a:gd name="connsiteY78" fmla="*/ 5507666 h 6858000"/>
                  <a:gd name="connsiteX79" fmla="*/ 335103 w 4543952"/>
                  <a:gd name="connsiteY79" fmla="*/ 5507667 h 6858000"/>
                  <a:gd name="connsiteX80" fmla="*/ 337324 w 4543952"/>
                  <a:gd name="connsiteY80" fmla="*/ 5520421 h 6858000"/>
                  <a:gd name="connsiteX81" fmla="*/ 345722 w 4543952"/>
                  <a:gd name="connsiteY81" fmla="*/ 5531691 h 6858000"/>
                  <a:gd name="connsiteX82" fmla="*/ 345723 w 4543952"/>
                  <a:gd name="connsiteY82" fmla="*/ 5531693 h 6858000"/>
                  <a:gd name="connsiteX83" fmla="*/ 355869 w 4543952"/>
                  <a:gd name="connsiteY83" fmla="*/ 5547577 h 6858000"/>
                  <a:gd name="connsiteX84" fmla="*/ 346295 w 4543952"/>
                  <a:gd name="connsiteY84" fmla="*/ 5562745 h 6858000"/>
                  <a:gd name="connsiteX85" fmla="*/ 275047 w 4543952"/>
                  <a:gd name="connsiteY85" fmla="*/ 5704482 h 6858000"/>
                  <a:gd name="connsiteX86" fmla="*/ 269141 w 4543952"/>
                  <a:gd name="connsiteY86" fmla="*/ 5740487 h 6858000"/>
                  <a:gd name="connsiteX87" fmla="*/ 260376 w 4543952"/>
                  <a:gd name="connsiteY87" fmla="*/ 5760872 h 6858000"/>
                  <a:gd name="connsiteX88" fmla="*/ 171981 w 4543952"/>
                  <a:gd name="connsiteY88" fmla="*/ 5883750 h 6858000"/>
                  <a:gd name="connsiteX89" fmla="*/ 171979 w 4543952"/>
                  <a:gd name="connsiteY89" fmla="*/ 5883755 h 6858000"/>
                  <a:gd name="connsiteX90" fmla="*/ 160957 w 4543952"/>
                  <a:gd name="connsiteY90" fmla="*/ 5909350 h 6858000"/>
                  <a:gd name="connsiteX91" fmla="*/ 154076 w 4543952"/>
                  <a:gd name="connsiteY91" fmla="*/ 5935945 h 6858000"/>
                  <a:gd name="connsiteX92" fmla="*/ 154075 w 4543952"/>
                  <a:gd name="connsiteY92" fmla="*/ 5935948 h 6858000"/>
                  <a:gd name="connsiteX93" fmla="*/ 154075 w 4543952"/>
                  <a:gd name="connsiteY93" fmla="*/ 5935949 h 6858000"/>
                  <a:gd name="connsiteX94" fmla="*/ 154242 w 4543952"/>
                  <a:gd name="connsiteY94" fmla="*/ 5964476 h 6858000"/>
                  <a:gd name="connsiteX95" fmla="*/ 157695 w 4543952"/>
                  <a:gd name="connsiteY95" fmla="*/ 5993289 h 6858000"/>
                  <a:gd name="connsiteX96" fmla="*/ 157695 w 4543952"/>
                  <a:gd name="connsiteY96" fmla="*/ 5993291 h 6858000"/>
                  <a:gd name="connsiteX97" fmla="*/ 164171 w 4543952"/>
                  <a:gd name="connsiteY97" fmla="*/ 6026440 h 6858000"/>
                  <a:gd name="connsiteX98" fmla="*/ 220371 w 4543952"/>
                  <a:gd name="connsiteY98" fmla="*/ 6108738 h 6858000"/>
                  <a:gd name="connsiteX99" fmla="*/ 234064 w 4543952"/>
                  <a:gd name="connsiteY99" fmla="*/ 6133314 h 6858000"/>
                  <a:gd name="connsiteX100" fmla="*/ 218468 w 4543952"/>
                  <a:gd name="connsiteY100" fmla="*/ 6155599 h 6858000"/>
                  <a:gd name="connsiteX101" fmla="*/ 218465 w 4543952"/>
                  <a:gd name="connsiteY101" fmla="*/ 6155601 h 6858000"/>
                  <a:gd name="connsiteX102" fmla="*/ 179794 w 4543952"/>
                  <a:gd name="connsiteY102" fmla="*/ 6228755 h 6858000"/>
                  <a:gd name="connsiteX103" fmla="*/ 162457 w 4543952"/>
                  <a:gd name="connsiteY103" fmla="*/ 6361538 h 6858000"/>
                  <a:gd name="connsiteX104" fmla="*/ 162457 w 4543952"/>
                  <a:gd name="connsiteY104" fmla="*/ 6361539 h 6858000"/>
                  <a:gd name="connsiteX105" fmla="*/ 179794 w 4543952"/>
                  <a:gd name="connsiteY105" fmla="*/ 6228756 h 6858000"/>
                  <a:gd name="connsiteX106" fmla="*/ 218465 w 4543952"/>
                  <a:gd name="connsiteY106" fmla="*/ 6155602 h 6858000"/>
                  <a:gd name="connsiteX107" fmla="*/ 218468 w 4543952"/>
                  <a:gd name="connsiteY107" fmla="*/ 6155599 h 6858000"/>
                  <a:gd name="connsiteX108" fmla="*/ 230364 w 4543952"/>
                  <a:gd name="connsiteY108" fmla="*/ 6143189 h 6858000"/>
                  <a:gd name="connsiteX109" fmla="*/ 234064 w 4543952"/>
                  <a:gd name="connsiteY109" fmla="*/ 6133314 h 6858000"/>
                  <a:gd name="connsiteX110" fmla="*/ 234064 w 4543952"/>
                  <a:gd name="connsiteY110" fmla="*/ 6133313 h 6858000"/>
                  <a:gd name="connsiteX111" fmla="*/ 220371 w 4543952"/>
                  <a:gd name="connsiteY111" fmla="*/ 6108737 h 6858000"/>
                  <a:gd name="connsiteX112" fmla="*/ 164171 w 4543952"/>
                  <a:gd name="connsiteY112" fmla="*/ 6026439 h 6858000"/>
                  <a:gd name="connsiteX113" fmla="*/ 157695 w 4543952"/>
                  <a:gd name="connsiteY113" fmla="*/ 5993290 h 6858000"/>
                  <a:gd name="connsiteX114" fmla="*/ 157695 w 4543952"/>
                  <a:gd name="connsiteY114" fmla="*/ 5993289 h 6858000"/>
                  <a:gd name="connsiteX115" fmla="*/ 154075 w 4543952"/>
                  <a:gd name="connsiteY115" fmla="*/ 5935949 h 6858000"/>
                  <a:gd name="connsiteX116" fmla="*/ 154076 w 4543952"/>
                  <a:gd name="connsiteY116" fmla="*/ 5935945 h 6858000"/>
                  <a:gd name="connsiteX117" fmla="*/ 171979 w 4543952"/>
                  <a:gd name="connsiteY117" fmla="*/ 5883755 h 6858000"/>
                  <a:gd name="connsiteX118" fmla="*/ 171981 w 4543952"/>
                  <a:gd name="connsiteY118" fmla="*/ 5883751 h 6858000"/>
                  <a:gd name="connsiteX119" fmla="*/ 260376 w 4543952"/>
                  <a:gd name="connsiteY119" fmla="*/ 5760873 h 6858000"/>
                  <a:gd name="connsiteX120" fmla="*/ 269141 w 4543952"/>
                  <a:gd name="connsiteY120" fmla="*/ 5740488 h 6858000"/>
                  <a:gd name="connsiteX121" fmla="*/ 275047 w 4543952"/>
                  <a:gd name="connsiteY121" fmla="*/ 5704483 h 6858000"/>
                  <a:gd name="connsiteX122" fmla="*/ 346295 w 4543952"/>
                  <a:gd name="connsiteY122" fmla="*/ 5562746 h 6858000"/>
                  <a:gd name="connsiteX123" fmla="*/ 355869 w 4543952"/>
                  <a:gd name="connsiteY123" fmla="*/ 5547578 h 6858000"/>
                  <a:gd name="connsiteX124" fmla="*/ 355869 w 4543952"/>
                  <a:gd name="connsiteY124" fmla="*/ 5547577 h 6858000"/>
                  <a:gd name="connsiteX125" fmla="*/ 345723 w 4543952"/>
                  <a:gd name="connsiteY125" fmla="*/ 5531692 h 6858000"/>
                  <a:gd name="connsiteX126" fmla="*/ 345722 w 4543952"/>
                  <a:gd name="connsiteY126" fmla="*/ 5531691 h 6858000"/>
                  <a:gd name="connsiteX127" fmla="*/ 335103 w 4543952"/>
                  <a:gd name="connsiteY127" fmla="*/ 5507667 h 6858000"/>
                  <a:gd name="connsiteX128" fmla="*/ 339627 w 4543952"/>
                  <a:gd name="connsiteY128" fmla="*/ 5480637 h 6858000"/>
                  <a:gd name="connsiteX129" fmla="*/ 351249 w 4543952"/>
                  <a:gd name="connsiteY129" fmla="*/ 5425582 h 6858000"/>
                  <a:gd name="connsiteX130" fmla="*/ 359440 w 4543952"/>
                  <a:gd name="connsiteY130" fmla="*/ 5385384 h 6858000"/>
                  <a:gd name="connsiteX131" fmla="*/ 364317 w 4543952"/>
                  <a:gd name="connsiteY131" fmla="*/ 5355014 h 6858000"/>
                  <a:gd name="connsiteX132" fmla="*/ 364317 w 4543952"/>
                  <a:gd name="connsiteY132" fmla="*/ 5355013 h 6858000"/>
                  <a:gd name="connsiteX133" fmla="*/ 362870 w 4543952"/>
                  <a:gd name="connsiteY133" fmla="*/ 5326162 h 6858000"/>
                  <a:gd name="connsiteX134" fmla="*/ 360397 w 4543952"/>
                  <a:gd name="connsiteY134" fmla="*/ 5321350 h 6858000"/>
                  <a:gd name="connsiteX135" fmla="*/ 359341 w 4543952"/>
                  <a:gd name="connsiteY135" fmla="*/ 5312287 h 6858000"/>
                  <a:gd name="connsiteX136" fmla="*/ 335437 w 4543952"/>
                  <a:gd name="connsiteY136" fmla="*/ 5272795 h 6858000"/>
                  <a:gd name="connsiteX137" fmla="*/ 311981 w 4543952"/>
                  <a:gd name="connsiteY137" fmla="*/ 5229432 h 6858000"/>
                  <a:gd name="connsiteX138" fmla="*/ 311814 w 4543952"/>
                  <a:gd name="connsiteY138" fmla="*/ 5179067 h 6858000"/>
                  <a:gd name="connsiteX139" fmla="*/ 314362 w 4543952"/>
                  <a:gd name="connsiteY139" fmla="*/ 5172090 h 6858000"/>
                  <a:gd name="connsiteX140" fmla="*/ 315052 w 4543952"/>
                  <a:gd name="connsiteY140" fmla="*/ 5166113 h 6858000"/>
                  <a:gd name="connsiteX141" fmla="*/ 315052 w 4543952"/>
                  <a:gd name="connsiteY141" fmla="*/ 5166112 h 6858000"/>
                  <a:gd name="connsiteX142" fmla="*/ 308337 w 4543952"/>
                  <a:gd name="connsiteY142" fmla="*/ 5133224 h 6858000"/>
                  <a:gd name="connsiteX143" fmla="*/ 308338 w 4543952"/>
                  <a:gd name="connsiteY143" fmla="*/ 5133219 h 6858000"/>
                  <a:gd name="connsiteX144" fmla="*/ 321364 w 4543952"/>
                  <a:gd name="connsiteY144" fmla="*/ 5087449 h 6858000"/>
                  <a:gd name="connsiteX145" fmla="*/ 327270 w 4543952"/>
                  <a:gd name="connsiteY145" fmla="*/ 5072375 h 6858000"/>
                  <a:gd name="connsiteX146" fmla="*/ 334485 w 4543952"/>
                  <a:gd name="connsiteY146" fmla="*/ 5041521 h 6858000"/>
                  <a:gd name="connsiteX147" fmla="*/ 360964 w 4543952"/>
                  <a:gd name="connsiteY147" fmla="*/ 4987037 h 6858000"/>
                  <a:gd name="connsiteX148" fmla="*/ 376969 w 4543952"/>
                  <a:gd name="connsiteY148" fmla="*/ 4961455 h 6858000"/>
                  <a:gd name="connsiteX149" fmla="*/ 378247 w 4543952"/>
                  <a:gd name="connsiteY149" fmla="*/ 4957452 h 6858000"/>
                  <a:gd name="connsiteX150" fmla="*/ 381039 w 4543952"/>
                  <a:gd name="connsiteY150" fmla="*/ 4952672 h 6858000"/>
                  <a:gd name="connsiteX151" fmla="*/ 385799 w 4543952"/>
                  <a:gd name="connsiteY151" fmla="*/ 4933804 h 6858000"/>
                  <a:gd name="connsiteX152" fmla="*/ 384396 w 4543952"/>
                  <a:gd name="connsiteY152" fmla="*/ 4912167 h 6858000"/>
                  <a:gd name="connsiteX153" fmla="*/ 382691 w 4543952"/>
                  <a:gd name="connsiteY153" fmla="*/ 4889274 h 6858000"/>
                  <a:gd name="connsiteX154" fmla="*/ 390221 w 4543952"/>
                  <a:gd name="connsiteY154" fmla="*/ 4863342 h 6858000"/>
                  <a:gd name="connsiteX155" fmla="*/ 412401 w 4543952"/>
                  <a:gd name="connsiteY155" fmla="*/ 4828916 h 6858000"/>
                  <a:gd name="connsiteX156" fmla="*/ 427237 w 4543952"/>
                  <a:gd name="connsiteY156" fmla="*/ 4800483 h 6858000"/>
                  <a:gd name="connsiteX157" fmla="*/ 427237 w 4543952"/>
                  <a:gd name="connsiteY157" fmla="*/ 4800482 h 6858000"/>
                  <a:gd name="connsiteX158" fmla="*/ 425928 w 4543952"/>
                  <a:gd name="connsiteY158" fmla="*/ 4767763 h 6858000"/>
                  <a:gd name="connsiteX159" fmla="*/ 416021 w 4543952"/>
                  <a:gd name="connsiteY159" fmla="*/ 4677654 h 6858000"/>
                  <a:gd name="connsiteX160" fmla="*/ 408019 w 4543952"/>
                  <a:gd name="connsiteY160" fmla="*/ 4659173 h 6858000"/>
                  <a:gd name="connsiteX161" fmla="*/ 348009 w 4543952"/>
                  <a:gd name="connsiteY161" fmla="*/ 4482003 h 6858000"/>
                  <a:gd name="connsiteX162" fmla="*/ 347247 w 4543952"/>
                  <a:gd name="connsiteY162" fmla="*/ 4363890 h 6858000"/>
                  <a:gd name="connsiteX163" fmla="*/ 356201 w 4543952"/>
                  <a:gd name="connsiteY163" fmla="*/ 4324645 h 6858000"/>
                  <a:gd name="connsiteX164" fmla="*/ 396017 w 4543952"/>
                  <a:gd name="connsiteY164" fmla="*/ 4253014 h 6858000"/>
                  <a:gd name="connsiteX165" fmla="*/ 401733 w 4543952"/>
                  <a:gd name="connsiteY165" fmla="*/ 4221391 h 6858000"/>
                  <a:gd name="connsiteX166" fmla="*/ 332842 w 4543952"/>
                  <a:gd name="connsiteY166" fmla="*/ 2836171 h 6858000"/>
                  <a:gd name="connsiteX167" fmla="*/ 332842 w 4543952"/>
                  <a:gd name="connsiteY167" fmla="*/ 2836172 h 6858000"/>
                  <a:gd name="connsiteX168" fmla="*/ 341533 w 4543952"/>
                  <a:gd name="connsiteY168" fmla="*/ 2848793 h 6858000"/>
                  <a:gd name="connsiteX169" fmla="*/ 358166 w 4543952"/>
                  <a:gd name="connsiteY169" fmla="*/ 2903544 h 6858000"/>
                  <a:gd name="connsiteX170" fmla="*/ 366072 w 4543952"/>
                  <a:gd name="connsiteY170" fmla="*/ 2947858 h 6858000"/>
                  <a:gd name="connsiteX171" fmla="*/ 366072 w 4543952"/>
                  <a:gd name="connsiteY171" fmla="*/ 2947862 h 6858000"/>
                  <a:gd name="connsiteX172" fmla="*/ 362488 w 4543952"/>
                  <a:gd name="connsiteY172" fmla="*/ 2982147 h 6858000"/>
                  <a:gd name="connsiteX173" fmla="*/ 350796 w 4543952"/>
                  <a:gd name="connsiteY173" fmla="*/ 3077400 h 6858000"/>
                  <a:gd name="connsiteX174" fmla="*/ 350796 w 4543952"/>
                  <a:gd name="connsiteY174" fmla="*/ 3077401 h 6858000"/>
                  <a:gd name="connsiteX175" fmla="*/ 363250 w 4543952"/>
                  <a:gd name="connsiteY175" fmla="*/ 3172654 h 6858000"/>
                  <a:gd name="connsiteX176" fmla="*/ 410877 w 4543952"/>
                  <a:gd name="connsiteY176" fmla="*/ 3489467 h 6858000"/>
                  <a:gd name="connsiteX177" fmla="*/ 432976 w 4543952"/>
                  <a:gd name="connsiteY177" fmla="*/ 3544713 h 6858000"/>
                  <a:gd name="connsiteX178" fmla="*/ 445520 w 4543952"/>
                  <a:gd name="connsiteY178" fmla="*/ 3562320 h 6858000"/>
                  <a:gd name="connsiteX179" fmla="*/ 450598 w 4543952"/>
                  <a:gd name="connsiteY179" fmla="*/ 3574407 h 6858000"/>
                  <a:gd name="connsiteX180" fmla="*/ 448246 w 4543952"/>
                  <a:gd name="connsiteY180" fmla="*/ 3587173 h 6858000"/>
                  <a:gd name="connsiteX181" fmla="*/ 438500 w 4543952"/>
                  <a:gd name="connsiteY181" fmla="*/ 3606816 h 6858000"/>
                  <a:gd name="connsiteX182" fmla="*/ 424974 w 4543952"/>
                  <a:gd name="connsiteY182" fmla="*/ 3630631 h 6858000"/>
                  <a:gd name="connsiteX183" fmla="*/ 400733 w 4543952"/>
                  <a:gd name="connsiteY183" fmla="*/ 3680162 h 6858000"/>
                  <a:gd name="connsiteX184" fmla="*/ 400733 w 4543952"/>
                  <a:gd name="connsiteY184" fmla="*/ 3680163 h 6858000"/>
                  <a:gd name="connsiteX185" fmla="*/ 404781 w 4543952"/>
                  <a:gd name="connsiteY185" fmla="*/ 3734837 h 6858000"/>
                  <a:gd name="connsiteX186" fmla="*/ 404399 w 4543952"/>
                  <a:gd name="connsiteY186" fmla="*/ 3754651 h 6858000"/>
                  <a:gd name="connsiteX187" fmla="*/ 398042 w 4543952"/>
                  <a:gd name="connsiteY187" fmla="*/ 3789775 h 6858000"/>
                  <a:gd name="connsiteX188" fmla="*/ 398042 w 4543952"/>
                  <a:gd name="connsiteY188" fmla="*/ 3789776 h 6858000"/>
                  <a:gd name="connsiteX189" fmla="*/ 412973 w 4543952"/>
                  <a:gd name="connsiteY189" fmla="*/ 3822472 h 6858000"/>
                  <a:gd name="connsiteX190" fmla="*/ 427308 w 4543952"/>
                  <a:gd name="connsiteY190" fmla="*/ 3852619 h 6858000"/>
                  <a:gd name="connsiteX191" fmla="*/ 417926 w 4543952"/>
                  <a:gd name="connsiteY191" fmla="*/ 3885336 h 6858000"/>
                  <a:gd name="connsiteX192" fmla="*/ 417925 w 4543952"/>
                  <a:gd name="connsiteY192" fmla="*/ 3885337 h 6858000"/>
                  <a:gd name="connsiteX193" fmla="*/ 386040 w 4543952"/>
                  <a:gd name="connsiteY193" fmla="*/ 3962158 h 6858000"/>
                  <a:gd name="connsiteX194" fmla="*/ 386040 w 4543952"/>
                  <a:gd name="connsiteY194" fmla="*/ 3962159 h 6858000"/>
                  <a:gd name="connsiteX195" fmla="*/ 388431 w 4543952"/>
                  <a:gd name="connsiteY195" fmla="*/ 4002409 h 6858000"/>
                  <a:gd name="connsiteX196" fmla="*/ 401733 w 4543952"/>
                  <a:gd name="connsiteY196" fmla="*/ 4043837 h 6858000"/>
                  <a:gd name="connsiteX197" fmla="*/ 401733 w 4543952"/>
                  <a:gd name="connsiteY197" fmla="*/ 4043839 h 6858000"/>
                  <a:gd name="connsiteX198" fmla="*/ 416855 w 4543952"/>
                  <a:gd name="connsiteY198" fmla="*/ 4103825 h 6858000"/>
                  <a:gd name="connsiteX199" fmla="*/ 405544 w 4543952"/>
                  <a:gd name="connsiteY199" fmla="*/ 4165381 h 6858000"/>
                  <a:gd name="connsiteX200" fmla="*/ 405543 w 4543952"/>
                  <a:gd name="connsiteY200" fmla="*/ 4165382 h 6858000"/>
                  <a:gd name="connsiteX201" fmla="*/ 401638 w 4543952"/>
                  <a:gd name="connsiteY201" fmla="*/ 4192386 h 6858000"/>
                  <a:gd name="connsiteX202" fmla="*/ 401638 w 4543952"/>
                  <a:gd name="connsiteY202" fmla="*/ 4192387 h 6858000"/>
                  <a:gd name="connsiteX203" fmla="*/ 405543 w 4543952"/>
                  <a:gd name="connsiteY203" fmla="*/ 4165383 h 6858000"/>
                  <a:gd name="connsiteX204" fmla="*/ 405544 w 4543952"/>
                  <a:gd name="connsiteY204" fmla="*/ 4165381 h 6858000"/>
                  <a:gd name="connsiteX205" fmla="*/ 414887 w 4543952"/>
                  <a:gd name="connsiteY205" fmla="*/ 4134255 h 6858000"/>
                  <a:gd name="connsiteX206" fmla="*/ 416855 w 4543952"/>
                  <a:gd name="connsiteY206" fmla="*/ 4103825 h 6858000"/>
                  <a:gd name="connsiteX207" fmla="*/ 416855 w 4543952"/>
                  <a:gd name="connsiteY207" fmla="*/ 4103824 h 6858000"/>
                  <a:gd name="connsiteX208" fmla="*/ 401733 w 4543952"/>
                  <a:gd name="connsiteY208" fmla="*/ 4043838 h 6858000"/>
                  <a:gd name="connsiteX209" fmla="*/ 401733 w 4543952"/>
                  <a:gd name="connsiteY209" fmla="*/ 4043837 h 6858000"/>
                  <a:gd name="connsiteX210" fmla="*/ 386040 w 4543952"/>
                  <a:gd name="connsiteY210" fmla="*/ 3962159 h 6858000"/>
                  <a:gd name="connsiteX211" fmla="*/ 395544 w 4543952"/>
                  <a:gd name="connsiteY211" fmla="*/ 3923124 h 6858000"/>
                  <a:gd name="connsiteX212" fmla="*/ 417925 w 4543952"/>
                  <a:gd name="connsiteY212" fmla="*/ 3885338 h 6858000"/>
                  <a:gd name="connsiteX213" fmla="*/ 417926 w 4543952"/>
                  <a:gd name="connsiteY213" fmla="*/ 3885336 h 6858000"/>
                  <a:gd name="connsiteX214" fmla="*/ 426528 w 4543952"/>
                  <a:gd name="connsiteY214" fmla="*/ 3868763 h 6858000"/>
                  <a:gd name="connsiteX215" fmla="*/ 427308 w 4543952"/>
                  <a:gd name="connsiteY215" fmla="*/ 3852619 h 6858000"/>
                  <a:gd name="connsiteX216" fmla="*/ 427308 w 4543952"/>
                  <a:gd name="connsiteY216" fmla="*/ 3852618 h 6858000"/>
                  <a:gd name="connsiteX217" fmla="*/ 412973 w 4543952"/>
                  <a:gd name="connsiteY217" fmla="*/ 3822471 h 6858000"/>
                  <a:gd name="connsiteX218" fmla="*/ 398042 w 4543952"/>
                  <a:gd name="connsiteY218" fmla="*/ 3789775 h 6858000"/>
                  <a:gd name="connsiteX219" fmla="*/ 404399 w 4543952"/>
                  <a:gd name="connsiteY219" fmla="*/ 3754652 h 6858000"/>
                  <a:gd name="connsiteX220" fmla="*/ 404781 w 4543952"/>
                  <a:gd name="connsiteY220" fmla="*/ 3734837 h 6858000"/>
                  <a:gd name="connsiteX221" fmla="*/ 404781 w 4543952"/>
                  <a:gd name="connsiteY221" fmla="*/ 3734836 h 6858000"/>
                  <a:gd name="connsiteX222" fmla="*/ 400733 w 4543952"/>
                  <a:gd name="connsiteY222" fmla="*/ 3680163 h 6858000"/>
                  <a:gd name="connsiteX223" fmla="*/ 407246 w 4543952"/>
                  <a:gd name="connsiteY223" fmla="*/ 3654415 h 6858000"/>
                  <a:gd name="connsiteX224" fmla="*/ 424974 w 4543952"/>
                  <a:gd name="connsiteY224" fmla="*/ 3630632 h 6858000"/>
                  <a:gd name="connsiteX225" fmla="*/ 438500 w 4543952"/>
                  <a:gd name="connsiteY225" fmla="*/ 3606817 h 6858000"/>
                  <a:gd name="connsiteX226" fmla="*/ 450598 w 4543952"/>
                  <a:gd name="connsiteY226" fmla="*/ 3574408 h 6858000"/>
                  <a:gd name="connsiteX227" fmla="*/ 450598 w 4543952"/>
                  <a:gd name="connsiteY227" fmla="*/ 3574407 h 6858000"/>
                  <a:gd name="connsiteX228" fmla="*/ 432976 w 4543952"/>
                  <a:gd name="connsiteY228" fmla="*/ 3544712 h 6858000"/>
                  <a:gd name="connsiteX229" fmla="*/ 410877 w 4543952"/>
                  <a:gd name="connsiteY229" fmla="*/ 3489466 h 6858000"/>
                  <a:gd name="connsiteX230" fmla="*/ 363250 w 4543952"/>
                  <a:gd name="connsiteY230" fmla="*/ 3172653 h 6858000"/>
                  <a:gd name="connsiteX231" fmla="*/ 350796 w 4543952"/>
                  <a:gd name="connsiteY231" fmla="*/ 3077401 h 6858000"/>
                  <a:gd name="connsiteX232" fmla="*/ 362488 w 4543952"/>
                  <a:gd name="connsiteY232" fmla="*/ 2982148 h 6858000"/>
                  <a:gd name="connsiteX233" fmla="*/ 366072 w 4543952"/>
                  <a:gd name="connsiteY233" fmla="*/ 2947862 h 6858000"/>
                  <a:gd name="connsiteX234" fmla="*/ 366072 w 4543952"/>
                  <a:gd name="connsiteY234" fmla="*/ 2947861 h 6858000"/>
                  <a:gd name="connsiteX235" fmla="*/ 366072 w 4543952"/>
                  <a:gd name="connsiteY235" fmla="*/ 2947858 h 6858000"/>
                  <a:gd name="connsiteX236" fmla="*/ 361441 w 4543952"/>
                  <a:gd name="connsiteY236" fmla="*/ 2914327 h 6858000"/>
                  <a:gd name="connsiteX237" fmla="*/ 358166 w 4543952"/>
                  <a:gd name="connsiteY237" fmla="*/ 2903544 h 6858000"/>
                  <a:gd name="connsiteX238" fmla="*/ 357138 w 4543952"/>
                  <a:gd name="connsiteY238" fmla="*/ 2897784 h 6858000"/>
                  <a:gd name="connsiteX239" fmla="*/ 341533 w 4543952"/>
                  <a:gd name="connsiteY239" fmla="*/ 2848792 h 6858000"/>
                  <a:gd name="connsiteX240" fmla="*/ 296001 w 4543952"/>
                  <a:gd name="connsiteY240" fmla="*/ 2745351 h 6858000"/>
                  <a:gd name="connsiteX241" fmla="*/ 289670 w 4543952"/>
                  <a:gd name="connsiteY241" fmla="*/ 2770757 h 6858000"/>
                  <a:gd name="connsiteX242" fmla="*/ 290080 w 4543952"/>
                  <a:gd name="connsiteY242" fmla="*/ 2778005 h 6858000"/>
                  <a:gd name="connsiteX243" fmla="*/ 289301 w 4543952"/>
                  <a:gd name="connsiteY243" fmla="*/ 2782304 h 6858000"/>
                  <a:gd name="connsiteX244" fmla="*/ 290501 w 4543952"/>
                  <a:gd name="connsiteY244" fmla="*/ 2785439 h 6858000"/>
                  <a:gd name="connsiteX245" fmla="*/ 290929 w 4543952"/>
                  <a:gd name="connsiteY245" fmla="*/ 2793022 h 6858000"/>
                  <a:gd name="connsiteX246" fmla="*/ 300579 w 4543952"/>
                  <a:gd name="connsiteY246" fmla="*/ 2811779 h 6858000"/>
                  <a:gd name="connsiteX247" fmla="*/ 300582 w 4543952"/>
                  <a:gd name="connsiteY247" fmla="*/ 2811786 h 6858000"/>
                  <a:gd name="connsiteX248" fmla="*/ 300583 w 4543952"/>
                  <a:gd name="connsiteY248" fmla="*/ 2811786 h 6858000"/>
                  <a:gd name="connsiteX249" fmla="*/ 300579 w 4543952"/>
                  <a:gd name="connsiteY249" fmla="*/ 2811779 h 6858000"/>
                  <a:gd name="connsiteX250" fmla="*/ 290501 w 4543952"/>
                  <a:gd name="connsiteY250" fmla="*/ 2785439 h 6858000"/>
                  <a:gd name="connsiteX251" fmla="*/ 290080 w 4543952"/>
                  <a:gd name="connsiteY251" fmla="*/ 2778005 h 6858000"/>
                  <a:gd name="connsiteX252" fmla="*/ 817328 w 4543952"/>
                  <a:gd name="connsiteY252" fmla="*/ 1508457 h 6858000"/>
                  <a:gd name="connsiteX253" fmla="*/ 845421 w 4543952"/>
                  <a:gd name="connsiteY253" fmla="*/ 1596212 h 6858000"/>
                  <a:gd name="connsiteX254" fmla="*/ 843517 w 4543952"/>
                  <a:gd name="connsiteY254" fmla="*/ 1624979 h 6858000"/>
                  <a:gd name="connsiteX255" fmla="*/ 786935 w 4543952"/>
                  <a:gd name="connsiteY255" fmla="*/ 1697752 h 6858000"/>
                  <a:gd name="connsiteX256" fmla="*/ 764267 w 4543952"/>
                  <a:gd name="connsiteY256" fmla="*/ 1733187 h 6858000"/>
                  <a:gd name="connsiteX257" fmla="*/ 722546 w 4543952"/>
                  <a:gd name="connsiteY257" fmla="*/ 1833774 h 6858000"/>
                  <a:gd name="connsiteX258" fmla="*/ 714925 w 4543952"/>
                  <a:gd name="connsiteY258" fmla="*/ 1842157 h 6858000"/>
                  <a:gd name="connsiteX259" fmla="*/ 624434 w 4543952"/>
                  <a:gd name="connsiteY259" fmla="*/ 1916453 h 6858000"/>
                  <a:gd name="connsiteX260" fmla="*/ 609004 w 4543952"/>
                  <a:gd name="connsiteY260" fmla="*/ 1933218 h 6858000"/>
                  <a:gd name="connsiteX261" fmla="*/ 584999 w 4543952"/>
                  <a:gd name="connsiteY261" fmla="*/ 1953412 h 6858000"/>
                  <a:gd name="connsiteX262" fmla="*/ 538516 w 4543952"/>
                  <a:gd name="connsiteY262" fmla="*/ 2016468 h 6858000"/>
                  <a:gd name="connsiteX263" fmla="*/ 523657 w 4543952"/>
                  <a:gd name="connsiteY263" fmla="*/ 2094577 h 6858000"/>
                  <a:gd name="connsiteX264" fmla="*/ 500986 w 4543952"/>
                  <a:gd name="connsiteY264" fmla="*/ 2188878 h 6858000"/>
                  <a:gd name="connsiteX265" fmla="*/ 485746 w 4543952"/>
                  <a:gd name="connsiteY265" fmla="*/ 2228313 h 6858000"/>
                  <a:gd name="connsiteX266" fmla="*/ 456789 w 4543952"/>
                  <a:gd name="connsiteY266" fmla="*/ 2334043 h 6858000"/>
                  <a:gd name="connsiteX267" fmla="*/ 432404 w 4543952"/>
                  <a:gd name="connsiteY267" fmla="*/ 2409484 h 6858000"/>
                  <a:gd name="connsiteX268" fmla="*/ 415303 w 4543952"/>
                  <a:gd name="connsiteY268" fmla="*/ 2435912 h 6858000"/>
                  <a:gd name="connsiteX269" fmla="*/ 415303 w 4543952"/>
                  <a:gd name="connsiteY269" fmla="*/ 2435912 h 6858000"/>
                  <a:gd name="connsiteX270" fmla="*/ 415303 w 4543952"/>
                  <a:gd name="connsiteY270" fmla="*/ 2435912 h 6858000"/>
                  <a:gd name="connsiteX271" fmla="*/ 414227 w 4543952"/>
                  <a:gd name="connsiteY271" fmla="*/ 2440915 h 6858000"/>
                  <a:gd name="connsiteX272" fmla="*/ 409472 w 4543952"/>
                  <a:gd name="connsiteY272" fmla="*/ 2463016 h 6858000"/>
                  <a:gd name="connsiteX273" fmla="*/ 409472 w 4543952"/>
                  <a:gd name="connsiteY273" fmla="*/ 2463017 h 6858000"/>
                  <a:gd name="connsiteX274" fmla="*/ 411535 w 4543952"/>
                  <a:gd name="connsiteY274" fmla="*/ 2490550 h 6858000"/>
                  <a:gd name="connsiteX275" fmla="*/ 418115 w 4543952"/>
                  <a:gd name="connsiteY275" fmla="*/ 2518261 h 6858000"/>
                  <a:gd name="connsiteX276" fmla="*/ 418115 w 4543952"/>
                  <a:gd name="connsiteY276" fmla="*/ 2518264 h 6858000"/>
                  <a:gd name="connsiteX277" fmla="*/ 421759 w 4543952"/>
                  <a:gd name="connsiteY277" fmla="*/ 2545006 h 6858000"/>
                  <a:gd name="connsiteX278" fmla="*/ 417545 w 4543952"/>
                  <a:gd name="connsiteY278" fmla="*/ 2571033 h 6858000"/>
                  <a:gd name="connsiteX279" fmla="*/ 344391 w 4543952"/>
                  <a:gd name="connsiteY279" fmla="*/ 2668000 h 6858000"/>
                  <a:gd name="connsiteX280" fmla="*/ 296001 w 4543952"/>
                  <a:gd name="connsiteY280" fmla="*/ 2745347 h 6858000"/>
                  <a:gd name="connsiteX281" fmla="*/ 296001 w 4543952"/>
                  <a:gd name="connsiteY281" fmla="*/ 2745348 h 6858000"/>
                  <a:gd name="connsiteX282" fmla="*/ 344391 w 4543952"/>
                  <a:gd name="connsiteY282" fmla="*/ 2668001 h 6858000"/>
                  <a:gd name="connsiteX283" fmla="*/ 417545 w 4543952"/>
                  <a:gd name="connsiteY283" fmla="*/ 2571034 h 6858000"/>
                  <a:gd name="connsiteX284" fmla="*/ 421760 w 4543952"/>
                  <a:gd name="connsiteY284" fmla="*/ 2545006 h 6858000"/>
                  <a:gd name="connsiteX285" fmla="*/ 421759 w 4543952"/>
                  <a:gd name="connsiteY285" fmla="*/ 2545006 h 6858000"/>
                  <a:gd name="connsiteX286" fmla="*/ 421760 w 4543952"/>
                  <a:gd name="connsiteY286" fmla="*/ 2545005 h 6858000"/>
                  <a:gd name="connsiteX287" fmla="*/ 418115 w 4543952"/>
                  <a:gd name="connsiteY287" fmla="*/ 2518263 h 6858000"/>
                  <a:gd name="connsiteX288" fmla="*/ 418115 w 4543952"/>
                  <a:gd name="connsiteY288" fmla="*/ 2518261 h 6858000"/>
                  <a:gd name="connsiteX289" fmla="*/ 409472 w 4543952"/>
                  <a:gd name="connsiteY289" fmla="*/ 2463017 h 6858000"/>
                  <a:gd name="connsiteX290" fmla="*/ 414227 w 4543952"/>
                  <a:gd name="connsiteY290" fmla="*/ 2440915 h 6858000"/>
                  <a:gd name="connsiteX291" fmla="*/ 415303 w 4543952"/>
                  <a:gd name="connsiteY291" fmla="*/ 2435912 h 6858000"/>
                  <a:gd name="connsiteX292" fmla="*/ 432404 w 4543952"/>
                  <a:gd name="connsiteY292" fmla="*/ 2409485 h 6858000"/>
                  <a:gd name="connsiteX293" fmla="*/ 456789 w 4543952"/>
                  <a:gd name="connsiteY293" fmla="*/ 2334044 h 6858000"/>
                  <a:gd name="connsiteX294" fmla="*/ 485746 w 4543952"/>
                  <a:gd name="connsiteY294" fmla="*/ 2228314 h 6858000"/>
                  <a:gd name="connsiteX295" fmla="*/ 500986 w 4543952"/>
                  <a:gd name="connsiteY295" fmla="*/ 2188879 h 6858000"/>
                  <a:gd name="connsiteX296" fmla="*/ 523657 w 4543952"/>
                  <a:gd name="connsiteY296" fmla="*/ 2094578 h 6858000"/>
                  <a:gd name="connsiteX297" fmla="*/ 538516 w 4543952"/>
                  <a:gd name="connsiteY297" fmla="*/ 2016469 h 6858000"/>
                  <a:gd name="connsiteX298" fmla="*/ 584999 w 4543952"/>
                  <a:gd name="connsiteY298" fmla="*/ 1953413 h 6858000"/>
                  <a:gd name="connsiteX299" fmla="*/ 609004 w 4543952"/>
                  <a:gd name="connsiteY299" fmla="*/ 1933219 h 6858000"/>
                  <a:gd name="connsiteX300" fmla="*/ 624434 w 4543952"/>
                  <a:gd name="connsiteY300" fmla="*/ 1916454 h 6858000"/>
                  <a:gd name="connsiteX301" fmla="*/ 714925 w 4543952"/>
                  <a:gd name="connsiteY301" fmla="*/ 1842158 h 6858000"/>
                  <a:gd name="connsiteX302" fmla="*/ 722546 w 4543952"/>
                  <a:gd name="connsiteY302" fmla="*/ 1833775 h 6858000"/>
                  <a:gd name="connsiteX303" fmla="*/ 764267 w 4543952"/>
                  <a:gd name="connsiteY303" fmla="*/ 1733188 h 6858000"/>
                  <a:gd name="connsiteX304" fmla="*/ 786936 w 4543952"/>
                  <a:gd name="connsiteY304" fmla="*/ 1697753 h 6858000"/>
                  <a:gd name="connsiteX305" fmla="*/ 843517 w 4543952"/>
                  <a:gd name="connsiteY305" fmla="*/ 1624980 h 6858000"/>
                  <a:gd name="connsiteX306" fmla="*/ 845422 w 4543952"/>
                  <a:gd name="connsiteY306" fmla="*/ 1596213 h 6858000"/>
                  <a:gd name="connsiteX307" fmla="*/ 798723 w 4543952"/>
                  <a:gd name="connsiteY307" fmla="*/ 1459072 h 6858000"/>
                  <a:gd name="connsiteX308" fmla="*/ 807941 w 4543952"/>
                  <a:gd name="connsiteY308" fmla="*/ 1481571 h 6858000"/>
                  <a:gd name="connsiteX309" fmla="*/ 798724 w 4543952"/>
                  <a:gd name="connsiteY309" fmla="*/ 1459073 h 6858000"/>
                  <a:gd name="connsiteX310" fmla="*/ 779530 w 4543952"/>
                  <a:gd name="connsiteY310" fmla="*/ 1268757 h 6858000"/>
                  <a:gd name="connsiteX311" fmla="*/ 774363 w 4543952"/>
                  <a:gd name="connsiteY311" fmla="*/ 1286068 h 6858000"/>
                  <a:gd name="connsiteX312" fmla="*/ 752025 w 4543952"/>
                  <a:gd name="connsiteY312" fmla="*/ 1350626 h 6858000"/>
                  <a:gd name="connsiteX313" fmla="*/ 757620 w 4543952"/>
                  <a:gd name="connsiteY313" fmla="*/ 1413839 h 6858000"/>
                  <a:gd name="connsiteX314" fmla="*/ 752026 w 4543952"/>
                  <a:gd name="connsiteY314" fmla="*/ 1350627 h 6858000"/>
                  <a:gd name="connsiteX315" fmla="*/ 774363 w 4543952"/>
                  <a:gd name="connsiteY315" fmla="*/ 1286069 h 6858000"/>
                  <a:gd name="connsiteX316" fmla="*/ 779530 w 4543952"/>
                  <a:gd name="connsiteY316" fmla="*/ 1268757 h 6858000"/>
                  <a:gd name="connsiteX317" fmla="*/ 837801 w 4543952"/>
                  <a:gd name="connsiteY317" fmla="*/ 773034 h 6858000"/>
                  <a:gd name="connsiteX318" fmla="*/ 829801 w 4543952"/>
                  <a:gd name="connsiteY318" fmla="*/ 854378 h 6858000"/>
                  <a:gd name="connsiteX319" fmla="*/ 798747 w 4543952"/>
                  <a:gd name="connsiteY319" fmla="*/ 915342 h 6858000"/>
                  <a:gd name="connsiteX320" fmla="*/ 788269 w 4543952"/>
                  <a:gd name="connsiteY320" fmla="*/ 927154 h 6858000"/>
                  <a:gd name="connsiteX321" fmla="*/ 791889 w 4543952"/>
                  <a:gd name="connsiteY321" fmla="*/ 1097086 h 6858000"/>
                  <a:gd name="connsiteX322" fmla="*/ 796271 w 4543952"/>
                  <a:gd name="connsiteY322" fmla="*/ 1123184 h 6858000"/>
                  <a:gd name="connsiteX323" fmla="*/ 771553 w 4543952"/>
                  <a:gd name="connsiteY323" fmla="*/ 1184028 h 6858000"/>
                  <a:gd name="connsiteX324" fmla="*/ 796272 w 4543952"/>
                  <a:gd name="connsiteY324" fmla="*/ 1123185 h 6858000"/>
                  <a:gd name="connsiteX325" fmla="*/ 791890 w 4543952"/>
                  <a:gd name="connsiteY325" fmla="*/ 1097087 h 6858000"/>
                  <a:gd name="connsiteX326" fmla="*/ 788270 w 4543952"/>
                  <a:gd name="connsiteY326" fmla="*/ 927155 h 6858000"/>
                  <a:gd name="connsiteX327" fmla="*/ 798748 w 4543952"/>
                  <a:gd name="connsiteY327" fmla="*/ 915343 h 6858000"/>
                  <a:gd name="connsiteX328" fmla="*/ 829801 w 4543952"/>
                  <a:gd name="connsiteY328" fmla="*/ 854379 h 6858000"/>
                  <a:gd name="connsiteX329" fmla="*/ 837801 w 4543952"/>
                  <a:gd name="connsiteY329" fmla="*/ 773035 h 6858000"/>
                  <a:gd name="connsiteX330" fmla="*/ 782400 w 4543952"/>
                  <a:gd name="connsiteY330" fmla="*/ 517850 h 6858000"/>
                  <a:gd name="connsiteX331" fmla="*/ 791317 w 4543952"/>
                  <a:gd name="connsiteY331" fmla="*/ 556046 h 6858000"/>
                  <a:gd name="connsiteX332" fmla="*/ 797795 w 4543952"/>
                  <a:gd name="connsiteY332" fmla="*/ 580049 h 6858000"/>
                  <a:gd name="connsiteX333" fmla="*/ 801176 w 4543952"/>
                  <a:gd name="connsiteY333" fmla="*/ 642536 h 6858000"/>
                  <a:gd name="connsiteX334" fmla="*/ 813700 w 4543952"/>
                  <a:gd name="connsiteY334" fmla="*/ 694927 h 6858000"/>
                  <a:gd name="connsiteX335" fmla="*/ 801177 w 4543952"/>
                  <a:gd name="connsiteY335" fmla="*/ 642537 h 6858000"/>
                  <a:gd name="connsiteX336" fmla="*/ 797796 w 4543952"/>
                  <a:gd name="connsiteY336" fmla="*/ 580050 h 6858000"/>
                  <a:gd name="connsiteX337" fmla="*/ 791318 w 4543952"/>
                  <a:gd name="connsiteY337" fmla="*/ 556047 h 6858000"/>
                  <a:gd name="connsiteX338" fmla="*/ 783887 w 4543952"/>
                  <a:gd name="connsiteY338" fmla="*/ 313532 h 6858000"/>
                  <a:gd name="connsiteX339" fmla="*/ 786245 w 4543952"/>
                  <a:gd name="connsiteY339" fmla="*/ 324057 h 6858000"/>
                  <a:gd name="connsiteX340" fmla="*/ 784459 w 4543952"/>
                  <a:gd name="connsiteY340" fmla="*/ 338869 h 6858000"/>
                  <a:gd name="connsiteX341" fmla="*/ 784454 w 4543952"/>
                  <a:gd name="connsiteY341" fmla="*/ 338897 h 6858000"/>
                  <a:gd name="connsiteX342" fmla="*/ 778363 w 4543952"/>
                  <a:gd name="connsiteY342" fmla="*/ 367327 h 6858000"/>
                  <a:gd name="connsiteX343" fmla="*/ 774553 w 4543952"/>
                  <a:gd name="connsiteY343" fmla="*/ 395639 h 6858000"/>
                  <a:gd name="connsiteX344" fmla="*/ 784454 w 4543952"/>
                  <a:gd name="connsiteY344" fmla="*/ 338897 h 6858000"/>
                  <a:gd name="connsiteX345" fmla="*/ 784460 w 4543952"/>
                  <a:gd name="connsiteY345" fmla="*/ 338870 h 6858000"/>
                  <a:gd name="connsiteX346" fmla="*/ 783888 w 4543952"/>
                  <a:gd name="connsiteY346" fmla="*/ 313533 h 6858000"/>
                  <a:gd name="connsiteX347" fmla="*/ 761560 w 4543952"/>
                  <a:gd name="connsiteY347" fmla="*/ 281567 h 6858000"/>
                  <a:gd name="connsiteX348" fmla="*/ 766454 w 4543952"/>
                  <a:gd name="connsiteY348" fmla="*/ 295414 h 6858000"/>
                  <a:gd name="connsiteX349" fmla="*/ 766455 w 4543952"/>
                  <a:gd name="connsiteY349" fmla="*/ 295414 h 6858000"/>
                  <a:gd name="connsiteX350" fmla="*/ 774880 w 4543952"/>
                  <a:gd name="connsiteY350" fmla="*/ 24485 h 6858000"/>
                  <a:gd name="connsiteX351" fmla="*/ 777142 w 4543952"/>
                  <a:gd name="connsiteY351" fmla="*/ 74128 h 6858000"/>
                  <a:gd name="connsiteX352" fmla="*/ 767023 w 4543952"/>
                  <a:gd name="connsiteY352" fmla="*/ 151568 h 6858000"/>
                  <a:gd name="connsiteX353" fmla="*/ 766824 w 4543952"/>
                  <a:gd name="connsiteY353" fmla="*/ 153387 h 6858000"/>
                  <a:gd name="connsiteX354" fmla="*/ 763010 w 4543952"/>
                  <a:gd name="connsiteY354" fmla="*/ 177270 h 6858000"/>
                  <a:gd name="connsiteX355" fmla="*/ 758551 w 4543952"/>
                  <a:gd name="connsiteY355" fmla="*/ 228943 h 6858000"/>
                  <a:gd name="connsiteX356" fmla="*/ 766824 w 4543952"/>
                  <a:gd name="connsiteY356" fmla="*/ 153387 h 6858000"/>
                  <a:gd name="connsiteX357" fmla="*/ 771220 w 4543952"/>
                  <a:gd name="connsiteY357" fmla="*/ 125860 h 6858000"/>
                  <a:gd name="connsiteX358" fmla="*/ 777143 w 4543952"/>
                  <a:gd name="connsiteY358" fmla="*/ 74128 h 6858000"/>
                  <a:gd name="connsiteX359" fmla="*/ 313354 w 4543952"/>
                  <a:gd name="connsiteY359" fmla="*/ 0 h 6858000"/>
                  <a:gd name="connsiteX360" fmla="*/ 777461 w 4543952"/>
                  <a:gd name="connsiteY360" fmla="*/ 0 h 6858000"/>
                  <a:gd name="connsiteX361" fmla="*/ 774743 w 4543952"/>
                  <a:gd name="connsiteY361" fmla="*/ 21485 h 6858000"/>
                  <a:gd name="connsiteX362" fmla="*/ 777461 w 4543952"/>
                  <a:gd name="connsiteY362" fmla="*/ 0 h 6858000"/>
                  <a:gd name="connsiteX363" fmla="*/ 4543952 w 4543952"/>
                  <a:gd name="connsiteY363" fmla="*/ 1 h 6858000"/>
                  <a:gd name="connsiteX364" fmla="*/ 4543952 w 4543952"/>
                  <a:gd name="connsiteY364" fmla="*/ 6858000 h 6858000"/>
                  <a:gd name="connsiteX365" fmla="*/ 284400 w 4543952"/>
                  <a:gd name="connsiteY365" fmla="*/ 6858000 h 6858000"/>
                  <a:gd name="connsiteX366" fmla="*/ 112147 w 4543952"/>
                  <a:gd name="connsiteY366" fmla="*/ 6858000 h 6858000"/>
                  <a:gd name="connsiteX367" fmla="*/ 102447 w 4543952"/>
                  <a:gd name="connsiteY367" fmla="*/ 6815515 h 6858000"/>
                  <a:gd name="connsiteX368" fmla="*/ 83396 w 4543952"/>
                  <a:gd name="connsiteY368" fmla="*/ 6748457 h 6858000"/>
                  <a:gd name="connsiteX369" fmla="*/ 61870 w 4543952"/>
                  <a:gd name="connsiteY369" fmla="*/ 6584811 h 6858000"/>
                  <a:gd name="connsiteX370" fmla="*/ 41105 w 4543952"/>
                  <a:gd name="connsiteY370" fmla="*/ 6415832 h 6858000"/>
                  <a:gd name="connsiteX371" fmla="*/ 34247 w 4543952"/>
                  <a:gd name="connsiteY371" fmla="*/ 6323057 h 6858000"/>
                  <a:gd name="connsiteX372" fmla="*/ 23386 w 4543952"/>
                  <a:gd name="connsiteY372" fmla="*/ 6242092 h 6858000"/>
                  <a:gd name="connsiteX373" fmla="*/ 16528 w 4543952"/>
                  <a:gd name="connsiteY373" fmla="*/ 6171604 h 6858000"/>
                  <a:gd name="connsiteX374" fmla="*/ 2622 w 4543952"/>
                  <a:gd name="connsiteY374" fmla="*/ 6059396 h 6858000"/>
                  <a:gd name="connsiteX375" fmla="*/ 0 w 4543952"/>
                  <a:gd name="connsiteY375" fmla="*/ 6041768 h 6858000"/>
                  <a:gd name="connsiteX376" fmla="*/ 0 w 4543952"/>
                  <a:gd name="connsiteY376" fmla="*/ 6000936 h 6858000"/>
                  <a:gd name="connsiteX377" fmla="*/ 3670 w 4543952"/>
                  <a:gd name="connsiteY377" fmla="*/ 5957594 h 6858000"/>
                  <a:gd name="connsiteX378" fmla="*/ 0 w 4543952"/>
                  <a:gd name="connsiteY378" fmla="*/ 5912510 h 6858000"/>
                  <a:gd name="connsiteX379" fmla="*/ 0 w 4543952"/>
                  <a:gd name="connsiteY379" fmla="*/ 5886400 h 6858000"/>
                  <a:gd name="connsiteX380" fmla="*/ 1098 w 4543952"/>
                  <a:gd name="connsiteY380" fmla="*/ 5864317 h 6858000"/>
                  <a:gd name="connsiteX381" fmla="*/ 24720 w 4543952"/>
                  <a:gd name="connsiteY381" fmla="*/ 5790591 h 6858000"/>
                  <a:gd name="connsiteX382" fmla="*/ 26434 w 4543952"/>
                  <a:gd name="connsiteY382" fmla="*/ 5781829 h 6858000"/>
                  <a:gd name="connsiteX383" fmla="*/ 35771 w 4543952"/>
                  <a:gd name="connsiteY383" fmla="*/ 5733439 h 6858000"/>
                  <a:gd name="connsiteX384" fmla="*/ 38819 w 4543952"/>
                  <a:gd name="connsiteY384" fmla="*/ 5706958 h 6858000"/>
                  <a:gd name="connsiteX385" fmla="*/ 58250 w 4543952"/>
                  <a:gd name="connsiteY385" fmla="*/ 5606371 h 6858000"/>
                  <a:gd name="connsiteX386" fmla="*/ 67394 w 4543952"/>
                  <a:gd name="connsiteY386" fmla="*/ 5548459 h 6858000"/>
                  <a:gd name="connsiteX387" fmla="*/ 66060 w 4543952"/>
                  <a:gd name="connsiteY387" fmla="*/ 5501593 h 6858000"/>
                  <a:gd name="connsiteX388" fmla="*/ 64346 w 4543952"/>
                  <a:gd name="connsiteY388" fmla="*/ 5419294 h 6858000"/>
                  <a:gd name="connsiteX389" fmla="*/ 59964 w 4543952"/>
                  <a:gd name="connsiteY389" fmla="*/ 5393004 h 6858000"/>
                  <a:gd name="connsiteX390" fmla="*/ 72538 w 4543952"/>
                  <a:gd name="connsiteY390" fmla="*/ 5274128 h 6858000"/>
                  <a:gd name="connsiteX391" fmla="*/ 73490 w 4543952"/>
                  <a:gd name="connsiteY391" fmla="*/ 5206307 h 6858000"/>
                  <a:gd name="connsiteX392" fmla="*/ 89113 w 4543952"/>
                  <a:gd name="connsiteY392" fmla="*/ 5129915 h 6858000"/>
                  <a:gd name="connsiteX393" fmla="*/ 88351 w 4543952"/>
                  <a:gd name="connsiteY393" fmla="*/ 5107626 h 6858000"/>
                  <a:gd name="connsiteX394" fmla="*/ 87016 w 4543952"/>
                  <a:gd name="connsiteY394" fmla="*/ 5082669 h 6858000"/>
                  <a:gd name="connsiteX395" fmla="*/ 85872 w 4543952"/>
                  <a:gd name="connsiteY395" fmla="*/ 5006085 h 6858000"/>
                  <a:gd name="connsiteX396" fmla="*/ 80158 w 4543952"/>
                  <a:gd name="connsiteY396" fmla="*/ 4959601 h 6858000"/>
                  <a:gd name="connsiteX397" fmla="*/ 83586 w 4543952"/>
                  <a:gd name="connsiteY397" fmla="*/ 4871018 h 6858000"/>
                  <a:gd name="connsiteX398" fmla="*/ 78634 w 4543952"/>
                  <a:gd name="connsiteY398" fmla="*/ 4838249 h 6858000"/>
                  <a:gd name="connsiteX399" fmla="*/ 78062 w 4543952"/>
                  <a:gd name="connsiteY399" fmla="*/ 4755380 h 6858000"/>
                  <a:gd name="connsiteX400" fmla="*/ 80920 w 4543952"/>
                  <a:gd name="connsiteY400" fmla="*/ 4681082 h 6858000"/>
                  <a:gd name="connsiteX401" fmla="*/ 79396 w 4543952"/>
                  <a:gd name="connsiteY401" fmla="*/ 4609451 h 6858000"/>
                  <a:gd name="connsiteX402" fmla="*/ 73110 w 4543952"/>
                  <a:gd name="connsiteY402" fmla="*/ 4558206 h 6858000"/>
                  <a:gd name="connsiteX403" fmla="*/ 69300 w 4543952"/>
                  <a:gd name="connsiteY403" fmla="*/ 4502578 h 6858000"/>
                  <a:gd name="connsiteX404" fmla="*/ 46629 w 4543952"/>
                  <a:gd name="connsiteY404" fmla="*/ 4349221 h 6858000"/>
                  <a:gd name="connsiteX405" fmla="*/ 52153 w 4543952"/>
                  <a:gd name="connsiteY405" fmla="*/ 4320836 h 6858000"/>
                  <a:gd name="connsiteX406" fmla="*/ 57297 w 4543952"/>
                  <a:gd name="connsiteY406" fmla="*/ 4159666 h 6858000"/>
                  <a:gd name="connsiteX407" fmla="*/ 56915 w 4543952"/>
                  <a:gd name="connsiteY407" fmla="*/ 4124613 h 6858000"/>
                  <a:gd name="connsiteX408" fmla="*/ 79396 w 4543952"/>
                  <a:gd name="connsiteY408" fmla="*/ 4030502 h 6858000"/>
                  <a:gd name="connsiteX409" fmla="*/ 43771 w 4543952"/>
                  <a:gd name="connsiteY409" fmla="*/ 3885337 h 6858000"/>
                  <a:gd name="connsiteX410" fmla="*/ 426 w 4543952"/>
                  <a:gd name="connsiteY410" fmla="*/ 3786776 h 6858000"/>
                  <a:gd name="connsiteX411" fmla="*/ 0 w 4543952"/>
                  <a:gd name="connsiteY411" fmla="*/ 3773896 h 6858000"/>
                  <a:gd name="connsiteX412" fmla="*/ 0 w 4543952"/>
                  <a:gd name="connsiteY412" fmla="*/ 3393881 h 6858000"/>
                  <a:gd name="connsiteX413" fmla="*/ 11838 w 4543952"/>
                  <a:gd name="connsiteY413" fmla="*/ 3359515 h 6858000"/>
                  <a:gd name="connsiteX414" fmla="*/ 12910 w 4543952"/>
                  <a:gd name="connsiteY414" fmla="*/ 3318770 h 6858000"/>
                  <a:gd name="connsiteX415" fmla="*/ 6718 w 4543952"/>
                  <a:gd name="connsiteY415" fmla="*/ 3304078 h 6858000"/>
                  <a:gd name="connsiteX416" fmla="*/ 0 w 4543952"/>
                  <a:gd name="connsiteY416" fmla="*/ 3297656 h 6858000"/>
                  <a:gd name="connsiteX417" fmla="*/ 0 w 4543952"/>
                  <a:gd name="connsiteY417" fmla="*/ 3207866 h 6858000"/>
                  <a:gd name="connsiteX418" fmla="*/ 15553 w 4543952"/>
                  <a:gd name="connsiteY418" fmla="*/ 3186770 h 6858000"/>
                  <a:gd name="connsiteX419" fmla="*/ 36341 w 4543952"/>
                  <a:gd name="connsiteY419" fmla="*/ 3107499 h 6858000"/>
                  <a:gd name="connsiteX420" fmla="*/ 38057 w 4543952"/>
                  <a:gd name="connsiteY420" fmla="*/ 3042727 h 6858000"/>
                  <a:gd name="connsiteX421" fmla="*/ 54249 w 4543952"/>
                  <a:gd name="connsiteY421" fmla="*/ 2901942 h 6858000"/>
                  <a:gd name="connsiteX422" fmla="*/ 77300 w 4543952"/>
                  <a:gd name="connsiteY422" fmla="*/ 2809929 h 6858000"/>
                  <a:gd name="connsiteX423" fmla="*/ 103399 w 4543952"/>
                  <a:gd name="connsiteY423" fmla="*/ 2743825 h 6858000"/>
                  <a:gd name="connsiteX424" fmla="*/ 137500 w 4543952"/>
                  <a:gd name="connsiteY424" fmla="*/ 2649142 h 6858000"/>
                  <a:gd name="connsiteX425" fmla="*/ 155217 w 4543952"/>
                  <a:gd name="connsiteY425" fmla="*/ 2554078 h 6858000"/>
                  <a:gd name="connsiteX426" fmla="*/ 177507 w 4543952"/>
                  <a:gd name="connsiteY426" fmla="*/ 2485306 h 6858000"/>
                  <a:gd name="connsiteX427" fmla="*/ 192748 w 4543952"/>
                  <a:gd name="connsiteY427" fmla="*/ 2401291 h 6858000"/>
                  <a:gd name="connsiteX428" fmla="*/ 193318 w 4543952"/>
                  <a:gd name="connsiteY428" fmla="*/ 2330805 h 6858000"/>
                  <a:gd name="connsiteX429" fmla="*/ 190652 w 4543952"/>
                  <a:gd name="connsiteY429" fmla="*/ 2220311 h 6858000"/>
                  <a:gd name="connsiteX430" fmla="*/ 236753 w 4543952"/>
                  <a:gd name="connsiteY430" fmla="*/ 2085053 h 6858000"/>
                  <a:gd name="connsiteX431" fmla="*/ 247042 w 4543952"/>
                  <a:gd name="connsiteY431" fmla="*/ 2030377 h 6858000"/>
                  <a:gd name="connsiteX432" fmla="*/ 251804 w 4543952"/>
                  <a:gd name="connsiteY432" fmla="*/ 1978939 h 6858000"/>
                  <a:gd name="connsiteX433" fmla="*/ 282475 w 4543952"/>
                  <a:gd name="connsiteY433" fmla="*/ 1869779 h 6858000"/>
                  <a:gd name="connsiteX434" fmla="*/ 292573 w 4543952"/>
                  <a:gd name="connsiteY434" fmla="*/ 1825392 h 6858000"/>
                  <a:gd name="connsiteX435" fmla="*/ 292381 w 4543952"/>
                  <a:gd name="connsiteY435" fmla="*/ 1763286 h 6858000"/>
                  <a:gd name="connsiteX436" fmla="*/ 306480 w 4543952"/>
                  <a:gd name="connsiteY436" fmla="*/ 1650316 h 6858000"/>
                  <a:gd name="connsiteX437" fmla="*/ 347629 w 4543952"/>
                  <a:gd name="connsiteY437" fmla="*/ 1537536 h 6858000"/>
                  <a:gd name="connsiteX438" fmla="*/ 343629 w 4543952"/>
                  <a:gd name="connsiteY438" fmla="*/ 1489719 h 6858000"/>
                  <a:gd name="connsiteX439" fmla="*/ 344581 w 4543952"/>
                  <a:gd name="connsiteY439" fmla="*/ 1472574 h 6858000"/>
                  <a:gd name="connsiteX440" fmla="*/ 367252 w 4543952"/>
                  <a:gd name="connsiteY440" fmla="*/ 1318455 h 6858000"/>
                  <a:gd name="connsiteX441" fmla="*/ 369728 w 4543952"/>
                  <a:gd name="connsiteY441" fmla="*/ 1303023 h 6858000"/>
                  <a:gd name="connsiteX442" fmla="*/ 389921 w 4543952"/>
                  <a:gd name="connsiteY442" fmla="*/ 1230632 h 6858000"/>
                  <a:gd name="connsiteX443" fmla="*/ 402495 w 4543952"/>
                  <a:gd name="connsiteY443" fmla="*/ 1048124 h 6858000"/>
                  <a:gd name="connsiteX444" fmla="*/ 404019 w 4543952"/>
                  <a:gd name="connsiteY444" fmla="*/ 1036886 h 6858000"/>
                  <a:gd name="connsiteX445" fmla="*/ 393923 w 4543952"/>
                  <a:gd name="connsiteY445" fmla="*/ 975732 h 6858000"/>
                  <a:gd name="connsiteX446" fmla="*/ 379634 w 4543952"/>
                  <a:gd name="connsiteY446" fmla="*/ 945443 h 6858000"/>
                  <a:gd name="connsiteX447" fmla="*/ 364774 w 4543952"/>
                  <a:gd name="connsiteY447" fmla="*/ 898197 h 6858000"/>
                  <a:gd name="connsiteX448" fmla="*/ 359250 w 4543952"/>
                  <a:gd name="connsiteY448" fmla="*/ 850188 h 6858000"/>
                  <a:gd name="connsiteX449" fmla="*/ 381730 w 4543952"/>
                  <a:gd name="connsiteY449" fmla="*/ 769604 h 6858000"/>
                  <a:gd name="connsiteX450" fmla="*/ 384016 w 4543952"/>
                  <a:gd name="connsiteY450" fmla="*/ 740267 h 6858000"/>
                  <a:gd name="connsiteX451" fmla="*/ 394875 w 4543952"/>
                  <a:gd name="connsiteY451" fmla="*/ 674922 h 6858000"/>
                  <a:gd name="connsiteX452" fmla="*/ 394113 w 4543952"/>
                  <a:gd name="connsiteY452" fmla="*/ 617771 h 6858000"/>
                  <a:gd name="connsiteX453" fmla="*/ 376776 w 4543952"/>
                  <a:gd name="connsiteY453" fmla="*/ 571859 h 6858000"/>
                  <a:gd name="connsiteX454" fmla="*/ 373348 w 4543952"/>
                  <a:gd name="connsiteY454" fmla="*/ 505181 h 6858000"/>
                  <a:gd name="connsiteX455" fmla="*/ 385920 w 4543952"/>
                  <a:gd name="connsiteY455" fmla="*/ 462125 h 6858000"/>
                  <a:gd name="connsiteX456" fmla="*/ 387634 w 4543952"/>
                  <a:gd name="connsiteY456" fmla="*/ 453363 h 6858000"/>
                  <a:gd name="connsiteX457" fmla="*/ 388399 w 4543952"/>
                  <a:gd name="connsiteY457" fmla="*/ 340773 h 6858000"/>
                  <a:gd name="connsiteX458" fmla="*/ 350487 w 4543952"/>
                  <a:gd name="connsiteY458" fmla="*/ 200181 h 6858000"/>
                  <a:gd name="connsiteX459" fmla="*/ 342485 w 4543952"/>
                  <a:gd name="connsiteY459" fmla="*/ 176938 h 6858000"/>
                  <a:gd name="connsiteX460" fmla="*/ 328579 w 4543952"/>
                  <a:gd name="connsiteY460" fmla="*/ 63586 h 6858000"/>
                  <a:gd name="connsiteX461" fmla="*/ 314480 w 4543952"/>
                  <a:gd name="connsiteY461" fmla="*/ 28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Lst>
                <a:rect l="l" t="t" r="r" b="b"/>
                <a:pathLst>
                  <a:path w="4543952" h="6858000">
                    <a:moveTo>
                      <a:pt x="328959" y="6564619"/>
                    </a:moveTo>
                    <a:lnTo>
                      <a:pt x="306480" y="6588624"/>
                    </a:lnTo>
                    <a:cubicBezTo>
                      <a:pt x="298003" y="6597577"/>
                      <a:pt x="291954" y="6611341"/>
                      <a:pt x="289858" y="6625223"/>
                    </a:cubicBezTo>
                    <a:lnTo>
                      <a:pt x="289858" y="6625224"/>
                    </a:lnTo>
                    <a:lnTo>
                      <a:pt x="289870" y="6645551"/>
                    </a:lnTo>
                    <a:lnTo>
                      <a:pt x="296953" y="6662539"/>
                    </a:lnTo>
                    <a:lnTo>
                      <a:pt x="296953" y="6662541"/>
                    </a:lnTo>
                    <a:lnTo>
                      <a:pt x="296954" y="6662543"/>
                    </a:lnTo>
                    <a:lnTo>
                      <a:pt x="311551" y="6702975"/>
                    </a:lnTo>
                    <a:lnTo>
                      <a:pt x="297715" y="6742551"/>
                    </a:lnTo>
                    <a:lnTo>
                      <a:pt x="297714" y="6742554"/>
                    </a:lnTo>
                    <a:lnTo>
                      <a:pt x="283011" y="6776799"/>
                    </a:lnTo>
                    <a:lnTo>
                      <a:pt x="278238" y="6812061"/>
                    </a:lnTo>
                    <a:lnTo>
                      <a:pt x="278237" y="6812062"/>
                    </a:lnTo>
                    <a:lnTo>
                      <a:pt x="278237" y="6812063"/>
                    </a:lnTo>
                    <a:lnTo>
                      <a:pt x="278238" y="6812061"/>
                    </a:lnTo>
                    <a:lnTo>
                      <a:pt x="297714" y="6742554"/>
                    </a:lnTo>
                    <a:lnTo>
                      <a:pt x="297715" y="6742552"/>
                    </a:lnTo>
                    <a:cubicBezTo>
                      <a:pt x="306003" y="6729218"/>
                      <a:pt x="311147" y="6716168"/>
                      <a:pt x="311551" y="6702976"/>
                    </a:cubicBezTo>
                    <a:lnTo>
                      <a:pt x="311551" y="6702975"/>
                    </a:lnTo>
                    <a:lnTo>
                      <a:pt x="308405" y="6683026"/>
                    </a:lnTo>
                    <a:lnTo>
                      <a:pt x="296954" y="6662543"/>
                    </a:lnTo>
                    <a:lnTo>
                      <a:pt x="296953" y="6662540"/>
                    </a:lnTo>
                    <a:lnTo>
                      <a:pt x="296953" y="6662539"/>
                    </a:lnTo>
                    <a:lnTo>
                      <a:pt x="289858" y="6625224"/>
                    </a:lnTo>
                    <a:lnTo>
                      <a:pt x="306480" y="6588625"/>
                    </a:lnTo>
                    <a:cubicBezTo>
                      <a:pt x="312576" y="6582146"/>
                      <a:pt x="318672" y="6575478"/>
                      <a:pt x="328959" y="6564620"/>
                    </a:cubicBezTo>
                    <a:close/>
                    <a:moveTo>
                      <a:pt x="248638" y="6438980"/>
                    </a:moveTo>
                    <a:cubicBezTo>
                      <a:pt x="258140" y="6444076"/>
                      <a:pt x="265617" y="6451649"/>
                      <a:pt x="268569" y="6463840"/>
                    </a:cubicBezTo>
                    <a:lnTo>
                      <a:pt x="268572" y="6463848"/>
                    </a:lnTo>
                    <a:lnTo>
                      <a:pt x="279556" y="6508051"/>
                    </a:lnTo>
                    <a:lnTo>
                      <a:pt x="282367" y="6513011"/>
                    </a:lnTo>
                    <a:lnTo>
                      <a:pt x="284834" y="6521803"/>
                    </a:lnTo>
                    <a:lnTo>
                      <a:pt x="301172" y="6546194"/>
                    </a:lnTo>
                    <a:lnTo>
                      <a:pt x="301172" y="6546193"/>
                    </a:lnTo>
                    <a:lnTo>
                      <a:pt x="282367" y="6513011"/>
                    </a:lnTo>
                    <a:lnTo>
                      <a:pt x="268572" y="6463848"/>
                    </a:lnTo>
                    <a:lnTo>
                      <a:pt x="268569" y="6463839"/>
                    </a:lnTo>
                    <a:close/>
                    <a:moveTo>
                      <a:pt x="166047" y="6392242"/>
                    </a:moveTo>
                    <a:lnTo>
                      <a:pt x="173364" y="6407332"/>
                    </a:lnTo>
                    <a:lnTo>
                      <a:pt x="173364" y="6407331"/>
                    </a:lnTo>
                    <a:close/>
                    <a:moveTo>
                      <a:pt x="401733" y="4221390"/>
                    </a:moveTo>
                    <a:lnTo>
                      <a:pt x="396017" y="4253013"/>
                    </a:lnTo>
                    <a:cubicBezTo>
                      <a:pt x="383824" y="4277400"/>
                      <a:pt x="368204" y="4300069"/>
                      <a:pt x="356201" y="4324644"/>
                    </a:cubicBezTo>
                    <a:cubicBezTo>
                      <a:pt x="350487" y="4336456"/>
                      <a:pt x="347439" y="4350553"/>
                      <a:pt x="347247" y="4363889"/>
                    </a:cubicBezTo>
                    <a:lnTo>
                      <a:pt x="347247" y="4363890"/>
                    </a:lnTo>
                    <a:cubicBezTo>
                      <a:pt x="346295" y="4403325"/>
                      <a:pt x="346295" y="4442761"/>
                      <a:pt x="348009" y="4482004"/>
                    </a:cubicBezTo>
                    <a:cubicBezTo>
                      <a:pt x="350677" y="4546776"/>
                      <a:pt x="351249" y="4612500"/>
                      <a:pt x="408019" y="4659174"/>
                    </a:cubicBezTo>
                    <a:cubicBezTo>
                      <a:pt x="412591" y="4662986"/>
                      <a:pt x="415259" y="4671176"/>
                      <a:pt x="416021" y="4677655"/>
                    </a:cubicBezTo>
                    <a:cubicBezTo>
                      <a:pt x="419640" y="4707564"/>
                      <a:pt x="420022" y="4738235"/>
                      <a:pt x="425928" y="4767764"/>
                    </a:cubicBezTo>
                    <a:lnTo>
                      <a:pt x="427237" y="4800482"/>
                    </a:lnTo>
                    <a:lnTo>
                      <a:pt x="412401" y="4828915"/>
                    </a:lnTo>
                    <a:cubicBezTo>
                      <a:pt x="404115" y="4837702"/>
                      <a:pt x="397114" y="4847213"/>
                      <a:pt x="391971" y="4857316"/>
                    </a:cubicBezTo>
                    <a:lnTo>
                      <a:pt x="390221" y="4863342"/>
                    </a:lnTo>
                    <a:lnTo>
                      <a:pt x="387469" y="4867613"/>
                    </a:lnTo>
                    <a:lnTo>
                      <a:pt x="382691" y="4889274"/>
                    </a:lnTo>
                    <a:lnTo>
                      <a:pt x="382691" y="4889275"/>
                    </a:lnTo>
                    <a:cubicBezTo>
                      <a:pt x="382122" y="4896713"/>
                      <a:pt x="382634" y="4904357"/>
                      <a:pt x="384396" y="4912168"/>
                    </a:cubicBezTo>
                    <a:lnTo>
                      <a:pt x="385799" y="4933804"/>
                    </a:lnTo>
                    <a:lnTo>
                      <a:pt x="378247" y="4957452"/>
                    </a:lnTo>
                    <a:lnTo>
                      <a:pt x="360964" y="4987036"/>
                    </a:lnTo>
                    <a:cubicBezTo>
                      <a:pt x="349725" y="5003800"/>
                      <a:pt x="335627" y="5022851"/>
                      <a:pt x="334485" y="5041520"/>
                    </a:cubicBezTo>
                    <a:cubicBezTo>
                      <a:pt x="333557" y="5057380"/>
                      <a:pt x="327458" y="5072410"/>
                      <a:pt x="321371" y="5087422"/>
                    </a:cubicBezTo>
                    <a:lnTo>
                      <a:pt x="321364" y="5087449"/>
                    </a:lnTo>
                    <a:lnTo>
                      <a:pt x="315482" y="5102460"/>
                    </a:lnTo>
                    <a:lnTo>
                      <a:pt x="308338" y="5133219"/>
                    </a:lnTo>
                    <a:lnTo>
                      <a:pt x="308337" y="5133223"/>
                    </a:lnTo>
                    <a:lnTo>
                      <a:pt x="308337" y="5133224"/>
                    </a:lnTo>
                    <a:lnTo>
                      <a:pt x="315052" y="5166113"/>
                    </a:lnTo>
                    <a:lnTo>
                      <a:pt x="314362" y="5172089"/>
                    </a:lnTo>
                    <a:cubicBezTo>
                      <a:pt x="313481" y="5174399"/>
                      <a:pt x="312290" y="5176875"/>
                      <a:pt x="311814" y="5179066"/>
                    </a:cubicBezTo>
                    <a:lnTo>
                      <a:pt x="311814" y="5179067"/>
                    </a:lnTo>
                    <a:cubicBezTo>
                      <a:pt x="304574" y="5214121"/>
                      <a:pt x="311624" y="5247078"/>
                      <a:pt x="335437" y="5272796"/>
                    </a:cubicBezTo>
                    <a:lnTo>
                      <a:pt x="360397" y="5321350"/>
                    </a:lnTo>
                    <a:lnTo>
                      <a:pt x="364317" y="5355013"/>
                    </a:lnTo>
                    <a:lnTo>
                      <a:pt x="359440" y="5385383"/>
                    </a:lnTo>
                    <a:cubicBezTo>
                      <a:pt x="356201" y="5398720"/>
                      <a:pt x="353915" y="5412056"/>
                      <a:pt x="351249" y="5425581"/>
                    </a:cubicBezTo>
                    <a:cubicBezTo>
                      <a:pt x="347439" y="5443869"/>
                      <a:pt x="343437" y="5462350"/>
                      <a:pt x="339627" y="5480636"/>
                    </a:cubicBezTo>
                    <a:cubicBezTo>
                      <a:pt x="337722" y="5489496"/>
                      <a:pt x="335151" y="5498831"/>
                      <a:pt x="335103" y="5507666"/>
                    </a:cubicBezTo>
                    <a:lnTo>
                      <a:pt x="335103" y="5507667"/>
                    </a:lnTo>
                    <a:lnTo>
                      <a:pt x="337324" y="5520421"/>
                    </a:lnTo>
                    <a:lnTo>
                      <a:pt x="345722" y="5531691"/>
                    </a:lnTo>
                    <a:lnTo>
                      <a:pt x="345723" y="5531693"/>
                    </a:lnTo>
                    <a:lnTo>
                      <a:pt x="355869" y="5547577"/>
                    </a:lnTo>
                    <a:lnTo>
                      <a:pt x="346295" y="5562745"/>
                    </a:lnTo>
                    <a:cubicBezTo>
                      <a:pt x="303622" y="5600466"/>
                      <a:pt x="276951" y="5646188"/>
                      <a:pt x="275047" y="5704482"/>
                    </a:cubicBezTo>
                    <a:cubicBezTo>
                      <a:pt x="274665" y="5716484"/>
                      <a:pt x="271999" y="5728677"/>
                      <a:pt x="269141" y="5740487"/>
                    </a:cubicBezTo>
                    <a:cubicBezTo>
                      <a:pt x="267426" y="5747727"/>
                      <a:pt x="265520" y="5756492"/>
                      <a:pt x="260376" y="5760872"/>
                    </a:cubicBezTo>
                    <a:cubicBezTo>
                      <a:pt x="221133" y="5794973"/>
                      <a:pt x="193890" y="5837456"/>
                      <a:pt x="171981" y="5883750"/>
                    </a:cubicBezTo>
                    <a:lnTo>
                      <a:pt x="171979" y="5883755"/>
                    </a:lnTo>
                    <a:lnTo>
                      <a:pt x="160957" y="5909350"/>
                    </a:lnTo>
                    <a:lnTo>
                      <a:pt x="154076" y="5935945"/>
                    </a:lnTo>
                    <a:lnTo>
                      <a:pt x="154075" y="5935948"/>
                    </a:lnTo>
                    <a:lnTo>
                      <a:pt x="154075" y="5935949"/>
                    </a:lnTo>
                    <a:lnTo>
                      <a:pt x="154242" y="5964476"/>
                    </a:lnTo>
                    <a:lnTo>
                      <a:pt x="157695" y="5993289"/>
                    </a:lnTo>
                    <a:lnTo>
                      <a:pt x="157695" y="5993291"/>
                    </a:lnTo>
                    <a:cubicBezTo>
                      <a:pt x="158837" y="6004531"/>
                      <a:pt x="158647" y="6017485"/>
                      <a:pt x="164171" y="6026440"/>
                    </a:cubicBezTo>
                    <a:cubicBezTo>
                      <a:pt x="181508" y="6054825"/>
                      <a:pt x="200176" y="6082258"/>
                      <a:pt x="220371" y="6108738"/>
                    </a:cubicBezTo>
                    <a:lnTo>
                      <a:pt x="234064" y="6133314"/>
                    </a:lnTo>
                    <a:lnTo>
                      <a:pt x="218468" y="6155599"/>
                    </a:lnTo>
                    <a:lnTo>
                      <a:pt x="218465" y="6155601"/>
                    </a:lnTo>
                    <a:cubicBezTo>
                      <a:pt x="196176" y="6175796"/>
                      <a:pt x="184556" y="6200943"/>
                      <a:pt x="179794" y="6228755"/>
                    </a:cubicBezTo>
                    <a:cubicBezTo>
                      <a:pt x="172363" y="6272763"/>
                      <a:pt x="166077" y="6317150"/>
                      <a:pt x="162457" y="6361538"/>
                    </a:cubicBezTo>
                    <a:lnTo>
                      <a:pt x="162457" y="6361539"/>
                    </a:lnTo>
                    <a:lnTo>
                      <a:pt x="179794" y="6228756"/>
                    </a:lnTo>
                    <a:cubicBezTo>
                      <a:pt x="184556" y="6200944"/>
                      <a:pt x="196176" y="6175797"/>
                      <a:pt x="218465" y="6155602"/>
                    </a:cubicBezTo>
                    <a:lnTo>
                      <a:pt x="218468" y="6155599"/>
                    </a:lnTo>
                    <a:lnTo>
                      <a:pt x="230364" y="6143189"/>
                    </a:lnTo>
                    <a:lnTo>
                      <a:pt x="234064" y="6133314"/>
                    </a:lnTo>
                    <a:lnTo>
                      <a:pt x="234064" y="6133313"/>
                    </a:lnTo>
                    <a:cubicBezTo>
                      <a:pt x="233993" y="6126883"/>
                      <a:pt x="229039" y="6120073"/>
                      <a:pt x="220371" y="6108737"/>
                    </a:cubicBezTo>
                    <a:cubicBezTo>
                      <a:pt x="200176" y="6082257"/>
                      <a:pt x="181508" y="6054824"/>
                      <a:pt x="164171" y="6026439"/>
                    </a:cubicBezTo>
                    <a:cubicBezTo>
                      <a:pt x="158647" y="6017484"/>
                      <a:pt x="158837" y="6004530"/>
                      <a:pt x="157695" y="5993290"/>
                    </a:cubicBezTo>
                    <a:lnTo>
                      <a:pt x="157695" y="5993289"/>
                    </a:lnTo>
                    <a:lnTo>
                      <a:pt x="154075" y="5935949"/>
                    </a:lnTo>
                    <a:lnTo>
                      <a:pt x="154076" y="5935945"/>
                    </a:lnTo>
                    <a:lnTo>
                      <a:pt x="171979" y="5883755"/>
                    </a:lnTo>
                    <a:lnTo>
                      <a:pt x="171981" y="5883751"/>
                    </a:lnTo>
                    <a:cubicBezTo>
                      <a:pt x="193890" y="5837457"/>
                      <a:pt x="221133" y="5794974"/>
                      <a:pt x="260376" y="5760873"/>
                    </a:cubicBezTo>
                    <a:cubicBezTo>
                      <a:pt x="265520" y="5756493"/>
                      <a:pt x="267426" y="5747728"/>
                      <a:pt x="269141" y="5740488"/>
                    </a:cubicBezTo>
                    <a:cubicBezTo>
                      <a:pt x="271999" y="5728678"/>
                      <a:pt x="274665" y="5716485"/>
                      <a:pt x="275047" y="5704483"/>
                    </a:cubicBezTo>
                    <a:cubicBezTo>
                      <a:pt x="276951" y="5646189"/>
                      <a:pt x="303622" y="5600467"/>
                      <a:pt x="346295" y="5562746"/>
                    </a:cubicBezTo>
                    <a:cubicBezTo>
                      <a:pt x="352392" y="5557317"/>
                      <a:pt x="355774" y="5552507"/>
                      <a:pt x="355869" y="5547578"/>
                    </a:cubicBezTo>
                    <a:lnTo>
                      <a:pt x="355869" y="5547577"/>
                    </a:lnTo>
                    <a:cubicBezTo>
                      <a:pt x="355964" y="5542648"/>
                      <a:pt x="352773" y="5537599"/>
                      <a:pt x="345723" y="5531692"/>
                    </a:cubicBezTo>
                    <a:lnTo>
                      <a:pt x="345722" y="5531691"/>
                    </a:lnTo>
                    <a:lnTo>
                      <a:pt x="335103" y="5507667"/>
                    </a:lnTo>
                    <a:lnTo>
                      <a:pt x="339627" y="5480637"/>
                    </a:lnTo>
                    <a:cubicBezTo>
                      <a:pt x="343437" y="5462351"/>
                      <a:pt x="347439" y="5443870"/>
                      <a:pt x="351249" y="5425582"/>
                    </a:cubicBezTo>
                    <a:cubicBezTo>
                      <a:pt x="353915" y="5412057"/>
                      <a:pt x="356201" y="5398721"/>
                      <a:pt x="359440" y="5385384"/>
                    </a:cubicBezTo>
                    <a:cubicBezTo>
                      <a:pt x="361965" y="5375002"/>
                      <a:pt x="363668" y="5364882"/>
                      <a:pt x="364317" y="5355014"/>
                    </a:cubicBezTo>
                    <a:lnTo>
                      <a:pt x="364317" y="5355013"/>
                    </a:lnTo>
                    <a:lnTo>
                      <a:pt x="362870" y="5326162"/>
                    </a:lnTo>
                    <a:lnTo>
                      <a:pt x="360397" y="5321350"/>
                    </a:lnTo>
                    <a:lnTo>
                      <a:pt x="359341" y="5312287"/>
                    </a:lnTo>
                    <a:cubicBezTo>
                      <a:pt x="354789" y="5298594"/>
                      <a:pt x="347082" y="5285440"/>
                      <a:pt x="335437" y="5272795"/>
                    </a:cubicBezTo>
                    <a:cubicBezTo>
                      <a:pt x="323531" y="5259936"/>
                      <a:pt x="315815" y="5245268"/>
                      <a:pt x="311981" y="5229432"/>
                    </a:cubicBezTo>
                    <a:lnTo>
                      <a:pt x="311814" y="5179067"/>
                    </a:lnTo>
                    <a:lnTo>
                      <a:pt x="314362" y="5172090"/>
                    </a:lnTo>
                    <a:cubicBezTo>
                      <a:pt x="315243" y="5169780"/>
                      <a:pt x="315814" y="5167637"/>
                      <a:pt x="315052" y="5166113"/>
                    </a:cubicBezTo>
                    <a:lnTo>
                      <a:pt x="315052" y="5166112"/>
                    </a:lnTo>
                    <a:lnTo>
                      <a:pt x="308337" y="5133224"/>
                    </a:lnTo>
                    <a:lnTo>
                      <a:pt x="308338" y="5133219"/>
                    </a:lnTo>
                    <a:lnTo>
                      <a:pt x="321364" y="5087449"/>
                    </a:lnTo>
                    <a:lnTo>
                      <a:pt x="327270" y="5072375"/>
                    </a:lnTo>
                    <a:cubicBezTo>
                      <a:pt x="330949" y="5062299"/>
                      <a:pt x="333866" y="5052095"/>
                      <a:pt x="334485" y="5041521"/>
                    </a:cubicBezTo>
                    <a:cubicBezTo>
                      <a:pt x="335627" y="5022852"/>
                      <a:pt x="349725" y="5003801"/>
                      <a:pt x="360964" y="4987037"/>
                    </a:cubicBezTo>
                    <a:cubicBezTo>
                      <a:pt x="366751" y="4978392"/>
                      <a:pt x="372458" y="4970096"/>
                      <a:pt x="376969" y="4961455"/>
                    </a:cubicBezTo>
                    <a:lnTo>
                      <a:pt x="378247" y="4957452"/>
                    </a:lnTo>
                    <a:lnTo>
                      <a:pt x="381039" y="4952672"/>
                    </a:lnTo>
                    <a:lnTo>
                      <a:pt x="385799" y="4933804"/>
                    </a:lnTo>
                    <a:cubicBezTo>
                      <a:pt x="386468" y="4927121"/>
                      <a:pt x="386111" y="4919978"/>
                      <a:pt x="384396" y="4912167"/>
                    </a:cubicBezTo>
                    <a:lnTo>
                      <a:pt x="382691" y="4889274"/>
                    </a:lnTo>
                    <a:lnTo>
                      <a:pt x="390221" y="4863342"/>
                    </a:lnTo>
                    <a:lnTo>
                      <a:pt x="412401" y="4828916"/>
                    </a:lnTo>
                    <a:cubicBezTo>
                      <a:pt x="420784" y="4819963"/>
                      <a:pt x="425356" y="4810580"/>
                      <a:pt x="427237" y="4800483"/>
                    </a:cubicBezTo>
                    <a:lnTo>
                      <a:pt x="427237" y="4800482"/>
                    </a:lnTo>
                    <a:cubicBezTo>
                      <a:pt x="429119" y="4790385"/>
                      <a:pt x="428309" y="4779574"/>
                      <a:pt x="425928" y="4767763"/>
                    </a:cubicBezTo>
                    <a:cubicBezTo>
                      <a:pt x="420022" y="4738234"/>
                      <a:pt x="419640" y="4707563"/>
                      <a:pt x="416021" y="4677654"/>
                    </a:cubicBezTo>
                    <a:cubicBezTo>
                      <a:pt x="415259" y="4671175"/>
                      <a:pt x="412591" y="4662985"/>
                      <a:pt x="408019" y="4659173"/>
                    </a:cubicBezTo>
                    <a:cubicBezTo>
                      <a:pt x="351249" y="4612499"/>
                      <a:pt x="350677" y="4546775"/>
                      <a:pt x="348009" y="4482003"/>
                    </a:cubicBezTo>
                    <a:lnTo>
                      <a:pt x="347247" y="4363890"/>
                    </a:lnTo>
                    <a:lnTo>
                      <a:pt x="356201" y="4324645"/>
                    </a:lnTo>
                    <a:cubicBezTo>
                      <a:pt x="368204" y="4300070"/>
                      <a:pt x="383824" y="4277401"/>
                      <a:pt x="396017" y="4253014"/>
                    </a:cubicBezTo>
                    <a:cubicBezTo>
                      <a:pt x="400781" y="4243872"/>
                      <a:pt x="400971" y="4232060"/>
                      <a:pt x="401733" y="4221391"/>
                    </a:cubicBezTo>
                    <a:close/>
                    <a:moveTo>
                      <a:pt x="332842" y="2836171"/>
                    </a:moveTo>
                    <a:lnTo>
                      <a:pt x="332842" y="2836172"/>
                    </a:lnTo>
                    <a:cubicBezTo>
                      <a:pt x="336914" y="2839982"/>
                      <a:pt x="340200" y="2844316"/>
                      <a:pt x="341533" y="2848793"/>
                    </a:cubicBezTo>
                    <a:lnTo>
                      <a:pt x="358166" y="2903544"/>
                    </a:lnTo>
                    <a:lnTo>
                      <a:pt x="366072" y="2947858"/>
                    </a:lnTo>
                    <a:lnTo>
                      <a:pt x="366072" y="2947862"/>
                    </a:lnTo>
                    <a:lnTo>
                      <a:pt x="362488" y="2982147"/>
                    </a:lnTo>
                    <a:cubicBezTo>
                      <a:pt x="354392" y="3014152"/>
                      <a:pt x="350582" y="3045776"/>
                      <a:pt x="350796" y="3077400"/>
                    </a:cubicBezTo>
                    <a:lnTo>
                      <a:pt x="350796" y="3077401"/>
                    </a:lnTo>
                    <a:cubicBezTo>
                      <a:pt x="351010" y="3109025"/>
                      <a:pt x="355249" y="3140649"/>
                      <a:pt x="363250" y="3172654"/>
                    </a:cubicBezTo>
                    <a:cubicBezTo>
                      <a:pt x="389159" y="3276480"/>
                      <a:pt x="416591" y="3380305"/>
                      <a:pt x="410877" y="3489467"/>
                    </a:cubicBezTo>
                    <a:cubicBezTo>
                      <a:pt x="409925" y="3507563"/>
                      <a:pt x="421546" y="3529090"/>
                      <a:pt x="432976" y="3544713"/>
                    </a:cubicBezTo>
                    <a:cubicBezTo>
                      <a:pt x="438406" y="3552190"/>
                      <a:pt x="442585" y="3557715"/>
                      <a:pt x="445520" y="3562320"/>
                    </a:cubicBezTo>
                    <a:lnTo>
                      <a:pt x="450598" y="3574407"/>
                    </a:lnTo>
                    <a:lnTo>
                      <a:pt x="448246" y="3587173"/>
                    </a:lnTo>
                    <a:cubicBezTo>
                      <a:pt x="446228" y="3592231"/>
                      <a:pt x="442978" y="3598434"/>
                      <a:pt x="438500" y="3606816"/>
                    </a:cubicBezTo>
                    <a:cubicBezTo>
                      <a:pt x="434118" y="3614818"/>
                      <a:pt x="431452" y="3624724"/>
                      <a:pt x="424974" y="3630631"/>
                    </a:cubicBezTo>
                    <a:cubicBezTo>
                      <a:pt x="408496" y="3645681"/>
                      <a:pt x="402257" y="3662493"/>
                      <a:pt x="400733" y="3680162"/>
                    </a:cubicBezTo>
                    <a:lnTo>
                      <a:pt x="400733" y="3680163"/>
                    </a:lnTo>
                    <a:lnTo>
                      <a:pt x="404781" y="3734837"/>
                    </a:lnTo>
                    <a:lnTo>
                      <a:pt x="404399" y="3754651"/>
                    </a:lnTo>
                    <a:cubicBezTo>
                      <a:pt x="398399" y="3767129"/>
                      <a:pt x="396447" y="3778654"/>
                      <a:pt x="398042" y="3789775"/>
                    </a:cubicBezTo>
                    <a:lnTo>
                      <a:pt x="398042" y="3789776"/>
                    </a:lnTo>
                    <a:cubicBezTo>
                      <a:pt x="399638" y="3800896"/>
                      <a:pt x="404781" y="3811613"/>
                      <a:pt x="412973" y="3822472"/>
                    </a:cubicBezTo>
                    <a:lnTo>
                      <a:pt x="427308" y="3852619"/>
                    </a:lnTo>
                    <a:lnTo>
                      <a:pt x="417926" y="3885336"/>
                    </a:lnTo>
                    <a:lnTo>
                      <a:pt x="417925" y="3885337"/>
                    </a:lnTo>
                    <a:cubicBezTo>
                      <a:pt x="398494" y="3910103"/>
                      <a:pt x="388302" y="3935726"/>
                      <a:pt x="386040" y="3962158"/>
                    </a:cubicBezTo>
                    <a:lnTo>
                      <a:pt x="386040" y="3962159"/>
                    </a:lnTo>
                    <a:lnTo>
                      <a:pt x="388431" y="4002409"/>
                    </a:lnTo>
                    <a:lnTo>
                      <a:pt x="401733" y="4043837"/>
                    </a:lnTo>
                    <a:lnTo>
                      <a:pt x="401733" y="4043839"/>
                    </a:lnTo>
                    <a:lnTo>
                      <a:pt x="416855" y="4103825"/>
                    </a:lnTo>
                    <a:lnTo>
                      <a:pt x="405544" y="4165381"/>
                    </a:lnTo>
                    <a:lnTo>
                      <a:pt x="405543" y="4165382"/>
                    </a:lnTo>
                    <a:cubicBezTo>
                      <a:pt x="402114" y="4173479"/>
                      <a:pt x="401543" y="4182766"/>
                      <a:pt x="401638" y="4192386"/>
                    </a:cubicBezTo>
                    <a:lnTo>
                      <a:pt x="401638" y="4192387"/>
                    </a:lnTo>
                    <a:lnTo>
                      <a:pt x="405543" y="4165383"/>
                    </a:lnTo>
                    <a:lnTo>
                      <a:pt x="405544" y="4165381"/>
                    </a:lnTo>
                    <a:lnTo>
                      <a:pt x="414887" y="4134255"/>
                    </a:lnTo>
                    <a:lnTo>
                      <a:pt x="416855" y="4103825"/>
                    </a:lnTo>
                    <a:lnTo>
                      <a:pt x="416855" y="4103824"/>
                    </a:lnTo>
                    <a:cubicBezTo>
                      <a:pt x="415879" y="4083701"/>
                      <a:pt x="410497" y="4063841"/>
                      <a:pt x="401733" y="4043838"/>
                    </a:cubicBezTo>
                    <a:lnTo>
                      <a:pt x="401733" y="4043837"/>
                    </a:lnTo>
                    <a:lnTo>
                      <a:pt x="386040" y="3962159"/>
                    </a:lnTo>
                    <a:lnTo>
                      <a:pt x="395544" y="3923124"/>
                    </a:lnTo>
                    <a:cubicBezTo>
                      <a:pt x="400804" y="3910318"/>
                      <a:pt x="408210" y="3897721"/>
                      <a:pt x="417925" y="3885338"/>
                    </a:cubicBezTo>
                    <a:lnTo>
                      <a:pt x="417926" y="3885336"/>
                    </a:lnTo>
                    <a:lnTo>
                      <a:pt x="426528" y="3868763"/>
                    </a:lnTo>
                    <a:lnTo>
                      <a:pt x="427308" y="3852619"/>
                    </a:lnTo>
                    <a:lnTo>
                      <a:pt x="427308" y="3852618"/>
                    </a:lnTo>
                    <a:cubicBezTo>
                      <a:pt x="425642" y="3842045"/>
                      <a:pt x="420022" y="3831901"/>
                      <a:pt x="412973" y="3822471"/>
                    </a:cubicBezTo>
                    <a:lnTo>
                      <a:pt x="398042" y="3789775"/>
                    </a:lnTo>
                    <a:lnTo>
                      <a:pt x="404399" y="3754652"/>
                    </a:lnTo>
                    <a:cubicBezTo>
                      <a:pt x="407067" y="3749125"/>
                      <a:pt x="405733" y="3741315"/>
                      <a:pt x="404781" y="3734837"/>
                    </a:cubicBezTo>
                    <a:lnTo>
                      <a:pt x="404781" y="3734836"/>
                    </a:lnTo>
                    <a:lnTo>
                      <a:pt x="400733" y="3680163"/>
                    </a:lnTo>
                    <a:lnTo>
                      <a:pt x="407246" y="3654415"/>
                    </a:lnTo>
                    <a:cubicBezTo>
                      <a:pt x="411056" y="3646122"/>
                      <a:pt x="416735" y="3638157"/>
                      <a:pt x="424974" y="3630632"/>
                    </a:cubicBezTo>
                    <a:cubicBezTo>
                      <a:pt x="431452" y="3624725"/>
                      <a:pt x="434118" y="3614819"/>
                      <a:pt x="438500" y="3606817"/>
                    </a:cubicBezTo>
                    <a:cubicBezTo>
                      <a:pt x="447455" y="3590053"/>
                      <a:pt x="451503" y="3582004"/>
                      <a:pt x="450598" y="3574408"/>
                    </a:cubicBezTo>
                    <a:lnTo>
                      <a:pt x="450598" y="3574407"/>
                    </a:lnTo>
                    <a:cubicBezTo>
                      <a:pt x="449693" y="3566810"/>
                      <a:pt x="443835" y="3559667"/>
                      <a:pt x="432976" y="3544712"/>
                    </a:cubicBezTo>
                    <a:cubicBezTo>
                      <a:pt x="421546" y="3529089"/>
                      <a:pt x="409925" y="3507562"/>
                      <a:pt x="410877" y="3489466"/>
                    </a:cubicBezTo>
                    <a:cubicBezTo>
                      <a:pt x="416591" y="3380304"/>
                      <a:pt x="389159" y="3276479"/>
                      <a:pt x="363250" y="3172653"/>
                    </a:cubicBezTo>
                    <a:lnTo>
                      <a:pt x="350796" y="3077401"/>
                    </a:lnTo>
                    <a:lnTo>
                      <a:pt x="362488" y="2982148"/>
                    </a:lnTo>
                    <a:cubicBezTo>
                      <a:pt x="365441" y="2970575"/>
                      <a:pt x="366442" y="2959156"/>
                      <a:pt x="366072" y="2947862"/>
                    </a:cubicBezTo>
                    <a:lnTo>
                      <a:pt x="366072" y="2947861"/>
                    </a:lnTo>
                    <a:lnTo>
                      <a:pt x="366072" y="2947858"/>
                    </a:lnTo>
                    <a:lnTo>
                      <a:pt x="361441" y="2914327"/>
                    </a:lnTo>
                    <a:lnTo>
                      <a:pt x="358166" y="2903544"/>
                    </a:lnTo>
                    <a:lnTo>
                      <a:pt x="357138" y="2897784"/>
                    </a:lnTo>
                    <a:cubicBezTo>
                      <a:pt x="352392" y="2881306"/>
                      <a:pt x="346534" y="2865009"/>
                      <a:pt x="341533" y="2848792"/>
                    </a:cubicBezTo>
                    <a:close/>
                    <a:moveTo>
                      <a:pt x="296001" y="2745351"/>
                    </a:moveTo>
                    <a:lnTo>
                      <a:pt x="289670" y="2770757"/>
                    </a:lnTo>
                    <a:lnTo>
                      <a:pt x="290080" y="2778005"/>
                    </a:lnTo>
                    <a:lnTo>
                      <a:pt x="289301" y="2782304"/>
                    </a:lnTo>
                    <a:lnTo>
                      <a:pt x="290501" y="2785439"/>
                    </a:lnTo>
                    <a:lnTo>
                      <a:pt x="290929" y="2793022"/>
                    </a:lnTo>
                    <a:lnTo>
                      <a:pt x="300579" y="2811779"/>
                    </a:lnTo>
                    <a:lnTo>
                      <a:pt x="300582" y="2811786"/>
                    </a:lnTo>
                    <a:lnTo>
                      <a:pt x="300583" y="2811786"/>
                    </a:lnTo>
                    <a:lnTo>
                      <a:pt x="300579" y="2811779"/>
                    </a:lnTo>
                    <a:lnTo>
                      <a:pt x="290501" y="2785439"/>
                    </a:lnTo>
                    <a:lnTo>
                      <a:pt x="290080" y="2778005"/>
                    </a:lnTo>
                    <a:close/>
                    <a:moveTo>
                      <a:pt x="817328" y="1508457"/>
                    </a:moveTo>
                    <a:lnTo>
                      <a:pt x="845421" y="1596212"/>
                    </a:lnTo>
                    <a:cubicBezTo>
                      <a:pt x="847898" y="1604977"/>
                      <a:pt x="846373" y="1615835"/>
                      <a:pt x="843517" y="1624979"/>
                    </a:cubicBezTo>
                    <a:cubicBezTo>
                      <a:pt x="833801" y="1656222"/>
                      <a:pt x="809415" y="1676035"/>
                      <a:pt x="786935" y="1697752"/>
                    </a:cubicBezTo>
                    <a:cubicBezTo>
                      <a:pt x="777029" y="1707278"/>
                      <a:pt x="769981" y="1720422"/>
                      <a:pt x="764267" y="1733187"/>
                    </a:cubicBezTo>
                    <a:cubicBezTo>
                      <a:pt x="749595" y="1766334"/>
                      <a:pt x="736452" y="1800245"/>
                      <a:pt x="722546" y="1833774"/>
                    </a:cubicBezTo>
                    <a:cubicBezTo>
                      <a:pt x="721212" y="1837012"/>
                      <a:pt x="717783" y="1839678"/>
                      <a:pt x="714925" y="1842157"/>
                    </a:cubicBezTo>
                    <a:cubicBezTo>
                      <a:pt x="684824" y="1866921"/>
                      <a:pt x="654535" y="1891496"/>
                      <a:pt x="624434" y="1916453"/>
                    </a:cubicBezTo>
                    <a:cubicBezTo>
                      <a:pt x="618720" y="1921215"/>
                      <a:pt x="614528" y="1928075"/>
                      <a:pt x="609004" y="1933218"/>
                    </a:cubicBezTo>
                    <a:cubicBezTo>
                      <a:pt x="601384" y="1940458"/>
                      <a:pt x="594143" y="1949602"/>
                      <a:pt x="584999" y="1953412"/>
                    </a:cubicBezTo>
                    <a:cubicBezTo>
                      <a:pt x="556234" y="1965223"/>
                      <a:pt x="543850" y="1987893"/>
                      <a:pt x="538516" y="2016468"/>
                    </a:cubicBezTo>
                    <a:cubicBezTo>
                      <a:pt x="533563" y="2042569"/>
                      <a:pt x="529371" y="2068668"/>
                      <a:pt x="523657" y="2094577"/>
                    </a:cubicBezTo>
                    <a:cubicBezTo>
                      <a:pt x="516799" y="2126200"/>
                      <a:pt x="509369" y="2157635"/>
                      <a:pt x="500986" y="2188878"/>
                    </a:cubicBezTo>
                    <a:cubicBezTo>
                      <a:pt x="497366" y="2202403"/>
                      <a:pt x="493176" y="2216691"/>
                      <a:pt x="485746" y="2228313"/>
                    </a:cubicBezTo>
                    <a:cubicBezTo>
                      <a:pt x="465171" y="2260889"/>
                      <a:pt x="451265" y="2295752"/>
                      <a:pt x="456789" y="2334043"/>
                    </a:cubicBezTo>
                    <a:cubicBezTo>
                      <a:pt x="461171" y="2364714"/>
                      <a:pt x="449931" y="2390433"/>
                      <a:pt x="432404" y="2409484"/>
                    </a:cubicBezTo>
                    <a:cubicBezTo>
                      <a:pt x="424451" y="2418153"/>
                      <a:pt x="418938" y="2426976"/>
                      <a:pt x="415303" y="2435912"/>
                    </a:cubicBezTo>
                    <a:lnTo>
                      <a:pt x="415303" y="2435912"/>
                    </a:lnTo>
                    <a:lnTo>
                      <a:pt x="415303" y="2435912"/>
                    </a:lnTo>
                    <a:lnTo>
                      <a:pt x="414227" y="2440915"/>
                    </a:lnTo>
                    <a:lnTo>
                      <a:pt x="409472" y="2463016"/>
                    </a:lnTo>
                    <a:lnTo>
                      <a:pt x="409472" y="2463017"/>
                    </a:lnTo>
                    <a:lnTo>
                      <a:pt x="411535" y="2490550"/>
                    </a:lnTo>
                    <a:lnTo>
                      <a:pt x="418115" y="2518261"/>
                    </a:lnTo>
                    <a:lnTo>
                      <a:pt x="418115" y="2518264"/>
                    </a:lnTo>
                    <a:lnTo>
                      <a:pt x="421759" y="2545006"/>
                    </a:lnTo>
                    <a:lnTo>
                      <a:pt x="417545" y="2571033"/>
                    </a:lnTo>
                    <a:cubicBezTo>
                      <a:pt x="405543" y="2612944"/>
                      <a:pt x="372966" y="2640949"/>
                      <a:pt x="344391" y="2668000"/>
                    </a:cubicBezTo>
                    <a:cubicBezTo>
                      <a:pt x="320006" y="2691053"/>
                      <a:pt x="306290" y="2716962"/>
                      <a:pt x="296001" y="2745347"/>
                    </a:cubicBezTo>
                    <a:lnTo>
                      <a:pt x="296001" y="2745348"/>
                    </a:lnTo>
                    <a:cubicBezTo>
                      <a:pt x="306290" y="2716963"/>
                      <a:pt x="320006" y="2691054"/>
                      <a:pt x="344391" y="2668001"/>
                    </a:cubicBezTo>
                    <a:cubicBezTo>
                      <a:pt x="372966" y="2640950"/>
                      <a:pt x="405543" y="2612945"/>
                      <a:pt x="417545" y="2571034"/>
                    </a:cubicBezTo>
                    <a:cubicBezTo>
                      <a:pt x="420117" y="2561985"/>
                      <a:pt x="421593" y="2553555"/>
                      <a:pt x="421760" y="2545006"/>
                    </a:cubicBezTo>
                    <a:lnTo>
                      <a:pt x="421759" y="2545006"/>
                    </a:lnTo>
                    <a:lnTo>
                      <a:pt x="421760" y="2545005"/>
                    </a:lnTo>
                    <a:cubicBezTo>
                      <a:pt x="421926" y="2536456"/>
                      <a:pt x="420783" y="2527789"/>
                      <a:pt x="418115" y="2518263"/>
                    </a:cubicBezTo>
                    <a:lnTo>
                      <a:pt x="418115" y="2518261"/>
                    </a:lnTo>
                    <a:lnTo>
                      <a:pt x="409472" y="2463017"/>
                    </a:lnTo>
                    <a:lnTo>
                      <a:pt x="414227" y="2440915"/>
                    </a:lnTo>
                    <a:lnTo>
                      <a:pt x="415303" y="2435912"/>
                    </a:lnTo>
                    <a:lnTo>
                      <a:pt x="432404" y="2409485"/>
                    </a:lnTo>
                    <a:cubicBezTo>
                      <a:pt x="449931" y="2390434"/>
                      <a:pt x="461171" y="2364715"/>
                      <a:pt x="456789" y="2334044"/>
                    </a:cubicBezTo>
                    <a:cubicBezTo>
                      <a:pt x="451265" y="2295753"/>
                      <a:pt x="465171" y="2260890"/>
                      <a:pt x="485746" y="2228314"/>
                    </a:cubicBezTo>
                    <a:cubicBezTo>
                      <a:pt x="493176" y="2216692"/>
                      <a:pt x="497366" y="2202404"/>
                      <a:pt x="500986" y="2188879"/>
                    </a:cubicBezTo>
                    <a:cubicBezTo>
                      <a:pt x="509369" y="2157636"/>
                      <a:pt x="516799" y="2126201"/>
                      <a:pt x="523657" y="2094578"/>
                    </a:cubicBezTo>
                    <a:cubicBezTo>
                      <a:pt x="529371" y="2068669"/>
                      <a:pt x="533563" y="2042570"/>
                      <a:pt x="538516" y="2016469"/>
                    </a:cubicBezTo>
                    <a:cubicBezTo>
                      <a:pt x="543850" y="1987894"/>
                      <a:pt x="556234" y="1965224"/>
                      <a:pt x="584999" y="1953413"/>
                    </a:cubicBezTo>
                    <a:cubicBezTo>
                      <a:pt x="594143" y="1949603"/>
                      <a:pt x="601384" y="1940459"/>
                      <a:pt x="609004" y="1933219"/>
                    </a:cubicBezTo>
                    <a:cubicBezTo>
                      <a:pt x="614528" y="1928076"/>
                      <a:pt x="618720" y="1921216"/>
                      <a:pt x="624434" y="1916454"/>
                    </a:cubicBezTo>
                    <a:cubicBezTo>
                      <a:pt x="654535" y="1891497"/>
                      <a:pt x="684824" y="1866922"/>
                      <a:pt x="714925" y="1842158"/>
                    </a:cubicBezTo>
                    <a:cubicBezTo>
                      <a:pt x="717783" y="1839679"/>
                      <a:pt x="721212" y="1837013"/>
                      <a:pt x="722546" y="1833775"/>
                    </a:cubicBezTo>
                    <a:cubicBezTo>
                      <a:pt x="736452" y="1800246"/>
                      <a:pt x="749596" y="1766335"/>
                      <a:pt x="764267" y="1733188"/>
                    </a:cubicBezTo>
                    <a:cubicBezTo>
                      <a:pt x="769981" y="1720423"/>
                      <a:pt x="777029" y="1707279"/>
                      <a:pt x="786936" y="1697753"/>
                    </a:cubicBezTo>
                    <a:cubicBezTo>
                      <a:pt x="809416" y="1676036"/>
                      <a:pt x="833801" y="1656223"/>
                      <a:pt x="843517" y="1624980"/>
                    </a:cubicBezTo>
                    <a:cubicBezTo>
                      <a:pt x="846374" y="1615836"/>
                      <a:pt x="847899" y="1604978"/>
                      <a:pt x="845422" y="1596213"/>
                    </a:cubicBezTo>
                    <a:close/>
                    <a:moveTo>
                      <a:pt x="798723" y="1459072"/>
                    </a:moveTo>
                    <a:lnTo>
                      <a:pt x="807941" y="1481571"/>
                    </a:lnTo>
                    <a:lnTo>
                      <a:pt x="798724" y="1459073"/>
                    </a:lnTo>
                    <a:close/>
                    <a:moveTo>
                      <a:pt x="779530" y="1268757"/>
                    </a:moveTo>
                    <a:lnTo>
                      <a:pt x="774363" y="1286068"/>
                    </a:lnTo>
                    <a:cubicBezTo>
                      <a:pt x="759789" y="1306929"/>
                      <a:pt x="753550" y="1328551"/>
                      <a:pt x="752025" y="1350626"/>
                    </a:cubicBezTo>
                    <a:lnTo>
                      <a:pt x="757620" y="1413839"/>
                    </a:lnTo>
                    <a:lnTo>
                      <a:pt x="752026" y="1350627"/>
                    </a:lnTo>
                    <a:cubicBezTo>
                      <a:pt x="753550" y="1328552"/>
                      <a:pt x="759790" y="1306929"/>
                      <a:pt x="774363" y="1286069"/>
                    </a:cubicBezTo>
                    <a:cubicBezTo>
                      <a:pt x="777506" y="1281688"/>
                      <a:pt x="779078" y="1275401"/>
                      <a:pt x="779530" y="1268757"/>
                    </a:cubicBezTo>
                    <a:close/>
                    <a:moveTo>
                      <a:pt x="837801" y="773034"/>
                    </a:moveTo>
                    <a:lnTo>
                      <a:pt x="829801" y="854378"/>
                    </a:lnTo>
                    <a:cubicBezTo>
                      <a:pt x="827515" y="878955"/>
                      <a:pt x="826753" y="903721"/>
                      <a:pt x="798747" y="915342"/>
                    </a:cubicBezTo>
                    <a:cubicBezTo>
                      <a:pt x="794365" y="917058"/>
                      <a:pt x="791127" y="922772"/>
                      <a:pt x="788269" y="927154"/>
                    </a:cubicBezTo>
                    <a:cubicBezTo>
                      <a:pt x="744261" y="994784"/>
                      <a:pt x="745405" y="1030979"/>
                      <a:pt x="791889" y="1097086"/>
                    </a:cubicBezTo>
                    <a:cubicBezTo>
                      <a:pt x="796651" y="1103944"/>
                      <a:pt x="800081" y="1118612"/>
                      <a:pt x="796271" y="1123184"/>
                    </a:cubicBezTo>
                    <a:cubicBezTo>
                      <a:pt x="780459" y="1142616"/>
                      <a:pt x="773411" y="1162953"/>
                      <a:pt x="771553" y="1184028"/>
                    </a:cubicBezTo>
                    <a:cubicBezTo>
                      <a:pt x="773411" y="1162953"/>
                      <a:pt x="780460" y="1142617"/>
                      <a:pt x="796272" y="1123185"/>
                    </a:cubicBezTo>
                    <a:cubicBezTo>
                      <a:pt x="800082" y="1118613"/>
                      <a:pt x="796652" y="1103945"/>
                      <a:pt x="791890" y="1097087"/>
                    </a:cubicBezTo>
                    <a:cubicBezTo>
                      <a:pt x="745406" y="1030980"/>
                      <a:pt x="744262" y="994785"/>
                      <a:pt x="788270" y="927155"/>
                    </a:cubicBezTo>
                    <a:cubicBezTo>
                      <a:pt x="791128" y="922773"/>
                      <a:pt x="794366" y="917059"/>
                      <a:pt x="798748" y="915343"/>
                    </a:cubicBezTo>
                    <a:cubicBezTo>
                      <a:pt x="826753" y="903722"/>
                      <a:pt x="827515" y="878956"/>
                      <a:pt x="829801" y="854379"/>
                    </a:cubicBezTo>
                    <a:cubicBezTo>
                      <a:pt x="832277" y="827329"/>
                      <a:pt x="835515" y="800276"/>
                      <a:pt x="837801" y="773035"/>
                    </a:cubicBezTo>
                    <a:close/>
                    <a:moveTo>
                      <a:pt x="782400" y="517850"/>
                    </a:moveTo>
                    <a:lnTo>
                      <a:pt x="791317" y="556046"/>
                    </a:lnTo>
                    <a:cubicBezTo>
                      <a:pt x="793413" y="564047"/>
                      <a:pt x="798937" y="572621"/>
                      <a:pt x="797795" y="580049"/>
                    </a:cubicBezTo>
                    <a:cubicBezTo>
                      <a:pt x="794461" y="601577"/>
                      <a:pt x="796890" y="622200"/>
                      <a:pt x="801176" y="642536"/>
                    </a:cubicBezTo>
                    <a:lnTo>
                      <a:pt x="813700" y="694927"/>
                    </a:lnTo>
                    <a:lnTo>
                      <a:pt x="801177" y="642537"/>
                    </a:lnTo>
                    <a:cubicBezTo>
                      <a:pt x="796891" y="622200"/>
                      <a:pt x="794462" y="601578"/>
                      <a:pt x="797796" y="580050"/>
                    </a:cubicBezTo>
                    <a:cubicBezTo>
                      <a:pt x="798938" y="572622"/>
                      <a:pt x="793414" y="564048"/>
                      <a:pt x="791318" y="556047"/>
                    </a:cubicBezTo>
                    <a:close/>
                    <a:moveTo>
                      <a:pt x="783887" y="313532"/>
                    </a:moveTo>
                    <a:lnTo>
                      <a:pt x="786245" y="324057"/>
                    </a:lnTo>
                    <a:cubicBezTo>
                      <a:pt x="786031" y="328963"/>
                      <a:pt x="785126" y="334583"/>
                      <a:pt x="784459" y="338869"/>
                    </a:cubicBezTo>
                    <a:lnTo>
                      <a:pt x="784454" y="338897"/>
                    </a:lnTo>
                    <a:lnTo>
                      <a:pt x="778363" y="367327"/>
                    </a:lnTo>
                    <a:lnTo>
                      <a:pt x="774553" y="395639"/>
                    </a:lnTo>
                    <a:lnTo>
                      <a:pt x="784454" y="338897"/>
                    </a:lnTo>
                    <a:lnTo>
                      <a:pt x="784460" y="338870"/>
                    </a:lnTo>
                    <a:cubicBezTo>
                      <a:pt x="785794" y="330298"/>
                      <a:pt x="788080" y="316389"/>
                      <a:pt x="783888" y="313533"/>
                    </a:cubicBezTo>
                    <a:close/>
                    <a:moveTo>
                      <a:pt x="761560" y="281567"/>
                    </a:moveTo>
                    <a:lnTo>
                      <a:pt x="766454" y="295414"/>
                    </a:lnTo>
                    <a:lnTo>
                      <a:pt x="766455" y="295414"/>
                    </a:lnTo>
                    <a:close/>
                    <a:moveTo>
                      <a:pt x="774880" y="24485"/>
                    </a:moveTo>
                    <a:lnTo>
                      <a:pt x="777142" y="74128"/>
                    </a:lnTo>
                    <a:cubicBezTo>
                      <a:pt x="775758" y="100173"/>
                      <a:pt x="771253" y="125875"/>
                      <a:pt x="767023" y="151568"/>
                    </a:cubicBezTo>
                    <a:lnTo>
                      <a:pt x="766824" y="153387"/>
                    </a:lnTo>
                    <a:lnTo>
                      <a:pt x="763010" y="177270"/>
                    </a:lnTo>
                    <a:lnTo>
                      <a:pt x="758551" y="228943"/>
                    </a:lnTo>
                    <a:lnTo>
                      <a:pt x="766824" y="153387"/>
                    </a:lnTo>
                    <a:lnTo>
                      <a:pt x="771220" y="125860"/>
                    </a:lnTo>
                    <a:cubicBezTo>
                      <a:pt x="773910" y="108702"/>
                      <a:pt x="776220" y="91491"/>
                      <a:pt x="777143" y="74128"/>
                    </a:cubicBezTo>
                    <a:close/>
                    <a:moveTo>
                      <a:pt x="313354" y="0"/>
                    </a:moveTo>
                    <a:lnTo>
                      <a:pt x="777461" y="0"/>
                    </a:lnTo>
                    <a:lnTo>
                      <a:pt x="774743" y="21485"/>
                    </a:lnTo>
                    <a:lnTo>
                      <a:pt x="777461" y="0"/>
                    </a:lnTo>
                    <a:lnTo>
                      <a:pt x="4543952" y="1"/>
                    </a:lnTo>
                    <a:lnTo>
                      <a:pt x="4543952" y="6858000"/>
                    </a:lnTo>
                    <a:lnTo>
                      <a:pt x="284400" y="6858000"/>
                    </a:lnTo>
                    <a:lnTo>
                      <a:pt x="112147" y="6858000"/>
                    </a:lnTo>
                    <a:lnTo>
                      <a:pt x="102447" y="6815515"/>
                    </a:lnTo>
                    <a:cubicBezTo>
                      <a:pt x="96923" y="6793034"/>
                      <a:pt x="87016" y="6771318"/>
                      <a:pt x="83396" y="6748457"/>
                    </a:cubicBezTo>
                    <a:cubicBezTo>
                      <a:pt x="74824" y="6694163"/>
                      <a:pt x="68728" y="6639487"/>
                      <a:pt x="61870" y="6584811"/>
                    </a:cubicBezTo>
                    <a:cubicBezTo>
                      <a:pt x="54821" y="6528423"/>
                      <a:pt x="47391" y="6472224"/>
                      <a:pt x="41105" y="6415832"/>
                    </a:cubicBezTo>
                    <a:cubicBezTo>
                      <a:pt x="37865" y="6384971"/>
                      <a:pt x="37295" y="6353918"/>
                      <a:pt x="34247" y="6323057"/>
                    </a:cubicBezTo>
                    <a:cubicBezTo>
                      <a:pt x="31579" y="6296004"/>
                      <a:pt x="26626" y="6269143"/>
                      <a:pt x="23386" y="6242092"/>
                    </a:cubicBezTo>
                    <a:cubicBezTo>
                      <a:pt x="20720" y="6218659"/>
                      <a:pt x="19196" y="6195036"/>
                      <a:pt x="16528" y="6171604"/>
                    </a:cubicBezTo>
                    <a:cubicBezTo>
                      <a:pt x="12148" y="6134074"/>
                      <a:pt x="7194" y="6096735"/>
                      <a:pt x="2622" y="6059396"/>
                    </a:cubicBezTo>
                    <a:lnTo>
                      <a:pt x="0" y="6041768"/>
                    </a:lnTo>
                    <a:lnTo>
                      <a:pt x="0" y="6000936"/>
                    </a:lnTo>
                    <a:lnTo>
                      <a:pt x="3670" y="5957594"/>
                    </a:lnTo>
                    <a:lnTo>
                      <a:pt x="0" y="5912510"/>
                    </a:lnTo>
                    <a:lnTo>
                      <a:pt x="0" y="5886400"/>
                    </a:lnTo>
                    <a:lnTo>
                      <a:pt x="1098" y="5864317"/>
                    </a:lnTo>
                    <a:cubicBezTo>
                      <a:pt x="7576" y="5839360"/>
                      <a:pt x="16720" y="5815168"/>
                      <a:pt x="24720" y="5790591"/>
                    </a:cubicBezTo>
                    <a:cubicBezTo>
                      <a:pt x="25672" y="5787923"/>
                      <a:pt x="25864" y="5784685"/>
                      <a:pt x="26434" y="5781829"/>
                    </a:cubicBezTo>
                    <a:cubicBezTo>
                      <a:pt x="29675" y="5765634"/>
                      <a:pt x="32913" y="5749633"/>
                      <a:pt x="35771" y="5733439"/>
                    </a:cubicBezTo>
                    <a:cubicBezTo>
                      <a:pt x="37295" y="5724677"/>
                      <a:pt x="37485" y="5715722"/>
                      <a:pt x="38819" y="5706958"/>
                    </a:cubicBezTo>
                    <a:cubicBezTo>
                      <a:pt x="44153" y="5673049"/>
                      <a:pt x="35199" y="5635710"/>
                      <a:pt x="58250" y="5606371"/>
                    </a:cubicBezTo>
                    <a:cubicBezTo>
                      <a:pt x="73110" y="5587320"/>
                      <a:pt x="69680" y="5568841"/>
                      <a:pt x="67394" y="5548459"/>
                    </a:cubicBezTo>
                    <a:cubicBezTo>
                      <a:pt x="65680" y="5533026"/>
                      <a:pt x="66252" y="5517214"/>
                      <a:pt x="66060" y="5501593"/>
                    </a:cubicBezTo>
                    <a:cubicBezTo>
                      <a:pt x="65490" y="5474160"/>
                      <a:pt x="65298" y="5446727"/>
                      <a:pt x="64346" y="5419294"/>
                    </a:cubicBezTo>
                    <a:cubicBezTo>
                      <a:pt x="63966" y="5410530"/>
                      <a:pt x="59202" y="5401578"/>
                      <a:pt x="59964" y="5393004"/>
                    </a:cubicBezTo>
                    <a:cubicBezTo>
                      <a:pt x="63584" y="5353378"/>
                      <a:pt x="69300" y="5313753"/>
                      <a:pt x="72538" y="5274128"/>
                    </a:cubicBezTo>
                    <a:cubicBezTo>
                      <a:pt x="74442" y="5251649"/>
                      <a:pt x="70824" y="5228596"/>
                      <a:pt x="73490" y="5206307"/>
                    </a:cubicBezTo>
                    <a:cubicBezTo>
                      <a:pt x="76538" y="5180590"/>
                      <a:pt x="84348" y="5155444"/>
                      <a:pt x="89113" y="5129915"/>
                    </a:cubicBezTo>
                    <a:cubicBezTo>
                      <a:pt x="90445" y="5122866"/>
                      <a:pt x="88731" y="5115056"/>
                      <a:pt x="88351" y="5107626"/>
                    </a:cubicBezTo>
                    <a:cubicBezTo>
                      <a:pt x="87968" y="5099244"/>
                      <a:pt x="87206" y="5091051"/>
                      <a:pt x="87016" y="5082669"/>
                    </a:cubicBezTo>
                    <a:cubicBezTo>
                      <a:pt x="86634" y="5057140"/>
                      <a:pt x="87206" y="5031613"/>
                      <a:pt x="85872" y="5006085"/>
                    </a:cubicBezTo>
                    <a:cubicBezTo>
                      <a:pt x="85110" y="4990464"/>
                      <a:pt x="77300" y="4974081"/>
                      <a:pt x="80158" y="4959601"/>
                    </a:cubicBezTo>
                    <a:cubicBezTo>
                      <a:pt x="85682" y="4930074"/>
                      <a:pt x="73300" y="4900545"/>
                      <a:pt x="83586" y="4871018"/>
                    </a:cubicBezTo>
                    <a:cubicBezTo>
                      <a:pt x="86634" y="4861872"/>
                      <a:pt x="79014" y="4849299"/>
                      <a:pt x="78634" y="4838249"/>
                    </a:cubicBezTo>
                    <a:cubicBezTo>
                      <a:pt x="77682" y="4810626"/>
                      <a:pt x="77872" y="4783003"/>
                      <a:pt x="78062" y="4755380"/>
                    </a:cubicBezTo>
                    <a:cubicBezTo>
                      <a:pt x="78252" y="4730613"/>
                      <a:pt x="75586" y="4704894"/>
                      <a:pt x="80920" y="4681082"/>
                    </a:cubicBezTo>
                    <a:cubicBezTo>
                      <a:pt x="86634" y="4656125"/>
                      <a:pt x="85872" y="4633646"/>
                      <a:pt x="79396" y="4609451"/>
                    </a:cubicBezTo>
                    <a:cubicBezTo>
                      <a:pt x="75014" y="4592877"/>
                      <a:pt x="74442" y="4575350"/>
                      <a:pt x="73110" y="4558206"/>
                    </a:cubicBezTo>
                    <a:cubicBezTo>
                      <a:pt x="71586" y="4539727"/>
                      <a:pt x="75586" y="4519342"/>
                      <a:pt x="69300" y="4502578"/>
                    </a:cubicBezTo>
                    <a:cubicBezTo>
                      <a:pt x="50629" y="4452664"/>
                      <a:pt x="46629" y="4401418"/>
                      <a:pt x="46629" y="4349221"/>
                    </a:cubicBezTo>
                    <a:cubicBezTo>
                      <a:pt x="46629" y="4339694"/>
                      <a:pt x="49295" y="4329978"/>
                      <a:pt x="52153" y="4320836"/>
                    </a:cubicBezTo>
                    <a:cubicBezTo>
                      <a:pt x="69300" y="4267492"/>
                      <a:pt x="67776" y="4213960"/>
                      <a:pt x="57297" y="4159666"/>
                    </a:cubicBezTo>
                    <a:cubicBezTo>
                      <a:pt x="55011" y="4148426"/>
                      <a:pt x="54629" y="4135853"/>
                      <a:pt x="56915" y="4124613"/>
                    </a:cubicBezTo>
                    <a:cubicBezTo>
                      <a:pt x="63584" y="4092988"/>
                      <a:pt x="74634" y="4062317"/>
                      <a:pt x="79396" y="4030502"/>
                    </a:cubicBezTo>
                    <a:cubicBezTo>
                      <a:pt x="87206" y="3977924"/>
                      <a:pt x="60918" y="3932393"/>
                      <a:pt x="43771" y="3885337"/>
                    </a:cubicBezTo>
                    <a:cubicBezTo>
                      <a:pt x="31627" y="3851760"/>
                      <a:pt x="8016" y="3821934"/>
                      <a:pt x="426" y="3786776"/>
                    </a:cubicBezTo>
                    <a:lnTo>
                      <a:pt x="0" y="3773896"/>
                    </a:lnTo>
                    <a:lnTo>
                      <a:pt x="0" y="3393881"/>
                    </a:lnTo>
                    <a:lnTo>
                      <a:pt x="11838" y="3359515"/>
                    </a:lnTo>
                    <a:cubicBezTo>
                      <a:pt x="14434" y="3346204"/>
                      <a:pt x="14910" y="3332773"/>
                      <a:pt x="12910" y="3318770"/>
                    </a:cubicBezTo>
                    <a:cubicBezTo>
                      <a:pt x="12243" y="3314103"/>
                      <a:pt x="9909" y="3308769"/>
                      <a:pt x="6718" y="3304078"/>
                    </a:cubicBezTo>
                    <a:lnTo>
                      <a:pt x="0" y="3297656"/>
                    </a:lnTo>
                    <a:lnTo>
                      <a:pt x="0" y="3207866"/>
                    </a:lnTo>
                    <a:lnTo>
                      <a:pt x="15553" y="3186770"/>
                    </a:lnTo>
                    <a:cubicBezTo>
                      <a:pt x="28483" y="3162328"/>
                      <a:pt x="30484" y="3134646"/>
                      <a:pt x="36341" y="3107499"/>
                    </a:cubicBezTo>
                    <a:cubicBezTo>
                      <a:pt x="41105" y="3085402"/>
                      <a:pt x="41295" y="3064826"/>
                      <a:pt x="38057" y="3042727"/>
                    </a:cubicBezTo>
                    <a:cubicBezTo>
                      <a:pt x="30817" y="2994721"/>
                      <a:pt x="41105" y="2948046"/>
                      <a:pt x="54249" y="2901942"/>
                    </a:cubicBezTo>
                    <a:cubicBezTo>
                      <a:pt x="63012" y="2871461"/>
                      <a:pt x="68346" y="2840218"/>
                      <a:pt x="77300" y="2809929"/>
                    </a:cubicBezTo>
                    <a:cubicBezTo>
                      <a:pt x="84158" y="2787258"/>
                      <a:pt x="92351" y="2764589"/>
                      <a:pt x="103399" y="2743825"/>
                    </a:cubicBezTo>
                    <a:cubicBezTo>
                      <a:pt x="119594" y="2713722"/>
                      <a:pt x="143978" y="2687435"/>
                      <a:pt x="137500" y="2649142"/>
                    </a:cubicBezTo>
                    <a:cubicBezTo>
                      <a:pt x="131786" y="2615420"/>
                      <a:pt x="143786" y="2584941"/>
                      <a:pt x="155217" y="2554078"/>
                    </a:cubicBezTo>
                    <a:cubicBezTo>
                      <a:pt x="163599" y="2531408"/>
                      <a:pt x="172173" y="2508741"/>
                      <a:pt x="177507" y="2485306"/>
                    </a:cubicBezTo>
                    <a:cubicBezTo>
                      <a:pt x="183794" y="2457491"/>
                      <a:pt x="181126" y="2426058"/>
                      <a:pt x="192748" y="2401291"/>
                    </a:cubicBezTo>
                    <a:cubicBezTo>
                      <a:pt x="204940" y="2375382"/>
                      <a:pt x="196748" y="2353858"/>
                      <a:pt x="193318" y="2330805"/>
                    </a:cubicBezTo>
                    <a:cubicBezTo>
                      <a:pt x="187984" y="2294038"/>
                      <a:pt x="178077" y="2257458"/>
                      <a:pt x="190652" y="2220311"/>
                    </a:cubicBezTo>
                    <a:cubicBezTo>
                      <a:pt x="205892" y="2175162"/>
                      <a:pt x="222275" y="2130392"/>
                      <a:pt x="236753" y="2085053"/>
                    </a:cubicBezTo>
                    <a:cubicBezTo>
                      <a:pt x="242280" y="2067524"/>
                      <a:pt x="244566" y="2048667"/>
                      <a:pt x="247042" y="2030377"/>
                    </a:cubicBezTo>
                    <a:cubicBezTo>
                      <a:pt x="249138" y="2013042"/>
                      <a:pt x="243804" y="1992278"/>
                      <a:pt x="251804" y="1978939"/>
                    </a:cubicBezTo>
                    <a:cubicBezTo>
                      <a:pt x="272379" y="1944648"/>
                      <a:pt x="282475" y="1909407"/>
                      <a:pt x="282475" y="1869779"/>
                    </a:cubicBezTo>
                    <a:cubicBezTo>
                      <a:pt x="282475" y="1854919"/>
                      <a:pt x="291049" y="1840440"/>
                      <a:pt x="292573" y="1825392"/>
                    </a:cubicBezTo>
                    <a:cubicBezTo>
                      <a:pt x="294477" y="1804815"/>
                      <a:pt x="299622" y="1781193"/>
                      <a:pt x="292381" y="1763286"/>
                    </a:cubicBezTo>
                    <a:cubicBezTo>
                      <a:pt x="275237" y="1721184"/>
                      <a:pt x="289525" y="1687085"/>
                      <a:pt x="306480" y="1650316"/>
                    </a:cubicBezTo>
                    <a:cubicBezTo>
                      <a:pt x="323244" y="1614119"/>
                      <a:pt x="336579" y="1576018"/>
                      <a:pt x="347629" y="1537536"/>
                    </a:cubicBezTo>
                    <a:cubicBezTo>
                      <a:pt x="351629" y="1523058"/>
                      <a:pt x="344961" y="1505723"/>
                      <a:pt x="343629" y="1489719"/>
                    </a:cubicBezTo>
                    <a:cubicBezTo>
                      <a:pt x="343247" y="1484003"/>
                      <a:pt x="342675" y="1477716"/>
                      <a:pt x="344581" y="1472574"/>
                    </a:cubicBezTo>
                    <a:cubicBezTo>
                      <a:pt x="362870" y="1422853"/>
                      <a:pt x="376776" y="1372367"/>
                      <a:pt x="367252" y="1318455"/>
                    </a:cubicBezTo>
                    <a:cubicBezTo>
                      <a:pt x="366298" y="1313503"/>
                      <a:pt x="368394" y="1307977"/>
                      <a:pt x="369728" y="1303023"/>
                    </a:cubicBezTo>
                    <a:cubicBezTo>
                      <a:pt x="376586" y="1278828"/>
                      <a:pt x="387444" y="1255205"/>
                      <a:pt x="389921" y="1230632"/>
                    </a:cubicBezTo>
                    <a:cubicBezTo>
                      <a:pt x="396017" y="1170050"/>
                      <a:pt x="398495" y="1109090"/>
                      <a:pt x="402495" y="1048124"/>
                    </a:cubicBezTo>
                    <a:cubicBezTo>
                      <a:pt x="402685" y="1044314"/>
                      <a:pt x="402685" y="1040314"/>
                      <a:pt x="404019" y="1036886"/>
                    </a:cubicBezTo>
                    <a:cubicBezTo>
                      <a:pt x="412211" y="1014405"/>
                      <a:pt x="409543" y="994784"/>
                      <a:pt x="393923" y="975732"/>
                    </a:cubicBezTo>
                    <a:cubicBezTo>
                      <a:pt x="387064" y="967349"/>
                      <a:pt x="383444" y="955919"/>
                      <a:pt x="379634" y="945443"/>
                    </a:cubicBezTo>
                    <a:cubicBezTo>
                      <a:pt x="373918" y="930010"/>
                      <a:pt x="368394" y="914199"/>
                      <a:pt x="364774" y="898197"/>
                    </a:cubicBezTo>
                    <a:cubicBezTo>
                      <a:pt x="361346" y="882383"/>
                      <a:pt x="356583" y="865429"/>
                      <a:pt x="359250" y="850188"/>
                    </a:cubicBezTo>
                    <a:cubicBezTo>
                      <a:pt x="364012" y="822755"/>
                      <a:pt x="374680" y="796654"/>
                      <a:pt x="381730" y="769604"/>
                    </a:cubicBezTo>
                    <a:cubicBezTo>
                      <a:pt x="384206" y="760269"/>
                      <a:pt x="383824" y="749981"/>
                      <a:pt x="384016" y="740267"/>
                    </a:cubicBezTo>
                    <a:cubicBezTo>
                      <a:pt x="384586" y="717976"/>
                      <a:pt x="379062" y="695115"/>
                      <a:pt x="394875" y="674922"/>
                    </a:cubicBezTo>
                    <a:cubicBezTo>
                      <a:pt x="409733" y="656254"/>
                      <a:pt x="405353" y="637391"/>
                      <a:pt x="394113" y="617771"/>
                    </a:cubicBezTo>
                    <a:cubicBezTo>
                      <a:pt x="386110" y="603672"/>
                      <a:pt x="379824" y="587671"/>
                      <a:pt x="376776" y="571859"/>
                    </a:cubicBezTo>
                    <a:cubicBezTo>
                      <a:pt x="372586" y="550140"/>
                      <a:pt x="370870" y="528614"/>
                      <a:pt x="373348" y="505181"/>
                    </a:cubicBezTo>
                    <a:cubicBezTo>
                      <a:pt x="375062" y="488606"/>
                      <a:pt x="375824" y="475080"/>
                      <a:pt x="385920" y="462125"/>
                    </a:cubicBezTo>
                    <a:cubicBezTo>
                      <a:pt x="387444" y="460031"/>
                      <a:pt x="387826" y="456221"/>
                      <a:pt x="387634" y="453363"/>
                    </a:cubicBezTo>
                    <a:cubicBezTo>
                      <a:pt x="384396" y="415834"/>
                      <a:pt x="386110" y="378685"/>
                      <a:pt x="388399" y="340773"/>
                    </a:cubicBezTo>
                    <a:cubicBezTo>
                      <a:pt x="391445" y="292578"/>
                      <a:pt x="382492" y="241900"/>
                      <a:pt x="350487" y="200181"/>
                    </a:cubicBezTo>
                    <a:cubicBezTo>
                      <a:pt x="345723" y="194084"/>
                      <a:pt x="343629" y="184940"/>
                      <a:pt x="342485" y="176938"/>
                    </a:cubicBezTo>
                    <a:cubicBezTo>
                      <a:pt x="337533" y="139218"/>
                      <a:pt x="334103" y="101307"/>
                      <a:pt x="328579" y="63586"/>
                    </a:cubicBezTo>
                    <a:cubicBezTo>
                      <a:pt x="325530" y="43011"/>
                      <a:pt x="322862" y="21485"/>
                      <a:pt x="314480" y="2816"/>
                    </a:cubicBez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6">
                <a:extLst>
                  <a:ext uri="{FF2B5EF4-FFF2-40B4-BE49-F238E27FC236}">
                    <a16:creationId xmlns:a16="http://schemas.microsoft.com/office/drawing/2014/main" id="{C99245BA-7784-4E0D-ABE1-A4FB596E4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648048" y="0"/>
                <a:ext cx="4543952" cy="6858000"/>
              </a:xfrm>
              <a:custGeom>
                <a:avLst/>
                <a:gdLst>
                  <a:gd name="connsiteX0" fmla="*/ 328959 w 4543952"/>
                  <a:gd name="connsiteY0" fmla="*/ 6564619 h 6858000"/>
                  <a:gd name="connsiteX1" fmla="*/ 306480 w 4543952"/>
                  <a:gd name="connsiteY1" fmla="*/ 6588624 h 6858000"/>
                  <a:gd name="connsiteX2" fmla="*/ 289858 w 4543952"/>
                  <a:gd name="connsiteY2" fmla="*/ 6625223 h 6858000"/>
                  <a:gd name="connsiteX3" fmla="*/ 289858 w 4543952"/>
                  <a:gd name="connsiteY3" fmla="*/ 6625224 h 6858000"/>
                  <a:gd name="connsiteX4" fmla="*/ 289870 w 4543952"/>
                  <a:gd name="connsiteY4" fmla="*/ 6645551 h 6858000"/>
                  <a:gd name="connsiteX5" fmla="*/ 296953 w 4543952"/>
                  <a:gd name="connsiteY5" fmla="*/ 6662539 h 6858000"/>
                  <a:gd name="connsiteX6" fmla="*/ 296953 w 4543952"/>
                  <a:gd name="connsiteY6" fmla="*/ 6662541 h 6858000"/>
                  <a:gd name="connsiteX7" fmla="*/ 296954 w 4543952"/>
                  <a:gd name="connsiteY7" fmla="*/ 6662543 h 6858000"/>
                  <a:gd name="connsiteX8" fmla="*/ 311551 w 4543952"/>
                  <a:gd name="connsiteY8" fmla="*/ 6702975 h 6858000"/>
                  <a:gd name="connsiteX9" fmla="*/ 297715 w 4543952"/>
                  <a:gd name="connsiteY9" fmla="*/ 6742551 h 6858000"/>
                  <a:gd name="connsiteX10" fmla="*/ 297714 w 4543952"/>
                  <a:gd name="connsiteY10" fmla="*/ 6742554 h 6858000"/>
                  <a:gd name="connsiteX11" fmla="*/ 283011 w 4543952"/>
                  <a:gd name="connsiteY11" fmla="*/ 6776799 h 6858000"/>
                  <a:gd name="connsiteX12" fmla="*/ 278238 w 4543952"/>
                  <a:gd name="connsiteY12" fmla="*/ 6812061 h 6858000"/>
                  <a:gd name="connsiteX13" fmla="*/ 278237 w 4543952"/>
                  <a:gd name="connsiteY13" fmla="*/ 6812062 h 6858000"/>
                  <a:gd name="connsiteX14" fmla="*/ 278237 w 4543952"/>
                  <a:gd name="connsiteY14" fmla="*/ 6812063 h 6858000"/>
                  <a:gd name="connsiteX15" fmla="*/ 278238 w 4543952"/>
                  <a:gd name="connsiteY15" fmla="*/ 6812061 h 6858000"/>
                  <a:gd name="connsiteX16" fmla="*/ 297714 w 4543952"/>
                  <a:gd name="connsiteY16" fmla="*/ 6742554 h 6858000"/>
                  <a:gd name="connsiteX17" fmla="*/ 297715 w 4543952"/>
                  <a:gd name="connsiteY17" fmla="*/ 6742552 h 6858000"/>
                  <a:gd name="connsiteX18" fmla="*/ 311551 w 4543952"/>
                  <a:gd name="connsiteY18" fmla="*/ 6702976 h 6858000"/>
                  <a:gd name="connsiteX19" fmla="*/ 311551 w 4543952"/>
                  <a:gd name="connsiteY19" fmla="*/ 6702975 h 6858000"/>
                  <a:gd name="connsiteX20" fmla="*/ 308405 w 4543952"/>
                  <a:gd name="connsiteY20" fmla="*/ 6683026 h 6858000"/>
                  <a:gd name="connsiteX21" fmla="*/ 296954 w 4543952"/>
                  <a:gd name="connsiteY21" fmla="*/ 6662543 h 6858000"/>
                  <a:gd name="connsiteX22" fmla="*/ 296953 w 4543952"/>
                  <a:gd name="connsiteY22" fmla="*/ 6662540 h 6858000"/>
                  <a:gd name="connsiteX23" fmla="*/ 296953 w 4543952"/>
                  <a:gd name="connsiteY23" fmla="*/ 6662539 h 6858000"/>
                  <a:gd name="connsiteX24" fmla="*/ 289858 w 4543952"/>
                  <a:gd name="connsiteY24" fmla="*/ 6625224 h 6858000"/>
                  <a:gd name="connsiteX25" fmla="*/ 306480 w 4543952"/>
                  <a:gd name="connsiteY25" fmla="*/ 6588625 h 6858000"/>
                  <a:gd name="connsiteX26" fmla="*/ 328959 w 4543952"/>
                  <a:gd name="connsiteY26" fmla="*/ 6564620 h 6858000"/>
                  <a:gd name="connsiteX27" fmla="*/ 248638 w 4543952"/>
                  <a:gd name="connsiteY27" fmla="*/ 6438980 h 6858000"/>
                  <a:gd name="connsiteX28" fmla="*/ 268569 w 4543952"/>
                  <a:gd name="connsiteY28" fmla="*/ 6463840 h 6858000"/>
                  <a:gd name="connsiteX29" fmla="*/ 268572 w 4543952"/>
                  <a:gd name="connsiteY29" fmla="*/ 6463848 h 6858000"/>
                  <a:gd name="connsiteX30" fmla="*/ 279556 w 4543952"/>
                  <a:gd name="connsiteY30" fmla="*/ 6508051 h 6858000"/>
                  <a:gd name="connsiteX31" fmla="*/ 282367 w 4543952"/>
                  <a:gd name="connsiteY31" fmla="*/ 6513011 h 6858000"/>
                  <a:gd name="connsiteX32" fmla="*/ 284834 w 4543952"/>
                  <a:gd name="connsiteY32" fmla="*/ 6521803 h 6858000"/>
                  <a:gd name="connsiteX33" fmla="*/ 301172 w 4543952"/>
                  <a:gd name="connsiteY33" fmla="*/ 6546194 h 6858000"/>
                  <a:gd name="connsiteX34" fmla="*/ 301172 w 4543952"/>
                  <a:gd name="connsiteY34" fmla="*/ 6546193 h 6858000"/>
                  <a:gd name="connsiteX35" fmla="*/ 282367 w 4543952"/>
                  <a:gd name="connsiteY35" fmla="*/ 6513011 h 6858000"/>
                  <a:gd name="connsiteX36" fmla="*/ 268572 w 4543952"/>
                  <a:gd name="connsiteY36" fmla="*/ 6463848 h 6858000"/>
                  <a:gd name="connsiteX37" fmla="*/ 268569 w 4543952"/>
                  <a:gd name="connsiteY37" fmla="*/ 6463839 h 6858000"/>
                  <a:gd name="connsiteX38" fmla="*/ 166047 w 4543952"/>
                  <a:gd name="connsiteY38" fmla="*/ 6392242 h 6858000"/>
                  <a:gd name="connsiteX39" fmla="*/ 173364 w 4543952"/>
                  <a:gd name="connsiteY39" fmla="*/ 6407332 h 6858000"/>
                  <a:gd name="connsiteX40" fmla="*/ 173364 w 4543952"/>
                  <a:gd name="connsiteY40" fmla="*/ 6407331 h 6858000"/>
                  <a:gd name="connsiteX41" fmla="*/ 401733 w 4543952"/>
                  <a:gd name="connsiteY41" fmla="*/ 4221390 h 6858000"/>
                  <a:gd name="connsiteX42" fmla="*/ 396017 w 4543952"/>
                  <a:gd name="connsiteY42" fmla="*/ 4253013 h 6858000"/>
                  <a:gd name="connsiteX43" fmla="*/ 356201 w 4543952"/>
                  <a:gd name="connsiteY43" fmla="*/ 4324644 h 6858000"/>
                  <a:gd name="connsiteX44" fmla="*/ 347247 w 4543952"/>
                  <a:gd name="connsiteY44" fmla="*/ 4363889 h 6858000"/>
                  <a:gd name="connsiteX45" fmla="*/ 347247 w 4543952"/>
                  <a:gd name="connsiteY45" fmla="*/ 4363890 h 6858000"/>
                  <a:gd name="connsiteX46" fmla="*/ 348009 w 4543952"/>
                  <a:gd name="connsiteY46" fmla="*/ 4482004 h 6858000"/>
                  <a:gd name="connsiteX47" fmla="*/ 408019 w 4543952"/>
                  <a:gd name="connsiteY47" fmla="*/ 4659174 h 6858000"/>
                  <a:gd name="connsiteX48" fmla="*/ 416021 w 4543952"/>
                  <a:gd name="connsiteY48" fmla="*/ 4677655 h 6858000"/>
                  <a:gd name="connsiteX49" fmla="*/ 425928 w 4543952"/>
                  <a:gd name="connsiteY49" fmla="*/ 4767764 h 6858000"/>
                  <a:gd name="connsiteX50" fmla="*/ 427237 w 4543952"/>
                  <a:gd name="connsiteY50" fmla="*/ 4800482 h 6858000"/>
                  <a:gd name="connsiteX51" fmla="*/ 412401 w 4543952"/>
                  <a:gd name="connsiteY51" fmla="*/ 4828915 h 6858000"/>
                  <a:gd name="connsiteX52" fmla="*/ 391971 w 4543952"/>
                  <a:gd name="connsiteY52" fmla="*/ 4857316 h 6858000"/>
                  <a:gd name="connsiteX53" fmla="*/ 390221 w 4543952"/>
                  <a:gd name="connsiteY53" fmla="*/ 4863342 h 6858000"/>
                  <a:gd name="connsiteX54" fmla="*/ 387469 w 4543952"/>
                  <a:gd name="connsiteY54" fmla="*/ 4867613 h 6858000"/>
                  <a:gd name="connsiteX55" fmla="*/ 382691 w 4543952"/>
                  <a:gd name="connsiteY55" fmla="*/ 4889274 h 6858000"/>
                  <a:gd name="connsiteX56" fmla="*/ 382691 w 4543952"/>
                  <a:gd name="connsiteY56" fmla="*/ 4889275 h 6858000"/>
                  <a:gd name="connsiteX57" fmla="*/ 384396 w 4543952"/>
                  <a:gd name="connsiteY57" fmla="*/ 4912168 h 6858000"/>
                  <a:gd name="connsiteX58" fmla="*/ 385799 w 4543952"/>
                  <a:gd name="connsiteY58" fmla="*/ 4933804 h 6858000"/>
                  <a:gd name="connsiteX59" fmla="*/ 378247 w 4543952"/>
                  <a:gd name="connsiteY59" fmla="*/ 4957452 h 6858000"/>
                  <a:gd name="connsiteX60" fmla="*/ 360964 w 4543952"/>
                  <a:gd name="connsiteY60" fmla="*/ 4987036 h 6858000"/>
                  <a:gd name="connsiteX61" fmla="*/ 334485 w 4543952"/>
                  <a:gd name="connsiteY61" fmla="*/ 5041520 h 6858000"/>
                  <a:gd name="connsiteX62" fmla="*/ 321371 w 4543952"/>
                  <a:gd name="connsiteY62" fmla="*/ 5087422 h 6858000"/>
                  <a:gd name="connsiteX63" fmla="*/ 321364 w 4543952"/>
                  <a:gd name="connsiteY63" fmla="*/ 5087449 h 6858000"/>
                  <a:gd name="connsiteX64" fmla="*/ 315482 w 4543952"/>
                  <a:gd name="connsiteY64" fmla="*/ 5102460 h 6858000"/>
                  <a:gd name="connsiteX65" fmla="*/ 308338 w 4543952"/>
                  <a:gd name="connsiteY65" fmla="*/ 5133219 h 6858000"/>
                  <a:gd name="connsiteX66" fmla="*/ 308337 w 4543952"/>
                  <a:gd name="connsiteY66" fmla="*/ 5133223 h 6858000"/>
                  <a:gd name="connsiteX67" fmla="*/ 308337 w 4543952"/>
                  <a:gd name="connsiteY67" fmla="*/ 5133224 h 6858000"/>
                  <a:gd name="connsiteX68" fmla="*/ 315052 w 4543952"/>
                  <a:gd name="connsiteY68" fmla="*/ 5166113 h 6858000"/>
                  <a:gd name="connsiteX69" fmla="*/ 314362 w 4543952"/>
                  <a:gd name="connsiteY69" fmla="*/ 5172089 h 6858000"/>
                  <a:gd name="connsiteX70" fmla="*/ 311814 w 4543952"/>
                  <a:gd name="connsiteY70" fmla="*/ 5179066 h 6858000"/>
                  <a:gd name="connsiteX71" fmla="*/ 311814 w 4543952"/>
                  <a:gd name="connsiteY71" fmla="*/ 5179067 h 6858000"/>
                  <a:gd name="connsiteX72" fmla="*/ 335437 w 4543952"/>
                  <a:gd name="connsiteY72" fmla="*/ 5272796 h 6858000"/>
                  <a:gd name="connsiteX73" fmla="*/ 360397 w 4543952"/>
                  <a:gd name="connsiteY73" fmla="*/ 5321350 h 6858000"/>
                  <a:gd name="connsiteX74" fmla="*/ 364317 w 4543952"/>
                  <a:gd name="connsiteY74" fmla="*/ 5355013 h 6858000"/>
                  <a:gd name="connsiteX75" fmla="*/ 359440 w 4543952"/>
                  <a:gd name="connsiteY75" fmla="*/ 5385383 h 6858000"/>
                  <a:gd name="connsiteX76" fmla="*/ 351249 w 4543952"/>
                  <a:gd name="connsiteY76" fmla="*/ 5425581 h 6858000"/>
                  <a:gd name="connsiteX77" fmla="*/ 339627 w 4543952"/>
                  <a:gd name="connsiteY77" fmla="*/ 5480636 h 6858000"/>
                  <a:gd name="connsiteX78" fmla="*/ 335103 w 4543952"/>
                  <a:gd name="connsiteY78" fmla="*/ 5507666 h 6858000"/>
                  <a:gd name="connsiteX79" fmla="*/ 335103 w 4543952"/>
                  <a:gd name="connsiteY79" fmla="*/ 5507667 h 6858000"/>
                  <a:gd name="connsiteX80" fmla="*/ 337324 w 4543952"/>
                  <a:gd name="connsiteY80" fmla="*/ 5520421 h 6858000"/>
                  <a:gd name="connsiteX81" fmla="*/ 345722 w 4543952"/>
                  <a:gd name="connsiteY81" fmla="*/ 5531691 h 6858000"/>
                  <a:gd name="connsiteX82" fmla="*/ 345723 w 4543952"/>
                  <a:gd name="connsiteY82" fmla="*/ 5531693 h 6858000"/>
                  <a:gd name="connsiteX83" fmla="*/ 355869 w 4543952"/>
                  <a:gd name="connsiteY83" fmla="*/ 5547577 h 6858000"/>
                  <a:gd name="connsiteX84" fmla="*/ 346295 w 4543952"/>
                  <a:gd name="connsiteY84" fmla="*/ 5562745 h 6858000"/>
                  <a:gd name="connsiteX85" fmla="*/ 275047 w 4543952"/>
                  <a:gd name="connsiteY85" fmla="*/ 5704482 h 6858000"/>
                  <a:gd name="connsiteX86" fmla="*/ 269141 w 4543952"/>
                  <a:gd name="connsiteY86" fmla="*/ 5740487 h 6858000"/>
                  <a:gd name="connsiteX87" fmla="*/ 260376 w 4543952"/>
                  <a:gd name="connsiteY87" fmla="*/ 5760872 h 6858000"/>
                  <a:gd name="connsiteX88" fmla="*/ 171981 w 4543952"/>
                  <a:gd name="connsiteY88" fmla="*/ 5883750 h 6858000"/>
                  <a:gd name="connsiteX89" fmla="*/ 171979 w 4543952"/>
                  <a:gd name="connsiteY89" fmla="*/ 5883755 h 6858000"/>
                  <a:gd name="connsiteX90" fmla="*/ 160957 w 4543952"/>
                  <a:gd name="connsiteY90" fmla="*/ 5909350 h 6858000"/>
                  <a:gd name="connsiteX91" fmla="*/ 154076 w 4543952"/>
                  <a:gd name="connsiteY91" fmla="*/ 5935945 h 6858000"/>
                  <a:gd name="connsiteX92" fmla="*/ 154075 w 4543952"/>
                  <a:gd name="connsiteY92" fmla="*/ 5935948 h 6858000"/>
                  <a:gd name="connsiteX93" fmla="*/ 154075 w 4543952"/>
                  <a:gd name="connsiteY93" fmla="*/ 5935949 h 6858000"/>
                  <a:gd name="connsiteX94" fmla="*/ 154242 w 4543952"/>
                  <a:gd name="connsiteY94" fmla="*/ 5964476 h 6858000"/>
                  <a:gd name="connsiteX95" fmla="*/ 157695 w 4543952"/>
                  <a:gd name="connsiteY95" fmla="*/ 5993289 h 6858000"/>
                  <a:gd name="connsiteX96" fmla="*/ 157695 w 4543952"/>
                  <a:gd name="connsiteY96" fmla="*/ 5993291 h 6858000"/>
                  <a:gd name="connsiteX97" fmla="*/ 164171 w 4543952"/>
                  <a:gd name="connsiteY97" fmla="*/ 6026440 h 6858000"/>
                  <a:gd name="connsiteX98" fmla="*/ 220371 w 4543952"/>
                  <a:gd name="connsiteY98" fmla="*/ 6108738 h 6858000"/>
                  <a:gd name="connsiteX99" fmla="*/ 234064 w 4543952"/>
                  <a:gd name="connsiteY99" fmla="*/ 6133314 h 6858000"/>
                  <a:gd name="connsiteX100" fmla="*/ 218468 w 4543952"/>
                  <a:gd name="connsiteY100" fmla="*/ 6155599 h 6858000"/>
                  <a:gd name="connsiteX101" fmla="*/ 218465 w 4543952"/>
                  <a:gd name="connsiteY101" fmla="*/ 6155601 h 6858000"/>
                  <a:gd name="connsiteX102" fmla="*/ 179794 w 4543952"/>
                  <a:gd name="connsiteY102" fmla="*/ 6228755 h 6858000"/>
                  <a:gd name="connsiteX103" fmla="*/ 162457 w 4543952"/>
                  <a:gd name="connsiteY103" fmla="*/ 6361538 h 6858000"/>
                  <a:gd name="connsiteX104" fmla="*/ 162457 w 4543952"/>
                  <a:gd name="connsiteY104" fmla="*/ 6361539 h 6858000"/>
                  <a:gd name="connsiteX105" fmla="*/ 179794 w 4543952"/>
                  <a:gd name="connsiteY105" fmla="*/ 6228756 h 6858000"/>
                  <a:gd name="connsiteX106" fmla="*/ 218465 w 4543952"/>
                  <a:gd name="connsiteY106" fmla="*/ 6155602 h 6858000"/>
                  <a:gd name="connsiteX107" fmla="*/ 218468 w 4543952"/>
                  <a:gd name="connsiteY107" fmla="*/ 6155599 h 6858000"/>
                  <a:gd name="connsiteX108" fmla="*/ 230364 w 4543952"/>
                  <a:gd name="connsiteY108" fmla="*/ 6143189 h 6858000"/>
                  <a:gd name="connsiteX109" fmla="*/ 234064 w 4543952"/>
                  <a:gd name="connsiteY109" fmla="*/ 6133314 h 6858000"/>
                  <a:gd name="connsiteX110" fmla="*/ 234064 w 4543952"/>
                  <a:gd name="connsiteY110" fmla="*/ 6133313 h 6858000"/>
                  <a:gd name="connsiteX111" fmla="*/ 220371 w 4543952"/>
                  <a:gd name="connsiteY111" fmla="*/ 6108737 h 6858000"/>
                  <a:gd name="connsiteX112" fmla="*/ 164171 w 4543952"/>
                  <a:gd name="connsiteY112" fmla="*/ 6026439 h 6858000"/>
                  <a:gd name="connsiteX113" fmla="*/ 157695 w 4543952"/>
                  <a:gd name="connsiteY113" fmla="*/ 5993290 h 6858000"/>
                  <a:gd name="connsiteX114" fmla="*/ 157695 w 4543952"/>
                  <a:gd name="connsiteY114" fmla="*/ 5993289 h 6858000"/>
                  <a:gd name="connsiteX115" fmla="*/ 154075 w 4543952"/>
                  <a:gd name="connsiteY115" fmla="*/ 5935949 h 6858000"/>
                  <a:gd name="connsiteX116" fmla="*/ 154076 w 4543952"/>
                  <a:gd name="connsiteY116" fmla="*/ 5935945 h 6858000"/>
                  <a:gd name="connsiteX117" fmla="*/ 171979 w 4543952"/>
                  <a:gd name="connsiteY117" fmla="*/ 5883755 h 6858000"/>
                  <a:gd name="connsiteX118" fmla="*/ 171981 w 4543952"/>
                  <a:gd name="connsiteY118" fmla="*/ 5883751 h 6858000"/>
                  <a:gd name="connsiteX119" fmla="*/ 260376 w 4543952"/>
                  <a:gd name="connsiteY119" fmla="*/ 5760873 h 6858000"/>
                  <a:gd name="connsiteX120" fmla="*/ 269141 w 4543952"/>
                  <a:gd name="connsiteY120" fmla="*/ 5740488 h 6858000"/>
                  <a:gd name="connsiteX121" fmla="*/ 275047 w 4543952"/>
                  <a:gd name="connsiteY121" fmla="*/ 5704483 h 6858000"/>
                  <a:gd name="connsiteX122" fmla="*/ 346295 w 4543952"/>
                  <a:gd name="connsiteY122" fmla="*/ 5562746 h 6858000"/>
                  <a:gd name="connsiteX123" fmla="*/ 355869 w 4543952"/>
                  <a:gd name="connsiteY123" fmla="*/ 5547578 h 6858000"/>
                  <a:gd name="connsiteX124" fmla="*/ 355869 w 4543952"/>
                  <a:gd name="connsiteY124" fmla="*/ 5547577 h 6858000"/>
                  <a:gd name="connsiteX125" fmla="*/ 345723 w 4543952"/>
                  <a:gd name="connsiteY125" fmla="*/ 5531692 h 6858000"/>
                  <a:gd name="connsiteX126" fmla="*/ 345722 w 4543952"/>
                  <a:gd name="connsiteY126" fmla="*/ 5531691 h 6858000"/>
                  <a:gd name="connsiteX127" fmla="*/ 335103 w 4543952"/>
                  <a:gd name="connsiteY127" fmla="*/ 5507667 h 6858000"/>
                  <a:gd name="connsiteX128" fmla="*/ 339627 w 4543952"/>
                  <a:gd name="connsiteY128" fmla="*/ 5480637 h 6858000"/>
                  <a:gd name="connsiteX129" fmla="*/ 351249 w 4543952"/>
                  <a:gd name="connsiteY129" fmla="*/ 5425582 h 6858000"/>
                  <a:gd name="connsiteX130" fmla="*/ 359440 w 4543952"/>
                  <a:gd name="connsiteY130" fmla="*/ 5385384 h 6858000"/>
                  <a:gd name="connsiteX131" fmla="*/ 364317 w 4543952"/>
                  <a:gd name="connsiteY131" fmla="*/ 5355014 h 6858000"/>
                  <a:gd name="connsiteX132" fmla="*/ 364317 w 4543952"/>
                  <a:gd name="connsiteY132" fmla="*/ 5355013 h 6858000"/>
                  <a:gd name="connsiteX133" fmla="*/ 362870 w 4543952"/>
                  <a:gd name="connsiteY133" fmla="*/ 5326162 h 6858000"/>
                  <a:gd name="connsiteX134" fmla="*/ 360397 w 4543952"/>
                  <a:gd name="connsiteY134" fmla="*/ 5321350 h 6858000"/>
                  <a:gd name="connsiteX135" fmla="*/ 359341 w 4543952"/>
                  <a:gd name="connsiteY135" fmla="*/ 5312287 h 6858000"/>
                  <a:gd name="connsiteX136" fmla="*/ 335437 w 4543952"/>
                  <a:gd name="connsiteY136" fmla="*/ 5272795 h 6858000"/>
                  <a:gd name="connsiteX137" fmla="*/ 311981 w 4543952"/>
                  <a:gd name="connsiteY137" fmla="*/ 5229432 h 6858000"/>
                  <a:gd name="connsiteX138" fmla="*/ 311814 w 4543952"/>
                  <a:gd name="connsiteY138" fmla="*/ 5179067 h 6858000"/>
                  <a:gd name="connsiteX139" fmla="*/ 314362 w 4543952"/>
                  <a:gd name="connsiteY139" fmla="*/ 5172090 h 6858000"/>
                  <a:gd name="connsiteX140" fmla="*/ 315052 w 4543952"/>
                  <a:gd name="connsiteY140" fmla="*/ 5166113 h 6858000"/>
                  <a:gd name="connsiteX141" fmla="*/ 315052 w 4543952"/>
                  <a:gd name="connsiteY141" fmla="*/ 5166112 h 6858000"/>
                  <a:gd name="connsiteX142" fmla="*/ 308337 w 4543952"/>
                  <a:gd name="connsiteY142" fmla="*/ 5133224 h 6858000"/>
                  <a:gd name="connsiteX143" fmla="*/ 308338 w 4543952"/>
                  <a:gd name="connsiteY143" fmla="*/ 5133219 h 6858000"/>
                  <a:gd name="connsiteX144" fmla="*/ 321364 w 4543952"/>
                  <a:gd name="connsiteY144" fmla="*/ 5087449 h 6858000"/>
                  <a:gd name="connsiteX145" fmla="*/ 327270 w 4543952"/>
                  <a:gd name="connsiteY145" fmla="*/ 5072375 h 6858000"/>
                  <a:gd name="connsiteX146" fmla="*/ 334485 w 4543952"/>
                  <a:gd name="connsiteY146" fmla="*/ 5041521 h 6858000"/>
                  <a:gd name="connsiteX147" fmla="*/ 360964 w 4543952"/>
                  <a:gd name="connsiteY147" fmla="*/ 4987037 h 6858000"/>
                  <a:gd name="connsiteX148" fmla="*/ 376969 w 4543952"/>
                  <a:gd name="connsiteY148" fmla="*/ 4961455 h 6858000"/>
                  <a:gd name="connsiteX149" fmla="*/ 378247 w 4543952"/>
                  <a:gd name="connsiteY149" fmla="*/ 4957452 h 6858000"/>
                  <a:gd name="connsiteX150" fmla="*/ 381039 w 4543952"/>
                  <a:gd name="connsiteY150" fmla="*/ 4952672 h 6858000"/>
                  <a:gd name="connsiteX151" fmla="*/ 385799 w 4543952"/>
                  <a:gd name="connsiteY151" fmla="*/ 4933804 h 6858000"/>
                  <a:gd name="connsiteX152" fmla="*/ 384396 w 4543952"/>
                  <a:gd name="connsiteY152" fmla="*/ 4912167 h 6858000"/>
                  <a:gd name="connsiteX153" fmla="*/ 382691 w 4543952"/>
                  <a:gd name="connsiteY153" fmla="*/ 4889274 h 6858000"/>
                  <a:gd name="connsiteX154" fmla="*/ 390221 w 4543952"/>
                  <a:gd name="connsiteY154" fmla="*/ 4863342 h 6858000"/>
                  <a:gd name="connsiteX155" fmla="*/ 412401 w 4543952"/>
                  <a:gd name="connsiteY155" fmla="*/ 4828916 h 6858000"/>
                  <a:gd name="connsiteX156" fmla="*/ 427237 w 4543952"/>
                  <a:gd name="connsiteY156" fmla="*/ 4800483 h 6858000"/>
                  <a:gd name="connsiteX157" fmla="*/ 427237 w 4543952"/>
                  <a:gd name="connsiteY157" fmla="*/ 4800482 h 6858000"/>
                  <a:gd name="connsiteX158" fmla="*/ 425928 w 4543952"/>
                  <a:gd name="connsiteY158" fmla="*/ 4767763 h 6858000"/>
                  <a:gd name="connsiteX159" fmla="*/ 416021 w 4543952"/>
                  <a:gd name="connsiteY159" fmla="*/ 4677654 h 6858000"/>
                  <a:gd name="connsiteX160" fmla="*/ 408019 w 4543952"/>
                  <a:gd name="connsiteY160" fmla="*/ 4659173 h 6858000"/>
                  <a:gd name="connsiteX161" fmla="*/ 348009 w 4543952"/>
                  <a:gd name="connsiteY161" fmla="*/ 4482003 h 6858000"/>
                  <a:gd name="connsiteX162" fmla="*/ 347247 w 4543952"/>
                  <a:gd name="connsiteY162" fmla="*/ 4363890 h 6858000"/>
                  <a:gd name="connsiteX163" fmla="*/ 356201 w 4543952"/>
                  <a:gd name="connsiteY163" fmla="*/ 4324645 h 6858000"/>
                  <a:gd name="connsiteX164" fmla="*/ 396017 w 4543952"/>
                  <a:gd name="connsiteY164" fmla="*/ 4253014 h 6858000"/>
                  <a:gd name="connsiteX165" fmla="*/ 401733 w 4543952"/>
                  <a:gd name="connsiteY165" fmla="*/ 4221391 h 6858000"/>
                  <a:gd name="connsiteX166" fmla="*/ 332842 w 4543952"/>
                  <a:gd name="connsiteY166" fmla="*/ 2836171 h 6858000"/>
                  <a:gd name="connsiteX167" fmla="*/ 332842 w 4543952"/>
                  <a:gd name="connsiteY167" fmla="*/ 2836172 h 6858000"/>
                  <a:gd name="connsiteX168" fmla="*/ 341533 w 4543952"/>
                  <a:gd name="connsiteY168" fmla="*/ 2848793 h 6858000"/>
                  <a:gd name="connsiteX169" fmla="*/ 358166 w 4543952"/>
                  <a:gd name="connsiteY169" fmla="*/ 2903544 h 6858000"/>
                  <a:gd name="connsiteX170" fmla="*/ 366072 w 4543952"/>
                  <a:gd name="connsiteY170" fmla="*/ 2947858 h 6858000"/>
                  <a:gd name="connsiteX171" fmla="*/ 366072 w 4543952"/>
                  <a:gd name="connsiteY171" fmla="*/ 2947862 h 6858000"/>
                  <a:gd name="connsiteX172" fmla="*/ 362488 w 4543952"/>
                  <a:gd name="connsiteY172" fmla="*/ 2982147 h 6858000"/>
                  <a:gd name="connsiteX173" fmla="*/ 350796 w 4543952"/>
                  <a:gd name="connsiteY173" fmla="*/ 3077400 h 6858000"/>
                  <a:gd name="connsiteX174" fmla="*/ 350796 w 4543952"/>
                  <a:gd name="connsiteY174" fmla="*/ 3077401 h 6858000"/>
                  <a:gd name="connsiteX175" fmla="*/ 363250 w 4543952"/>
                  <a:gd name="connsiteY175" fmla="*/ 3172654 h 6858000"/>
                  <a:gd name="connsiteX176" fmla="*/ 410877 w 4543952"/>
                  <a:gd name="connsiteY176" fmla="*/ 3489467 h 6858000"/>
                  <a:gd name="connsiteX177" fmla="*/ 432976 w 4543952"/>
                  <a:gd name="connsiteY177" fmla="*/ 3544713 h 6858000"/>
                  <a:gd name="connsiteX178" fmla="*/ 445520 w 4543952"/>
                  <a:gd name="connsiteY178" fmla="*/ 3562320 h 6858000"/>
                  <a:gd name="connsiteX179" fmla="*/ 450598 w 4543952"/>
                  <a:gd name="connsiteY179" fmla="*/ 3574407 h 6858000"/>
                  <a:gd name="connsiteX180" fmla="*/ 448246 w 4543952"/>
                  <a:gd name="connsiteY180" fmla="*/ 3587173 h 6858000"/>
                  <a:gd name="connsiteX181" fmla="*/ 438500 w 4543952"/>
                  <a:gd name="connsiteY181" fmla="*/ 3606816 h 6858000"/>
                  <a:gd name="connsiteX182" fmla="*/ 424974 w 4543952"/>
                  <a:gd name="connsiteY182" fmla="*/ 3630631 h 6858000"/>
                  <a:gd name="connsiteX183" fmla="*/ 400733 w 4543952"/>
                  <a:gd name="connsiteY183" fmla="*/ 3680162 h 6858000"/>
                  <a:gd name="connsiteX184" fmla="*/ 400733 w 4543952"/>
                  <a:gd name="connsiteY184" fmla="*/ 3680163 h 6858000"/>
                  <a:gd name="connsiteX185" fmla="*/ 404781 w 4543952"/>
                  <a:gd name="connsiteY185" fmla="*/ 3734837 h 6858000"/>
                  <a:gd name="connsiteX186" fmla="*/ 404399 w 4543952"/>
                  <a:gd name="connsiteY186" fmla="*/ 3754651 h 6858000"/>
                  <a:gd name="connsiteX187" fmla="*/ 398042 w 4543952"/>
                  <a:gd name="connsiteY187" fmla="*/ 3789775 h 6858000"/>
                  <a:gd name="connsiteX188" fmla="*/ 398042 w 4543952"/>
                  <a:gd name="connsiteY188" fmla="*/ 3789776 h 6858000"/>
                  <a:gd name="connsiteX189" fmla="*/ 412973 w 4543952"/>
                  <a:gd name="connsiteY189" fmla="*/ 3822472 h 6858000"/>
                  <a:gd name="connsiteX190" fmla="*/ 427308 w 4543952"/>
                  <a:gd name="connsiteY190" fmla="*/ 3852619 h 6858000"/>
                  <a:gd name="connsiteX191" fmla="*/ 417926 w 4543952"/>
                  <a:gd name="connsiteY191" fmla="*/ 3885336 h 6858000"/>
                  <a:gd name="connsiteX192" fmla="*/ 417925 w 4543952"/>
                  <a:gd name="connsiteY192" fmla="*/ 3885337 h 6858000"/>
                  <a:gd name="connsiteX193" fmla="*/ 386040 w 4543952"/>
                  <a:gd name="connsiteY193" fmla="*/ 3962158 h 6858000"/>
                  <a:gd name="connsiteX194" fmla="*/ 386040 w 4543952"/>
                  <a:gd name="connsiteY194" fmla="*/ 3962159 h 6858000"/>
                  <a:gd name="connsiteX195" fmla="*/ 388431 w 4543952"/>
                  <a:gd name="connsiteY195" fmla="*/ 4002409 h 6858000"/>
                  <a:gd name="connsiteX196" fmla="*/ 401733 w 4543952"/>
                  <a:gd name="connsiteY196" fmla="*/ 4043837 h 6858000"/>
                  <a:gd name="connsiteX197" fmla="*/ 401733 w 4543952"/>
                  <a:gd name="connsiteY197" fmla="*/ 4043839 h 6858000"/>
                  <a:gd name="connsiteX198" fmla="*/ 416855 w 4543952"/>
                  <a:gd name="connsiteY198" fmla="*/ 4103825 h 6858000"/>
                  <a:gd name="connsiteX199" fmla="*/ 405544 w 4543952"/>
                  <a:gd name="connsiteY199" fmla="*/ 4165381 h 6858000"/>
                  <a:gd name="connsiteX200" fmla="*/ 405543 w 4543952"/>
                  <a:gd name="connsiteY200" fmla="*/ 4165382 h 6858000"/>
                  <a:gd name="connsiteX201" fmla="*/ 401638 w 4543952"/>
                  <a:gd name="connsiteY201" fmla="*/ 4192386 h 6858000"/>
                  <a:gd name="connsiteX202" fmla="*/ 401638 w 4543952"/>
                  <a:gd name="connsiteY202" fmla="*/ 4192387 h 6858000"/>
                  <a:gd name="connsiteX203" fmla="*/ 405543 w 4543952"/>
                  <a:gd name="connsiteY203" fmla="*/ 4165383 h 6858000"/>
                  <a:gd name="connsiteX204" fmla="*/ 405544 w 4543952"/>
                  <a:gd name="connsiteY204" fmla="*/ 4165381 h 6858000"/>
                  <a:gd name="connsiteX205" fmla="*/ 414887 w 4543952"/>
                  <a:gd name="connsiteY205" fmla="*/ 4134255 h 6858000"/>
                  <a:gd name="connsiteX206" fmla="*/ 416855 w 4543952"/>
                  <a:gd name="connsiteY206" fmla="*/ 4103825 h 6858000"/>
                  <a:gd name="connsiteX207" fmla="*/ 416855 w 4543952"/>
                  <a:gd name="connsiteY207" fmla="*/ 4103824 h 6858000"/>
                  <a:gd name="connsiteX208" fmla="*/ 401733 w 4543952"/>
                  <a:gd name="connsiteY208" fmla="*/ 4043838 h 6858000"/>
                  <a:gd name="connsiteX209" fmla="*/ 401733 w 4543952"/>
                  <a:gd name="connsiteY209" fmla="*/ 4043837 h 6858000"/>
                  <a:gd name="connsiteX210" fmla="*/ 386040 w 4543952"/>
                  <a:gd name="connsiteY210" fmla="*/ 3962159 h 6858000"/>
                  <a:gd name="connsiteX211" fmla="*/ 395544 w 4543952"/>
                  <a:gd name="connsiteY211" fmla="*/ 3923124 h 6858000"/>
                  <a:gd name="connsiteX212" fmla="*/ 417925 w 4543952"/>
                  <a:gd name="connsiteY212" fmla="*/ 3885338 h 6858000"/>
                  <a:gd name="connsiteX213" fmla="*/ 417926 w 4543952"/>
                  <a:gd name="connsiteY213" fmla="*/ 3885336 h 6858000"/>
                  <a:gd name="connsiteX214" fmla="*/ 426528 w 4543952"/>
                  <a:gd name="connsiteY214" fmla="*/ 3868763 h 6858000"/>
                  <a:gd name="connsiteX215" fmla="*/ 427308 w 4543952"/>
                  <a:gd name="connsiteY215" fmla="*/ 3852619 h 6858000"/>
                  <a:gd name="connsiteX216" fmla="*/ 427308 w 4543952"/>
                  <a:gd name="connsiteY216" fmla="*/ 3852618 h 6858000"/>
                  <a:gd name="connsiteX217" fmla="*/ 412973 w 4543952"/>
                  <a:gd name="connsiteY217" fmla="*/ 3822471 h 6858000"/>
                  <a:gd name="connsiteX218" fmla="*/ 398042 w 4543952"/>
                  <a:gd name="connsiteY218" fmla="*/ 3789775 h 6858000"/>
                  <a:gd name="connsiteX219" fmla="*/ 404399 w 4543952"/>
                  <a:gd name="connsiteY219" fmla="*/ 3754652 h 6858000"/>
                  <a:gd name="connsiteX220" fmla="*/ 404781 w 4543952"/>
                  <a:gd name="connsiteY220" fmla="*/ 3734837 h 6858000"/>
                  <a:gd name="connsiteX221" fmla="*/ 404781 w 4543952"/>
                  <a:gd name="connsiteY221" fmla="*/ 3734836 h 6858000"/>
                  <a:gd name="connsiteX222" fmla="*/ 400733 w 4543952"/>
                  <a:gd name="connsiteY222" fmla="*/ 3680163 h 6858000"/>
                  <a:gd name="connsiteX223" fmla="*/ 407246 w 4543952"/>
                  <a:gd name="connsiteY223" fmla="*/ 3654415 h 6858000"/>
                  <a:gd name="connsiteX224" fmla="*/ 424974 w 4543952"/>
                  <a:gd name="connsiteY224" fmla="*/ 3630632 h 6858000"/>
                  <a:gd name="connsiteX225" fmla="*/ 438500 w 4543952"/>
                  <a:gd name="connsiteY225" fmla="*/ 3606817 h 6858000"/>
                  <a:gd name="connsiteX226" fmla="*/ 450598 w 4543952"/>
                  <a:gd name="connsiteY226" fmla="*/ 3574408 h 6858000"/>
                  <a:gd name="connsiteX227" fmla="*/ 450598 w 4543952"/>
                  <a:gd name="connsiteY227" fmla="*/ 3574407 h 6858000"/>
                  <a:gd name="connsiteX228" fmla="*/ 432976 w 4543952"/>
                  <a:gd name="connsiteY228" fmla="*/ 3544712 h 6858000"/>
                  <a:gd name="connsiteX229" fmla="*/ 410877 w 4543952"/>
                  <a:gd name="connsiteY229" fmla="*/ 3489466 h 6858000"/>
                  <a:gd name="connsiteX230" fmla="*/ 363250 w 4543952"/>
                  <a:gd name="connsiteY230" fmla="*/ 3172653 h 6858000"/>
                  <a:gd name="connsiteX231" fmla="*/ 350796 w 4543952"/>
                  <a:gd name="connsiteY231" fmla="*/ 3077401 h 6858000"/>
                  <a:gd name="connsiteX232" fmla="*/ 362488 w 4543952"/>
                  <a:gd name="connsiteY232" fmla="*/ 2982148 h 6858000"/>
                  <a:gd name="connsiteX233" fmla="*/ 366072 w 4543952"/>
                  <a:gd name="connsiteY233" fmla="*/ 2947862 h 6858000"/>
                  <a:gd name="connsiteX234" fmla="*/ 366072 w 4543952"/>
                  <a:gd name="connsiteY234" fmla="*/ 2947861 h 6858000"/>
                  <a:gd name="connsiteX235" fmla="*/ 366072 w 4543952"/>
                  <a:gd name="connsiteY235" fmla="*/ 2947858 h 6858000"/>
                  <a:gd name="connsiteX236" fmla="*/ 361441 w 4543952"/>
                  <a:gd name="connsiteY236" fmla="*/ 2914327 h 6858000"/>
                  <a:gd name="connsiteX237" fmla="*/ 358166 w 4543952"/>
                  <a:gd name="connsiteY237" fmla="*/ 2903544 h 6858000"/>
                  <a:gd name="connsiteX238" fmla="*/ 357138 w 4543952"/>
                  <a:gd name="connsiteY238" fmla="*/ 2897784 h 6858000"/>
                  <a:gd name="connsiteX239" fmla="*/ 341533 w 4543952"/>
                  <a:gd name="connsiteY239" fmla="*/ 2848792 h 6858000"/>
                  <a:gd name="connsiteX240" fmla="*/ 296001 w 4543952"/>
                  <a:gd name="connsiteY240" fmla="*/ 2745351 h 6858000"/>
                  <a:gd name="connsiteX241" fmla="*/ 289670 w 4543952"/>
                  <a:gd name="connsiteY241" fmla="*/ 2770757 h 6858000"/>
                  <a:gd name="connsiteX242" fmla="*/ 290080 w 4543952"/>
                  <a:gd name="connsiteY242" fmla="*/ 2778005 h 6858000"/>
                  <a:gd name="connsiteX243" fmla="*/ 289301 w 4543952"/>
                  <a:gd name="connsiteY243" fmla="*/ 2782304 h 6858000"/>
                  <a:gd name="connsiteX244" fmla="*/ 290501 w 4543952"/>
                  <a:gd name="connsiteY244" fmla="*/ 2785439 h 6858000"/>
                  <a:gd name="connsiteX245" fmla="*/ 290929 w 4543952"/>
                  <a:gd name="connsiteY245" fmla="*/ 2793022 h 6858000"/>
                  <a:gd name="connsiteX246" fmla="*/ 300579 w 4543952"/>
                  <a:gd name="connsiteY246" fmla="*/ 2811779 h 6858000"/>
                  <a:gd name="connsiteX247" fmla="*/ 300582 w 4543952"/>
                  <a:gd name="connsiteY247" fmla="*/ 2811786 h 6858000"/>
                  <a:gd name="connsiteX248" fmla="*/ 300583 w 4543952"/>
                  <a:gd name="connsiteY248" fmla="*/ 2811786 h 6858000"/>
                  <a:gd name="connsiteX249" fmla="*/ 300579 w 4543952"/>
                  <a:gd name="connsiteY249" fmla="*/ 2811779 h 6858000"/>
                  <a:gd name="connsiteX250" fmla="*/ 290501 w 4543952"/>
                  <a:gd name="connsiteY250" fmla="*/ 2785439 h 6858000"/>
                  <a:gd name="connsiteX251" fmla="*/ 290080 w 4543952"/>
                  <a:gd name="connsiteY251" fmla="*/ 2778005 h 6858000"/>
                  <a:gd name="connsiteX252" fmla="*/ 817328 w 4543952"/>
                  <a:gd name="connsiteY252" fmla="*/ 1508457 h 6858000"/>
                  <a:gd name="connsiteX253" fmla="*/ 845421 w 4543952"/>
                  <a:gd name="connsiteY253" fmla="*/ 1596212 h 6858000"/>
                  <a:gd name="connsiteX254" fmla="*/ 843517 w 4543952"/>
                  <a:gd name="connsiteY254" fmla="*/ 1624979 h 6858000"/>
                  <a:gd name="connsiteX255" fmla="*/ 786935 w 4543952"/>
                  <a:gd name="connsiteY255" fmla="*/ 1697752 h 6858000"/>
                  <a:gd name="connsiteX256" fmla="*/ 764267 w 4543952"/>
                  <a:gd name="connsiteY256" fmla="*/ 1733187 h 6858000"/>
                  <a:gd name="connsiteX257" fmla="*/ 722546 w 4543952"/>
                  <a:gd name="connsiteY257" fmla="*/ 1833774 h 6858000"/>
                  <a:gd name="connsiteX258" fmla="*/ 714925 w 4543952"/>
                  <a:gd name="connsiteY258" fmla="*/ 1842157 h 6858000"/>
                  <a:gd name="connsiteX259" fmla="*/ 624434 w 4543952"/>
                  <a:gd name="connsiteY259" fmla="*/ 1916453 h 6858000"/>
                  <a:gd name="connsiteX260" fmla="*/ 609004 w 4543952"/>
                  <a:gd name="connsiteY260" fmla="*/ 1933218 h 6858000"/>
                  <a:gd name="connsiteX261" fmla="*/ 584999 w 4543952"/>
                  <a:gd name="connsiteY261" fmla="*/ 1953412 h 6858000"/>
                  <a:gd name="connsiteX262" fmla="*/ 538516 w 4543952"/>
                  <a:gd name="connsiteY262" fmla="*/ 2016468 h 6858000"/>
                  <a:gd name="connsiteX263" fmla="*/ 523657 w 4543952"/>
                  <a:gd name="connsiteY263" fmla="*/ 2094577 h 6858000"/>
                  <a:gd name="connsiteX264" fmla="*/ 500986 w 4543952"/>
                  <a:gd name="connsiteY264" fmla="*/ 2188878 h 6858000"/>
                  <a:gd name="connsiteX265" fmla="*/ 485746 w 4543952"/>
                  <a:gd name="connsiteY265" fmla="*/ 2228313 h 6858000"/>
                  <a:gd name="connsiteX266" fmla="*/ 456789 w 4543952"/>
                  <a:gd name="connsiteY266" fmla="*/ 2334043 h 6858000"/>
                  <a:gd name="connsiteX267" fmla="*/ 432404 w 4543952"/>
                  <a:gd name="connsiteY267" fmla="*/ 2409484 h 6858000"/>
                  <a:gd name="connsiteX268" fmla="*/ 415303 w 4543952"/>
                  <a:gd name="connsiteY268" fmla="*/ 2435912 h 6858000"/>
                  <a:gd name="connsiteX269" fmla="*/ 415303 w 4543952"/>
                  <a:gd name="connsiteY269" fmla="*/ 2435912 h 6858000"/>
                  <a:gd name="connsiteX270" fmla="*/ 415303 w 4543952"/>
                  <a:gd name="connsiteY270" fmla="*/ 2435912 h 6858000"/>
                  <a:gd name="connsiteX271" fmla="*/ 414227 w 4543952"/>
                  <a:gd name="connsiteY271" fmla="*/ 2440915 h 6858000"/>
                  <a:gd name="connsiteX272" fmla="*/ 409472 w 4543952"/>
                  <a:gd name="connsiteY272" fmla="*/ 2463016 h 6858000"/>
                  <a:gd name="connsiteX273" fmla="*/ 409472 w 4543952"/>
                  <a:gd name="connsiteY273" fmla="*/ 2463017 h 6858000"/>
                  <a:gd name="connsiteX274" fmla="*/ 411535 w 4543952"/>
                  <a:gd name="connsiteY274" fmla="*/ 2490550 h 6858000"/>
                  <a:gd name="connsiteX275" fmla="*/ 418115 w 4543952"/>
                  <a:gd name="connsiteY275" fmla="*/ 2518261 h 6858000"/>
                  <a:gd name="connsiteX276" fmla="*/ 418115 w 4543952"/>
                  <a:gd name="connsiteY276" fmla="*/ 2518264 h 6858000"/>
                  <a:gd name="connsiteX277" fmla="*/ 421759 w 4543952"/>
                  <a:gd name="connsiteY277" fmla="*/ 2545006 h 6858000"/>
                  <a:gd name="connsiteX278" fmla="*/ 417545 w 4543952"/>
                  <a:gd name="connsiteY278" fmla="*/ 2571033 h 6858000"/>
                  <a:gd name="connsiteX279" fmla="*/ 344391 w 4543952"/>
                  <a:gd name="connsiteY279" fmla="*/ 2668000 h 6858000"/>
                  <a:gd name="connsiteX280" fmla="*/ 296001 w 4543952"/>
                  <a:gd name="connsiteY280" fmla="*/ 2745347 h 6858000"/>
                  <a:gd name="connsiteX281" fmla="*/ 296001 w 4543952"/>
                  <a:gd name="connsiteY281" fmla="*/ 2745348 h 6858000"/>
                  <a:gd name="connsiteX282" fmla="*/ 344391 w 4543952"/>
                  <a:gd name="connsiteY282" fmla="*/ 2668001 h 6858000"/>
                  <a:gd name="connsiteX283" fmla="*/ 417545 w 4543952"/>
                  <a:gd name="connsiteY283" fmla="*/ 2571034 h 6858000"/>
                  <a:gd name="connsiteX284" fmla="*/ 421760 w 4543952"/>
                  <a:gd name="connsiteY284" fmla="*/ 2545006 h 6858000"/>
                  <a:gd name="connsiteX285" fmla="*/ 421759 w 4543952"/>
                  <a:gd name="connsiteY285" fmla="*/ 2545006 h 6858000"/>
                  <a:gd name="connsiteX286" fmla="*/ 421760 w 4543952"/>
                  <a:gd name="connsiteY286" fmla="*/ 2545005 h 6858000"/>
                  <a:gd name="connsiteX287" fmla="*/ 418115 w 4543952"/>
                  <a:gd name="connsiteY287" fmla="*/ 2518263 h 6858000"/>
                  <a:gd name="connsiteX288" fmla="*/ 418115 w 4543952"/>
                  <a:gd name="connsiteY288" fmla="*/ 2518261 h 6858000"/>
                  <a:gd name="connsiteX289" fmla="*/ 409472 w 4543952"/>
                  <a:gd name="connsiteY289" fmla="*/ 2463017 h 6858000"/>
                  <a:gd name="connsiteX290" fmla="*/ 414227 w 4543952"/>
                  <a:gd name="connsiteY290" fmla="*/ 2440915 h 6858000"/>
                  <a:gd name="connsiteX291" fmla="*/ 415303 w 4543952"/>
                  <a:gd name="connsiteY291" fmla="*/ 2435912 h 6858000"/>
                  <a:gd name="connsiteX292" fmla="*/ 432404 w 4543952"/>
                  <a:gd name="connsiteY292" fmla="*/ 2409485 h 6858000"/>
                  <a:gd name="connsiteX293" fmla="*/ 456789 w 4543952"/>
                  <a:gd name="connsiteY293" fmla="*/ 2334044 h 6858000"/>
                  <a:gd name="connsiteX294" fmla="*/ 485746 w 4543952"/>
                  <a:gd name="connsiteY294" fmla="*/ 2228314 h 6858000"/>
                  <a:gd name="connsiteX295" fmla="*/ 500986 w 4543952"/>
                  <a:gd name="connsiteY295" fmla="*/ 2188879 h 6858000"/>
                  <a:gd name="connsiteX296" fmla="*/ 523657 w 4543952"/>
                  <a:gd name="connsiteY296" fmla="*/ 2094578 h 6858000"/>
                  <a:gd name="connsiteX297" fmla="*/ 538516 w 4543952"/>
                  <a:gd name="connsiteY297" fmla="*/ 2016469 h 6858000"/>
                  <a:gd name="connsiteX298" fmla="*/ 584999 w 4543952"/>
                  <a:gd name="connsiteY298" fmla="*/ 1953413 h 6858000"/>
                  <a:gd name="connsiteX299" fmla="*/ 609004 w 4543952"/>
                  <a:gd name="connsiteY299" fmla="*/ 1933219 h 6858000"/>
                  <a:gd name="connsiteX300" fmla="*/ 624434 w 4543952"/>
                  <a:gd name="connsiteY300" fmla="*/ 1916454 h 6858000"/>
                  <a:gd name="connsiteX301" fmla="*/ 714925 w 4543952"/>
                  <a:gd name="connsiteY301" fmla="*/ 1842158 h 6858000"/>
                  <a:gd name="connsiteX302" fmla="*/ 722546 w 4543952"/>
                  <a:gd name="connsiteY302" fmla="*/ 1833775 h 6858000"/>
                  <a:gd name="connsiteX303" fmla="*/ 764267 w 4543952"/>
                  <a:gd name="connsiteY303" fmla="*/ 1733188 h 6858000"/>
                  <a:gd name="connsiteX304" fmla="*/ 786936 w 4543952"/>
                  <a:gd name="connsiteY304" fmla="*/ 1697753 h 6858000"/>
                  <a:gd name="connsiteX305" fmla="*/ 843517 w 4543952"/>
                  <a:gd name="connsiteY305" fmla="*/ 1624980 h 6858000"/>
                  <a:gd name="connsiteX306" fmla="*/ 845422 w 4543952"/>
                  <a:gd name="connsiteY306" fmla="*/ 1596213 h 6858000"/>
                  <a:gd name="connsiteX307" fmla="*/ 798723 w 4543952"/>
                  <a:gd name="connsiteY307" fmla="*/ 1459072 h 6858000"/>
                  <a:gd name="connsiteX308" fmla="*/ 807941 w 4543952"/>
                  <a:gd name="connsiteY308" fmla="*/ 1481571 h 6858000"/>
                  <a:gd name="connsiteX309" fmla="*/ 798724 w 4543952"/>
                  <a:gd name="connsiteY309" fmla="*/ 1459073 h 6858000"/>
                  <a:gd name="connsiteX310" fmla="*/ 779530 w 4543952"/>
                  <a:gd name="connsiteY310" fmla="*/ 1268757 h 6858000"/>
                  <a:gd name="connsiteX311" fmla="*/ 774363 w 4543952"/>
                  <a:gd name="connsiteY311" fmla="*/ 1286068 h 6858000"/>
                  <a:gd name="connsiteX312" fmla="*/ 752025 w 4543952"/>
                  <a:gd name="connsiteY312" fmla="*/ 1350626 h 6858000"/>
                  <a:gd name="connsiteX313" fmla="*/ 757620 w 4543952"/>
                  <a:gd name="connsiteY313" fmla="*/ 1413839 h 6858000"/>
                  <a:gd name="connsiteX314" fmla="*/ 752026 w 4543952"/>
                  <a:gd name="connsiteY314" fmla="*/ 1350627 h 6858000"/>
                  <a:gd name="connsiteX315" fmla="*/ 774363 w 4543952"/>
                  <a:gd name="connsiteY315" fmla="*/ 1286069 h 6858000"/>
                  <a:gd name="connsiteX316" fmla="*/ 779530 w 4543952"/>
                  <a:gd name="connsiteY316" fmla="*/ 1268757 h 6858000"/>
                  <a:gd name="connsiteX317" fmla="*/ 837801 w 4543952"/>
                  <a:gd name="connsiteY317" fmla="*/ 773034 h 6858000"/>
                  <a:gd name="connsiteX318" fmla="*/ 829801 w 4543952"/>
                  <a:gd name="connsiteY318" fmla="*/ 854378 h 6858000"/>
                  <a:gd name="connsiteX319" fmla="*/ 798747 w 4543952"/>
                  <a:gd name="connsiteY319" fmla="*/ 915342 h 6858000"/>
                  <a:gd name="connsiteX320" fmla="*/ 788269 w 4543952"/>
                  <a:gd name="connsiteY320" fmla="*/ 927154 h 6858000"/>
                  <a:gd name="connsiteX321" fmla="*/ 791889 w 4543952"/>
                  <a:gd name="connsiteY321" fmla="*/ 1097086 h 6858000"/>
                  <a:gd name="connsiteX322" fmla="*/ 796271 w 4543952"/>
                  <a:gd name="connsiteY322" fmla="*/ 1123184 h 6858000"/>
                  <a:gd name="connsiteX323" fmla="*/ 771553 w 4543952"/>
                  <a:gd name="connsiteY323" fmla="*/ 1184028 h 6858000"/>
                  <a:gd name="connsiteX324" fmla="*/ 796272 w 4543952"/>
                  <a:gd name="connsiteY324" fmla="*/ 1123185 h 6858000"/>
                  <a:gd name="connsiteX325" fmla="*/ 791890 w 4543952"/>
                  <a:gd name="connsiteY325" fmla="*/ 1097087 h 6858000"/>
                  <a:gd name="connsiteX326" fmla="*/ 788270 w 4543952"/>
                  <a:gd name="connsiteY326" fmla="*/ 927155 h 6858000"/>
                  <a:gd name="connsiteX327" fmla="*/ 798748 w 4543952"/>
                  <a:gd name="connsiteY327" fmla="*/ 915343 h 6858000"/>
                  <a:gd name="connsiteX328" fmla="*/ 829801 w 4543952"/>
                  <a:gd name="connsiteY328" fmla="*/ 854379 h 6858000"/>
                  <a:gd name="connsiteX329" fmla="*/ 837801 w 4543952"/>
                  <a:gd name="connsiteY329" fmla="*/ 773035 h 6858000"/>
                  <a:gd name="connsiteX330" fmla="*/ 782400 w 4543952"/>
                  <a:gd name="connsiteY330" fmla="*/ 517850 h 6858000"/>
                  <a:gd name="connsiteX331" fmla="*/ 791317 w 4543952"/>
                  <a:gd name="connsiteY331" fmla="*/ 556046 h 6858000"/>
                  <a:gd name="connsiteX332" fmla="*/ 797795 w 4543952"/>
                  <a:gd name="connsiteY332" fmla="*/ 580049 h 6858000"/>
                  <a:gd name="connsiteX333" fmla="*/ 801176 w 4543952"/>
                  <a:gd name="connsiteY333" fmla="*/ 642536 h 6858000"/>
                  <a:gd name="connsiteX334" fmla="*/ 813700 w 4543952"/>
                  <a:gd name="connsiteY334" fmla="*/ 694927 h 6858000"/>
                  <a:gd name="connsiteX335" fmla="*/ 801177 w 4543952"/>
                  <a:gd name="connsiteY335" fmla="*/ 642537 h 6858000"/>
                  <a:gd name="connsiteX336" fmla="*/ 797796 w 4543952"/>
                  <a:gd name="connsiteY336" fmla="*/ 580050 h 6858000"/>
                  <a:gd name="connsiteX337" fmla="*/ 791318 w 4543952"/>
                  <a:gd name="connsiteY337" fmla="*/ 556047 h 6858000"/>
                  <a:gd name="connsiteX338" fmla="*/ 783887 w 4543952"/>
                  <a:gd name="connsiteY338" fmla="*/ 313532 h 6858000"/>
                  <a:gd name="connsiteX339" fmla="*/ 786245 w 4543952"/>
                  <a:gd name="connsiteY339" fmla="*/ 324057 h 6858000"/>
                  <a:gd name="connsiteX340" fmla="*/ 784459 w 4543952"/>
                  <a:gd name="connsiteY340" fmla="*/ 338869 h 6858000"/>
                  <a:gd name="connsiteX341" fmla="*/ 784454 w 4543952"/>
                  <a:gd name="connsiteY341" fmla="*/ 338897 h 6858000"/>
                  <a:gd name="connsiteX342" fmla="*/ 778363 w 4543952"/>
                  <a:gd name="connsiteY342" fmla="*/ 367327 h 6858000"/>
                  <a:gd name="connsiteX343" fmla="*/ 774553 w 4543952"/>
                  <a:gd name="connsiteY343" fmla="*/ 395639 h 6858000"/>
                  <a:gd name="connsiteX344" fmla="*/ 784454 w 4543952"/>
                  <a:gd name="connsiteY344" fmla="*/ 338897 h 6858000"/>
                  <a:gd name="connsiteX345" fmla="*/ 784460 w 4543952"/>
                  <a:gd name="connsiteY345" fmla="*/ 338870 h 6858000"/>
                  <a:gd name="connsiteX346" fmla="*/ 783888 w 4543952"/>
                  <a:gd name="connsiteY346" fmla="*/ 313533 h 6858000"/>
                  <a:gd name="connsiteX347" fmla="*/ 761560 w 4543952"/>
                  <a:gd name="connsiteY347" fmla="*/ 281567 h 6858000"/>
                  <a:gd name="connsiteX348" fmla="*/ 766454 w 4543952"/>
                  <a:gd name="connsiteY348" fmla="*/ 295414 h 6858000"/>
                  <a:gd name="connsiteX349" fmla="*/ 766455 w 4543952"/>
                  <a:gd name="connsiteY349" fmla="*/ 295414 h 6858000"/>
                  <a:gd name="connsiteX350" fmla="*/ 774880 w 4543952"/>
                  <a:gd name="connsiteY350" fmla="*/ 24485 h 6858000"/>
                  <a:gd name="connsiteX351" fmla="*/ 777142 w 4543952"/>
                  <a:gd name="connsiteY351" fmla="*/ 74128 h 6858000"/>
                  <a:gd name="connsiteX352" fmla="*/ 767023 w 4543952"/>
                  <a:gd name="connsiteY352" fmla="*/ 151568 h 6858000"/>
                  <a:gd name="connsiteX353" fmla="*/ 766824 w 4543952"/>
                  <a:gd name="connsiteY353" fmla="*/ 153387 h 6858000"/>
                  <a:gd name="connsiteX354" fmla="*/ 763010 w 4543952"/>
                  <a:gd name="connsiteY354" fmla="*/ 177270 h 6858000"/>
                  <a:gd name="connsiteX355" fmla="*/ 758551 w 4543952"/>
                  <a:gd name="connsiteY355" fmla="*/ 228943 h 6858000"/>
                  <a:gd name="connsiteX356" fmla="*/ 766824 w 4543952"/>
                  <a:gd name="connsiteY356" fmla="*/ 153387 h 6858000"/>
                  <a:gd name="connsiteX357" fmla="*/ 771220 w 4543952"/>
                  <a:gd name="connsiteY357" fmla="*/ 125860 h 6858000"/>
                  <a:gd name="connsiteX358" fmla="*/ 777143 w 4543952"/>
                  <a:gd name="connsiteY358" fmla="*/ 74128 h 6858000"/>
                  <a:gd name="connsiteX359" fmla="*/ 313354 w 4543952"/>
                  <a:gd name="connsiteY359" fmla="*/ 0 h 6858000"/>
                  <a:gd name="connsiteX360" fmla="*/ 777461 w 4543952"/>
                  <a:gd name="connsiteY360" fmla="*/ 0 h 6858000"/>
                  <a:gd name="connsiteX361" fmla="*/ 774743 w 4543952"/>
                  <a:gd name="connsiteY361" fmla="*/ 21485 h 6858000"/>
                  <a:gd name="connsiteX362" fmla="*/ 777461 w 4543952"/>
                  <a:gd name="connsiteY362" fmla="*/ 0 h 6858000"/>
                  <a:gd name="connsiteX363" fmla="*/ 4543952 w 4543952"/>
                  <a:gd name="connsiteY363" fmla="*/ 1 h 6858000"/>
                  <a:gd name="connsiteX364" fmla="*/ 4543952 w 4543952"/>
                  <a:gd name="connsiteY364" fmla="*/ 6858000 h 6858000"/>
                  <a:gd name="connsiteX365" fmla="*/ 284400 w 4543952"/>
                  <a:gd name="connsiteY365" fmla="*/ 6858000 h 6858000"/>
                  <a:gd name="connsiteX366" fmla="*/ 112147 w 4543952"/>
                  <a:gd name="connsiteY366" fmla="*/ 6858000 h 6858000"/>
                  <a:gd name="connsiteX367" fmla="*/ 102447 w 4543952"/>
                  <a:gd name="connsiteY367" fmla="*/ 6815515 h 6858000"/>
                  <a:gd name="connsiteX368" fmla="*/ 83396 w 4543952"/>
                  <a:gd name="connsiteY368" fmla="*/ 6748457 h 6858000"/>
                  <a:gd name="connsiteX369" fmla="*/ 61870 w 4543952"/>
                  <a:gd name="connsiteY369" fmla="*/ 6584811 h 6858000"/>
                  <a:gd name="connsiteX370" fmla="*/ 41105 w 4543952"/>
                  <a:gd name="connsiteY370" fmla="*/ 6415832 h 6858000"/>
                  <a:gd name="connsiteX371" fmla="*/ 34247 w 4543952"/>
                  <a:gd name="connsiteY371" fmla="*/ 6323057 h 6858000"/>
                  <a:gd name="connsiteX372" fmla="*/ 23386 w 4543952"/>
                  <a:gd name="connsiteY372" fmla="*/ 6242092 h 6858000"/>
                  <a:gd name="connsiteX373" fmla="*/ 16528 w 4543952"/>
                  <a:gd name="connsiteY373" fmla="*/ 6171604 h 6858000"/>
                  <a:gd name="connsiteX374" fmla="*/ 2622 w 4543952"/>
                  <a:gd name="connsiteY374" fmla="*/ 6059396 h 6858000"/>
                  <a:gd name="connsiteX375" fmla="*/ 0 w 4543952"/>
                  <a:gd name="connsiteY375" fmla="*/ 6041768 h 6858000"/>
                  <a:gd name="connsiteX376" fmla="*/ 0 w 4543952"/>
                  <a:gd name="connsiteY376" fmla="*/ 6000936 h 6858000"/>
                  <a:gd name="connsiteX377" fmla="*/ 3670 w 4543952"/>
                  <a:gd name="connsiteY377" fmla="*/ 5957594 h 6858000"/>
                  <a:gd name="connsiteX378" fmla="*/ 0 w 4543952"/>
                  <a:gd name="connsiteY378" fmla="*/ 5912510 h 6858000"/>
                  <a:gd name="connsiteX379" fmla="*/ 0 w 4543952"/>
                  <a:gd name="connsiteY379" fmla="*/ 5886400 h 6858000"/>
                  <a:gd name="connsiteX380" fmla="*/ 1098 w 4543952"/>
                  <a:gd name="connsiteY380" fmla="*/ 5864317 h 6858000"/>
                  <a:gd name="connsiteX381" fmla="*/ 24720 w 4543952"/>
                  <a:gd name="connsiteY381" fmla="*/ 5790591 h 6858000"/>
                  <a:gd name="connsiteX382" fmla="*/ 26434 w 4543952"/>
                  <a:gd name="connsiteY382" fmla="*/ 5781829 h 6858000"/>
                  <a:gd name="connsiteX383" fmla="*/ 35771 w 4543952"/>
                  <a:gd name="connsiteY383" fmla="*/ 5733439 h 6858000"/>
                  <a:gd name="connsiteX384" fmla="*/ 38819 w 4543952"/>
                  <a:gd name="connsiteY384" fmla="*/ 5706958 h 6858000"/>
                  <a:gd name="connsiteX385" fmla="*/ 58250 w 4543952"/>
                  <a:gd name="connsiteY385" fmla="*/ 5606371 h 6858000"/>
                  <a:gd name="connsiteX386" fmla="*/ 67394 w 4543952"/>
                  <a:gd name="connsiteY386" fmla="*/ 5548459 h 6858000"/>
                  <a:gd name="connsiteX387" fmla="*/ 66060 w 4543952"/>
                  <a:gd name="connsiteY387" fmla="*/ 5501593 h 6858000"/>
                  <a:gd name="connsiteX388" fmla="*/ 64346 w 4543952"/>
                  <a:gd name="connsiteY388" fmla="*/ 5419294 h 6858000"/>
                  <a:gd name="connsiteX389" fmla="*/ 59964 w 4543952"/>
                  <a:gd name="connsiteY389" fmla="*/ 5393004 h 6858000"/>
                  <a:gd name="connsiteX390" fmla="*/ 72538 w 4543952"/>
                  <a:gd name="connsiteY390" fmla="*/ 5274128 h 6858000"/>
                  <a:gd name="connsiteX391" fmla="*/ 73490 w 4543952"/>
                  <a:gd name="connsiteY391" fmla="*/ 5206307 h 6858000"/>
                  <a:gd name="connsiteX392" fmla="*/ 89113 w 4543952"/>
                  <a:gd name="connsiteY392" fmla="*/ 5129915 h 6858000"/>
                  <a:gd name="connsiteX393" fmla="*/ 88351 w 4543952"/>
                  <a:gd name="connsiteY393" fmla="*/ 5107626 h 6858000"/>
                  <a:gd name="connsiteX394" fmla="*/ 87016 w 4543952"/>
                  <a:gd name="connsiteY394" fmla="*/ 5082669 h 6858000"/>
                  <a:gd name="connsiteX395" fmla="*/ 85872 w 4543952"/>
                  <a:gd name="connsiteY395" fmla="*/ 5006085 h 6858000"/>
                  <a:gd name="connsiteX396" fmla="*/ 80158 w 4543952"/>
                  <a:gd name="connsiteY396" fmla="*/ 4959601 h 6858000"/>
                  <a:gd name="connsiteX397" fmla="*/ 83586 w 4543952"/>
                  <a:gd name="connsiteY397" fmla="*/ 4871018 h 6858000"/>
                  <a:gd name="connsiteX398" fmla="*/ 78634 w 4543952"/>
                  <a:gd name="connsiteY398" fmla="*/ 4838249 h 6858000"/>
                  <a:gd name="connsiteX399" fmla="*/ 78062 w 4543952"/>
                  <a:gd name="connsiteY399" fmla="*/ 4755380 h 6858000"/>
                  <a:gd name="connsiteX400" fmla="*/ 80920 w 4543952"/>
                  <a:gd name="connsiteY400" fmla="*/ 4681082 h 6858000"/>
                  <a:gd name="connsiteX401" fmla="*/ 79396 w 4543952"/>
                  <a:gd name="connsiteY401" fmla="*/ 4609451 h 6858000"/>
                  <a:gd name="connsiteX402" fmla="*/ 73110 w 4543952"/>
                  <a:gd name="connsiteY402" fmla="*/ 4558206 h 6858000"/>
                  <a:gd name="connsiteX403" fmla="*/ 69300 w 4543952"/>
                  <a:gd name="connsiteY403" fmla="*/ 4502578 h 6858000"/>
                  <a:gd name="connsiteX404" fmla="*/ 46629 w 4543952"/>
                  <a:gd name="connsiteY404" fmla="*/ 4349221 h 6858000"/>
                  <a:gd name="connsiteX405" fmla="*/ 52153 w 4543952"/>
                  <a:gd name="connsiteY405" fmla="*/ 4320836 h 6858000"/>
                  <a:gd name="connsiteX406" fmla="*/ 57297 w 4543952"/>
                  <a:gd name="connsiteY406" fmla="*/ 4159666 h 6858000"/>
                  <a:gd name="connsiteX407" fmla="*/ 56915 w 4543952"/>
                  <a:gd name="connsiteY407" fmla="*/ 4124613 h 6858000"/>
                  <a:gd name="connsiteX408" fmla="*/ 79396 w 4543952"/>
                  <a:gd name="connsiteY408" fmla="*/ 4030502 h 6858000"/>
                  <a:gd name="connsiteX409" fmla="*/ 43771 w 4543952"/>
                  <a:gd name="connsiteY409" fmla="*/ 3885337 h 6858000"/>
                  <a:gd name="connsiteX410" fmla="*/ 426 w 4543952"/>
                  <a:gd name="connsiteY410" fmla="*/ 3786776 h 6858000"/>
                  <a:gd name="connsiteX411" fmla="*/ 0 w 4543952"/>
                  <a:gd name="connsiteY411" fmla="*/ 3773896 h 6858000"/>
                  <a:gd name="connsiteX412" fmla="*/ 0 w 4543952"/>
                  <a:gd name="connsiteY412" fmla="*/ 3393881 h 6858000"/>
                  <a:gd name="connsiteX413" fmla="*/ 11838 w 4543952"/>
                  <a:gd name="connsiteY413" fmla="*/ 3359515 h 6858000"/>
                  <a:gd name="connsiteX414" fmla="*/ 12910 w 4543952"/>
                  <a:gd name="connsiteY414" fmla="*/ 3318770 h 6858000"/>
                  <a:gd name="connsiteX415" fmla="*/ 6718 w 4543952"/>
                  <a:gd name="connsiteY415" fmla="*/ 3304078 h 6858000"/>
                  <a:gd name="connsiteX416" fmla="*/ 0 w 4543952"/>
                  <a:gd name="connsiteY416" fmla="*/ 3297656 h 6858000"/>
                  <a:gd name="connsiteX417" fmla="*/ 0 w 4543952"/>
                  <a:gd name="connsiteY417" fmla="*/ 3207866 h 6858000"/>
                  <a:gd name="connsiteX418" fmla="*/ 15553 w 4543952"/>
                  <a:gd name="connsiteY418" fmla="*/ 3186770 h 6858000"/>
                  <a:gd name="connsiteX419" fmla="*/ 36341 w 4543952"/>
                  <a:gd name="connsiteY419" fmla="*/ 3107499 h 6858000"/>
                  <a:gd name="connsiteX420" fmla="*/ 38057 w 4543952"/>
                  <a:gd name="connsiteY420" fmla="*/ 3042727 h 6858000"/>
                  <a:gd name="connsiteX421" fmla="*/ 54249 w 4543952"/>
                  <a:gd name="connsiteY421" fmla="*/ 2901942 h 6858000"/>
                  <a:gd name="connsiteX422" fmla="*/ 77300 w 4543952"/>
                  <a:gd name="connsiteY422" fmla="*/ 2809929 h 6858000"/>
                  <a:gd name="connsiteX423" fmla="*/ 103399 w 4543952"/>
                  <a:gd name="connsiteY423" fmla="*/ 2743825 h 6858000"/>
                  <a:gd name="connsiteX424" fmla="*/ 137500 w 4543952"/>
                  <a:gd name="connsiteY424" fmla="*/ 2649142 h 6858000"/>
                  <a:gd name="connsiteX425" fmla="*/ 155217 w 4543952"/>
                  <a:gd name="connsiteY425" fmla="*/ 2554078 h 6858000"/>
                  <a:gd name="connsiteX426" fmla="*/ 177507 w 4543952"/>
                  <a:gd name="connsiteY426" fmla="*/ 2485306 h 6858000"/>
                  <a:gd name="connsiteX427" fmla="*/ 192748 w 4543952"/>
                  <a:gd name="connsiteY427" fmla="*/ 2401291 h 6858000"/>
                  <a:gd name="connsiteX428" fmla="*/ 193318 w 4543952"/>
                  <a:gd name="connsiteY428" fmla="*/ 2330805 h 6858000"/>
                  <a:gd name="connsiteX429" fmla="*/ 190652 w 4543952"/>
                  <a:gd name="connsiteY429" fmla="*/ 2220311 h 6858000"/>
                  <a:gd name="connsiteX430" fmla="*/ 236753 w 4543952"/>
                  <a:gd name="connsiteY430" fmla="*/ 2085053 h 6858000"/>
                  <a:gd name="connsiteX431" fmla="*/ 247042 w 4543952"/>
                  <a:gd name="connsiteY431" fmla="*/ 2030377 h 6858000"/>
                  <a:gd name="connsiteX432" fmla="*/ 251804 w 4543952"/>
                  <a:gd name="connsiteY432" fmla="*/ 1978939 h 6858000"/>
                  <a:gd name="connsiteX433" fmla="*/ 282475 w 4543952"/>
                  <a:gd name="connsiteY433" fmla="*/ 1869779 h 6858000"/>
                  <a:gd name="connsiteX434" fmla="*/ 292573 w 4543952"/>
                  <a:gd name="connsiteY434" fmla="*/ 1825392 h 6858000"/>
                  <a:gd name="connsiteX435" fmla="*/ 292381 w 4543952"/>
                  <a:gd name="connsiteY435" fmla="*/ 1763286 h 6858000"/>
                  <a:gd name="connsiteX436" fmla="*/ 306480 w 4543952"/>
                  <a:gd name="connsiteY436" fmla="*/ 1650316 h 6858000"/>
                  <a:gd name="connsiteX437" fmla="*/ 347629 w 4543952"/>
                  <a:gd name="connsiteY437" fmla="*/ 1537536 h 6858000"/>
                  <a:gd name="connsiteX438" fmla="*/ 343629 w 4543952"/>
                  <a:gd name="connsiteY438" fmla="*/ 1489719 h 6858000"/>
                  <a:gd name="connsiteX439" fmla="*/ 344581 w 4543952"/>
                  <a:gd name="connsiteY439" fmla="*/ 1472574 h 6858000"/>
                  <a:gd name="connsiteX440" fmla="*/ 367252 w 4543952"/>
                  <a:gd name="connsiteY440" fmla="*/ 1318455 h 6858000"/>
                  <a:gd name="connsiteX441" fmla="*/ 369728 w 4543952"/>
                  <a:gd name="connsiteY441" fmla="*/ 1303023 h 6858000"/>
                  <a:gd name="connsiteX442" fmla="*/ 389921 w 4543952"/>
                  <a:gd name="connsiteY442" fmla="*/ 1230632 h 6858000"/>
                  <a:gd name="connsiteX443" fmla="*/ 402495 w 4543952"/>
                  <a:gd name="connsiteY443" fmla="*/ 1048124 h 6858000"/>
                  <a:gd name="connsiteX444" fmla="*/ 404019 w 4543952"/>
                  <a:gd name="connsiteY444" fmla="*/ 1036886 h 6858000"/>
                  <a:gd name="connsiteX445" fmla="*/ 393923 w 4543952"/>
                  <a:gd name="connsiteY445" fmla="*/ 975732 h 6858000"/>
                  <a:gd name="connsiteX446" fmla="*/ 379634 w 4543952"/>
                  <a:gd name="connsiteY446" fmla="*/ 945443 h 6858000"/>
                  <a:gd name="connsiteX447" fmla="*/ 364774 w 4543952"/>
                  <a:gd name="connsiteY447" fmla="*/ 898197 h 6858000"/>
                  <a:gd name="connsiteX448" fmla="*/ 359250 w 4543952"/>
                  <a:gd name="connsiteY448" fmla="*/ 850188 h 6858000"/>
                  <a:gd name="connsiteX449" fmla="*/ 381730 w 4543952"/>
                  <a:gd name="connsiteY449" fmla="*/ 769604 h 6858000"/>
                  <a:gd name="connsiteX450" fmla="*/ 384016 w 4543952"/>
                  <a:gd name="connsiteY450" fmla="*/ 740267 h 6858000"/>
                  <a:gd name="connsiteX451" fmla="*/ 394875 w 4543952"/>
                  <a:gd name="connsiteY451" fmla="*/ 674922 h 6858000"/>
                  <a:gd name="connsiteX452" fmla="*/ 394113 w 4543952"/>
                  <a:gd name="connsiteY452" fmla="*/ 617771 h 6858000"/>
                  <a:gd name="connsiteX453" fmla="*/ 376776 w 4543952"/>
                  <a:gd name="connsiteY453" fmla="*/ 571859 h 6858000"/>
                  <a:gd name="connsiteX454" fmla="*/ 373348 w 4543952"/>
                  <a:gd name="connsiteY454" fmla="*/ 505181 h 6858000"/>
                  <a:gd name="connsiteX455" fmla="*/ 385920 w 4543952"/>
                  <a:gd name="connsiteY455" fmla="*/ 462125 h 6858000"/>
                  <a:gd name="connsiteX456" fmla="*/ 387634 w 4543952"/>
                  <a:gd name="connsiteY456" fmla="*/ 453363 h 6858000"/>
                  <a:gd name="connsiteX457" fmla="*/ 388399 w 4543952"/>
                  <a:gd name="connsiteY457" fmla="*/ 340773 h 6858000"/>
                  <a:gd name="connsiteX458" fmla="*/ 350487 w 4543952"/>
                  <a:gd name="connsiteY458" fmla="*/ 200181 h 6858000"/>
                  <a:gd name="connsiteX459" fmla="*/ 342485 w 4543952"/>
                  <a:gd name="connsiteY459" fmla="*/ 176938 h 6858000"/>
                  <a:gd name="connsiteX460" fmla="*/ 328579 w 4543952"/>
                  <a:gd name="connsiteY460" fmla="*/ 63586 h 6858000"/>
                  <a:gd name="connsiteX461" fmla="*/ 314480 w 4543952"/>
                  <a:gd name="connsiteY461" fmla="*/ 28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Lst>
                <a:rect l="l" t="t" r="r" b="b"/>
                <a:pathLst>
                  <a:path w="4543952" h="6858000">
                    <a:moveTo>
                      <a:pt x="328959" y="6564619"/>
                    </a:moveTo>
                    <a:lnTo>
                      <a:pt x="306480" y="6588624"/>
                    </a:lnTo>
                    <a:cubicBezTo>
                      <a:pt x="298003" y="6597577"/>
                      <a:pt x="291954" y="6611341"/>
                      <a:pt x="289858" y="6625223"/>
                    </a:cubicBezTo>
                    <a:lnTo>
                      <a:pt x="289858" y="6625224"/>
                    </a:lnTo>
                    <a:lnTo>
                      <a:pt x="289870" y="6645551"/>
                    </a:lnTo>
                    <a:lnTo>
                      <a:pt x="296953" y="6662539"/>
                    </a:lnTo>
                    <a:lnTo>
                      <a:pt x="296953" y="6662541"/>
                    </a:lnTo>
                    <a:lnTo>
                      <a:pt x="296954" y="6662543"/>
                    </a:lnTo>
                    <a:lnTo>
                      <a:pt x="311551" y="6702975"/>
                    </a:lnTo>
                    <a:lnTo>
                      <a:pt x="297715" y="6742551"/>
                    </a:lnTo>
                    <a:lnTo>
                      <a:pt x="297714" y="6742554"/>
                    </a:lnTo>
                    <a:lnTo>
                      <a:pt x="283011" y="6776799"/>
                    </a:lnTo>
                    <a:lnTo>
                      <a:pt x="278238" y="6812061"/>
                    </a:lnTo>
                    <a:lnTo>
                      <a:pt x="278237" y="6812062"/>
                    </a:lnTo>
                    <a:lnTo>
                      <a:pt x="278237" y="6812063"/>
                    </a:lnTo>
                    <a:lnTo>
                      <a:pt x="278238" y="6812061"/>
                    </a:lnTo>
                    <a:lnTo>
                      <a:pt x="297714" y="6742554"/>
                    </a:lnTo>
                    <a:lnTo>
                      <a:pt x="297715" y="6742552"/>
                    </a:lnTo>
                    <a:cubicBezTo>
                      <a:pt x="306003" y="6729218"/>
                      <a:pt x="311147" y="6716168"/>
                      <a:pt x="311551" y="6702976"/>
                    </a:cubicBezTo>
                    <a:lnTo>
                      <a:pt x="311551" y="6702975"/>
                    </a:lnTo>
                    <a:lnTo>
                      <a:pt x="308405" y="6683026"/>
                    </a:lnTo>
                    <a:lnTo>
                      <a:pt x="296954" y="6662543"/>
                    </a:lnTo>
                    <a:lnTo>
                      <a:pt x="296953" y="6662540"/>
                    </a:lnTo>
                    <a:lnTo>
                      <a:pt x="296953" y="6662539"/>
                    </a:lnTo>
                    <a:lnTo>
                      <a:pt x="289858" y="6625224"/>
                    </a:lnTo>
                    <a:lnTo>
                      <a:pt x="306480" y="6588625"/>
                    </a:lnTo>
                    <a:cubicBezTo>
                      <a:pt x="312576" y="6582146"/>
                      <a:pt x="318672" y="6575478"/>
                      <a:pt x="328959" y="6564620"/>
                    </a:cubicBezTo>
                    <a:close/>
                    <a:moveTo>
                      <a:pt x="248638" y="6438980"/>
                    </a:moveTo>
                    <a:cubicBezTo>
                      <a:pt x="258140" y="6444076"/>
                      <a:pt x="265617" y="6451649"/>
                      <a:pt x="268569" y="6463840"/>
                    </a:cubicBezTo>
                    <a:lnTo>
                      <a:pt x="268572" y="6463848"/>
                    </a:lnTo>
                    <a:lnTo>
                      <a:pt x="279556" y="6508051"/>
                    </a:lnTo>
                    <a:lnTo>
                      <a:pt x="282367" y="6513011"/>
                    </a:lnTo>
                    <a:lnTo>
                      <a:pt x="284834" y="6521803"/>
                    </a:lnTo>
                    <a:lnTo>
                      <a:pt x="301172" y="6546194"/>
                    </a:lnTo>
                    <a:lnTo>
                      <a:pt x="301172" y="6546193"/>
                    </a:lnTo>
                    <a:lnTo>
                      <a:pt x="282367" y="6513011"/>
                    </a:lnTo>
                    <a:lnTo>
                      <a:pt x="268572" y="6463848"/>
                    </a:lnTo>
                    <a:lnTo>
                      <a:pt x="268569" y="6463839"/>
                    </a:lnTo>
                    <a:close/>
                    <a:moveTo>
                      <a:pt x="166047" y="6392242"/>
                    </a:moveTo>
                    <a:lnTo>
                      <a:pt x="173364" y="6407332"/>
                    </a:lnTo>
                    <a:lnTo>
                      <a:pt x="173364" y="6407331"/>
                    </a:lnTo>
                    <a:close/>
                    <a:moveTo>
                      <a:pt x="401733" y="4221390"/>
                    </a:moveTo>
                    <a:lnTo>
                      <a:pt x="396017" y="4253013"/>
                    </a:lnTo>
                    <a:cubicBezTo>
                      <a:pt x="383824" y="4277400"/>
                      <a:pt x="368204" y="4300069"/>
                      <a:pt x="356201" y="4324644"/>
                    </a:cubicBezTo>
                    <a:cubicBezTo>
                      <a:pt x="350487" y="4336456"/>
                      <a:pt x="347439" y="4350553"/>
                      <a:pt x="347247" y="4363889"/>
                    </a:cubicBezTo>
                    <a:lnTo>
                      <a:pt x="347247" y="4363890"/>
                    </a:lnTo>
                    <a:cubicBezTo>
                      <a:pt x="346295" y="4403325"/>
                      <a:pt x="346295" y="4442761"/>
                      <a:pt x="348009" y="4482004"/>
                    </a:cubicBezTo>
                    <a:cubicBezTo>
                      <a:pt x="350677" y="4546776"/>
                      <a:pt x="351249" y="4612500"/>
                      <a:pt x="408019" y="4659174"/>
                    </a:cubicBezTo>
                    <a:cubicBezTo>
                      <a:pt x="412591" y="4662986"/>
                      <a:pt x="415259" y="4671176"/>
                      <a:pt x="416021" y="4677655"/>
                    </a:cubicBezTo>
                    <a:cubicBezTo>
                      <a:pt x="419640" y="4707564"/>
                      <a:pt x="420022" y="4738235"/>
                      <a:pt x="425928" y="4767764"/>
                    </a:cubicBezTo>
                    <a:lnTo>
                      <a:pt x="427237" y="4800482"/>
                    </a:lnTo>
                    <a:lnTo>
                      <a:pt x="412401" y="4828915"/>
                    </a:lnTo>
                    <a:cubicBezTo>
                      <a:pt x="404115" y="4837702"/>
                      <a:pt x="397114" y="4847213"/>
                      <a:pt x="391971" y="4857316"/>
                    </a:cubicBezTo>
                    <a:lnTo>
                      <a:pt x="390221" y="4863342"/>
                    </a:lnTo>
                    <a:lnTo>
                      <a:pt x="387469" y="4867613"/>
                    </a:lnTo>
                    <a:lnTo>
                      <a:pt x="382691" y="4889274"/>
                    </a:lnTo>
                    <a:lnTo>
                      <a:pt x="382691" y="4889275"/>
                    </a:lnTo>
                    <a:cubicBezTo>
                      <a:pt x="382122" y="4896713"/>
                      <a:pt x="382634" y="4904357"/>
                      <a:pt x="384396" y="4912168"/>
                    </a:cubicBezTo>
                    <a:lnTo>
                      <a:pt x="385799" y="4933804"/>
                    </a:lnTo>
                    <a:lnTo>
                      <a:pt x="378247" y="4957452"/>
                    </a:lnTo>
                    <a:lnTo>
                      <a:pt x="360964" y="4987036"/>
                    </a:lnTo>
                    <a:cubicBezTo>
                      <a:pt x="349725" y="5003800"/>
                      <a:pt x="335627" y="5022851"/>
                      <a:pt x="334485" y="5041520"/>
                    </a:cubicBezTo>
                    <a:cubicBezTo>
                      <a:pt x="333557" y="5057380"/>
                      <a:pt x="327458" y="5072410"/>
                      <a:pt x="321371" y="5087422"/>
                    </a:cubicBezTo>
                    <a:lnTo>
                      <a:pt x="321364" y="5087449"/>
                    </a:lnTo>
                    <a:lnTo>
                      <a:pt x="315482" y="5102460"/>
                    </a:lnTo>
                    <a:lnTo>
                      <a:pt x="308338" y="5133219"/>
                    </a:lnTo>
                    <a:lnTo>
                      <a:pt x="308337" y="5133223"/>
                    </a:lnTo>
                    <a:lnTo>
                      <a:pt x="308337" y="5133224"/>
                    </a:lnTo>
                    <a:lnTo>
                      <a:pt x="315052" y="5166113"/>
                    </a:lnTo>
                    <a:lnTo>
                      <a:pt x="314362" y="5172089"/>
                    </a:lnTo>
                    <a:cubicBezTo>
                      <a:pt x="313481" y="5174399"/>
                      <a:pt x="312290" y="5176875"/>
                      <a:pt x="311814" y="5179066"/>
                    </a:cubicBezTo>
                    <a:lnTo>
                      <a:pt x="311814" y="5179067"/>
                    </a:lnTo>
                    <a:cubicBezTo>
                      <a:pt x="304574" y="5214121"/>
                      <a:pt x="311624" y="5247078"/>
                      <a:pt x="335437" y="5272796"/>
                    </a:cubicBezTo>
                    <a:lnTo>
                      <a:pt x="360397" y="5321350"/>
                    </a:lnTo>
                    <a:lnTo>
                      <a:pt x="364317" y="5355013"/>
                    </a:lnTo>
                    <a:lnTo>
                      <a:pt x="359440" y="5385383"/>
                    </a:lnTo>
                    <a:cubicBezTo>
                      <a:pt x="356201" y="5398720"/>
                      <a:pt x="353915" y="5412056"/>
                      <a:pt x="351249" y="5425581"/>
                    </a:cubicBezTo>
                    <a:cubicBezTo>
                      <a:pt x="347439" y="5443869"/>
                      <a:pt x="343437" y="5462350"/>
                      <a:pt x="339627" y="5480636"/>
                    </a:cubicBezTo>
                    <a:cubicBezTo>
                      <a:pt x="337722" y="5489496"/>
                      <a:pt x="335151" y="5498831"/>
                      <a:pt x="335103" y="5507666"/>
                    </a:cubicBezTo>
                    <a:lnTo>
                      <a:pt x="335103" y="5507667"/>
                    </a:lnTo>
                    <a:lnTo>
                      <a:pt x="337324" y="5520421"/>
                    </a:lnTo>
                    <a:lnTo>
                      <a:pt x="345722" y="5531691"/>
                    </a:lnTo>
                    <a:lnTo>
                      <a:pt x="345723" y="5531693"/>
                    </a:lnTo>
                    <a:lnTo>
                      <a:pt x="355869" y="5547577"/>
                    </a:lnTo>
                    <a:lnTo>
                      <a:pt x="346295" y="5562745"/>
                    </a:lnTo>
                    <a:cubicBezTo>
                      <a:pt x="303622" y="5600466"/>
                      <a:pt x="276951" y="5646188"/>
                      <a:pt x="275047" y="5704482"/>
                    </a:cubicBezTo>
                    <a:cubicBezTo>
                      <a:pt x="274665" y="5716484"/>
                      <a:pt x="271999" y="5728677"/>
                      <a:pt x="269141" y="5740487"/>
                    </a:cubicBezTo>
                    <a:cubicBezTo>
                      <a:pt x="267426" y="5747727"/>
                      <a:pt x="265520" y="5756492"/>
                      <a:pt x="260376" y="5760872"/>
                    </a:cubicBezTo>
                    <a:cubicBezTo>
                      <a:pt x="221133" y="5794973"/>
                      <a:pt x="193890" y="5837456"/>
                      <a:pt x="171981" y="5883750"/>
                    </a:cubicBezTo>
                    <a:lnTo>
                      <a:pt x="171979" y="5883755"/>
                    </a:lnTo>
                    <a:lnTo>
                      <a:pt x="160957" y="5909350"/>
                    </a:lnTo>
                    <a:lnTo>
                      <a:pt x="154076" y="5935945"/>
                    </a:lnTo>
                    <a:lnTo>
                      <a:pt x="154075" y="5935948"/>
                    </a:lnTo>
                    <a:lnTo>
                      <a:pt x="154075" y="5935949"/>
                    </a:lnTo>
                    <a:lnTo>
                      <a:pt x="154242" y="5964476"/>
                    </a:lnTo>
                    <a:lnTo>
                      <a:pt x="157695" y="5993289"/>
                    </a:lnTo>
                    <a:lnTo>
                      <a:pt x="157695" y="5993291"/>
                    </a:lnTo>
                    <a:cubicBezTo>
                      <a:pt x="158837" y="6004531"/>
                      <a:pt x="158647" y="6017485"/>
                      <a:pt x="164171" y="6026440"/>
                    </a:cubicBezTo>
                    <a:cubicBezTo>
                      <a:pt x="181508" y="6054825"/>
                      <a:pt x="200176" y="6082258"/>
                      <a:pt x="220371" y="6108738"/>
                    </a:cubicBezTo>
                    <a:lnTo>
                      <a:pt x="234064" y="6133314"/>
                    </a:lnTo>
                    <a:lnTo>
                      <a:pt x="218468" y="6155599"/>
                    </a:lnTo>
                    <a:lnTo>
                      <a:pt x="218465" y="6155601"/>
                    </a:lnTo>
                    <a:cubicBezTo>
                      <a:pt x="196176" y="6175796"/>
                      <a:pt x="184556" y="6200943"/>
                      <a:pt x="179794" y="6228755"/>
                    </a:cubicBezTo>
                    <a:cubicBezTo>
                      <a:pt x="172363" y="6272763"/>
                      <a:pt x="166077" y="6317150"/>
                      <a:pt x="162457" y="6361538"/>
                    </a:cubicBezTo>
                    <a:lnTo>
                      <a:pt x="162457" y="6361539"/>
                    </a:lnTo>
                    <a:lnTo>
                      <a:pt x="179794" y="6228756"/>
                    </a:lnTo>
                    <a:cubicBezTo>
                      <a:pt x="184556" y="6200944"/>
                      <a:pt x="196176" y="6175797"/>
                      <a:pt x="218465" y="6155602"/>
                    </a:cubicBezTo>
                    <a:lnTo>
                      <a:pt x="218468" y="6155599"/>
                    </a:lnTo>
                    <a:lnTo>
                      <a:pt x="230364" y="6143189"/>
                    </a:lnTo>
                    <a:lnTo>
                      <a:pt x="234064" y="6133314"/>
                    </a:lnTo>
                    <a:lnTo>
                      <a:pt x="234064" y="6133313"/>
                    </a:lnTo>
                    <a:cubicBezTo>
                      <a:pt x="233993" y="6126883"/>
                      <a:pt x="229039" y="6120073"/>
                      <a:pt x="220371" y="6108737"/>
                    </a:cubicBezTo>
                    <a:cubicBezTo>
                      <a:pt x="200176" y="6082257"/>
                      <a:pt x="181508" y="6054824"/>
                      <a:pt x="164171" y="6026439"/>
                    </a:cubicBezTo>
                    <a:cubicBezTo>
                      <a:pt x="158647" y="6017484"/>
                      <a:pt x="158837" y="6004530"/>
                      <a:pt x="157695" y="5993290"/>
                    </a:cubicBezTo>
                    <a:lnTo>
                      <a:pt x="157695" y="5993289"/>
                    </a:lnTo>
                    <a:lnTo>
                      <a:pt x="154075" y="5935949"/>
                    </a:lnTo>
                    <a:lnTo>
                      <a:pt x="154076" y="5935945"/>
                    </a:lnTo>
                    <a:lnTo>
                      <a:pt x="171979" y="5883755"/>
                    </a:lnTo>
                    <a:lnTo>
                      <a:pt x="171981" y="5883751"/>
                    </a:lnTo>
                    <a:cubicBezTo>
                      <a:pt x="193890" y="5837457"/>
                      <a:pt x="221133" y="5794974"/>
                      <a:pt x="260376" y="5760873"/>
                    </a:cubicBezTo>
                    <a:cubicBezTo>
                      <a:pt x="265520" y="5756493"/>
                      <a:pt x="267426" y="5747728"/>
                      <a:pt x="269141" y="5740488"/>
                    </a:cubicBezTo>
                    <a:cubicBezTo>
                      <a:pt x="271999" y="5728678"/>
                      <a:pt x="274665" y="5716485"/>
                      <a:pt x="275047" y="5704483"/>
                    </a:cubicBezTo>
                    <a:cubicBezTo>
                      <a:pt x="276951" y="5646189"/>
                      <a:pt x="303622" y="5600467"/>
                      <a:pt x="346295" y="5562746"/>
                    </a:cubicBezTo>
                    <a:cubicBezTo>
                      <a:pt x="352392" y="5557317"/>
                      <a:pt x="355774" y="5552507"/>
                      <a:pt x="355869" y="5547578"/>
                    </a:cubicBezTo>
                    <a:lnTo>
                      <a:pt x="355869" y="5547577"/>
                    </a:lnTo>
                    <a:cubicBezTo>
                      <a:pt x="355964" y="5542648"/>
                      <a:pt x="352773" y="5537599"/>
                      <a:pt x="345723" y="5531692"/>
                    </a:cubicBezTo>
                    <a:lnTo>
                      <a:pt x="345722" y="5531691"/>
                    </a:lnTo>
                    <a:lnTo>
                      <a:pt x="335103" y="5507667"/>
                    </a:lnTo>
                    <a:lnTo>
                      <a:pt x="339627" y="5480637"/>
                    </a:lnTo>
                    <a:cubicBezTo>
                      <a:pt x="343437" y="5462351"/>
                      <a:pt x="347439" y="5443870"/>
                      <a:pt x="351249" y="5425582"/>
                    </a:cubicBezTo>
                    <a:cubicBezTo>
                      <a:pt x="353915" y="5412057"/>
                      <a:pt x="356201" y="5398721"/>
                      <a:pt x="359440" y="5385384"/>
                    </a:cubicBezTo>
                    <a:cubicBezTo>
                      <a:pt x="361965" y="5375002"/>
                      <a:pt x="363668" y="5364882"/>
                      <a:pt x="364317" y="5355014"/>
                    </a:cubicBezTo>
                    <a:lnTo>
                      <a:pt x="364317" y="5355013"/>
                    </a:lnTo>
                    <a:lnTo>
                      <a:pt x="362870" y="5326162"/>
                    </a:lnTo>
                    <a:lnTo>
                      <a:pt x="360397" y="5321350"/>
                    </a:lnTo>
                    <a:lnTo>
                      <a:pt x="359341" y="5312287"/>
                    </a:lnTo>
                    <a:cubicBezTo>
                      <a:pt x="354789" y="5298594"/>
                      <a:pt x="347082" y="5285440"/>
                      <a:pt x="335437" y="5272795"/>
                    </a:cubicBezTo>
                    <a:cubicBezTo>
                      <a:pt x="323531" y="5259936"/>
                      <a:pt x="315815" y="5245268"/>
                      <a:pt x="311981" y="5229432"/>
                    </a:cubicBezTo>
                    <a:lnTo>
                      <a:pt x="311814" y="5179067"/>
                    </a:lnTo>
                    <a:lnTo>
                      <a:pt x="314362" y="5172090"/>
                    </a:lnTo>
                    <a:cubicBezTo>
                      <a:pt x="315243" y="5169780"/>
                      <a:pt x="315814" y="5167637"/>
                      <a:pt x="315052" y="5166113"/>
                    </a:cubicBezTo>
                    <a:lnTo>
                      <a:pt x="315052" y="5166112"/>
                    </a:lnTo>
                    <a:lnTo>
                      <a:pt x="308337" y="5133224"/>
                    </a:lnTo>
                    <a:lnTo>
                      <a:pt x="308338" y="5133219"/>
                    </a:lnTo>
                    <a:lnTo>
                      <a:pt x="321364" y="5087449"/>
                    </a:lnTo>
                    <a:lnTo>
                      <a:pt x="327270" y="5072375"/>
                    </a:lnTo>
                    <a:cubicBezTo>
                      <a:pt x="330949" y="5062299"/>
                      <a:pt x="333866" y="5052095"/>
                      <a:pt x="334485" y="5041521"/>
                    </a:cubicBezTo>
                    <a:cubicBezTo>
                      <a:pt x="335627" y="5022852"/>
                      <a:pt x="349725" y="5003801"/>
                      <a:pt x="360964" y="4987037"/>
                    </a:cubicBezTo>
                    <a:cubicBezTo>
                      <a:pt x="366751" y="4978392"/>
                      <a:pt x="372458" y="4970096"/>
                      <a:pt x="376969" y="4961455"/>
                    </a:cubicBezTo>
                    <a:lnTo>
                      <a:pt x="378247" y="4957452"/>
                    </a:lnTo>
                    <a:lnTo>
                      <a:pt x="381039" y="4952672"/>
                    </a:lnTo>
                    <a:lnTo>
                      <a:pt x="385799" y="4933804"/>
                    </a:lnTo>
                    <a:cubicBezTo>
                      <a:pt x="386468" y="4927121"/>
                      <a:pt x="386111" y="4919978"/>
                      <a:pt x="384396" y="4912167"/>
                    </a:cubicBezTo>
                    <a:lnTo>
                      <a:pt x="382691" y="4889274"/>
                    </a:lnTo>
                    <a:lnTo>
                      <a:pt x="390221" y="4863342"/>
                    </a:lnTo>
                    <a:lnTo>
                      <a:pt x="412401" y="4828916"/>
                    </a:lnTo>
                    <a:cubicBezTo>
                      <a:pt x="420784" y="4819963"/>
                      <a:pt x="425356" y="4810580"/>
                      <a:pt x="427237" y="4800483"/>
                    </a:cubicBezTo>
                    <a:lnTo>
                      <a:pt x="427237" y="4800482"/>
                    </a:lnTo>
                    <a:cubicBezTo>
                      <a:pt x="429119" y="4790385"/>
                      <a:pt x="428309" y="4779574"/>
                      <a:pt x="425928" y="4767763"/>
                    </a:cubicBezTo>
                    <a:cubicBezTo>
                      <a:pt x="420022" y="4738234"/>
                      <a:pt x="419640" y="4707563"/>
                      <a:pt x="416021" y="4677654"/>
                    </a:cubicBezTo>
                    <a:cubicBezTo>
                      <a:pt x="415259" y="4671175"/>
                      <a:pt x="412591" y="4662985"/>
                      <a:pt x="408019" y="4659173"/>
                    </a:cubicBezTo>
                    <a:cubicBezTo>
                      <a:pt x="351249" y="4612499"/>
                      <a:pt x="350677" y="4546775"/>
                      <a:pt x="348009" y="4482003"/>
                    </a:cubicBezTo>
                    <a:lnTo>
                      <a:pt x="347247" y="4363890"/>
                    </a:lnTo>
                    <a:lnTo>
                      <a:pt x="356201" y="4324645"/>
                    </a:lnTo>
                    <a:cubicBezTo>
                      <a:pt x="368204" y="4300070"/>
                      <a:pt x="383824" y="4277401"/>
                      <a:pt x="396017" y="4253014"/>
                    </a:cubicBezTo>
                    <a:cubicBezTo>
                      <a:pt x="400781" y="4243872"/>
                      <a:pt x="400971" y="4232060"/>
                      <a:pt x="401733" y="4221391"/>
                    </a:cubicBezTo>
                    <a:close/>
                    <a:moveTo>
                      <a:pt x="332842" y="2836171"/>
                    </a:moveTo>
                    <a:lnTo>
                      <a:pt x="332842" y="2836172"/>
                    </a:lnTo>
                    <a:cubicBezTo>
                      <a:pt x="336914" y="2839982"/>
                      <a:pt x="340200" y="2844316"/>
                      <a:pt x="341533" y="2848793"/>
                    </a:cubicBezTo>
                    <a:lnTo>
                      <a:pt x="358166" y="2903544"/>
                    </a:lnTo>
                    <a:lnTo>
                      <a:pt x="366072" y="2947858"/>
                    </a:lnTo>
                    <a:lnTo>
                      <a:pt x="366072" y="2947862"/>
                    </a:lnTo>
                    <a:lnTo>
                      <a:pt x="362488" y="2982147"/>
                    </a:lnTo>
                    <a:cubicBezTo>
                      <a:pt x="354392" y="3014152"/>
                      <a:pt x="350582" y="3045776"/>
                      <a:pt x="350796" y="3077400"/>
                    </a:cubicBezTo>
                    <a:lnTo>
                      <a:pt x="350796" y="3077401"/>
                    </a:lnTo>
                    <a:cubicBezTo>
                      <a:pt x="351010" y="3109025"/>
                      <a:pt x="355249" y="3140649"/>
                      <a:pt x="363250" y="3172654"/>
                    </a:cubicBezTo>
                    <a:cubicBezTo>
                      <a:pt x="389159" y="3276480"/>
                      <a:pt x="416591" y="3380305"/>
                      <a:pt x="410877" y="3489467"/>
                    </a:cubicBezTo>
                    <a:cubicBezTo>
                      <a:pt x="409925" y="3507563"/>
                      <a:pt x="421546" y="3529090"/>
                      <a:pt x="432976" y="3544713"/>
                    </a:cubicBezTo>
                    <a:cubicBezTo>
                      <a:pt x="438406" y="3552190"/>
                      <a:pt x="442585" y="3557715"/>
                      <a:pt x="445520" y="3562320"/>
                    </a:cubicBezTo>
                    <a:lnTo>
                      <a:pt x="450598" y="3574407"/>
                    </a:lnTo>
                    <a:lnTo>
                      <a:pt x="448246" y="3587173"/>
                    </a:lnTo>
                    <a:cubicBezTo>
                      <a:pt x="446228" y="3592231"/>
                      <a:pt x="442978" y="3598434"/>
                      <a:pt x="438500" y="3606816"/>
                    </a:cubicBezTo>
                    <a:cubicBezTo>
                      <a:pt x="434118" y="3614818"/>
                      <a:pt x="431452" y="3624724"/>
                      <a:pt x="424974" y="3630631"/>
                    </a:cubicBezTo>
                    <a:cubicBezTo>
                      <a:pt x="408496" y="3645681"/>
                      <a:pt x="402257" y="3662493"/>
                      <a:pt x="400733" y="3680162"/>
                    </a:cubicBezTo>
                    <a:lnTo>
                      <a:pt x="400733" y="3680163"/>
                    </a:lnTo>
                    <a:lnTo>
                      <a:pt x="404781" y="3734837"/>
                    </a:lnTo>
                    <a:lnTo>
                      <a:pt x="404399" y="3754651"/>
                    </a:lnTo>
                    <a:cubicBezTo>
                      <a:pt x="398399" y="3767129"/>
                      <a:pt x="396447" y="3778654"/>
                      <a:pt x="398042" y="3789775"/>
                    </a:cubicBezTo>
                    <a:lnTo>
                      <a:pt x="398042" y="3789776"/>
                    </a:lnTo>
                    <a:cubicBezTo>
                      <a:pt x="399638" y="3800896"/>
                      <a:pt x="404781" y="3811613"/>
                      <a:pt x="412973" y="3822472"/>
                    </a:cubicBezTo>
                    <a:lnTo>
                      <a:pt x="427308" y="3852619"/>
                    </a:lnTo>
                    <a:lnTo>
                      <a:pt x="417926" y="3885336"/>
                    </a:lnTo>
                    <a:lnTo>
                      <a:pt x="417925" y="3885337"/>
                    </a:lnTo>
                    <a:cubicBezTo>
                      <a:pt x="398494" y="3910103"/>
                      <a:pt x="388302" y="3935726"/>
                      <a:pt x="386040" y="3962158"/>
                    </a:cubicBezTo>
                    <a:lnTo>
                      <a:pt x="386040" y="3962159"/>
                    </a:lnTo>
                    <a:lnTo>
                      <a:pt x="388431" y="4002409"/>
                    </a:lnTo>
                    <a:lnTo>
                      <a:pt x="401733" y="4043837"/>
                    </a:lnTo>
                    <a:lnTo>
                      <a:pt x="401733" y="4043839"/>
                    </a:lnTo>
                    <a:lnTo>
                      <a:pt x="416855" y="4103825"/>
                    </a:lnTo>
                    <a:lnTo>
                      <a:pt x="405544" y="4165381"/>
                    </a:lnTo>
                    <a:lnTo>
                      <a:pt x="405543" y="4165382"/>
                    </a:lnTo>
                    <a:cubicBezTo>
                      <a:pt x="402114" y="4173479"/>
                      <a:pt x="401543" y="4182766"/>
                      <a:pt x="401638" y="4192386"/>
                    </a:cubicBezTo>
                    <a:lnTo>
                      <a:pt x="401638" y="4192387"/>
                    </a:lnTo>
                    <a:lnTo>
                      <a:pt x="405543" y="4165383"/>
                    </a:lnTo>
                    <a:lnTo>
                      <a:pt x="405544" y="4165381"/>
                    </a:lnTo>
                    <a:lnTo>
                      <a:pt x="414887" y="4134255"/>
                    </a:lnTo>
                    <a:lnTo>
                      <a:pt x="416855" y="4103825"/>
                    </a:lnTo>
                    <a:lnTo>
                      <a:pt x="416855" y="4103824"/>
                    </a:lnTo>
                    <a:cubicBezTo>
                      <a:pt x="415879" y="4083701"/>
                      <a:pt x="410497" y="4063841"/>
                      <a:pt x="401733" y="4043838"/>
                    </a:cubicBezTo>
                    <a:lnTo>
                      <a:pt x="401733" y="4043837"/>
                    </a:lnTo>
                    <a:lnTo>
                      <a:pt x="386040" y="3962159"/>
                    </a:lnTo>
                    <a:lnTo>
                      <a:pt x="395544" y="3923124"/>
                    </a:lnTo>
                    <a:cubicBezTo>
                      <a:pt x="400804" y="3910318"/>
                      <a:pt x="408210" y="3897721"/>
                      <a:pt x="417925" y="3885338"/>
                    </a:cubicBezTo>
                    <a:lnTo>
                      <a:pt x="417926" y="3885336"/>
                    </a:lnTo>
                    <a:lnTo>
                      <a:pt x="426528" y="3868763"/>
                    </a:lnTo>
                    <a:lnTo>
                      <a:pt x="427308" y="3852619"/>
                    </a:lnTo>
                    <a:lnTo>
                      <a:pt x="427308" y="3852618"/>
                    </a:lnTo>
                    <a:cubicBezTo>
                      <a:pt x="425642" y="3842045"/>
                      <a:pt x="420022" y="3831901"/>
                      <a:pt x="412973" y="3822471"/>
                    </a:cubicBezTo>
                    <a:lnTo>
                      <a:pt x="398042" y="3789775"/>
                    </a:lnTo>
                    <a:lnTo>
                      <a:pt x="404399" y="3754652"/>
                    </a:lnTo>
                    <a:cubicBezTo>
                      <a:pt x="407067" y="3749125"/>
                      <a:pt x="405733" y="3741315"/>
                      <a:pt x="404781" y="3734837"/>
                    </a:cubicBezTo>
                    <a:lnTo>
                      <a:pt x="404781" y="3734836"/>
                    </a:lnTo>
                    <a:lnTo>
                      <a:pt x="400733" y="3680163"/>
                    </a:lnTo>
                    <a:lnTo>
                      <a:pt x="407246" y="3654415"/>
                    </a:lnTo>
                    <a:cubicBezTo>
                      <a:pt x="411056" y="3646122"/>
                      <a:pt x="416735" y="3638157"/>
                      <a:pt x="424974" y="3630632"/>
                    </a:cubicBezTo>
                    <a:cubicBezTo>
                      <a:pt x="431452" y="3624725"/>
                      <a:pt x="434118" y="3614819"/>
                      <a:pt x="438500" y="3606817"/>
                    </a:cubicBezTo>
                    <a:cubicBezTo>
                      <a:pt x="447455" y="3590053"/>
                      <a:pt x="451503" y="3582004"/>
                      <a:pt x="450598" y="3574408"/>
                    </a:cubicBezTo>
                    <a:lnTo>
                      <a:pt x="450598" y="3574407"/>
                    </a:lnTo>
                    <a:cubicBezTo>
                      <a:pt x="449693" y="3566810"/>
                      <a:pt x="443835" y="3559667"/>
                      <a:pt x="432976" y="3544712"/>
                    </a:cubicBezTo>
                    <a:cubicBezTo>
                      <a:pt x="421546" y="3529089"/>
                      <a:pt x="409925" y="3507562"/>
                      <a:pt x="410877" y="3489466"/>
                    </a:cubicBezTo>
                    <a:cubicBezTo>
                      <a:pt x="416591" y="3380304"/>
                      <a:pt x="389159" y="3276479"/>
                      <a:pt x="363250" y="3172653"/>
                    </a:cubicBezTo>
                    <a:lnTo>
                      <a:pt x="350796" y="3077401"/>
                    </a:lnTo>
                    <a:lnTo>
                      <a:pt x="362488" y="2982148"/>
                    </a:lnTo>
                    <a:cubicBezTo>
                      <a:pt x="365441" y="2970575"/>
                      <a:pt x="366442" y="2959156"/>
                      <a:pt x="366072" y="2947862"/>
                    </a:cubicBezTo>
                    <a:lnTo>
                      <a:pt x="366072" y="2947861"/>
                    </a:lnTo>
                    <a:lnTo>
                      <a:pt x="366072" y="2947858"/>
                    </a:lnTo>
                    <a:lnTo>
                      <a:pt x="361441" y="2914327"/>
                    </a:lnTo>
                    <a:lnTo>
                      <a:pt x="358166" y="2903544"/>
                    </a:lnTo>
                    <a:lnTo>
                      <a:pt x="357138" y="2897784"/>
                    </a:lnTo>
                    <a:cubicBezTo>
                      <a:pt x="352392" y="2881306"/>
                      <a:pt x="346534" y="2865009"/>
                      <a:pt x="341533" y="2848792"/>
                    </a:cubicBezTo>
                    <a:close/>
                    <a:moveTo>
                      <a:pt x="296001" y="2745351"/>
                    </a:moveTo>
                    <a:lnTo>
                      <a:pt x="289670" y="2770757"/>
                    </a:lnTo>
                    <a:lnTo>
                      <a:pt x="290080" y="2778005"/>
                    </a:lnTo>
                    <a:lnTo>
                      <a:pt x="289301" y="2782304"/>
                    </a:lnTo>
                    <a:lnTo>
                      <a:pt x="290501" y="2785439"/>
                    </a:lnTo>
                    <a:lnTo>
                      <a:pt x="290929" y="2793022"/>
                    </a:lnTo>
                    <a:lnTo>
                      <a:pt x="300579" y="2811779"/>
                    </a:lnTo>
                    <a:lnTo>
                      <a:pt x="300582" y="2811786"/>
                    </a:lnTo>
                    <a:lnTo>
                      <a:pt x="300583" y="2811786"/>
                    </a:lnTo>
                    <a:lnTo>
                      <a:pt x="300579" y="2811779"/>
                    </a:lnTo>
                    <a:lnTo>
                      <a:pt x="290501" y="2785439"/>
                    </a:lnTo>
                    <a:lnTo>
                      <a:pt x="290080" y="2778005"/>
                    </a:lnTo>
                    <a:close/>
                    <a:moveTo>
                      <a:pt x="817328" y="1508457"/>
                    </a:moveTo>
                    <a:lnTo>
                      <a:pt x="845421" y="1596212"/>
                    </a:lnTo>
                    <a:cubicBezTo>
                      <a:pt x="847898" y="1604977"/>
                      <a:pt x="846373" y="1615835"/>
                      <a:pt x="843517" y="1624979"/>
                    </a:cubicBezTo>
                    <a:cubicBezTo>
                      <a:pt x="833801" y="1656222"/>
                      <a:pt x="809415" y="1676035"/>
                      <a:pt x="786935" y="1697752"/>
                    </a:cubicBezTo>
                    <a:cubicBezTo>
                      <a:pt x="777029" y="1707278"/>
                      <a:pt x="769981" y="1720422"/>
                      <a:pt x="764267" y="1733187"/>
                    </a:cubicBezTo>
                    <a:cubicBezTo>
                      <a:pt x="749595" y="1766334"/>
                      <a:pt x="736452" y="1800245"/>
                      <a:pt x="722546" y="1833774"/>
                    </a:cubicBezTo>
                    <a:cubicBezTo>
                      <a:pt x="721212" y="1837012"/>
                      <a:pt x="717783" y="1839678"/>
                      <a:pt x="714925" y="1842157"/>
                    </a:cubicBezTo>
                    <a:cubicBezTo>
                      <a:pt x="684824" y="1866921"/>
                      <a:pt x="654535" y="1891496"/>
                      <a:pt x="624434" y="1916453"/>
                    </a:cubicBezTo>
                    <a:cubicBezTo>
                      <a:pt x="618720" y="1921215"/>
                      <a:pt x="614528" y="1928075"/>
                      <a:pt x="609004" y="1933218"/>
                    </a:cubicBezTo>
                    <a:cubicBezTo>
                      <a:pt x="601384" y="1940458"/>
                      <a:pt x="594143" y="1949602"/>
                      <a:pt x="584999" y="1953412"/>
                    </a:cubicBezTo>
                    <a:cubicBezTo>
                      <a:pt x="556234" y="1965223"/>
                      <a:pt x="543850" y="1987893"/>
                      <a:pt x="538516" y="2016468"/>
                    </a:cubicBezTo>
                    <a:cubicBezTo>
                      <a:pt x="533563" y="2042569"/>
                      <a:pt x="529371" y="2068668"/>
                      <a:pt x="523657" y="2094577"/>
                    </a:cubicBezTo>
                    <a:cubicBezTo>
                      <a:pt x="516799" y="2126200"/>
                      <a:pt x="509369" y="2157635"/>
                      <a:pt x="500986" y="2188878"/>
                    </a:cubicBezTo>
                    <a:cubicBezTo>
                      <a:pt x="497366" y="2202403"/>
                      <a:pt x="493176" y="2216691"/>
                      <a:pt x="485746" y="2228313"/>
                    </a:cubicBezTo>
                    <a:cubicBezTo>
                      <a:pt x="465171" y="2260889"/>
                      <a:pt x="451265" y="2295752"/>
                      <a:pt x="456789" y="2334043"/>
                    </a:cubicBezTo>
                    <a:cubicBezTo>
                      <a:pt x="461171" y="2364714"/>
                      <a:pt x="449931" y="2390433"/>
                      <a:pt x="432404" y="2409484"/>
                    </a:cubicBezTo>
                    <a:cubicBezTo>
                      <a:pt x="424451" y="2418153"/>
                      <a:pt x="418938" y="2426976"/>
                      <a:pt x="415303" y="2435912"/>
                    </a:cubicBezTo>
                    <a:lnTo>
                      <a:pt x="415303" y="2435912"/>
                    </a:lnTo>
                    <a:lnTo>
                      <a:pt x="415303" y="2435912"/>
                    </a:lnTo>
                    <a:lnTo>
                      <a:pt x="414227" y="2440915"/>
                    </a:lnTo>
                    <a:lnTo>
                      <a:pt x="409472" y="2463016"/>
                    </a:lnTo>
                    <a:lnTo>
                      <a:pt x="409472" y="2463017"/>
                    </a:lnTo>
                    <a:lnTo>
                      <a:pt x="411535" y="2490550"/>
                    </a:lnTo>
                    <a:lnTo>
                      <a:pt x="418115" y="2518261"/>
                    </a:lnTo>
                    <a:lnTo>
                      <a:pt x="418115" y="2518264"/>
                    </a:lnTo>
                    <a:lnTo>
                      <a:pt x="421759" y="2545006"/>
                    </a:lnTo>
                    <a:lnTo>
                      <a:pt x="417545" y="2571033"/>
                    </a:lnTo>
                    <a:cubicBezTo>
                      <a:pt x="405543" y="2612944"/>
                      <a:pt x="372966" y="2640949"/>
                      <a:pt x="344391" y="2668000"/>
                    </a:cubicBezTo>
                    <a:cubicBezTo>
                      <a:pt x="320006" y="2691053"/>
                      <a:pt x="306290" y="2716962"/>
                      <a:pt x="296001" y="2745347"/>
                    </a:cubicBezTo>
                    <a:lnTo>
                      <a:pt x="296001" y="2745348"/>
                    </a:lnTo>
                    <a:cubicBezTo>
                      <a:pt x="306290" y="2716963"/>
                      <a:pt x="320006" y="2691054"/>
                      <a:pt x="344391" y="2668001"/>
                    </a:cubicBezTo>
                    <a:cubicBezTo>
                      <a:pt x="372966" y="2640950"/>
                      <a:pt x="405543" y="2612945"/>
                      <a:pt x="417545" y="2571034"/>
                    </a:cubicBezTo>
                    <a:cubicBezTo>
                      <a:pt x="420117" y="2561985"/>
                      <a:pt x="421593" y="2553555"/>
                      <a:pt x="421760" y="2545006"/>
                    </a:cubicBezTo>
                    <a:lnTo>
                      <a:pt x="421759" y="2545006"/>
                    </a:lnTo>
                    <a:lnTo>
                      <a:pt x="421760" y="2545005"/>
                    </a:lnTo>
                    <a:cubicBezTo>
                      <a:pt x="421926" y="2536456"/>
                      <a:pt x="420783" y="2527789"/>
                      <a:pt x="418115" y="2518263"/>
                    </a:cubicBezTo>
                    <a:lnTo>
                      <a:pt x="418115" y="2518261"/>
                    </a:lnTo>
                    <a:lnTo>
                      <a:pt x="409472" y="2463017"/>
                    </a:lnTo>
                    <a:lnTo>
                      <a:pt x="414227" y="2440915"/>
                    </a:lnTo>
                    <a:lnTo>
                      <a:pt x="415303" y="2435912"/>
                    </a:lnTo>
                    <a:lnTo>
                      <a:pt x="432404" y="2409485"/>
                    </a:lnTo>
                    <a:cubicBezTo>
                      <a:pt x="449931" y="2390434"/>
                      <a:pt x="461171" y="2364715"/>
                      <a:pt x="456789" y="2334044"/>
                    </a:cubicBezTo>
                    <a:cubicBezTo>
                      <a:pt x="451265" y="2295753"/>
                      <a:pt x="465171" y="2260890"/>
                      <a:pt x="485746" y="2228314"/>
                    </a:cubicBezTo>
                    <a:cubicBezTo>
                      <a:pt x="493176" y="2216692"/>
                      <a:pt x="497366" y="2202404"/>
                      <a:pt x="500986" y="2188879"/>
                    </a:cubicBezTo>
                    <a:cubicBezTo>
                      <a:pt x="509369" y="2157636"/>
                      <a:pt x="516799" y="2126201"/>
                      <a:pt x="523657" y="2094578"/>
                    </a:cubicBezTo>
                    <a:cubicBezTo>
                      <a:pt x="529371" y="2068669"/>
                      <a:pt x="533563" y="2042570"/>
                      <a:pt x="538516" y="2016469"/>
                    </a:cubicBezTo>
                    <a:cubicBezTo>
                      <a:pt x="543850" y="1987894"/>
                      <a:pt x="556234" y="1965224"/>
                      <a:pt x="584999" y="1953413"/>
                    </a:cubicBezTo>
                    <a:cubicBezTo>
                      <a:pt x="594143" y="1949603"/>
                      <a:pt x="601384" y="1940459"/>
                      <a:pt x="609004" y="1933219"/>
                    </a:cubicBezTo>
                    <a:cubicBezTo>
                      <a:pt x="614528" y="1928076"/>
                      <a:pt x="618720" y="1921216"/>
                      <a:pt x="624434" y="1916454"/>
                    </a:cubicBezTo>
                    <a:cubicBezTo>
                      <a:pt x="654535" y="1891497"/>
                      <a:pt x="684824" y="1866922"/>
                      <a:pt x="714925" y="1842158"/>
                    </a:cubicBezTo>
                    <a:cubicBezTo>
                      <a:pt x="717783" y="1839679"/>
                      <a:pt x="721212" y="1837013"/>
                      <a:pt x="722546" y="1833775"/>
                    </a:cubicBezTo>
                    <a:cubicBezTo>
                      <a:pt x="736452" y="1800246"/>
                      <a:pt x="749596" y="1766335"/>
                      <a:pt x="764267" y="1733188"/>
                    </a:cubicBezTo>
                    <a:cubicBezTo>
                      <a:pt x="769981" y="1720423"/>
                      <a:pt x="777029" y="1707279"/>
                      <a:pt x="786936" y="1697753"/>
                    </a:cubicBezTo>
                    <a:cubicBezTo>
                      <a:pt x="809416" y="1676036"/>
                      <a:pt x="833801" y="1656223"/>
                      <a:pt x="843517" y="1624980"/>
                    </a:cubicBezTo>
                    <a:cubicBezTo>
                      <a:pt x="846374" y="1615836"/>
                      <a:pt x="847899" y="1604978"/>
                      <a:pt x="845422" y="1596213"/>
                    </a:cubicBezTo>
                    <a:close/>
                    <a:moveTo>
                      <a:pt x="798723" y="1459072"/>
                    </a:moveTo>
                    <a:lnTo>
                      <a:pt x="807941" y="1481571"/>
                    </a:lnTo>
                    <a:lnTo>
                      <a:pt x="798724" y="1459073"/>
                    </a:lnTo>
                    <a:close/>
                    <a:moveTo>
                      <a:pt x="779530" y="1268757"/>
                    </a:moveTo>
                    <a:lnTo>
                      <a:pt x="774363" y="1286068"/>
                    </a:lnTo>
                    <a:cubicBezTo>
                      <a:pt x="759789" y="1306929"/>
                      <a:pt x="753550" y="1328551"/>
                      <a:pt x="752025" y="1350626"/>
                    </a:cubicBezTo>
                    <a:lnTo>
                      <a:pt x="757620" y="1413839"/>
                    </a:lnTo>
                    <a:lnTo>
                      <a:pt x="752026" y="1350627"/>
                    </a:lnTo>
                    <a:cubicBezTo>
                      <a:pt x="753550" y="1328552"/>
                      <a:pt x="759790" y="1306929"/>
                      <a:pt x="774363" y="1286069"/>
                    </a:cubicBezTo>
                    <a:cubicBezTo>
                      <a:pt x="777506" y="1281688"/>
                      <a:pt x="779078" y="1275401"/>
                      <a:pt x="779530" y="1268757"/>
                    </a:cubicBezTo>
                    <a:close/>
                    <a:moveTo>
                      <a:pt x="837801" y="773034"/>
                    </a:moveTo>
                    <a:lnTo>
                      <a:pt x="829801" y="854378"/>
                    </a:lnTo>
                    <a:cubicBezTo>
                      <a:pt x="827515" y="878955"/>
                      <a:pt x="826753" y="903721"/>
                      <a:pt x="798747" y="915342"/>
                    </a:cubicBezTo>
                    <a:cubicBezTo>
                      <a:pt x="794365" y="917058"/>
                      <a:pt x="791127" y="922772"/>
                      <a:pt x="788269" y="927154"/>
                    </a:cubicBezTo>
                    <a:cubicBezTo>
                      <a:pt x="744261" y="994784"/>
                      <a:pt x="745405" y="1030979"/>
                      <a:pt x="791889" y="1097086"/>
                    </a:cubicBezTo>
                    <a:cubicBezTo>
                      <a:pt x="796651" y="1103944"/>
                      <a:pt x="800081" y="1118612"/>
                      <a:pt x="796271" y="1123184"/>
                    </a:cubicBezTo>
                    <a:cubicBezTo>
                      <a:pt x="780459" y="1142616"/>
                      <a:pt x="773411" y="1162953"/>
                      <a:pt x="771553" y="1184028"/>
                    </a:cubicBezTo>
                    <a:cubicBezTo>
                      <a:pt x="773411" y="1162953"/>
                      <a:pt x="780460" y="1142617"/>
                      <a:pt x="796272" y="1123185"/>
                    </a:cubicBezTo>
                    <a:cubicBezTo>
                      <a:pt x="800082" y="1118613"/>
                      <a:pt x="796652" y="1103945"/>
                      <a:pt x="791890" y="1097087"/>
                    </a:cubicBezTo>
                    <a:cubicBezTo>
                      <a:pt x="745406" y="1030980"/>
                      <a:pt x="744262" y="994785"/>
                      <a:pt x="788270" y="927155"/>
                    </a:cubicBezTo>
                    <a:cubicBezTo>
                      <a:pt x="791128" y="922773"/>
                      <a:pt x="794366" y="917059"/>
                      <a:pt x="798748" y="915343"/>
                    </a:cubicBezTo>
                    <a:cubicBezTo>
                      <a:pt x="826753" y="903722"/>
                      <a:pt x="827515" y="878956"/>
                      <a:pt x="829801" y="854379"/>
                    </a:cubicBezTo>
                    <a:cubicBezTo>
                      <a:pt x="832277" y="827329"/>
                      <a:pt x="835515" y="800276"/>
                      <a:pt x="837801" y="773035"/>
                    </a:cubicBezTo>
                    <a:close/>
                    <a:moveTo>
                      <a:pt x="782400" y="517850"/>
                    </a:moveTo>
                    <a:lnTo>
                      <a:pt x="791317" y="556046"/>
                    </a:lnTo>
                    <a:cubicBezTo>
                      <a:pt x="793413" y="564047"/>
                      <a:pt x="798937" y="572621"/>
                      <a:pt x="797795" y="580049"/>
                    </a:cubicBezTo>
                    <a:cubicBezTo>
                      <a:pt x="794461" y="601577"/>
                      <a:pt x="796890" y="622200"/>
                      <a:pt x="801176" y="642536"/>
                    </a:cubicBezTo>
                    <a:lnTo>
                      <a:pt x="813700" y="694927"/>
                    </a:lnTo>
                    <a:lnTo>
                      <a:pt x="801177" y="642537"/>
                    </a:lnTo>
                    <a:cubicBezTo>
                      <a:pt x="796891" y="622200"/>
                      <a:pt x="794462" y="601578"/>
                      <a:pt x="797796" y="580050"/>
                    </a:cubicBezTo>
                    <a:cubicBezTo>
                      <a:pt x="798938" y="572622"/>
                      <a:pt x="793414" y="564048"/>
                      <a:pt x="791318" y="556047"/>
                    </a:cubicBezTo>
                    <a:close/>
                    <a:moveTo>
                      <a:pt x="783887" y="313532"/>
                    </a:moveTo>
                    <a:lnTo>
                      <a:pt x="786245" y="324057"/>
                    </a:lnTo>
                    <a:cubicBezTo>
                      <a:pt x="786031" y="328963"/>
                      <a:pt x="785126" y="334583"/>
                      <a:pt x="784459" y="338869"/>
                    </a:cubicBezTo>
                    <a:lnTo>
                      <a:pt x="784454" y="338897"/>
                    </a:lnTo>
                    <a:lnTo>
                      <a:pt x="778363" y="367327"/>
                    </a:lnTo>
                    <a:lnTo>
                      <a:pt x="774553" y="395639"/>
                    </a:lnTo>
                    <a:lnTo>
                      <a:pt x="784454" y="338897"/>
                    </a:lnTo>
                    <a:lnTo>
                      <a:pt x="784460" y="338870"/>
                    </a:lnTo>
                    <a:cubicBezTo>
                      <a:pt x="785794" y="330298"/>
                      <a:pt x="788080" y="316389"/>
                      <a:pt x="783888" y="313533"/>
                    </a:cubicBezTo>
                    <a:close/>
                    <a:moveTo>
                      <a:pt x="761560" y="281567"/>
                    </a:moveTo>
                    <a:lnTo>
                      <a:pt x="766454" y="295414"/>
                    </a:lnTo>
                    <a:lnTo>
                      <a:pt x="766455" y="295414"/>
                    </a:lnTo>
                    <a:close/>
                    <a:moveTo>
                      <a:pt x="774880" y="24485"/>
                    </a:moveTo>
                    <a:lnTo>
                      <a:pt x="777142" y="74128"/>
                    </a:lnTo>
                    <a:cubicBezTo>
                      <a:pt x="775758" y="100173"/>
                      <a:pt x="771253" y="125875"/>
                      <a:pt x="767023" y="151568"/>
                    </a:cubicBezTo>
                    <a:lnTo>
                      <a:pt x="766824" y="153387"/>
                    </a:lnTo>
                    <a:lnTo>
                      <a:pt x="763010" y="177270"/>
                    </a:lnTo>
                    <a:lnTo>
                      <a:pt x="758551" y="228943"/>
                    </a:lnTo>
                    <a:lnTo>
                      <a:pt x="766824" y="153387"/>
                    </a:lnTo>
                    <a:lnTo>
                      <a:pt x="771220" y="125860"/>
                    </a:lnTo>
                    <a:cubicBezTo>
                      <a:pt x="773910" y="108702"/>
                      <a:pt x="776220" y="91491"/>
                      <a:pt x="777143" y="74128"/>
                    </a:cubicBezTo>
                    <a:close/>
                    <a:moveTo>
                      <a:pt x="313354" y="0"/>
                    </a:moveTo>
                    <a:lnTo>
                      <a:pt x="777461" y="0"/>
                    </a:lnTo>
                    <a:lnTo>
                      <a:pt x="774743" y="21485"/>
                    </a:lnTo>
                    <a:lnTo>
                      <a:pt x="777461" y="0"/>
                    </a:lnTo>
                    <a:lnTo>
                      <a:pt x="4543952" y="1"/>
                    </a:lnTo>
                    <a:lnTo>
                      <a:pt x="4543952" y="6858000"/>
                    </a:lnTo>
                    <a:lnTo>
                      <a:pt x="284400" y="6858000"/>
                    </a:lnTo>
                    <a:lnTo>
                      <a:pt x="112147" y="6858000"/>
                    </a:lnTo>
                    <a:lnTo>
                      <a:pt x="102447" y="6815515"/>
                    </a:lnTo>
                    <a:cubicBezTo>
                      <a:pt x="96923" y="6793034"/>
                      <a:pt x="87016" y="6771318"/>
                      <a:pt x="83396" y="6748457"/>
                    </a:cubicBezTo>
                    <a:cubicBezTo>
                      <a:pt x="74824" y="6694163"/>
                      <a:pt x="68728" y="6639487"/>
                      <a:pt x="61870" y="6584811"/>
                    </a:cubicBezTo>
                    <a:cubicBezTo>
                      <a:pt x="54821" y="6528423"/>
                      <a:pt x="47391" y="6472224"/>
                      <a:pt x="41105" y="6415832"/>
                    </a:cubicBezTo>
                    <a:cubicBezTo>
                      <a:pt x="37865" y="6384971"/>
                      <a:pt x="37295" y="6353918"/>
                      <a:pt x="34247" y="6323057"/>
                    </a:cubicBezTo>
                    <a:cubicBezTo>
                      <a:pt x="31579" y="6296004"/>
                      <a:pt x="26626" y="6269143"/>
                      <a:pt x="23386" y="6242092"/>
                    </a:cubicBezTo>
                    <a:cubicBezTo>
                      <a:pt x="20720" y="6218659"/>
                      <a:pt x="19196" y="6195036"/>
                      <a:pt x="16528" y="6171604"/>
                    </a:cubicBezTo>
                    <a:cubicBezTo>
                      <a:pt x="12148" y="6134074"/>
                      <a:pt x="7194" y="6096735"/>
                      <a:pt x="2622" y="6059396"/>
                    </a:cubicBezTo>
                    <a:lnTo>
                      <a:pt x="0" y="6041768"/>
                    </a:lnTo>
                    <a:lnTo>
                      <a:pt x="0" y="6000936"/>
                    </a:lnTo>
                    <a:lnTo>
                      <a:pt x="3670" y="5957594"/>
                    </a:lnTo>
                    <a:lnTo>
                      <a:pt x="0" y="5912510"/>
                    </a:lnTo>
                    <a:lnTo>
                      <a:pt x="0" y="5886400"/>
                    </a:lnTo>
                    <a:lnTo>
                      <a:pt x="1098" y="5864317"/>
                    </a:lnTo>
                    <a:cubicBezTo>
                      <a:pt x="7576" y="5839360"/>
                      <a:pt x="16720" y="5815168"/>
                      <a:pt x="24720" y="5790591"/>
                    </a:cubicBezTo>
                    <a:cubicBezTo>
                      <a:pt x="25672" y="5787923"/>
                      <a:pt x="25864" y="5784685"/>
                      <a:pt x="26434" y="5781829"/>
                    </a:cubicBezTo>
                    <a:cubicBezTo>
                      <a:pt x="29675" y="5765634"/>
                      <a:pt x="32913" y="5749633"/>
                      <a:pt x="35771" y="5733439"/>
                    </a:cubicBezTo>
                    <a:cubicBezTo>
                      <a:pt x="37295" y="5724677"/>
                      <a:pt x="37485" y="5715722"/>
                      <a:pt x="38819" y="5706958"/>
                    </a:cubicBezTo>
                    <a:cubicBezTo>
                      <a:pt x="44153" y="5673049"/>
                      <a:pt x="35199" y="5635710"/>
                      <a:pt x="58250" y="5606371"/>
                    </a:cubicBezTo>
                    <a:cubicBezTo>
                      <a:pt x="73110" y="5587320"/>
                      <a:pt x="69680" y="5568841"/>
                      <a:pt x="67394" y="5548459"/>
                    </a:cubicBezTo>
                    <a:cubicBezTo>
                      <a:pt x="65680" y="5533026"/>
                      <a:pt x="66252" y="5517214"/>
                      <a:pt x="66060" y="5501593"/>
                    </a:cubicBezTo>
                    <a:cubicBezTo>
                      <a:pt x="65490" y="5474160"/>
                      <a:pt x="65298" y="5446727"/>
                      <a:pt x="64346" y="5419294"/>
                    </a:cubicBezTo>
                    <a:cubicBezTo>
                      <a:pt x="63966" y="5410530"/>
                      <a:pt x="59202" y="5401578"/>
                      <a:pt x="59964" y="5393004"/>
                    </a:cubicBezTo>
                    <a:cubicBezTo>
                      <a:pt x="63584" y="5353378"/>
                      <a:pt x="69300" y="5313753"/>
                      <a:pt x="72538" y="5274128"/>
                    </a:cubicBezTo>
                    <a:cubicBezTo>
                      <a:pt x="74442" y="5251649"/>
                      <a:pt x="70824" y="5228596"/>
                      <a:pt x="73490" y="5206307"/>
                    </a:cubicBezTo>
                    <a:cubicBezTo>
                      <a:pt x="76538" y="5180590"/>
                      <a:pt x="84348" y="5155444"/>
                      <a:pt x="89113" y="5129915"/>
                    </a:cubicBezTo>
                    <a:cubicBezTo>
                      <a:pt x="90445" y="5122866"/>
                      <a:pt x="88731" y="5115056"/>
                      <a:pt x="88351" y="5107626"/>
                    </a:cubicBezTo>
                    <a:cubicBezTo>
                      <a:pt x="87968" y="5099244"/>
                      <a:pt x="87206" y="5091051"/>
                      <a:pt x="87016" y="5082669"/>
                    </a:cubicBezTo>
                    <a:cubicBezTo>
                      <a:pt x="86634" y="5057140"/>
                      <a:pt x="87206" y="5031613"/>
                      <a:pt x="85872" y="5006085"/>
                    </a:cubicBezTo>
                    <a:cubicBezTo>
                      <a:pt x="85110" y="4990464"/>
                      <a:pt x="77300" y="4974081"/>
                      <a:pt x="80158" y="4959601"/>
                    </a:cubicBezTo>
                    <a:cubicBezTo>
                      <a:pt x="85682" y="4930074"/>
                      <a:pt x="73300" y="4900545"/>
                      <a:pt x="83586" y="4871018"/>
                    </a:cubicBezTo>
                    <a:cubicBezTo>
                      <a:pt x="86634" y="4861872"/>
                      <a:pt x="79014" y="4849299"/>
                      <a:pt x="78634" y="4838249"/>
                    </a:cubicBezTo>
                    <a:cubicBezTo>
                      <a:pt x="77682" y="4810626"/>
                      <a:pt x="77872" y="4783003"/>
                      <a:pt x="78062" y="4755380"/>
                    </a:cubicBezTo>
                    <a:cubicBezTo>
                      <a:pt x="78252" y="4730613"/>
                      <a:pt x="75586" y="4704894"/>
                      <a:pt x="80920" y="4681082"/>
                    </a:cubicBezTo>
                    <a:cubicBezTo>
                      <a:pt x="86634" y="4656125"/>
                      <a:pt x="85872" y="4633646"/>
                      <a:pt x="79396" y="4609451"/>
                    </a:cubicBezTo>
                    <a:cubicBezTo>
                      <a:pt x="75014" y="4592877"/>
                      <a:pt x="74442" y="4575350"/>
                      <a:pt x="73110" y="4558206"/>
                    </a:cubicBezTo>
                    <a:cubicBezTo>
                      <a:pt x="71586" y="4539727"/>
                      <a:pt x="75586" y="4519342"/>
                      <a:pt x="69300" y="4502578"/>
                    </a:cubicBezTo>
                    <a:cubicBezTo>
                      <a:pt x="50629" y="4452664"/>
                      <a:pt x="46629" y="4401418"/>
                      <a:pt x="46629" y="4349221"/>
                    </a:cubicBezTo>
                    <a:cubicBezTo>
                      <a:pt x="46629" y="4339694"/>
                      <a:pt x="49295" y="4329978"/>
                      <a:pt x="52153" y="4320836"/>
                    </a:cubicBezTo>
                    <a:cubicBezTo>
                      <a:pt x="69300" y="4267492"/>
                      <a:pt x="67776" y="4213960"/>
                      <a:pt x="57297" y="4159666"/>
                    </a:cubicBezTo>
                    <a:cubicBezTo>
                      <a:pt x="55011" y="4148426"/>
                      <a:pt x="54629" y="4135853"/>
                      <a:pt x="56915" y="4124613"/>
                    </a:cubicBezTo>
                    <a:cubicBezTo>
                      <a:pt x="63584" y="4092988"/>
                      <a:pt x="74634" y="4062317"/>
                      <a:pt x="79396" y="4030502"/>
                    </a:cubicBezTo>
                    <a:cubicBezTo>
                      <a:pt x="87206" y="3977924"/>
                      <a:pt x="60918" y="3932393"/>
                      <a:pt x="43771" y="3885337"/>
                    </a:cubicBezTo>
                    <a:cubicBezTo>
                      <a:pt x="31627" y="3851760"/>
                      <a:pt x="8016" y="3821934"/>
                      <a:pt x="426" y="3786776"/>
                    </a:cubicBezTo>
                    <a:lnTo>
                      <a:pt x="0" y="3773896"/>
                    </a:lnTo>
                    <a:lnTo>
                      <a:pt x="0" y="3393881"/>
                    </a:lnTo>
                    <a:lnTo>
                      <a:pt x="11838" y="3359515"/>
                    </a:lnTo>
                    <a:cubicBezTo>
                      <a:pt x="14434" y="3346204"/>
                      <a:pt x="14910" y="3332773"/>
                      <a:pt x="12910" y="3318770"/>
                    </a:cubicBezTo>
                    <a:cubicBezTo>
                      <a:pt x="12243" y="3314103"/>
                      <a:pt x="9909" y="3308769"/>
                      <a:pt x="6718" y="3304078"/>
                    </a:cubicBezTo>
                    <a:lnTo>
                      <a:pt x="0" y="3297656"/>
                    </a:lnTo>
                    <a:lnTo>
                      <a:pt x="0" y="3207866"/>
                    </a:lnTo>
                    <a:lnTo>
                      <a:pt x="15553" y="3186770"/>
                    </a:lnTo>
                    <a:cubicBezTo>
                      <a:pt x="28483" y="3162328"/>
                      <a:pt x="30484" y="3134646"/>
                      <a:pt x="36341" y="3107499"/>
                    </a:cubicBezTo>
                    <a:cubicBezTo>
                      <a:pt x="41105" y="3085402"/>
                      <a:pt x="41295" y="3064826"/>
                      <a:pt x="38057" y="3042727"/>
                    </a:cubicBezTo>
                    <a:cubicBezTo>
                      <a:pt x="30817" y="2994721"/>
                      <a:pt x="41105" y="2948046"/>
                      <a:pt x="54249" y="2901942"/>
                    </a:cubicBezTo>
                    <a:cubicBezTo>
                      <a:pt x="63012" y="2871461"/>
                      <a:pt x="68346" y="2840218"/>
                      <a:pt x="77300" y="2809929"/>
                    </a:cubicBezTo>
                    <a:cubicBezTo>
                      <a:pt x="84158" y="2787258"/>
                      <a:pt x="92351" y="2764589"/>
                      <a:pt x="103399" y="2743825"/>
                    </a:cubicBezTo>
                    <a:cubicBezTo>
                      <a:pt x="119594" y="2713722"/>
                      <a:pt x="143978" y="2687435"/>
                      <a:pt x="137500" y="2649142"/>
                    </a:cubicBezTo>
                    <a:cubicBezTo>
                      <a:pt x="131786" y="2615420"/>
                      <a:pt x="143786" y="2584941"/>
                      <a:pt x="155217" y="2554078"/>
                    </a:cubicBezTo>
                    <a:cubicBezTo>
                      <a:pt x="163599" y="2531408"/>
                      <a:pt x="172173" y="2508741"/>
                      <a:pt x="177507" y="2485306"/>
                    </a:cubicBezTo>
                    <a:cubicBezTo>
                      <a:pt x="183794" y="2457491"/>
                      <a:pt x="181126" y="2426058"/>
                      <a:pt x="192748" y="2401291"/>
                    </a:cubicBezTo>
                    <a:cubicBezTo>
                      <a:pt x="204940" y="2375382"/>
                      <a:pt x="196748" y="2353858"/>
                      <a:pt x="193318" y="2330805"/>
                    </a:cubicBezTo>
                    <a:cubicBezTo>
                      <a:pt x="187984" y="2294038"/>
                      <a:pt x="178077" y="2257458"/>
                      <a:pt x="190652" y="2220311"/>
                    </a:cubicBezTo>
                    <a:cubicBezTo>
                      <a:pt x="205892" y="2175162"/>
                      <a:pt x="222275" y="2130392"/>
                      <a:pt x="236753" y="2085053"/>
                    </a:cubicBezTo>
                    <a:cubicBezTo>
                      <a:pt x="242280" y="2067524"/>
                      <a:pt x="244566" y="2048667"/>
                      <a:pt x="247042" y="2030377"/>
                    </a:cubicBezTo>
                    <a:cubicBezTo>
                      <a:pt x="249138" y="2013042"/>
                      <a:pt x="243804" y="1992278"/>
                      <a:pt x="251804" y="1978939"/>
                    </a:cubicBezTo>
                    <a:cubicBezTo>
                      <a:pt x="272379" y="1944648"/>
                      <a:pt x="282475" y="1909407"/>
                      <a:pt x="282475" y="1869779"/>
                    </a:cubicBezTo>
                    <a:cubicBezTo>
                      <a:pt x="282475" y="1854919"/>
                      <a:pt x="291049" y="1840440"/>
                      <a:pt x="292573" y="1825392"/>
                    </a:cubicBezTo>
                    <a:cubicBezTo>
                      <a:pt x="294477" y="1804815"/>
                      <a:pt x="299622" y="1781193"/>
                      <a:pt x="292381" y="1763286"/>
                    </a:cubicBezTo>
                    <a:cubicBezTo>
                      <a:pt x="275237" y="1721184"/>
                      <a:pt x="289525" y="1687085"/>
                      <a:pt x="306480" y="1650316"/>
                    </a:cubicBezTo>
                    <a:cubicBezTo>
                      <a:pt x="323244" y="1614119"/>
                      <a:pt x="336579" y="1576018"/>
                      <a:pt x="347629" y="1537536"/>
                    </a:cubicBezTo>
                    <a:cubicBezTo>
                      <a:pt x="351629" y="1523058"/>
                      <a:pt x="344961" y="1505723"/>
                      <a:pt x="343629" y="1489719"/>
                    </a:cubicBezTo>
                    <a:cubicBezTo>
                      <a:pt x="343247" y="1484003"/>
                      <a:pt x="342675" y="1477716"/>
                      <a:pt x="344581" y="1472574"/>
                    </a:cubicBezTo>
                    <a:cubicBezTo>
                      <a:pt x="362870" y="1422853"/>
                      <a:pt x="376776" y="1372367"/>
                      <a:pt x="367252" y="1318455"/>
                    </a:cubicBezTo>
                    <a:cubicBezTo>
                      <a:pt x="366298" y="1313503"/>
                      <a:pt x="368394" y="1307977"/>
                      <a:pt x="369728" y="1303023"/>
                    </a:cubicBezTo>
                    <a:cubicBezTo>
                      <a:pt x="376586" y="1278828"/>
                      <a:pt x="387444" y="1255205"/>
                      <a:pt x="389921" y="1230632"/>
                    </a:cubicBezTo>
                    <a:cubicBezTo>
                      <a:pt x="396017" y="1170050"/>
                      <a:pt x="398495" y="1109090"/>
                      <a:pt x="402495" y="1048124"/>
                    </a:cubicBezTo>
                    <a:cubicBezTo>
                      <a:pt x="402685" y="1044314"/>
                      <a:pt x="402685" y="1040314"/>
                      <a:pt x="404019" y="1036886"/>
                    </a:cubicBezTo>
                    <a:cubicBezTo>
                      <a:pt x="412211" y="1014405"/>
                      <a:pt x="409543" y="994784"/>
                      <a:pt x="393923" y="975732"/>
                    </a:cubicBezTo>
                    <a:cubicBezTo>
                      <a:pt x="387064" y="967349"/>
                      <a:pt x="383444" y="955919"/>
                      <a:pt x="379634" y="945443"/>
                    </a:cubicBezTo>
                    <a:cubicBezTo>
                      <a:pt x="373918" y="930010"/>
                      <a:pt x="368394" y="914199"/>
                      <a:pt x="364774" y="898197"/>
                    </a:cubicBezTo>
                    <a:cubicBezTo>
                      <a:pt x="361346" y="882383"/>
                      <a:pt x="356583" y="865429"/>
                      <a:pt x="359250" y="850188"/>
                    </a:cubicBezTo>
                    <a:cubicBezTo>
                      <a:pt x="364012" y="822755"/>
                      <a:pt x="374680" y="796654"/>
                      <a:pt x="381730" y="769604"/>
                    </a:cubicBezTo>
                    <a:cubicBezTo>
                      <a:pt x="384206" y="760269"/>
                      <a:pt x="383824" y="749981"/>
                      <a:pt x="384016" y="740267"/>
                    </a:cubicBezTo>
                    <a:cubicBezTo>
                      <a:pt x="384586" y="717976"/>
                      <a:pt x="379062" y="695115"/>
                      <a:pt x="394875" y="674922"/>
                    </a:cubicBezTo>
                    <a:cubicBezTo>
                      <a:pt x="409733" y="656254"/>
                      <a:pt x="405353" y="637391"/>
                      <a:pt x="394113" y="617771"/>
                    </a:cubicBezTo>
                    <a:cubicBezTo>
                      <a:pt x="386110" y="603672"/>
                      <a:pt x="379824" y="587671"/>
                      <a:pt x="376776" y="571859"/>
                    </a:cubicBezTo>
                    <a:cubicBezTo>
                      <a:pt x="372586" y="550140"/>
                      <a:pt x="370870" y="528614"/>
                      <a:pt x="373348" y="505181"/>
                    </a:cubicBezTo>
                    <a:cubicBezTo>
                      <a:pt x="375062" y="488606"/>
                      <a:pt x="375824" y="475080"/>
                      <a:pt x="385920" y="462125"/>
                    </a:cubicBezTo>
                    <a:cubicBezTo>
                      <a:pt x="387444" y="460031"/>
                      <a:pt x="387826" y="456221"/>
                      <a:pt x="387634" y="453363"/>
                    </a:cubicBezTo>
                    <a:cubicBezTo>
                      <a:pt x="384396" y="415834"/>
                      <a:pt x="386110" y="378685"/>
                      <a:pt x="388399" y="340773"/>
                    </a:cubicBezTo>
                    <a:cubicBezTo>
                      <a:pt x="391445" y="292578"/>
                      <a:pt x="382492" y="241900"/>
                      <a:pt x="350487" y="200181"/>
                    </a:cubicBezTo>
                    <a:cubicBezTo>
                      <a:pt x="345723" y="194084"/>
                      <a:pt x="343629" y="184940"/>
                      <a:pt x="342485" y="176938"/>
                    </a:cubicBezTo>
                    <a:cubicBezTo>
                      <a:pt x="337533" y="139218"/>
                      <a:pt x="334103" y="101307"/>
                      <a:pt x="328579" y="63586"/>
                    </a:cubicBezTo>
                    <a:cubicBezTo>
                      <a:pt x="325530" y="43011"/>
                      <a:pt x="322862" y="21485"/>
                      <a:pt x="314480" y="2816"/>
                    </a:cubicBez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23" name="Group 22">
              <a:extLst>
                <a:ext uri="{FF2B5EF4-FFF2-40B4-BE49-F238E27FC236}">
                  <a16:creationId xmlns:a16="http://schemas.microsoft.com/office/drawing/2014/main" id="{3F442D6D-30A3-40EA-ADD8-5313A3BB973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7620000" y="-1"/>
              <a:ext cx="874716" cy="6858001"/>
              <a:chOff x="7620000" y="-1"/>
              <a:chExt cx="874716" cy="6858001"/>
            </a:xfrm>
          </p:grpSpPr>
          <p:sp>
            <p:nvSpPr>
              <p:cNvPr id="24" name="Freeform: Shape 23">
                <a:extLst>
                  <a:ext uri="{FF2B5EF4-FFF2-40B4-BE49-F238E27FC236}">
                    <a16:creationId xmlns:a16="http://schemas.microsoft.com/office/drawing/2014/main" id="{29E679B4-D12E-448A-8D8F-7183D6A2EE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4628357"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417E3CDF-0144-4FB2-A798-156EC31042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4628357"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pic>
        <p:nvPicPr>
          <p:cNvPr id="9" name="Graphic 8" descr="Verified Brand">
            <a:extLst>
              <a:ext uri="{FF2B5EF4-FFF2-40B4-BE49-F238E27FC236}">
                <a16:creationId xmlns:a16="http://schemas.microsoft.com/office/drawing/2014/main" id="{BF805F97-26A3-73B7-6698-B41DD395BFB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709025" y="2129660"/>
            <a:ext cx="2663825" cy="2663825"/>
          </a:xfrm>
          <a:prstGeom prst="rect">
            <a:avLst/>
          </a:prstGeom>
        </p:spPr>
      </p:pic>
      <p:sp>
        <p:nvSpPr>
          <p:cNvPr id="3" name="Rectangle 2"/>
          <p:cNvSpPr/>
          <p:nvPr/>
        </p:nvSpPr>
        <p:spPr>
          <a:xfrm>
            <a:off x="623890" y="4243101"/>
            <a:ext cx="6140449" cy="923330"/>
          </a:xfrm>
          <a:prstGeom prst="rect">
            <a:avLst/>
          </a:prstGeom>
        </p:spPr>
        <p:txBody>
          <a:bodyPr wrap="square">
            <a:spAutoFit/>
          </a:bodyPr>
          <a:lstStyle/>
          <a:p>
            <a:r>
              <a:rPr lang="en-US" dirty="0">
                <a:solidFill>
                  <a:schemeClr val="bg1"/>
                </a:solidFill>
              </a:rPr>
              <a:t>Everything we built works great except the induction motor driver. Because of that single faulty subsystem, the overall hoist performance is average.</a:t>
            </a:r>
            <a:endParaRPr lang="en-US" dirty="0">
              <a:solidFill>
                <a:schemeClr val="bg1"/>
              </a:solidFill>
              <a:effectLst/>
            </a:endParaRPr>
          </a:p>
        </p:txBody>
      </p:sp>
    </p:spTree>
    <p:extLst>
      <p:ext uri="{BB962C8B-B14F-4D97-AF65-F5344CB8AC3E}">
        <p14:creationId xmlns:p14="http://schemas.microsoft.com/office/powerpoint/2010/main" val="20618757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AD630B4-4CCC-7B1D-1803-DAED942D7E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descr="Metallic 3D bubbles">
            <a:extLst>
              <a:ext uri="{FF2B5EF4-FFF2-40B4-BE49-F238E27FC236}">
                <a16:creationId xmlns:a16="http://schemas.microsoft.com/office/drawing/2014/main" id="{BB1F8598-EAB9-AA7D-2A04-E0525EDE9D32}"/>
              </a:ext>
            </a:extLst>
          </p:cNvPr>
          <p:cNvPicPr>
            <a:picLocks noChangeAspect="1"/>
          </p:cNvPicPr>
          <p:nvPr/>
        </p:nvPicPr>
        <p:blipFill>
          <a:blip r:embed="rId2">
            <a:alphaModFix amt="50000"/>
          </a:blip>
          <a:srcRect t="25732" b="13621"/>
          <a:stretch>
            <a:fillRect/>
          </a:stretch>
        </p:blipFill>
        <p:spPr>
          <a:xfrm>
            <a:off x="0" y="0"/>
            <a:ext cx="12191979" cy="6857990"/>
          </a:xfrm>
          <a:prstGeom prst="rect">
            <a:avLst/>
          </a:prstGeom>
        </p:spPr>
      </p:pic>
      <p:sp>
        <p:nvSpPr>
          <p:cNvPr id="4" name="Title 3">
            <a:extLst>
              <a:ext uri="{FF2B5EF4-FFF2-40B4-BE49-F238E27FC236}">
                <a16:creationId xmlns:a16="http://schemas.microsoft.com/office/drawing/2014/main" id="{7E049928-8B7C-7C15-1AAE-FA105AFF5AC6}"/>
              </a:ext>
            </a:extLst>
          </p:cNvPr>
          <p:cNvSpPr>
            <a:spLocks noGrp="1"/>
          </p:cNvSpPr>
          <p:nvPr>
            <p:ph type="title"/>
          </p:nvPr>
        </p:nvSpPr>
        <p:spPr>
          <a:xfrm>
            <a:off x="762000" y="1137434"/>
            <a:ext cx="7848600" cy="3204429"/>
          </a:xfrm>
        </p:spPr>
        <p:txBody>
          <a:bodyPr vert="horz" lIns="91440" tIns="45720" rIns="91440" bIns="45720" rtlCol="0" anchor="t">
            <a:normAutofit/>
          </a:bodyPr>
          <a:lstStyle/>
          <a:p>
            <a:r>
              <a:rPr lang="en-US" sz="4000" dirty="0">
                <a:solidFill>
                  <a:srgbClr val="FFFFFF"/>
                </a:solidFill>
              </a:rPr>
              <a:t>Conclusion</a:t>
            </a:r>
          </a:p>
        </p:txBody>
      </p:sp>
      <p:cxnSp>
        <p:nvCxnSpPr>
          <p:cNvPr id="12" name="Straight Connector 11">
            <a:extLst>
              <a:ext uri="{FF2B5EF4-FFF2-40B4-BE49-F238E27FC236}">
                <a16:creationId xmlns:a16="http://schemas.microsoft.com/office/drawing/2014/main" id="{49264613-F0F7-08CE-0ADF-98407A64DAE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05EE152-7C4D-E09F-85CD-5FDDE2D990D6}"/>
              </a:ext>
            </a:extLst>
          </p:cNvPr>
          <p:cNvSpPr txBox="1"/>
          <p:nvPr/>
        </p:nvSpPr>
        <p:spPr>
          <a:xfrm>
            <a:off x="762000" y="2016536"/>
            <a:ext cx="10742428" cy="3970318"/>
          </a:xfrm>
          <a:prstGeom prst="rect">
            <a:avLst/>
          </a:prstGeom>
          <a:noFill/>
        </p:spPr>
        <p:txBody>
          <a:bodyPr wrap="square" rtlCol="0">
            <a:spAutoFit/>
          </a:bodyPr>
          <a:lstStyle/>
          <a:p>
            <a:r>
              <a:rPr lang="en-US" sz="2800" dirty="0">
                <a:solidFill>
                  <a:schemeClr val="bg1"/>
                </a:solidFill>
              </a:rPr>
              <a:t>This design project provided a valuable learning experience, especially for students beginning to engage with real engineering design processes. It offered practical insight into how design work is carried out, and highlighted the important considerations that must be addressed before entering the professional environment where the consequences are real. Overall, the project was successful and contributed significantly to our understanding. The experience gained has strengthened our confidence and better prepared us for next year’s final-year project.</a:t>
            </a:r>
            <a:endParaRPr lang="en-ZA" sz="2800" dirty="0">
              <a:solidFill>
                <a:schemeClr val="bg1"/>
              </a:solidFill>
            </a:endParaRPr>
          </a:p>
        </p:txBody>
      </p:sp>
    </p:spTree>
    <p:extLst>
      <p:ext uri="{BB962C8B-B14F-4D97-AF65-F5344CB8AC3E}">
        <p14:creationId xmlns:p14="http://schemas.microsoft.com/office/powerpoint/2010/main" val="30180028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30E9418D-77B3-AC6F-8FE2-8C05457CA619}"/>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300" kern="1200" dirty="0">
                <a:solidFill>
                  <a:srgbClr val="FFFFFF"/>
                </a:solidFill>
                <a:latin typeface="+mj-lt"/>
                <a:ea typeface="+mj-ea"/>
                <a:cs typeface="+mj-cs"/>
              </a:rPr>
              <a:t>Design Improvements</a:t>
            </a:r>
          </a:p>
        </p:txBody>
      </p:sp>
      <p:graphicFrame>
        <p:nvGraphicFramePr>
          <p:cNvPr id="7" name="Content Placeholder 4">
            <a:extLst>
              <a:ext uri="{FF2B5EF4-FFF2-40B4-BE49-F238E27FC236}">
                <a16:creationId xmlns:a16="http://schemas.microsoft.com/office/drawing/2014/main" id="{6E1E5CBC-B8D6-FD55-63BB-4A9A45E236CF}"/>
              </a:ext>
            </a:extLst>
          </p:cNvPr>
          <p:cNvGraphicFramePr>
            <a:graphicFrameLocks noGrp="1"/>
          </p:cNvGraphicFramePr>
          <p:nvPr>
            <p:ph idx="1"/>
            <p:extLst>
              <p:ext uri="{D42A27DB-BD31-4B8C-83A1-F6EECF244321}">
                <p14:modId xmlns:p14="http://schemas.microsoft.com/office/powerpoint/2010/main" val="3581683582"/>
              </p:ext>
            </p:extLst>
          </p:nvPr>
        </p:nvGraphicFramePr>
        <p:xfrm>
          <a:off x="4216385" y="200631"/>
          <a:ext cx="7374025" cy="64854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809212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6D45070-3538-3FBB-EBC0-5CF8053ABD46}"/>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dirty="0">
                <a:solidFill>
                  <a:srgbClr val="FFFFFF"/>
                </a:solidFill>
                <a:latin typeface="+mj-lt"/>
                <a:ea typeface="+mj-ea"/>
                <a:cs typeface="+mj-cs"/>
              </a:rPr>
              <a:t>Design process</a:t>
            </a:r>
          </a:p>
        </p:txBody>
      </p:sp>
      <p:graphicFrame>
        <p:nvGraphicFramePr>
          <p:cNvPr id="5" name="Content Placeholder 2">
            <a:extLst>
              <a:ext uri="{FF2B5EF4-FFF2-40B4-BE49-F238E27FC236}">
                <a16:creationId xmlns:a16="http://schemas.microsoft.com/office/drawing/2014/main" id="{A2F55949-4622-C4B9-C230-5578047D5EBA}"/>
              </a:ext>
            </a:extLst>
          </p:cNvPr>
          <p:cNvGraphicFramePr>
            <a:graphicFrameLocks noGrp="1"/>
          </p:cNvGraphicFramePr>
          <p:nvPr>
            <p:ph idx="1"/>
            <p:extLst>
              <p:ext uri="{D42A27DB-BD31-4B8C-83A1-F6EECF244321}">
                <p14:modId xmlns:p14="http://schemas.microsoft.com/office/powerpoint/2010/main" val="3632184218"/>
              </p:ext>
            </p:extLst>
          </p:nvPr>
        </p:nvGraphicFramePr>
        <p:xfrm>
          <a:off x="5108535" y="531628"/>
          <a:ext cx="6245265" cy="61285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050113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950C40A0-A2B6-77C7-0950-85E2992999AC}"/>
              </a:ext>
            </a:extLst>
          </p:cNvPr>
          <p:cNvSpPr>
            <a:spLocks noGrp="1"/>
          </p:cNvSpPr>
          <p:nvPr>
            <p:ph type="title"/>
          </p:nvPr>
        </p:nvSpPr>
        <p:spPr>
          <a:xfrm>
            <a:off x="479394" y="1070800"/>
            <a:ext cx="3939688" cy="5583126"/>
          </a:xfrm>
        </p:spPr>
        <p:txBody>
          <a:bodyPr>
            <a:normAutofit/>
          </a:bodyPr>
          <a:lstStyle/>
          <a:p>
            <a:pPr algn="r"/>
            <a:r>
              <a:rPr lang="en-GB" sz="6800" dirty="0"/>
              <a:t>Group Dynamics</a:t>
            </a:r>
          </a:p>
        </p:txBody>
      </p:sp>
      <p:cxnSp>
        <p:nvCxnSpPr>
          <p:cNvPr id="18" name="Straight Connector 17">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B5920DFD-C831-51F0-5211-6E6F25E49D3A}"/>
              </a:ext>
            </a:extLst>
          </p:cNvPr>
          <p:cNvGraphicFramePr>
            <a:graphicFrameLocks noGrp="1"/>
          </p:cNvGraphicFramePr>
          <p:nvPr>
            <p:ph idx="1"/>
            <p:extLst>
              <p:ext uri="{D42A27DB-BD31-4B8C-83A1-F6EECF244321}">
                <p14:modId xmlns:p14="http://schemas.microsoft.com/office/powerpoint/2010/main" val="2522452404"/>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370983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4642C360-E3D0-8064-AEBA-C9766B35A240}"/>
              </a:ext>
            </a:extLst>
          </p:cNvPr>
          <p:cNvSpPr>
            <a:spLocks noGrp="1"/>
          </p:cNvSpPr>
          <p:nvPr>
            <p:ph type="ctrTitle"/>
          </p:nvPr>
        </p:nvSpPr>
        <p:spPr>
          <a:xfrm>
            <a:off x="645065" y="1463040"/>
            <a:ext cx="3796306" cy="2690949"/>
          </a:xfrm>
        </p:spPr>
        <p:txBody>
          <a:bodyPr vert="horz" lIns="91440" tIns="45720" rIns="91440" bIns="45720" rtlCol="0" anchor="t">
            <a:normAutofit/>
          </a:bodyPr>
          <a:lstStyle/>
          <a:p>
            <a:pPr algn="l"/>
            <a:r>
              <a:rPr lang="en-US" sz="4800" dirty="0"/>
              <a:t>Closing Statement</a:t>
            </a:r>
            <a:endParaRPr lang="en-US" sz="4800" kern="1200" dirty="0">
              <a:solidFill>
                <a:schemeClr val="tx1"/>
              </a:solidFill>
              <a:latin typeface="+mj-lt"/>
              <a:ea typeface="+mj-ea"/>
              <a:cs typeface="+mj-cs"/>
            </a:endParaRPr>
          </a:p>
        </p:txBody>
      </p:sp>
      <p:grpSp>
        <p:nvGrpSpPr>
          <p:cNvPr id="12" name="Group 11">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435" y="4415246"/>
            <a:ext cx="12097564" cy="2087795"/>
            <a:chOff x="27931" y="5763486"/>
            <a:chExt cx="12097564" cy="739555"/>
          </a:xfrm>
        </p:grpSpPr>
        <p:sp>
          <p:nvSpPr>
            <p:cNvPr id="13" name="Rectangle 1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7931" y="5763486"/>
              <a:ext cx="12097564" cy="73955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Connector 13">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solidFill>
              <a:schemeClr val="tx1"/>
            </a:solidFill>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6" name="Rectangle 15">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ubtitle 4">
            <a:extLst>
              <a:ext uri="{FF2B5EF4-FFF2-40B4-BE49-F238E27FC236}">
                <a16:creationId xmlns:a16="http://schemas.microsoft.com/office/drawing/2014/main" id="{EB57730C-7622-E216-E9A7-2BC56D72CD3C}"/>
              </a:ext>
            </a:extLst>
          </p:cNvPr>
          <p:cNvSpPr>
            <a:spLocks noGrp="1"/>
          </p:cNvSpPr>
          <p:nvPr>
            <p:ph type="subTitle" idx="1"/>
          </p:nvPr>
        </p:nvSpPr>
        <p:spPr>
          <a:xfrm>
            <a:off x="5656218" y="1463039"/>
            <a:ext cx="5542387" cy="4300447"/>
          </a:xfrm>
        </p:spPr>
        <p:txBody>
          <a:bodyPr vert="horz" lIns="91440" tIns="45720" rIns="91440" bIns="45720" rtlCol="0" anchor="t">
            <a:normAutofit/>
          </a:bodyPr>
          <a:lstStyle/>
          <a:p>
            <a:pPr marL="285750" indent="-228600" algn="l">
              <a:buFont typeface="Arial" panose="020B0604020202020204" pitchFamily="34" charset="0"/>
              <a:buChar char="•"/>
            </a:pPr>
            <a:r>
              <a:rPr lang="en-US" sz="1700" dirty="0"/>
              <a:t>This project gave us valuable hands-on experience in mechanical design, embedded systems, motor control, power electronics, and system integration.</a:t>
            </a:r>
          </a:p>
          <a:p>
            <a:pPr marL="285750" indent="-228600" algn="l">
              <a:buFont typeface="Arial" panose="020B0604020202020204" pitchFamily="34" charset="0"/>
              <a:buChar char="•"/>
            </a:pPr>
            <a:r>
              <a:rPr lang="en-US" sz="1700" dirty="0"/>
              <a:t>Each subsystem functioned successfully, and full system performance was strong despite the inverter voltage limitation.</a:t>
            </a:r>
          </a:p>
          <a:p>
            <a:pPr marL="285750" indent="-228600" algn="l">
              <a:buFont typeface="Arial" panose="020B0604020202020204" pitchFamily="34" charset="0"/>
              <a:buChar char="•"/>
            </a:pPr>
            <a:r>
              <a:rPr lang="en-US" sz="1700" dirty="0"/>
              <a:t>We gained a realistic understanding of the engineering design process, from concept to implementation and testing.</a:t>
            </a:r>
          </a:p>
          <a:p>
            <a:pPr marL="285750" indent="-228600" algn="l">
              <a:buFont typeface="Arial" panose="020B0604020202020204" pitchFamily="34" charset="0"/>
              <a:buChar char="•"/>
            </a:pPr>
            <a:r>
              <a:rPr lang="en-US" sz="1700" dirty="0"/>
              <a:t>The lessons learned will greatly strengthen our technical ability and teamwork for future engineering projects.</a:t>
            </a:r>
          </a:p>
          <a:p>
            <a:pPr indent="-228600" algn="l">
              <a:buFont typeface="Arial" panose="020B0604020202020204" pitchFamily="34" charset="0"/>
              <a:buChar char="•"/>
            </a:pPr>
            <a:r>
              <a:rPr lang="en-US" sz="1700" b="1" dirty="0"/>
              <a:t>Thank you for your time.</a:t>
            </a:r>
            <a:br>
              <a:rPr lang="en-US" sz="1700" b="1" dirty="0"/>
            </a:br>
            <a:r>
              <a:rPr lang="en-US" sz="1700" b="1" dirty="0"/>
              <a:t> We welcome any questions.</a:t>
            </a:r>
            <a:endParaRPr lang="en-US" sz="1700" dirty="0"/>
          </a:p>
          <a:p>
            <a:pPr indent="-228600" algn="l">
              <a:buFont typeface="Arial" panose="020B0604020202020204" pitchFamily="34" charset="0"/>
              <a:buChar char="•"/>
            </a:pPr>
            <a:endParaRPr lang="en-US" sz="1700" dirty="0"/>
          </a:p>
        </p:txBody>
      </p:sp>
    </p:spTree>
    <p:extLst>
      <p:ext uri="{BB962C8B-B14F-4D97-AF65-F5344CB8AC3E}">
        <p14:creationId xmlns:p14="http://schemas.microsoft.com/office/powerpoint/2010/main" val="26167685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207FB0B-E457-46AD-9DA3-4183A69D341A}">
  <we:reference id="wa200005566" version="1.0.0.0" store="en-US" storeType="omex"/>
  <we:alternateReferences>
    <we:reference id="wa200005566" version="1.0.0.0" store="omex"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9340185D38C8045880DE658E79E72AA" ma:contentTypeVersion="5" ma:contentTypeDescription="Create a new document." ma:contentTypeScope="" ma:versionID="58fa6e0d7f935ae9bd110a25b3ea076b">
  <xsd:schema xmlns:xsd="http://www.w3.org/2001/XMLSchema" xmlns:xs="http://www.w3.org/2001/XMLSchema" xmlns:p="http://schemas.microsoft.com/office/2006/metadata/properties" xmlns:ns3="442abb4d-4557-4745-b959-458eca0918bb" targetNamespace="http://schemas.microsoft.com/office/2006/metadata/properties" ma:root="true" ma:fieldsID="6c1ea1a02559128bf0c6b95d388674f3" ns3:_="">
    <xsd:import namespace="442abb4d-4557-4745-b959-458eca0918bb"/>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2abb4d-4557-4745-b959-458eca0918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442abb4d-4557-4745-b959-458eca0918b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2438D15-C384-49BB-A275-CE1DC876BECD}">
  <ds:schemaRefs>
    <ds:schemaRef ds:uri="442abb4d-4557-4745-b959-458eca0918b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E1C163A-F4CC-4EE3-ADE3-A9F2A50A1042}">
  <ds:schemaRefs>
    <ds:schemaRef ds:uri="http://www.w3.org/XML/1998/namespace"/>
    <ds:schemaRef ds:uri="http://purl.org/dc/dcmitype/"/>
    <ds:schemaRef ds:uri="http://schemas.microsoft.com/office/infopath/2007/PartnerControls"/>
    <ds:schemaRef ds:uri="http://schemas.openxmlformats.org/package/2006/metadata/core-properties"/>
    <ds:schemaRef ds:uri="http://schemas.microsoft.com/office/2006/documentManagement/types"/>
    <ds:schemaRef ds:uri="442abb4d-4557-4745-b959-458eca0918bb"/>
    <ds:schemaRef ds:uri="http://schemas.microsoft.com/office/2006/metadata/properties"/>
    <ds:schemaRef ds:uri="http://purl.org/dc/terms/"/>
    <ds:schemaRef ds:uri="http://purl.org/dc/elements/1.1/"/>
  </ds:schemaRefs>
</ds:datastoreItem>
</file>

<file path=customXml/itemProps3.xml><?xml version="1.0" encoding="utf-8"?>
<ds:datastoreItem xmlns:ds="http://schemas.openxmlformats.org/officeDocument/2006/customXml" ds:itemID="{28F617B2-BBB0-4B12-8A16-704E21830E7A}">
  <ds:schemaRefs>
    <ds:schemaRef ds:uri="http://schemas.microsoft.com/sharepoint/v3/contenttype/forms"/>
  </ds:schemaRefs>
</ds:datastoreItem>
</file>

<file path=docMetadata/LabelInfo.xml><?xml version="1.0" encoding="utf-8"?>
<clbl:labelList xmlns:clbl="http://schemas.microsoft.com/office/2020/mipLabelMetadata">
  <clbl:label id="{b14d86f1-83ba-4b13-a702-b5c0231b9337}" enabled="0" method="" siteId="{b14d86f1-83ba-4b13-a702-b5c0231b9337}" removed="1"/>
</clbl:labelList>
</file>

<file path=docProps/app.xml><?xml version="1.0" encoding="utf-8"?>
<Properties xmlns="http://schemas.openxmlformats.org/officeDocument/2006/extended-properties" xmlns:vt="http://schemas.openxmlformats.org/officeDocument/2006/docPropsVTypes">
  <Template>Mesh</Template>
  <TotalTime>95</TotalTime>
  <Words>3579</Words>
  <Application>Microsoft Office PowerPoint</Application>
  <PresentationFormat>Widescreen</PresentationFormat>
  <Paragraphs>377</Paragraphs>
  <Slides>51</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51</vt:i4>
      </vt:variant>
    </vt:vector>
  </HeadingPairs>
  <TitlesOfParts>
    <vt:vector size="56" baseType="lpstr">
      <vt:lpstr>Aptos</vt:lpstr>
      <vt:lpstr>Aptos Display</vt:lpstr>
      <vt:lpstr>Arial</vt:lpstr>
      <vt:lpstr>Calibri</vt:lpstr>
      <vt:lpstr>Office Theme</vt:lpstr>
      <vt:lpstr>Engineering Design (EEII327 | MCTR 327 | REII327)</vt:lpstr>
      <vt:lpstr>Main System Requirements</vt:lpstr>
      <vt:lpstr>Design Aspects</vt:lpstr>
      <vt:lpstr>Design concept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Architecture</vt:lpstr>
      <vt:lpstr>PowerPoint Presentation</vt:lpstr>
      <vt:lpstr>PowerPoint Presentation</vt:lpstr>
      <vt:lpstr>PowerPoint Presentation</vt:lpstr>
      <vt:lpstr>Sub-System: Lateral Movement unit</vt:lpstr>
      <vt:lpstr>PowerPoint Presentation</vt:lpstr>
      <vt:lpstr>Sub system: Hoisting Mechanism Unit</vt:lpstr>
      <vt:lpstr>The Hoisting mechanism uses a planetary gearbox with the input connected to the induction motor and the output connected to a worm gear. The worm gear which drives the drum and prevents back lock when motor is not turning.</vt:lpstr>
      <vt:lpstr>Sub-System: Drive Electronics</vt:lpstr>
      <vt:lpstr>PowerPoint Presentation</vt:lpstr>
      <vt:lpstr>PowerPoint Presentation</vt:lpstr>
      <vt:lpstr>PowerPoint Presentation</vt:lpstr>
      <vt:lpstr>Sub-System: Embedded Controller</vt:lpstr>
      <vt:lpstr>PowerPoint Presentation</vt:lpstr>
      <vt:lpstr>System Performance</vt:lpstr>
      <vt:lpstr>Lateral movement</vt:lpstr>
      <vt:lpstr>PowerPoint Presentation</vt:lpstr>
      <vt:lpstr>PowerPoint Presentation</vt:lpstr>
      <vt:lpstr>PowerPoint Presentation</vt:lpstr>
      <vt:lpstr>Drive Electronics(H-Bridge)</vt:lpstr>
      <vt:lpstr>PowerPoint Presentation</vt:lpstr>
      <vt:lpstr>PowerPoint Presentation</vt:lpstr>
      <vt:lpstr>PowerPoint Presentation</vt:lpstr>
      <vt:lpstr>Embedded Controller</vt:lpstr>
      <vt:lpstr>PowerPoint Presentation</vt:lpstr>
      <vt:lpstr>PowerPoint Presentation</vt:lpstr>
      <vt:lpstr>PowerPoint Presentation</vt:lpstr>
      <vt:lpstr>Manoeuvrability</vt:lpstr>
      <vt:lpstr>PowerPoint Presentation</vt:lpstr>
      <vt:lpstr>PowerPoint Presentation</vt:lpstr>
      <vt:lpstr>PowerPoint Presentation</vt:lpstr>
      <vt:lpstr>Overall performance</vt:lpstr>
      <vt:lpstr>Conclusion</vt:lpstr>
      <vt:lpstr>Design Improvements</vt:lpstr>
      <vt:lpstr>Design process</vt:lpstr>
      <vt:lpstr>Group Dynamics</vt:lpstr>
      <vt:lpstr>Closing Statement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Design (EEII327 | MCTR 327 | REII327)</dc:title>
  <dc:creator>Henri Marais</dc:creator>
  <cp:lastModifiedBy>Erik De Klerk</cp:lastModifiedBy>
  <cp:revision>5</cp:revision>
  <dcterms:created xsi:type="dcterms:W3CDTF">2025-11-08T08:33:13Z</dcterms:created>
  <dcterms:modified xsi:type="dcterms:W3CDTF">2025-12-01T16:26:10Z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0x010100C9340185D38C8045880DE658E79E72AA</vt:lpwstr>
  </property>
</Properties>
</file>